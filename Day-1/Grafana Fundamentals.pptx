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5A57-F285-0B88-65F7-0DF6036BC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043A3-E232-E7CF-7E14-D88754A7D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2775F-F790-2E9D-7551-E6A9FA03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6391-B90F-C957-ED3B-E7A31F31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0E1FA-29E1-0EA8-1C9D-BF687B7A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4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F56A-4307-C2EF-04AA-CFA78B66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2470A-B069-33F8-50B9-ECF19DC1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2E683-A04D-D4B2-BAD8-1F4FBFC4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54D0D-9A9D-689B-066B-BF25F0CB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672-0B71-F932-BD8D-0C69B023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6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C785-B486-0BAF-7E7C-F55D89B8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A5B9A-B0F3-DBDB-3737-D1E708E1B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714D4-DE3B-E7D3-2A2F-2AE2CBEB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FBB4-B9A8-8CC4-1C3C-BE62C12F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CABA4-2F46-42C4-9455-1952C5BE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05885-BCC2-1944-6A76-081F1126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5172-F3AC-C7A1-E448-9A7928597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6832C-221C-228D-4430-69631E7FC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392B2-3BEF-D6A0-A27E-2D659985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A1952-4EE2-8C5F-9185-9E179B3A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36F49-7B13-D313-A05A-E4204647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7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72D0-FDFA-DCFD-B4F7-56A9DB20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243D2-C5B1-CEAA-16F3-BB5BAA992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D5AE8-25D8-A8D2-6D4B-E831460CD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457BB-3A34-7D33-9535-2B774F794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D5B5C-0A47-299C-26CE-289BB8E26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F0D093-E663-9685-1F21-DEF172BE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617B0-5122-35DF-3048-33EDF0D0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36756-B02C-CFEC-4054-C688F8CD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2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6680-14D6-4E06-F0D0-8B232717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58FF8-D188-9CAE-E59C-007B4524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E6F8F-D44E-5833-A3F3-4ACADDC6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E8AF-86FF-5D43-6F64-C11F47D7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0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EC41-8B7A-DD53-9C9A-F11533D2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0B2BA6-25BA-04DF-53C4-972E7226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67145-424F-32FE-81EC-82362314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0B50-6AF7-2C21-2A40-490DABAE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DD3B-507C-18E6-B441-8A78A5027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D3EC3-3649-B54B-4733-39E009F4C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BC16-51C8-FCBB-7228-D5A3BA96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1473-BBC9-FC94-395A-608B629C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8BD95-4555-4892-3C50-356F9C14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0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B0FA-A6F7-43F3-8C6D-6A567076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EFAA1-D924-46E2-5B12-08FF866C2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50897-DEE7-54BF-03E8-0C6148AA4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7CC1-95CF-6B2E-677D-909D2177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5C0EB-B15C-5C8F-97E1-39AC883C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85580-0B83-16ED-768E-E25B9C1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8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502F-A12F-8C5B-5C0D-497A3B0D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0D3E6-B600-9CFF-4150-0C5187A9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66D1-5F0B-D9D3-F0A4-5F52476E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AEF8-E3ED-39E2-C370-07F1F21A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C061-C185-BCCB-77F9-0D8E992E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9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09913-093B-32CB-1E57-24A24C0E1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D5180-D103-FE50-01A2-04AB6061A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7362C-C2A7-BDEA-BADE-41F91BB4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FEA7-DEBA-4704-D8D1-D2CD1CBC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E010C-9143-59A9-85B0-6B1FCB9A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7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71D"/>
            </a:gs>
            <a:gs pos="100000">
              <a:srgbClr val="0D0E1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31E91-8B78-9CEF-CD3D-9344E26A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1363C-B261-44EC-9181-E9A002FDA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5902E-4422-92F5-3BD9-010B0DC3E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2F8ED-4E8A-447E-9997-262DF8A4C2F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7945-B15A-DBE5-AC03-17462BD3A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1AC73-FDA9-78B3-3CE6-BA53EF49F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2C02E-5F7E-4E1F-8DF8-C8D335A70A92}" type="slidenum">
              <a:rPr lang="en-US" smtClean="0"/>
              <a:t>‹#›</a:t>
            </a:fld>
            <a:endParaRPr lang="en-US"/>
          </a:p>
        </p:txBody>
      </p:sp>
      <p:grpSp>
        <p:nvGrpSpPr>
          <p:cNvPr id="9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Bar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gradFill>
              <a:gsLst>
                <a:gs pos="0">
                  <a:srgbClr val="F46800"/>
                </a:gs>
                <a:gs pos="100000">
                  <a:srgbClr val="FF9830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Hairline"/>
            <p:cNvSpPr/>
            <p:nvPr/>
          </p:nvSpPr>
          <p:spPr>
            <a:xfrm>
              <a:off x="0" y="6807200"/>
              <a:ext cx="12192000" cy="12700"/>
            </a:xfrm>
            <a:prstGeom prst="rect">
              <a:avLst/>
            </a:prstGeom>
            <a:solidFill>
              <a:srgbClr val="2A2E37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322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8D9D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8D9D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8D9D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8D9D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A885-5099-F0B8-7B05-8E6E8FA77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235200"/>
            <a:ext cx="9906000" cy="1524000"/>
          </a:xfrm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Grafana Fundamentals &amp; Environment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C1608-E24E-490F-DB16-F1991B0A7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191000"/>
            <a:ext cx="8382000" cy="7620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B4B8C0"/>
                </a:solidFill>
              </a:rPr>
              <a:t>Monitoring, Observability &amp; Your First Grafana Stack</a:t>
            </a:r>
          </a:p>
        </p:txBody>
      </p:sp>
      <p:sp>
        <p:nvSpPr>
          <p:cNvPr id="20" name="Kicker"/>
          <p:cNvSpPr/>
          <p:nvPr/>
        </p:nvSpPr>
        <p:spPr>
          <a:xfrm>
            <a:off x="4991100" y="1422400"/>
            <a:ext cx="2209800" cy="431800"/>
          </a:xfrm>
          <a:prstGeom prst="roundRect">
            <a:avLst/>
          </a:prstGeom>
          <a:solidFill>
            <a:srgbClr val="2A1A10"/>
          </a:solidFill>
          <a:ln w="12700">
            <a:solidFill>
              <a:srgbClr val="F4680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spc="200" dirty="0">
                <a:solidFill>
                  <a:srgbClr val="FF9830"/>
                </a:solidFill>
              </a:rPr>
              <a:t>DAY-1</a:t>
            </a:r>
          </a:p>
        </p:txBody>
      </p:sp>
      <p:sp>
        <p:nvSpPr>
          <p:cNvPr id="21" name="Rule"/>
          <p:cNvSpPr/>
          <p:nvPr/>
        </p:nvSpPr>
        <p:spPr>
          <a:xfrm>
            <a:off x="5524500" y="3911600"/>
            <a:ext cx="1143000" cy="508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22" name="Track"/>
          <p:cNvSpPr/>
          <p:nvPr/>
        </p:nvSpPr>
        <p:spPr>
          <a:xfrm>
            <a:off x="1143000" y="55626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spc="120" dirty="0">
                <a:solidFill>
                  <a:srgbClr val="8E939B"/>
                </a:solidFill>
              </a:rPr>
              <a:t>OBSERVABILITY  |  ARCHITECTURE  |  INSTALLATION  |  UI TOUR  |  HANDS-ON LAB</a:t>
            </a:r>
          </a:p>
        </p:txBody>
      </p:sp>
    </p:spTree>
    <p:extLst>
      <p:ext uri="{BB962C8B-B14F-4D97-AF65-F5344CB8AC3E}">
        <p14:creationId xmlns:p14="http://schemas.microsoft.com/office/powerpoint/2010/main" val="71459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97D5-D4A7-7896-8595-D6A4D5C9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8800"/>
            <a:ext cx="8890000" cy="685800"/>
          </a:xfrm>
        </p:spPr>
        <p:txBody>
          <a:bodyPr>
            <a:normAutofit/>
          </a:bodyPr>
          <a:lstStyle/>
          <a:p>
            <a:r>
              <a:rPr lang="en-US" sz="3400" b="1"/>
              <a:t>Day 1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F7803-F76B-44B2-938F-33C664AFDA09}"/>
              </a:ext>
            </a:extLst>
          </p:cNvPr>
          <p:cNvSpPr txBox="1"/>
          <p:nvPr/>
        </p:nvSpPr>
        <p:spPr>
          <a:xfrm>
            <a:off x="609600" y="1320800"/>
            <a:ext cx="990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A guided path from monitoring theory to a running Grafana instance on your machine.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A1D966-5CA3-4827-BBE8-D53BFDE14130}"/>
              </a:ext>
            </a:extLst>
          </p:cNvPr>
          <p:cNvSpPr/>
          <p:nvPr/>
        </p:nvSpPr>
        <p:spPr>
          <a:xfrm>
            <a:off x="609600" y="1905000"/>
            <a:ext cx="2057400" cy="3327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B86A9-0511-4232-B144-08C0286F9577}"/>
              </a:ext>
            </a:extLst>
          </p:cNvPr>
          <p:cNvSpPr/>
          <p:nvPr/>
        </p:nvSpPr>
        <p:spPr>
          <a:xfrm>
            <a:off x="609600" y="1905000"/>
            <a:ext cx="20574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F52C3-0E2F-4047-A95F-68B6492DBFC0}"/>
              </a:ext>
            </a:extLst>
          </p:cNvPr>
          <p:cNvSpPr txBox="1"/>
          <p:nvPr/>
        </p:nvSpPr>
        <p:spPr>
          <a:xfrm>
            <a:off x="812800" y="2184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F8C4C-305B-4759-B1E7-627E3FB101D6}"/>
              </a:ext>
            </a:extLst>
          </p:cNvPr>
          <p:cNvSpPr txBox="1"/>
          <p:nvPr/>
        </p:nvSpPr>
        <p:spPr>
          <a:xfrm>
            <a:off x="812800" y="2540000"/>
            <a:ext cx="16764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Monitoring &amp;
Observability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BA320-FF9B-418F-B381-9E77945D98BF}"/>
              </a:ext>
            </a:extLst>
          </p:cNvPr>
          <p:cNvSpPr txBox="1"/>
          <p:nvPr/>
        </p:nvSpPr>
        <p:spPr>
          <a:xfrm>
            <a:off x="812800" y="3403600"/>
            <a:ext cx="1676400" cy="160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Why it matters
Metrics, logs, traces
Architecture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67D157-08EC-42B8-A365-F77F16DB137E}"/>
              </a:ext>
            </a:extLst>
          </p:cNvPr>
          <p:cNvSpPr/>
          <p:nvPr/>
        </p:nvSpPr>
        <p:spPr>
          <a:xfrm>
            <a:off x="2895600" y="1905000"/>
            <a:ext cx="2057400" cy="3327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3D541D-163C-4905-9F12-9D72E7159BA0}"/>
              </a:ext>
            </a:extLst>
          </p:cNvPr>
          <p:cNvSpPr/>
          <p:nvPr/>
        </p:nvSpPr>
        <p:spPr>
          <a:xfrm>
            <a:off x="2895600" y="1905000"/>
            <a:ext cx="2057400" cy="63500"/>
          </a:xfrm>
          <a:prstGeom prst="rect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CC642-7F1E-4C9F-9888-791AE2A4F198}"/>
              </a:ext>
            </a:extLst>
          </p:cNvPr>
          <p:cNvSpPr txBox="1"/>
          <p:nvPr/>
        </p:nvSpPr>
        <p:spPr>
          <a:xfrm>
            <a:off x="3098800" y="2184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9830"/>
                </a:solidFill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4D22F-64A3-46DA-B9C0-4809CF0F851F}"/>
              </a:ext>
            </a:extLst>
          </p:cNvPr>
          <p:cNvSpPr txBox="1"/>
          <p:nvPr/>
        </p:nvSpPr>
        <p:spPr>
          <a:xfrm>
            <a:off x="3098800" y="2540000"/>
            <a:ext cx="16764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Grafana
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81785-67B2-4EE6-BE60-195E283C9A51}"/>
              </a:ext>
            </a:extLst>
          </p:cNvPr>
          <p:cNvSpPr txBox="1"/>
          <p:nvPr/>
        </p:nvSpPr>
        <p:spPr>
          <a:xfrm>
            <a:off x="3098800" y="3403600"/>
            <a:ext cx="1676400" cy="160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Frontend &amp; backend
Data sources
Dashboards &amp; panels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2E46EF-326F-4C0F-AE6A-52EFE8C3869F}"/>
              </a:ext>
            </a:extLst>
          </p:cNvPr>
          <p:cNvSpPr/>
          <p:nvPr/>
        </p:nvSpPr>
        <p:spPr>
          <a:xfrm>
            <a:off x="5181600" y="1905000"/>
            <a:ext cx="2057400" cy="3327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3274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3BE923-5A70-4492-B7CD-F95F6F3A130E}"/>
              </a:ext>
            </a:extLst>
          </p:cNvPr>
          <p:cNvSpPr/>
          <p:nvPr/>
        </p:nvSpPr>
        <p:spPr>
          <a:xfrm>
            <a:off x="5181600" y="1905000"/>
            <a:ext cx="2057400" cy="635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22DFF-34A8-4225-88FE-406D9A4A0288}"/>
              </a:ext>
            </a:extLst>
          </p:cNvPr>
          <p:cNvSpPr txBox="1"/>
          <p:nvPr/>
        </p:nvSpPr>
        <p:spPr>
          <a:xfrm>
            <a:off x="5384800" y="2184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794F2"/>
                </a:solidFill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93923-8644-4688-B369-F7AB1F6A6F3E}"/>
              </a:ext>
            </a:extLst>
          </p:cNvPr>
          <p:cNvSpPr txBox="1"/>
          <p:nvPr/>
        </p:nvSpPr>
        <p:spPr>
          <a:xfrm>
            <a:off x="5384800" y="2540000"/>
            <a:ext cx="16764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Installation &amp;
Configuration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57702-E2AC-467E-861B-B0883383526B}"/>
              </a:ext>
            </a:extLst>
          </p:cNvPr>
          <p:cNvSpPr txBox="1"/>
          <p:nvPr/>
        </p:nvSpPr>
        <p:spPr>
          <a:xfrm>
            <a:off x="5384800" y="3403600"/>
            <a:ext cx="1676400" cy="160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Docker, Linux, Windows
Config files &amp; ports
Folder structure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0BDF6F-B131-4FAA-8DBD-B712657ADF2E}"/>
              </a:ext>
            </a:extLst>
          </p:cNvPr>
          <p:cNvSpPr/>
          <p:nvPr/>
        </p:nvSpPr>
        <p:spPr>
          <a:xfrm>
            <a:off x="7467600" y="1905000"/>
            <a:ext cx="2057400" cy="3327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9A0349-D341-4770-A572-256B1125F6A3}"/>
              </a:ext>
            </a:extLst>
          </p:cNvPr>
          <p:cNvSpPr/>
          <p:nvPr/>
        </p:nvSpPr>
        <p:spPr>
          <a:xfrm>
            <a:off x="7467600" y="1905000"/>
            <a:ext cx="2057400" cy="635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CC5C1D-7281-439D-830B-3BFA3F68FEC6}"/>
              </a:ext>
            </a:extLst>
          </p:cNvPr>
          <p:cNvSpPr txBox="1"/>
          <p:nvPr/>
        </p:nvSpPr>
        <p:spPr>
          <a:xfrm>
            <a:off x="7670800" y="2184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B877D9"/>
                </a:solidFill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1A9BFF-1EE5-45DD-8DE1-89702E47E992}"/>
              </a:ext>
            </a:extLst>
          </p:cNvPr>
          <p:cNvSpPr txBox="1"/>
          <p:nvPr/>
        </p:nvSpPr>
        <p:spPr>
          <a:xfrm>
            <a:off x="7670800" y="2540000"/>
            <a:ext cx="16764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Grafana UI
Walkthrough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659DE-5C17-43C6-9879-AC6E381DF07F}"/>
              </a:ext>
            </a:extLst>
          </p:cNvPr>
          <p:cNvSpPr txBox="1"/>
          <p:nvPr/>
        </p:nvSpPr>
        <p:spPr>
          <a:xfrm>
            <a:off x="7670800" y="3403600"/>
            <a:ext cx="1676400" cy="160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Navigation &amp; search
Explore
Admin &amp; config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8F948E-22FA-442B-9EFA-F5B032241E24}"/>
              </a:ext>
            </a:extLst>
          </p:cNvPr>
          <p:cNvSpPr/>
          <p:nvPr/>
        </p:nvSpPr>
        <p:spPr>
          <a:xfrm>
            <a:off x="9753600" y="1905000"/>
            <a:ext cx="2057400" cy="3327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B9C1E-B495-46A2-830A-F90C81FE1438}"/>
              </a:ext>
            </a:extLst>
          </p:cNvPr>
          <p:cNvSpPr/>
          <p:nvPr/>
        </p:nvSpPr>
        <p:spPr>
          <a:xfrm>
            <a:off x="9753600" y="1905000"/>
            <a:ext cx="2057400" cy="635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C3C261-7905-4F74-A174-9B7484A6EA74}"/>
              </a:ext>
            </a:extLst>
          </p:cNvPr>
          <p:cNvSpPr txBox="1"/>
          <p:nvPr/>
        </p:nvSpPr>
        <p:spPr>
          <a:xfrm>
            <a:off x="9956800" y="2184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</a:rPr>
              <a:t>LAB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CF35EA-D712-4AF8-8C02-4DF53ECC8776}"/>
              </a:ext>
            </a:extLst>
          </p:cNvPr>
          <p:cNvSpPr txBox="1"/>
          <p:nvPr/>
        </p:nvSpPr>
        <p:spPr>
          <a:xfrm>
            <a:off x="9956800" y="2540000"/>
            <a:ext cx="16764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Hands-on
Lab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C30ED7-90DD-4B97-9833-6014EA488C31}"/>
              </a:ext>
            </a:extLst>
          </p:cNvPr>
          <p:cNvSpPr txBox="1"/>
          <p:nvPr/>
        </p:nvSpPr>
        <p:spPr>
          <a:xfrm>
            <a:off x="9956800" y="3403600"/>
            <a:ext cx="1676400" cy="160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 Compose stack
First login
Install plugins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A728F-55E3-4652-BF6D-91D3B5F0C525}"/>
              </a:ext>
            </a:extLst>
          </p:cNvPr>
          <p:cNvSpPr txBox="1"/>
          <p:nvPr/>
        </p:nvSpPr>
        <p:spPr>
          <a:xfrm>
            <a:off x="609600" y="5562600"/>
            <a:ext cx="990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6E747C"/>
                </a:solidFill>
              </a:rPr>
              <a:t>Format:  short theory blocks  →  live demo  →  hands-on lab</a:t>
            </a:r>
          </a:p>
        </p:txBody>
      </p:sp>
    </p:spTree>
    <p:extLst>
      <p:ext uri="{BB962C8B-B14F-4D97-AF65-F5344CB8AC3E}">
        <p14:creationId xmlns:p14="http://schemas.microsoft.com/office/powerpoint/2010/main" val="363952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2E52-C6D1-8334-6E34-0341EC6A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235200"/>
            <a:ext cx="7620000" cy="889000"/>
          </a:xfrm>
        </p:spPr>
        <p:txBody>
          <a:bodyPr>
            <a:noAutofit/>
          </a:bodyPr>
          <a:lstStyle/>
          <a:p>
            <a:r>
              <a:rPr lang="en-US" sz="3600" b="1"/>
              <a:t>Introduction to Monitoring &amp; Observability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F3665-403B-4F58-815F-53F16DA507F6}"/>
              </a:ext>
            </a:extLst>
          </p:cNvPr>
          <p:cNvSpPr txBox="1"/>
          <p:nvPr/>
        </p:nvSpPr>
        <p:spPr>
          <a:xfrm>
            <a:off x="609600" y="1905000"/>
            <a:ext cx="3175000" cy="2540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5000" b="1">
                <a:solidFill>
                  <a:srgbClr val="22262E"/>
                </a:solidFill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2AAAC-BA88-427B-AA8C-37CF39F9F1BB}"/>
              </a:ext>
            </a:extLst>
          </p:cNvPr>
          <p:cNvSpPr txBox="1"/>
          <p:nvPr/>
        </p:nvSpPr>
        <p:spPr>
          <a:xfrm>
            <a:off x="3810000" y="1778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</a:rPr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8D514-52FF-4A3C-8B34-D142BDDA359D}"/>
              </a:ext>
            </a:extLst>
          </p:cNvPr>
          <p:cNvSpPr/>
          <p:nvPr/>
        </p:nvSpPr>
        <p:spPr>
          <a:xfrm>
            <a:off x="3810000" y="3276600"/>
            <a:ext cx="10160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3EA32-1DDE-4547-95DC-4F8FA332579F}"/>
              </a:ext>
            </a:extLst>
          </p:cNvPr>
          <p:cNvSpPr txBox="1"/>
          <p:nvPr/>
        </p:nvSpPr>
        <p:spPr>
          <a:xfrm>
            <a:off x="3810000" y="3581400"/>
            <a:ext cx="711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AA0A8"/>
                </a:solidFill>
              </a:rPr>
              <a:t>Why we monitor, what observability really means, and how metrics, logs
and traces fit together in a modern stack.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F806-161E-4A22-BA18-5B88414DDC5F}"/>
              </a:ext>
            </a:extLst>
          </p:cNvPr>
          <p:cNvSpPr/>
          <p:nvPr/>
        </p:nvSpPr>
        <p:spPr>
          <a:xfrm>
            <a:off x="3810000" y="4699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D9A84-F679-4B3E-9F01-A80566795FED}"/>
              </a:ext>
            </a:extLst>
          </p:cNvPr>
          <p:cNvSpPr txBox="1"/>
          <p:nvPr/>
        </p:nvSpPr>
        <p:spPr>
          <a:xfrm>
            <a:off x="4013200" y="4622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Why Monitoring Matters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EF0C31-865B-4C5E-8A5A-D3F970440F0D}"/>
              </a:ext>
            </a:extLst>
          </p:cNvPr>
          <p:cNvSpPr/>
          <p:nvPr/>
        </p:nvSpPr>
        <p:spPr>
          <a:xfrm>
            <a:off x="7493000" y="4699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B704D-4D03-4059-B3C5-9661714F09EA}"/>
              </a:ext>
            </a:extLst>
          </p:cNvPr>
          <p:cNvSpPr txBox="1"/>
          <p:nvPr/>
        </p:nvSpPr>
        <p:spPr>
          <a:xfrm>
            <a:off x="7696200" y="4622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Monitoring vs Logging vs Tracing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C4DE7F-B250-4182-BB89-31E88F8387EB}"/>
              </a:ext>
            </a:extLst>
          </p:cNvPr>
          <p:cNvSpPr/>
          <p:nvPr/>
        </p:nvSpPr>
        <p:spPr>
          <a:xfrm>
            <a:off x="3810000" y="5080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3AF52-AC7A-4668-BD4F-84EA83204CAD}"/>
              </a:ext>
            </a:extLst>
          </p:cNvPr>
          <p:cNvSpPr txBox="1"/>
          <p:nvPr/>
        </p:nvSpPr>
        <p:spPr>
          <a:xfrm>
            <a:off x="4013200" y="5003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Observability Fundamentals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38B02D-7213-4119-BF4D-4E2B93FF96A5}"/>
              </a:ext>
            </a:extLst>
          </p:cNvPr>
          <p:cNvSpPr/>
          <p:nvPr/>
        </p:nvSpPr>
        <p:spPr>
          <a:xfrm>
            <a:off x="7493000" y="5080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FA600F-9F24-4ECF-9F7E-56CA2B345D23}"/>
              </a:ext>
            </a:extLst>
          </p:cNvPr>
          <p:cNvSpPr txBox="1"/>
          <p:nvPr/>
        </p:nvSpPr>
        <p:spPr>
          <a:xfrm>
            <a:off x="7696200" y="5003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Metrics, Logs and Traces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D8123D-3E8A-4D91-8642-96A7165DA31E}"/>
              </a:ext>
            </a:extLst>
          </p:cNvPr>
          <p:cNvSpPr/>
          <p:nvPr/>
        </p:nvSpPr>
        <p:spPr>
          <a:xfrm>
            <a:off x="3810000" y="5461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B194A3-2FF5-4657-B658-9FE2B32BCFAF}"/>
              </a:ext>
            </a:extLst>
          </p:cNvPr>
          <p:cNvSpPr txBox="1"/>
          <p:nvPr/>
        </p:nvSpPr>
        <p:spPr>
          <a:xfrm>
            <a:off x="4013200" y="5384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Modern Monitoring Architecture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751E04-4578-4851-96CF-7FD77D85F0CF}"/>
              </a:ext>
            </a:extLst>
          </p:cNvPr>
          <p:cNvSpPr/>
          <p:nvPr/>
        </p:nvSpPr>
        <p:spPr>
          <a:xfrm>
            <a:off x="7493000" y="5461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E3EE10-11CF-4BBF-AADD-42AC671CD958}"/>
              </a:ext>
            </a:extLst>
          </p:cNvPr>
          <p:cNvSpPr txBox="1"/>
          <p:nvPr/>
        </p:nvSpPr>
        <p:spPr>
          <a:xfrm>
            <a:off x="7696200" y="5384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Common Monitoring Tools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CA9AA-13CC-4AA0-9C9F-4DA64D2922D3}"/>
              </a:ext>
            </a:extLst>
          </p:cNvPr>
          <p:cNvSpPr/>
          <p:nvPr/>
        </p:nvSpPr>
        <p:spPr>
          <a:xfrm>
            <a:off x="3810000" y="5842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392F4-CA1E-4CC7-BB51-0A3E02DB69D4}"/>
              </a:ext>
            </a:extLst>
          </p:cNvPr>
          <p:cNvSpPr txBox="1"/>
          <p:nvPr/>
        </p:nvSpPr>
        <p:spPr>
          <a:xfrm>
            <a:off x="4013200" y="5765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Grafana Ecosystem Overview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9707BA-C319-4982-92E5-E4900721C096}"/>
              </a:ext>
            </a:extLst>
          </p:cNvPr>
          <p:cNvSpPr/>
          <p:nvPr/>
        </p:nvSpPr>
        <p:spPr>
          <a:xfrm>
            <a:off x="7493000" y="58420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C72D91-9A2A-45C6-981A-69852F70DAFF}"/>
              </a:ext>
            </a:extLst>
          </p:cNvPr>
          <p:cNvSpPr txBox="1"/>
          <p:nvPr/>
        </p:nvSpPr>
        <p:spPr>
          <a:xfrm>
            <a:off x="7696200" y="57658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Real-world Use Cases</a:t>
            </a:r>
          </a:p>
        </p:txBody>
      </p:sp>
    </p:spTree>
    <p:extLst>
      <p:ext uri="{BB962C8B-B14F-4D97-AF65-F5344CB8AC3E}">
        <p14:creationId xmlns:p14="http://schemas.microsoft.com/office/powerpoint/2010/main" val="265975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27DE-0143-B03D-C1CB-557044CD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128000" cy="584200"/>
          </a:xfrm>
        </p:spPr>
        <p:txBody>
          <a:bodyPr>
            <a:normAutofit/>
          </a:bodyPr>
          <a:lstStyle/>
          <a:p>
            <a:r>
              <a:rPr lang="en-US" sz="3200" b="1"/>
              <a:t>Why Monitoring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566B3-0299-46C4-8AC1-2E44D256223A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6EF7F-932E-47F1-90E1-D5C06CE2ABE0}"/>
              </a:ext>
            </a:extLst>
          </p:cNvPr>
          <p:cNvSpPr txBox="1"/>
          <p:nvPr/>
        </p:nvSpPr>
        <p:spPr>
          <a:xfrm>
            <a:off x="609600" y="11938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Systems fail in ways you did not predict. Monitoring turns invisible failure into a signal you can act 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2392F5-6FC4-457F-AE62-2C4E119B1183}"/>
              </a:ext>
            </a:extLst>
          </p:cNvPr>
          <p:cNvSpPr/>
          <p:nvPr/>
        </p:nvSpPr>
        <p:spPr>
          <a:xfrm>
            <a:off x="609600" y="1803400"/>
            <a:ext cx="52324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3DD63E-C777-4F98-90FA-FE0AB56427E4}"/>
              </a:ext>
            </a:extLst>
          </p:cNvPr>
          <p:cNvSpPr/>
          <p:nvPr/>
        </p:nvSpPr>
        <p:spPr>
          <a:xfrm>
            <a:off x="609600" y="2082800"/>
            <a:ext cx="50800" cy="1143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0AF86-53AA-4DBE-AD76-93CE7BB7E037}"/>
              </a:ext>
            </a:extLst>
          </p:cNvPr>
          <p:cNvSpPr txBox="1"/>
          <p:nvPr/>
        </p:nvSpPr>
        <p:spPr>
          <a:xfrm>
            <a:off x="939800" y="21336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Detect before customers 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F87D9-8E29-4B3E-B352-791DDD5990BB}"/>
              </a:ext>
            </a:extLst>
          </p:cNvPr>
          <p:cNvSpPr txBox="1"/>
          <p:nvPr/>
        </p:nvSpPr>
        <p:spPr>
          <a:xfrm>
            <a:off x="939800" y="2590800"/>
            <a:ext cx="4597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AA0A8"/>
                </a:solidFill>
              </a:rPr>
              <a:t>Catch latency creep, error spikes and
saturation while impact is still small.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8824D4-6FB4-4A45-BEA6-F87B076B0863}"/>
              </a:ext>
            </a:extLst>
          </p:cNvPr>
          <p:cNvSpPr/>
          <p:nvPr/>
        </p:nvSpPr>
        <p:spPr>
          <a:xfrm>
            <a:off x="6096000" y="1803400"/>
            <a:ext cx="52324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EE06A-3A31-4278-8BAB-D30827A47697}"/>
              </a:ext>
            </a:extLst>
          </p:cNvPr>
          <p:cNvSpPr/>
          <p:nvPr/>
        </p:nvSpPr>
        <p:spPr>
          <a:xfrm>
            <a:off x="6096000" y="2082800"/>
            <a:ext cx="50800" cy="1143000"/>
          </a:xfrm>
          <a:prstGeom prst="rect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6D0BF-0646-4066-BD34-0167C40E24ED}"/>
              </a:ext>
            </a:extLst>
          </p:cNvPr>
          <p:cNvSpPr txBox="1"/>
          <p:nvPr/>
        </p:nvSpPr>
        <p:spPr>
          <a:xfrm>
            <a:off x="6426200" y="21336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Reduce MTTR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D111C-536C-4FB7-9EB7-C8074E0E9D90}"/>
              </a:ext>
            </a:extLst>
          </p:cNvPr>
          <p:cNvSpPr txBox="1"/>
          <p:nvPr/>
        </p:nvSpPr>
        <p:spPr>
          <a:xfrm>
            <a:off x="6426200" y="2590800"/>
            <a:ext cx="4597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AA0A8"/>
                </a:solidFill>
              </a:rPr>
              <a:t>Dashboards and alerts point to the failing
component instead of a blind bisect.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F71EEF-58FD-4C29-9350-CF87026468DD}"/>
              </a:ext>
            </a:extLst>
          </p:cNvPr>
          <p:cNvSpPr/>
          <p:nvPr/>
        </p:nvSpPr>
        <p:spPr>
          <a:xfrm>
            <a:off x="609600" y="3733800"/>
            <a:ext cx="52324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A186C-E251-47D2-AD3F-D278522FCB42}"/>
              </a:ext>
            </a:extLst>
          </p:cNvPr>
          <p:cNvSpPr/>
          <p:nvPr/>
        </p:nvSpPr>
        <p:spPr>
          <a:xfrm>
            <a:off x="609600" y="4013200"/>
            <a:ext cx="50800" cy="11430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CD0A6-3E70-4E08-BC0A-DF829626CF8A}"/>
              </a:ext>
            </a:extLst>
          </p:cNvPr>
          <p:cNvSpPr txBox="1"/>
          <p:nvPr/>
        </p:nvSpPr>
        <p:spPr>
          <a:xfrm>
            <a:off x="939800" y="4064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Plan capacity and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A9CEAA-EDD5-4DB1-B857-6596F4ACE058}"/>
              </a:ext>
            </a:extLst>
          </p:cNvPr>
          <p:cNvSpPr txBox="1"/>
          <p:nvPr/>
        </p:nvSpPr>
        <p:spPr>
          <a:xfrm>
            <a:off x="939800" y="4521200"/>
            <a:ext cx="4597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AA0A8"/>
                </a:solidFill>
              </a:rPr>
              <a:t>Trend CPU, memory, storage and traffic to
size infrastructure on evidence, not guesses.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D84B8C-1266-48CF-8C69-2512AAC2D9B6}"/>
              </a:ext>
            </a:extLst>
          </p:cNvPr>
          <p:cNvSpPr/>
          <p:nvPr/>
        </p:nvSpPr>
        <p:spPr>
          <a:xfrm>
            <a:off x="6096000" y="3733800"/>
            <a:ext cx="52324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20131-87B4-4D1B-8C0D-DC578DB4B5E3}"/>
              </a:ext>
            </a:extLst>
          </p:cNvPr>
          <p:cNvSpPr/>
          <p:nvPr/>
        </p:nvSpPr>
        <p:spPr>
          <a:xfrm>
            <a:off x="6096000" y="4013200"/>
            <a:ext cx="50800" cy="11430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F82D1-CFCA-42DA-9CB5-16A2940B7DDE}"/>
              </a:ext>
            </a:extLst>
          </p:cNvPr>
          <p:cNvSpPr txBox="1"/>
          <p:nvPr/>
        </p:nvSpPr>
        <p:spPr>
          <a:xfrm>
            <a:off x="6426200" y="4064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Prove reliability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6C506-C3FF-48CC-B1D4-A480162BECFA}"/>
              </a:ext>
            </a:extLst>
          </p:cNvPr>
          <p:cNvSpPr txBox="1"/>
          <p:nvPr/>
        </p:nvSpPr>
        <p:spPr>
          <a:xfrm>
            <a:off x="6426200" y="4521200"/>
            <a:ext cx="4597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AA0A8"/>
                </a:solidFill>
              </a:rPr>
              <a:t>SLIs, SLOs and error budgets give the business
a shared, measurable definition of “healthy”.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F140E3-07CC-414D-BCA4-F767F1180BA2}"/>
              </a:ext>
            </a:extLst>
          </p:cNvPr>
          <p:cNvSpPr/>
          <p:nvPr/>
        </p:nvSpPr>
        <p:spPr>
          <a:xfrm>
            <a:off x="609600" y="5740400"/>
            <a:ext cx="10972800" cy="5588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3A2A1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9830"/>
                </a:solidFill>
              </a:rPr>
              <a:t>Without telemetry you are not operating a system  you are guessing about one.</a:t>
            </a:r>
          </a:p>
        </p:txBody>
      </p:sp>
    </p:spTree>
    <p:extLst>
      <p:ext uri="{BB962C8B-B14F-4D97-AF65-F5344CB8AC3E}">
        <p14:creationId xmlns:p14="http://schemas.microsoft.com/office/powerpoint/2010/main" val="88604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C4F9-E395-7A28-244B-9DAE2129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Monitoring vs Logging vs Tracing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6D0D9-8FF1-4196-92D7-E4CC5D70AD09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5DE53-FBD9-44EA-B8E4-51CDB55CDB94}"/>
              </a:ext>
            </a:extLst>
          </p:cNvPr>
          <p:cNvSpPr txBox="1"/>
          <p:nvPr/>
        </p:nvSpPr>
        <p:spPr>
          <a:xfrm>
            <a:off x="609600" y="11938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9AA0A8"/>
                </a:solidFill>
              </a:rPr>
              <a:t>Three complementary practices not competing ones. Each answers a different question during an incident.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896111-3F0E-4989-923C-52EFEB727770}"/>
              </a:ext>
            </a:extLst>
          </p:cNvPr>
          <p:cNvSpPr/>
          <p:nvPr/>
        </p:nvSpPr>
        <p:spPr>
          <a:xfrm>
            <a:off x="609600" y="1778000"/>
            <a:ext cx="3454400" cy="41402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A100D-2014-43D3-9933-CD8E5D083AB3}"/>
              </a:ext>
            </a:extLst>
          </p:cNvPr>
          <p:cNvSpPr/>
          <p:nvPr/>
        </p:nvSpPr>
        <p:spPr>
          <a:xfrm>
            <a:off x="609600" y="1778000"/>
            <a:ext cx="34544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92A32-2679-4EC0-B3E4-0D7ABA171AA3}"/>
              </a:ext>
            </a:extLst>
          </p:cNvPr>
          <p:cNvSpPr txBox="1"/>
          <p:nvPr/>
        </p:nvSpPr>
        <p:spPr>
          <a:xfrm>
            <a:off x="889000" y="2082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5EC2C-1B34-4D6F-8903-C95812ABC622}"/>
              </a:ext>
            </a:extLst>
          </p:cNvPr>
          <p:cNvSpPr txBox="1"/>
          <p:nvPr/>
        </p:nvSpPr>
        <p:spPr>
          <a:xfrm>
            <a:off x="889000" y="2413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Is something wrong?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26855E-6ECF-4E69-BB64-BB13B03A429C}"/>
              </a:ext>
            </a:extLst>
          </p:cNvPr>
          <p:cNvSpPr/>
          <p:nvPr/>
        </p:nvSpPr>
        <p:spPr>
          <a:xfrm>
            <a:off x="889000" y="29210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379B6-E698-4C25-8B41-9845E8156AD4}"/>
              </a:ext>
            </a:extLst>
          </p:cNvPr>
          <p:cNvSpPr txBox="1"/>
          <p:nvPr/>
        </p:nvSpPr>
        <p:spPr>
          <a:xfrm>
            <a:off x="889000" y="3098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AB476-6861-4F8C-8D50-77D712C34C55}"/>
              </a:ext>
            </a:extLst>
          </p:cNvPr>
          <p:cNvSpPr txBox="1"/>
          <p:nvPr/>
        </p:nvSpPr>
        <p:spPr>
          <a:xfrm>
            <a:off x="889000" y="33274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Numeric time series sampled at intervals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95D57-0BCA-4BDD-863E-B637A5D4C0BA}"/>
              </a:ext>
            </a:extLst>
          </p:cNvPr>
          <p:cNvSpPr txBox="1"/>
          <p:nvPr/>
        </p:nvSpPr>
        <p:spPr>
          <a:xfrm>
            <a:off x="889000" y="37846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STRENGTH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7F21F-1A25-49F6-AC04-05076661329C}"/>
              </a:ext>
            </a:extLst>
          </p:cNvPr>
          <p:cNvSpPr txBox="1"/>
          <p:nvPr/>
        </p:nvSpPr>
        <p:spPr>
          <a:xfrm>
            <a:off x="889000" y="40132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Cheap, fast, ideal for alerting and trends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95A62-6361-4087-BFA2-529416E5049C}"/>
              </a:ext>
            </a:extLst>
          </p:cNvPr>
          <p:cNvSpPr txBox="1"/>
          <p:nvPr/>
        </p:nvSpPr>
        <p:spPr>
          <a:xfrm>
            <a:off x="889000" y="4470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LIMIT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836A9-35C9-411D-A4FF-B939C597A089}"/>
              </a:ext>
            </a:extLst>
          </p:cNvPr>
          <p:cNvSpPr txBox="1"/>
          <p:nvPr/>
        </p:nvSpPr>
        <p:spPr>
          <a:xfrm>
            <a:off x="889000" y="46990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Tells you that it broke, not why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BBAA5C-F3EB-4789-9D0E-9F4F93F643B0}"/>
              </a:ext>
            </a:extLst>
          </p:cNvPr>
          <p:cNvSpPr txBox="1"/>
          <p:nvPr/>
        </p:nvSpPr>
        <p:spPr>
          <a:xfrm>
            <a:off x="889000" y="5156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TOOLING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25B1DC-D3DC-4192-9754-CBF8297302A9}"/>
              </a:ext>
            </a:extLst>
          </p:cNvPr>
          <p:cNvSpPr txBox="1"/>
          <p:nvPr/>
        </p:nvSpPr>
        <p:spPr>
          <a:xfrm>
            <a:off x="889000" y="53848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Prometheus, InfluxDB, CloudWatch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FBBA52-B935-4A05-8DB7-18562D86918F}"/>
              </a:ext>
            </a:extLst>
          </p:cNvPr>
          <p:cNvSpPr/>
          <p:nvPr/>
        </p:nvSpPr>
        <p:spPr>
          <a:xfrm>
            <a:off x="4368800" y="1778000"/>
            <a:ext cx="3454400" cy="41402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5D36A8-6490-4073-8312-092EA42F9FA8}"/>
              </a:ext>
            </a:extLst>
          </p:cNvPr>
          <p:cNvSpPr/>
          <p:nvPr/>
        </p:nvSpPr>
        <p:spPr>
          <a:xfrm>
            <a:off x="4368800" y="1778000"/>
            <a:ext cx="3454400" cy="635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53051-F2B9-4F02-966D-2751A63D8DAE}"/>
              </a:ext>
            </a:extLst>
          </p:cNvPr>
          <p:cNvSpPr txBox="1"/>
          <p:nvPr/>
        </p:nvSpPr>
        <p:spPr>
          <a:xfrm>
            <a:off x="4648200" y="2082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LOGGING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379FFE-FC48-491E-99BC-2DAE4C05249E}"/>
              </a:ext>
            </a:extLst>
          </p:cNvPr>
          <p:cNvSpPr txBox="1"/>
          <p:nvPr/>
        </p:nvSpPr>
        <p:spPr>
          <a:xfrm>
            <a:off x="4648200" y="2413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What exactly happened?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E1FE66-94BD-4749-83EE-6DF26A31603F}"/>
              </a:ext>
            </a:extLst>
          </p:cNvPr>
          <p:cNvSpPr/>
          <p:nvPr/>
        </p:nvSpPr>
        <p:spPr>
          <a:xfrm>
            <a:off x="4648200" y="29210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327B30-AF59-474E-8311-6DAC91FB0AB0}"/>
              </a:ext>
            </a:extLst>
          </p:cNvPr>
          <p:cNvSpPr txBox="1"/>
          <p:nvPr/>
        </p:nvSpPr>
        <p:spPr>
          <a:xfrm>
            <a:off x="4648200" y="3098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112E50-FED0-4D23-85A8-7822879CF071}"/>
              </a:ext>
            </a:extLst>
          </p:cNvPr>
          <p:cNvSpPr txBox="1"/>
          <p:nvPr/>
        </p:nvSpPr>
        <p:spPr>
          <a:xfrm>
            <a:off x="4648200" y="33274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Timestamped, high-cardinality event records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3810CC-062D-47B9-A314-90A4C33B087D}"/>
              </a:ext>
            </a:extLst>
          </p:cNvPr>
          <p:cNvSpPr txBox="1"/>
          <p:nvPr/>
        </p:nvSpPr>
        <p:spPr>
          <a:xfrm>
            <a:off x="4648200" y="37846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STRENGTH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0B40B5-9C06-401C-BDEF-481A64078016}"/>
              </a:ext>
            </a:extLst>
          </p:cNvPr>
          <p:cNvSpPr txBox="1"/>
          <p:nvPr/>
        </p:nvSpPr>
        <p:spPr>
          <a:xfrm>
            <a:off x="4648200" y="40132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Rich detail and exact error messages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230C03-ACCC-4106-A435-CE32BF1B0022}"/>
              </a:ext>
            </a:extLst>
          </p:cNvPr>
          <p:cNvSpPr txBox="1"/>
          <p:nvPr/>
        </p:nvSpPr>
        <p:spPr>
          <a:xfrm>
            <a:off x="4648200" y="4470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LIMIT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5ADBE6-F023-4ABF-B7E0-60CC146ACBAF}"/>
              </a:ext>
            </a:extLst>
          </p:cNvPr>
          <p:cNvSpPr txBox="1"/>
          <p:nvPr/>
        </p:nvSpPr>
        <p:spPr>
          <a:xfrm>
            <a:off x="4648200" y="46990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Volume and cost grow quickly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7D83EA-C378-43DC-8430-35256774FE16}"/>
              </a:ext>
            </a:extLst>
          </p:cNvPr>
          <p:cNvSpPr txBox="1"/>
          <p:nvPr/>
        </p:nvSpPr>
        <p:spPr>
          <a:xfrm>
            <a:off x="4648200" y="5156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TOOLING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1FC01-65A3-468B-ADE6-00A4563AEB4D}"/>
              </a:ext>
            </a:extLst>
          </p:cNvPr>
          <p:cNvSpPr txBox="1"/>
          <p:nvPr/>
        </p:nvSpPr>
        <p:spPr>
          <a:xfrm>
            <a:off x="4648200" y="53848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Loki, Elasticsearch, Splunk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A335C7B-0759-41DE-A837-CAD6B7641F42}"/>
              </a:ext>
            </a:extLst>
          </p:cNvPr>
          <p:cNvSpPr/>
          <p:nvPr/>
        </p:nvSpPr>
        <p:spPr>
          <a:xfrm>
            <a:off x="8128000" y="1778000"/>
            <a:ext cx="3454400" cy="41402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B49C07-E22F-4EDA-AEB5-4818C282FCEA}"/>
              </a:ext>
            </a:extLst>
          </p:cNvPr>
          <p:cNvSpPr/>
          <p:nvPr/>
        </p:nvSpPr>
        <p:spPr>
          <a:xfrm>
            <a:off x="8128000" y="1778000"/>
            <a:ext cx="3454400" cy="635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F22188-CC9B-451C-8BC9-5A370F152CBF}"/>
              </a:ext>
            </a:extLst>
          </p:cNvPr>
          <p:cNvSpPr txBox="1"/>
          <p:nvPr/>
        </p:nvSpPr>
        <p:spPr>
          <a:xfrm>
            <a:off x="8407400" y="2082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</a:rPr>
              <a:t>TRACING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0751DD-34B4-4F4C-B098-5722E3857BF0}"/>
              </a:ext>
            </a:extLst>
          </p:cNvPr>
          <p:cNvSpPr txBox="1"/>
          <p:nvPr/>
        </p:nvSpPr>
        <p:spPr>
          <a:xfrm>
            <a:off x="8407400" y="2413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Where did time go?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9FE889-6EC0-4413-BAEE-13CF63B3517B}"/>
              </a:ext>
            </a:extLst>
          </p:cNvPr>
          <p:cNvSpPr/>
          <p:nvPr/>
        </p:nvSpPr>
        <p:spPr>
          <a:xfrm>
            <a:off x="8407400" y="29210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43C923-767D-4E07-BFEC-CFED7591E162}"/>
              </a:ext>
            </a:extLst>
          </p:cNvPr>
          <p:cNvSpPr txBox="1"/>
          <p:nvPr/>
        </p:nvSpPr>
        <p:spPr>
          <a:xfrm>
            <a:off x="8407400" y="3098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7AFB6D-D067-45FC-9C29-836C8C20D8C9}"/>
              </a:ext>
            </a:extLst>
          </p:cNvPr>
          <p:cNvSpPr txBox="1"/>
          <p:nvPr/>
        </p:nvSpPr>
        <p:spPr>
          <a:xfrm>
            <a:off x="8407400" y="33274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Spans linked into an end-to-end request path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14038F-6D92-4A2F-98FF-8224C491AD55}"/>
              </a:ext>
            </a:extLst>
          </p:cNvPr>
          <p:cNvSpPr txBox="1"/>
          <p:nvPr/>
        </p:nvSpPr>
        <p:spPr>
          <a:xfrm>
            <a:off x="8407400" y="37846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STRENGTH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76F971-1CF2-4D1A-89E8-E3A34F021E36}"/>
              </a:ext>
            </a:extLst>
          </p:cNvPr>
          <p:cNvSpPr txBox="1"/>
          <p:nvPr/>
        </p:nvSpPr>
        <p:spPr>
          <a:xfrm>
            <a:off x="8407400" y="40132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Pinpoints slow service in a distributed call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A11199-DA56-4270-B1DC-2FCD3032A63A}"/>
              </a:ext>
            </a:extLst>
          </p:cNvPr>
          <p:cNvSpPr txBox="1"/>
          <p:nvPr/>
        </p:nvSpPr>
        <p:spPr>
          <a:xfrm>
            <a:off x="8407400" y="4470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LIMIT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252C37-0234-4898-BC8D-FDB9E9C00F68}"/>
              </a:ext>
            </a:extLst>
          </p:cNvPr>
          <p:cNvSpPr txBox="1"/>
          <p:nvPr/>
        </p:nvSpPr>
        <p:spPr>
          <a:xfrm>
            <a:off x="8407400" y="46990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Needs instrumentation and sampling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B4CE6B-E352-4E36-9588-006A4E5EBD9B}"/>
              </a:ext>
            </a:extLst>
          </p:cNvPr>
          <p:cNvSpPr txBox="1"/>
          <p:nvPr/>
        </p:nvSpPr>
        <p:spPr>
          <a:xfrm>
            <a:off x="8407400" y="5156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TOOLING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7EB910-6F0F-4521-AE38-D244EE6767C9}"/>
              </a:ext>
            </a:extLst>
          </p:cNvPr>
          <p:cNvSpPr txBox="1"/>
          <p:nvPr/>
        </p:nvSpPr>
        <p:spPr>
          <a:xfrm>
            <a:off x="8407400" y="53848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Tempo, Jaeger, OpenTelemetry</a:t>
            </a:r>
          </a:p>
        </p:txBody>
      </p:sp>
    </p:spTree>
    <p:extLst>
      <p:ext uri="{BB962C8B-B14F-4D97-AF65-F5344CB8AC3E}">
        <p14:creationId xmlns:p14="http://schemas.microsoft.com/office/powerpoint/2010/main" val="299772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FF7F-0D63-18B9-396D-18D25767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Observability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DB133-90D4-49C5-8C7D-38DBF293B854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8978C-4177-4DEE-AA27-26289D5516F1}"/>
              </a:ext>
            </a:extLst>
          </p:cNvPr>
          <p:cNvSpPr txBox="1"/>
          <p:nvPr/>
        </p:nvSpPr>
        <p:spPr>
          <a:xfrm>
            <a:off x="609600" y="11938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Monitoring watches known failure modes. Observability lets you ask new questions about failures you never anticipated.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815160-1E28-4356-B16D-822D26B2A7EE}"/>
              </a:ext>
            </a:extLst>
          </p:cNvPr>
          <p:cNvSpPr/>
          <p:nvPr/>
        </p:nvSpPr>
        <p:spPr>
          <a:xfrm>
            <a:off x="609600" y="1778000"/>
            <a:ext cx="10972800" cy="6604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FF9830"/>
                </a:solidFill>
              </a:rPr>
              <a:t>OBSERVABILITY  : infer the internal state of a system from the data it emits</a:t>
            </a: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E699130-6799-4A51-A3D0-B9B89B1070A8}"/>
              </a:ext>
            </a:extLst>
          </p:cNvPr>
          <p:cNvSpPr/>
          <p:nvPr/>
        </p:nvSpPr>
        <p:spPr>
          <a:xfrm>
            <a:off x="2146300" y="2540000"/>
            <a:ext cx="381000" cy="330200"/>
          </a:xfrm>
          <a:prstGeom prst="upArrow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793BED-288D-4674-B47F-2FE713D03CAA}"/>
              </a:ext>
            </a:extLst>
          </p:cNvPr>
          <p:cNvSpPr/>
          <p:nvPr/>
        </p:nvSpPr>
        <p:spPr>
          <a:xfrm>
            <a:off x="609600" y="2971800"/>
            <a:ext cx="3454400" cy="2946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B0EA7-9C69-4ADF-AB19-0F1C58B5FA62}"/>
              </a:ext>
            </a:extLst>
          </p:cNvPr>
          <p:cNvSpPr txBox="1"/>
          <p:nvPr/>
        </p:nvSpPr>
        <p:spPr>
          <a:xfrm>
            <a:off x="889000" y="32512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46800"/>
                </a:solidFill>
              </a:rPr>
              <a:t>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F9630-C025-40FF-9336-AB8A17A5DBD5}"/>
              </a:ext>
            </a:extLst>
          </p:cNvPr>
          <p:cNvSpPr txBox="1"/>
          <p:nvPr/>
        </p:nvSpPr>
        <p:spPr>
          <a:xfrm>
            <a:off x="889000" y="3606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What is happening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82729-66D0-4E1E-8F44-31537B8187EC}"/>
              </a:ext>
            </a:extLst>
          </p:cNvPr>
          <p:cNvSpPr/>
          <p:nvPr/>
        </p:nvSpPr>
        <p:spPr>
          <a:xfrm>
            <a:off x="889000" y="40386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21F869-1DFD-41D1-8CA9-E5DE88512D37}"/>
              </a:ext>
            </a:extLst>
          </p:cNvPr>
          <p:cNvSpPr/>
          <p:nvPr/>
        </p:nvSpPr>
        <p:spPr>
          <a:xfrm>
            <a:off x="889000" y="43307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9FC02-E856-4CF3-B1FE-93F8A6C6AE2B}"/>
              </a:ext>
            </a:extLst>
          </p:cNvPr>
          <p:cNvSpPr txBox="1"/>
          <p:nvPr/>
        </p:nvSpPr>
        <p:spPr>
          <a:xfrm>
            <a:off x="1092200" y="4241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Aggregated numbers over time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51741E-8C88-40EE-9507-7C0F484F290E}"/>
              </a:ext>
            </a:extLst>
          </p:cNvPr>
          <p:cNvSpPr/>
          <p:nvPr/>
        </p:nvSpPr>
        <p:spPr>
          <a:xfrm>
            <a:off x="889000" y="47117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5DED2-9F40-4190-AD5A-2B6F5BEAB4E5}"/>
              </a:ext>
            </a:extLst>
          </p:cNvPr>
          <p:cNvSpPr txBox="1"/>
          <p:nvPr/>
        </p:nvSpPr>
        <p:spPr>
          <a:xfrm>
            <a:off x="1092200" y="4622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Low cost, long retention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BD3AA0-F567-463E-AE25-245B318C3953}"/>
              </a:ext>
            </a:extLst>
          </p:cNvPr>
          <p:cNvSpPr/>
          <p:nvPr/>
        </p:nvSpPr>
        <p:spPr>
          <a:xfrm>
            <a:off x="889000" y="50927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EF6EAD-ED4C-44B7-8723-9D0292359421}"/>
              </a:ext>
            </a:extLst>
          </p:cNvPr>
          <p:cNvSpPr txBox="1"/>
          <p:nvPr/>
        </p:nvSpPr>
        <p:spPr>
          <a:xfrm>
            <a:off x="1092200" y="5003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Drives alerts and SLOs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618CA8-46E3-45E3-B27E-F8FA39D3E181}"/>
              </a:ext>
            </a:extLst>
          </p:cNvPr>
          <p:cNvSpPr/>
          <p:nvPr/>
        </p:nvSpPr>
        <p:spPr>
          <a:xfrm>
            <a:off x="889000" y="54737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F750F7-DF70-4412-ABE8-76B9E040FD57}"/>
              </a:ext>
            </a:extLst>
          </p:cNvPr>
          <p:cNvSpPr txBox="1"/>
          <p:nvPr/>
        </p:nvSpPr>
        <p:spPr>
          <a:xfrm>
            <a:off x="1092200" y="5384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e.g. request rate, p95 latency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ED5BBC6B-6FDC-4BA9-8BD8-DF793DAF6D24}"/>
              </a:ext>
            </a:extLst>
          </p:cNvPr>
          <p:cNvSpPr/>
          <p:nvPr/>
        </p:nvSpPr>
        <p:spPr>
          <a:xfrm>
            <a:off x="5905500" y="2540000"/>
            <a:ext cx="381000" cy="330200"/>
          </a:xfrm>
          <a:prstGeom prst="upArrow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C9C1B4-13A3-4062-BEDA-14B5CAC1ECB3}"/>
              </a:ext>
            </a:extLst>
          </p:cNvPr>
          <p:cNvSpPr/>
          <p:nvPr/>
        </p:nvSpPr>
        <p:spPr>
          <a:xfrm>
            <a:off x="4368800" y="2971800"/>
            <a:ext cx="3454400" cy="2946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3274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D882E-2025-4FF4-8461-AECB86215222}"/>
              </a:ext>
            </a:extLst>
          </p:cNvPr>
          <p:cNvSpPr txBox="1"/>
          <p:nvPr/>
        </p:nvSpPr>
        <p:spPr>
          <a:xfrm>
            <a:off x="4648200" y="32512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794F2"/>
                </a:solidFill>
              </a:rPr>
              <a:t>LOGS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2509C-8DBF-4EAB-8F3B-687D8A0905B5}"/>
              </a:ext>
            </a:extLst>
          </p:cNvPr>
          <p:cNvSpPr txBox="1"/>
          <p:nvPr/>
        </p:nvSpPr>
        <p:spPr>
          <a:xfrm>
            <a:off x="4648200" y="3606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Why it happened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C32C37-404D-496F-BFD6-B8ED8C035F6D}"/>
              </a:ext>
            </a:extLst>
          </p:cNvPr>
          <p:cNvSpPr/>
          <p:nvPr/>
        </p:nvSpPr>
        <p:spPr>
          <a:xfrm>
            <a:off x="4648200" y="40386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5DAD8A-A889-41D6-9A54-DA683ADA7E44}"/>
              </a:ext>
            </a:extLst>
          </p:cNvPr>
          <p:cNvSpPr/>
          <p:nvPr/>
        </p:nvSpPr>
        <p:spPr>
          <a:xfrm>
            <a:off x="4648200" y="4330700"/>
            <a:ext cx="76200" cy="762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D79B2-DEFF-4B86-B46F-1479EF374435}"/>
              </a:ext>
            </a:extLst>
          </p:cNvPr>
          <p:cNvSpPr txBox="1"/>
          <p:nvPr/>
        </p:nvSpPr>
        <p:spPr>
          <a:xfrm>
            <a:off x="4851400" y="4241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Discrete events with context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7BF3C3-4B7F-45B3-B1A3-8C6CE976D8FF}"/>
              </a:ext>
            </a:extLst>
          </p:cNvPr>
          <p:cNvSpPr/>
          <p:nvPr/>
        </p:nvSpPr>
        <p:spPr>
          <a:xfrm>
            <a:off x="4648200" y="4711700"/>
            <a:ext cx="76200" cy="762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C3B588-DF4C-46DA-A8F3-AAD83635E140}"/>
              </a:ext>
            </a:extLst>
          </p:cNvPr>
          <p:cNvSpPr txBox="1"/>
          <p:nvPr/>
        </p:nvSpPr>
        <p:spPr>
          <a:xfrm>
            <a:off x="4851400" y="4622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High detail, high volume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50EE242-E5C2-4F0D-9B33-9FC1FEF25942}"/>
              </a:ext>
            </a:extLst>
          </p:cNvPr>
          <p:cNvSpPr/>
          <p:nvPr/>
        </p:nvSpPr>
        <p:spPr>
          <a:xfrm>
            <a:off x="4648200" y="5092700"/>
            <a:ext cx="76200" cy="762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1553C1-5416-43E9-8682-1C99E5C9A30F}"/>
              </a:ext>
            </a:extLst>
          </p:cNvPr>
          <p:cNvSpPr txBox="1"/>
          <p:nvPr/>
        </p:nvSpPr>
        <p:spPr>
          <a:xfrm>
            <a:off x="4851400" y="5003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Used for root-cause forensics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E471FDB-21F8-44A7-A75C-F224280F01EF}"/>
              </a:ext>
            </a:extLst>
          </p:cNvPr>
          <p:cNvSpPr/>
          <p:nvPr/>
        </p:nvSpPr>
        <p:spPr>
          <a:xfrm>
            <a:off x="4648200" y="5473700"/>
            <a:ext cx="76200" cy="762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9977BD-A03F-43A7-97D5-A44CD369F732}"/>
              </a:ext>
            </a:extLst>
          </p:cNvPr>
          <p:cNvSpPr txBox="1"/>
          <p:nvPr/>
        </p:nvSpPr>
        <p:spPr>
          <a:xfrm>
            <a:off x="4851400" y="5384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e.g. stack trace, audit entry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B060936C-D27F-4F76-8D5B-E7693BDABE48}"/>
              </a:ext>
            </a:extLst>
          </p:cNvPr>
          <p:cNvSpPr/>
          <p:nvPr/>
        </p:nvSpPr>
        <p:spPr>
          <a:xfrm>
            <a:off x="9664700" y="2540000"/>
            <a:ext cx="381000" cy="330200"/>
          </a:xfrm>
          <a:prstGeom prst="upArrow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BBA95AD-F82D-466E-9279-E14C07B433A2}"/>
              </a:ext>
            </a:extLst>
          </p:cNvPr>
          <p:cNvSpPr/>
          <p:nvPr/>
        </p:nvSpPr>
        <p:spPr>
          <a:xfrm>
            <a:off x="8128000" y="2971800"/>
            <a:ext cx="3454400" cy="2946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86F15C-DB91-48A4-AE0B-BAB916B395D0}"/>
              </a:ext>
            </a:extLst>
          </p:cNvPr>
          <p:cNvSpPr txBox="1"/>
          <p:nvPr/>
        </p:nvSpPr>
        <p:spPr>
          <a:xfrm>
            <a:off x="8407400" y="32512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B877D9"/>
                </a:solidFill>
              </a:rPr>
              <a:t>TRACES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7F74C8-C668-4AB9-80E3-76DD93D2FB6F}"/>
              </a:ext>
            </a:extLst>
          </p:cNvPr>
          <p:cNvSpPr txBox="1"/>
          <p:nvPr/>
        </p:nvSpPr>
        <p:spPr>
          <a:xfrm>
            <a:off x="8407400" y="3606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Where it happened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74B6D4-1FC6-4F24-96A6-A57F160ACB50}"/>
              </a:ext>
            </a:extLst>
          </p:cNvPr>
          <p:cNvSpPr/>
          <p:nvPr/>
        </p:nvSpPr>
        <p:spPr>
          <a:xfrm>
            <a:off x="8407400" y="4038600"/>
            <a:ext cx="28956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7F06735-E0E7-4C3B-B2BD-CEE0A3236772}"/>
              </a:ext>
            </a:extLst>
          </p:cNvPr>
          <p:cNvSpPr/>
          <p:nvPr/>
        </p:nvSpPr>
        <p:spPr>
          <a:xfrm>
            <a:off x="8407400" y="4330700"/>
            <a:ext cx="76200" cy="76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746843-DC4E-4C33-BA6C-D176BBCAB131}"/>
              </a:ext>
            </a:extLst>
          </p:cNvPr>
          <p:cNvSpPr txBox="1"/>
          <p:nvPr/>
        </p:nvSpPr>
        <p:spPr>
          <a:xfrm>
            <a:off x="8610600" y="4241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Request path across services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53582B3-92D6-48E6-AD81-ECD25473FC4B}"/>
              </a:ext>
            </a:extLst>
          </p:cNvPr>
          <p:cNvSpPr/>
          <p:nvPr/>
        </p:nvSpPr>
        <p:spPr>
          <a:xfrm>
            <a:off x="8407400" y="4711700"/>
            <a:ext cx="76200" cy="76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CC361A-DF56-46D5-86CB-2771BCBF24BF}"/>
              </a:ext>
            </a:extLst>
          </p:cNvPr>
          <p:cNvSpPr txBox="1"/>
          <p:nvPr/>
        </p:nvSpPr>
        <p:spPr>
          <a:xfrm>
            <a:off x="8610600" y="4622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Shows latency per hop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509D02A-3156-42E6-A8FB-8EF12788E2C5}"/>
              </a:ext>
            </a:extLst>
          </p:cNvPr>
          <p:cNvSpPr/>
          <p:nvPr/>
        </p:nvSpPr>
        <p:spPr>
          <a:xfrm>
            <a:off x="8407400" y="5092700"/>
            <a:ext cx="76200" cy="76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83510C-5AA8-4C69-AFEC-EDBC9C1E9C98}"/>
              </a:ext>
            </a:extLst>
          </p:cNvPr>
          <p:cNvSpPr txBox="1"/>
          <p:nvPr/>
        </p:nvSpPr>
        <p:spPr>
          <a:xfrm>
            <a:off x="8610600" y="5003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Reveals dependency bottlenecks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35AE3C5-89DC-469E-B354-EC1D8CD66708}"/>
              </a:ext>
            </a:extLst>
          </p:cNvPr>
          <p:cNvSpPr/>
          <p:nvPr/>
        </p:nvSpPr>
        <p:spPr>
          <a:xfrm>
            <a:off x="8407400" y="5473700"/>
            <a:ext cx="76200" cy="76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3098A1-BDE7-4FAB-9CDB-25DB3FE7678C}"/>
              </a:ext>
            </a:extLst>
          </p:cNvPr>
          <p:cNvSpPr txBox="1"/>
          <p:nvPr/>
        </p:nvSpPr>
        <p:spPr>
          <a:xfrm>
            <a:off x="8610600" y="53848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e.g. checkout → auth → db</a:t>
            </a:r>
          </a:p>
        </p:txBody>
      </p:sp>
    </p:spTree>
    <p:extLst>
      <p:ext uri="{BB962C8B-B14F-4D97-AF65-F5344CB8AC3E}">
        <p14:creationId xmlns:p14="http://schemas.microsoft.com/office/powerpoint/2010/main" val="267455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90D4-F0C7-37F2-1C5D-502A042A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Modern Monitoring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DF948-04ED-438E-8165-FE4FE48AA687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877AB-F522-4289-A2C7-4A8C76C2DE2C}"/>
              </a:ext>
            </a:extLst>
          </p:cNvPr>
          <p:cNvSpPr txBox="1"/>
          <p:nvPr/>
        </p:nvSpPr>
        <p:spPr>
          <a:xfrm>
            <a:off x="457200" y="1193800"/>
            <a:ext cx="1117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Telemetry flows left to right: emitted at the source, collected by agents, stored in purpose-built backends, then queried by Grafana.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38D127-DE6C-49AB-ABB5-92F06B3DECF9}"/>
              </a:ext>
            </a:extLst>
          </p:cNvPr>
          <p:cNvSpPr/>
          <p:nvPr/>
        </p:nvSpPr>
        <p:spPr>
          <a:xfrm>
            <a:off x="457200" y="1854200"/>
            <a:ext cx="2514600" cy="3403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FCA00C-889D-4E9C-9A8D-05FE2BEF3ADD}"/>
              </a:ext>
            </a:extLst>
          </p:cNvPr>
          <p:cNvSpPr/>
          <p:nvPr/>
        </p:nvSpPr>
        <p:spPr>
          <a:xfrm>
            <a:off x="457200" y="1854200"/>
            <a:ext cx="2514600" cy="431800"/>
          </a:xfrm>
          <a:prstGeom prst="rect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01  SOURCES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0B7A0C-90A3-4EDA-8844-5F7E6F68FE7C}"/>
              </a:ext>
            </a:extLst>
          </p:cNvPr>
          <p:cNvSpPr/>
          <p:nvPr/>
        </p:nvSpPr>
        <p:spPr>
          <a:xfrm>
            <a:off x="685800" y="2590800"/>
            <a:ext cx="76200" cy="762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21BA4-6EAE-472F-8579-C7048A73BA93}"/>
              </a:ext>
            </a:extLst>
          </p:cNvPr>
          <p:cNvSpPr txBox="1"/>
          <p:nvPr/>
        </p:nvSpPr>
        <p:spPr>
          <a:xfrm>
            <a:off x="889000" y="24892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Applications &amp; APIs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BC8048-9F79-46C6-BD64-56220E911A9F}"/>
              </a:ext>
            </a:extLst>
          </p:cNvPr>
          <p:cNvSpPr/>
          <p:nvPr/>
        </p:nvSpPr>
        <p:spPr>
          <a:xfrm>
            <a:off x="685800" y="3124200"/>
            <a:ext cx="76200" cy="762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1ADFC-31D1-4667-9A97-9F73FB914E1D}"/>
              </a:ext>
            </a:extLst>
          </p:cNvPr>
          <p:cNvSpPr txBox="1"/>
          <p:nvPr/>
        </p:nvSpPr>
        <p:spPr>
          <a:xfrm>
            <a:off x="889000" y="30226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Hosts and VMs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1343E0-DE88-4BD7-AE08-2239A36CC036}"/>
              </a:ext>
            </a:extLst>
          </p:cNvPr>
          <p:cNvSpPr/>
          <p:nvPr/>
        </p:nvSpPr>
        <p:spPr>
          <a:xfrm>
            <a:off x="685800" y="3657600"/>
            <a:ext cx="76200" cy="762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AEF91-8BAB-48B0-B4E7-6E8A3AF2E0B1}"/>
              </a:ext>
            </a:extLst>
          </p:cNvPr>
          <p:cNvSpPr txBox="1"/>
          <p:nvPr/>
        </p:nvSpPr>
        <p:spPr>
          <a:xfrm>
            <a:off x="889000" y="35560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Containers / Kubernetes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2961FB-4E0D-48D7-A91C-730761B6F065}"/>
              </a:ext>
            </a:extLst>
          </p:cNvPr>
          <p:cNvSpPr/>
          <p:nvPr/>
        </p:nvSpPr>
        <p:spPr>
          <a:xfrm>
            <a:off x="685800" y="4191000"/>
            <a:ext cx="76200" cy="762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16C67-49A3-4E2F-A036-3FFB539536E9}"/>
              </a:ext>
            </a:extLst>
          </p:cNvPr>
          <p:cNvSpPr txBox="1"/>
          <p:nvPr/>
        </p:nvSpPr>
        <p:spPr>
          <a:xfrm>
            <a:off x="889000" y="40894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Databases &amp; queues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3F395C-05B6-4760-A1E1-87FF7387E1B3}"/>
              </a:ext>
            </a:extLst>
          </p:cNvPr>
          <p:cNvSpPr/>
          <p:nvPr/>
        </p:nvSpPr>
        <p:spPr>
          <a:xfrm>
            <a:off x="685800" y="4724400"/>
            <a:ext cx="76200" cy="762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1A4D9-36D1-4A43-A237-0EE9DD070D2F}"/>
              </a:ext>
            </a:extLst>
          </p:cNvPr>
          <p:cNvSpPr txBox="1"/>
          <p:nvPr/>
        </p:nvSpPr>
        <p:spPr>
          <a:xfrm>
            <a:off x="889000" y="46228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Cloud provider services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D35E801-70D3-4CB4-A7BC-C1AD1A66BA35}"/>
              </a:ext>
            </a:extLst>
          </p:cNvPr>
          <p:cNvSpPr/>
          <p:nvPr/>
        </p:nvSpPr>
        <p:spPr>
          <a:xfrm>
            <a:off x="3048000" y="3378200"/>
            <a:ext cx="279400" cy="279400"/>
          </a:xfrm>
          <a:prstGeom prst="right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4D4563-CB0A-4754-AA9D-2D303027F651}"/>
              </a:ext>
            </a:extLst>
          </p:cNvPr>
          <p:cNvSpPr/>
          <p:nvPr/>
        </p:nvSpPr>
        <p:spPr>
          <a:xfrm>
            <a:off x="3378200" y="1854200"/>
            <a:ext cx="2514600" cy="3403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68D76C-0B9A-4B28-A49A-0B08F9986692}"/>
              </a:ext>
            </a:extLst>
          </p:cNvPr>
          <p:cNvSpPr/>
          <p:nvPr/>
        </p:nvSpPr>
        <p:spPr>
          <a:xfrm>
            <a:off x="3378200" y="1854200"/>
            <a:ext cx="2514600" cy="431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02  COLLECTION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E3123B1-A171-44DE-B91C-53F003909014}"/>
              </a:ext>
            </a:extLst>
          </p:cNvPr>
          <p:cNvSpPr/>
          <p:nvPr/>
        </p:nvSpPr>
        <p:spPr>
          <a:xfrm>
            <a:off x="3606800" y="25908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91E7B5-DC79-469F-8E13-54C52BBFC40F}"/>
              </a:ext>
            </a:extLst>
          </p:cNvPr>
          <p:cNvSpPr txBox="1"/>
          <p:nvPr/>
        </p:nvSpPr>
        <p:spPr>
          <a:xfrm>
            <a:off x="3810000" y="24892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Prometheus exporters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BDA877-70AC-41C5-834B-40E7BD60F03F}"/>
              </a:ext>
            </a:extLst>
          </p:cNvPr>
          <p:cNvSpPr/>
          <p:nvPr/>
        </p:nvSpPr>
        <p:spPr>
          <a:xfrm>
            <a:off x="3606800" y="31242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FBCDC-080F-4AC2-A899-B9E6700F5248}"/>
              </a:ext>
            </a:extLst>
          </p:cNvPr>
          <p:cNvSpPr txBox="1"/>
          <p:nvPr/>
        </p:nvSpPr>
        <p:spPr>
          <a:xfrm>
            <a:off x="3810000" y="30226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OpenTelemetry Collector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D41056-7846-4500-91FD-B21146C9737F}"/>
              </a:ext>
            </a:extLst>
          </p:cNvPr>
          <p:cNvSpPr/>
          <p:nvPr/>
        </p:nvSpPr>
        <p:spPr>
          <a:xfrm>
            <a:off x="3606800" y="36576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651B90-91C0-49E0-A718-41508C3F1032}"/>
              </a:ext>
            </a:extLst>
          </p:cNvPr>
          <p:cNvSpPr txBox="1"/>
          <p:nvPr/>
        </p:nvSpPr>
        <p:spPr>
          <a:xfrm>
            <a:off x="3810000" y="35560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Promtail / Grafana Agent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0F71AD-70F0-48E4-9B1E-184A0AA219DE}"/>
              </a:ext>
            </a:extLst>
          </p:cNvPr>
          <p:cNvSpPr/>
          <p:nvPr/>
        </p:nvSpPr>
        <p:spPr>
          <a:xfrm>
            <a:off x="3606800" y="41910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D2714-EA0B-4282-AAFD-AF46334D23CD}"/>
              </a:ext>
            </a:extLst>
          </p:cNvPr>
          <p:cNvSpPr txBox="1"/>
          <p:nvPr/>
        </p:nvSpPr>
        <p:spPr>
          <a:xfrm>
            <a:off x="3810000" y="40894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Push gateways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6F67E2-168E-4263-92F4-5E3F1CC08965}"/>
              </a:ext>
            </a:extLst>
          </p:cNvPr>
          <p:cNvSpPr/>
          <p:nvPr/>
        </p:nvSpPr>
        <p:spPr>
          <a:xfrm>
            <a:off x="3606800" y="47244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9241E9-CA8F-4603-82A9-7A19456749C2}"/>
              </a:ext>
            </a:extLst>
          </p:cNvPr>
          <p:cNvSpPr txBox="1"/>
          <p:nvPr/>
        </p:nvSpPr>
        <p:spPr>
          <a:xfrm>
            <a:off x="3810000" y="46228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Scrape &amp; pipeline rules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2A72C477-15DA-4CAF-9203-A136BE9C85E8}"/>
              </a:ext>
            </a:extLst>
          </p:cNvPr>
          <p:cNvSpPr/>
          <p:nvPr/>
        </p:nvSpPr>
        <p:spPr>
          <a:xfrm>
            <a:off x="5969000" y="3378200"/>
            <a:ext cx="279400" cy="279400"/>
          </a:xfrm>
          <a:prstGeom prst="right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1E0D74-4435-4C72-92BE-58CBE1B85F05}"/>
              </a:ext>
            </a:extLst>
          </p:cNvPr>
          <p:cNvSpPr/>
          <p:nvPr/>
        </p:nvSpPr>
        <p:spPr>
          <a:xfrm>
            <a:off x="6299200" y="1854200"/>
            <a:ext cx="2514600" cy="3403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93A0CE-AC14-4FF3-B747-2E40B14F6549}"/>
              </a:ext>
            </a:extLst>
          </p:cNvPr>
          <p:cNvSpPr/>
          <p:nvPr/>
        </p:nvSpPr>
        <p:spPr>
          <a:xfrm>
            <a:off x="6299200" y="1854200"/>
            <a:ext cx="2514600" cy="431800"/>
          </a:xfrm>
          <a:prstGeom prst="rect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03  STORAGE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9AC7A9-9E22-4F33-A084-952556A11ABC}"/>
              </a:ext>
            </a:extLst>
          </p:cNvPr>
          <p:cNvSpPr/>
          <p:nvPr/>
        </p:nvSpPr>
        <p:spPr>
          <a:xfrm>
            <a:off x="6527800" y="2590800"/>
            <a:ext cx="76200" cy="762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331CAD-CB7E-49D5-9568-5D909F6FB9E4}"/>
              </a:ext>
            </a:extLst>
          </p:cNvPr>
          <p:cNvSpPr txBox="1"/>
          <p:nvPr/>
        </p:nvSpPr>
        <p:spPr>
          <a:xfrm>
            <a:off x="6731000" y="24892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Prometheus TSDB (metrics)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B4AFB96-7743-4392-B838-ED5D5FC0780B}"/>
              </a:ext>
            </a:extLst>
          </p:cNvPr>
          <p:cNvSpPr/>
          <p:nvPr/>
        </p:nvSpPr>
        <p:spPr>
          <a:xfrm>
            <a:off x="6527800" y="3124200"/>
            <a:ext cx="76200" cy="762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426F21-A490-4567-820F-99CB9A2C8D7C}"/>
              </a:ext>
            </a:extLst>
          </p:cNvPr>
          <p:cNvSpPr txBox="1"/>
          <p:nvPr/>
        </p:nvSpPr>
        <p:spPr>
          <a:xfrm>
            <a:off x="6731000" y="30226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Loki (logs)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47D7EF-08D8-4223-8E54-79ECAFE95447}"/>
              </a:ext>
            </a:extLst>
          </p:cNvPr>
          <p:cNvSpPr/>
          <p:nvPr/>
        </p:nvSpPr>
        <p:spPr>
          <a:xfrm>
            <a:off x="6527800" y="3657600"/>
            <a:ext cx="76200" cy="762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46A137-20A4-4ADA-8CD0-0426491BB082}"/>
              </a:ext>
            </a:extLst>
          </p:cNvPr>
          <p:cNvSpPr txBox="1"/>
          <p:nvPr/>
        </p:nvSpPr>
        <p:spPr>
          <a:xfrm>
            <a:off x="6731000" y="35560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Tempo (traces)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EC327C1-FC66-4FCA-A86A-A89A310B3673}"/>
              </a:ext>
            </a:extLst>
          </p:cNvPr>
          <p:cNvSpPr/>
          <p:nvPr/>
        </p:nvSpPr>
        <p:spPr>
          <a:xfrm>
            <a:off x="6527800" y="4191000"/>
            <a:ext cx="76200" cy="762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FF10FC-90D1-45B0-A01A-9B2A130B26FD}"/>
              </a:ext>
            </a:extLst>
          </p:cNvPr>
          <p:cNvSpPr txBox="1"/>
          <p:nvPr/>
        </p:nvSpPr>
        <p:spPr>
          <a:xfrm>
            <a:off x="6731000" y="40894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Retention &amp; downsampling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BC1996-0F85-41CA-B05B-9FCE3DAD7E6F}"/>
              </a:ext>
            </a:extLst>
          </p:cNvPr>
          <p:cNvSpPr/>
          <p:nvPr/>
        </p:nvSpPr>
        <p:spPr>
          <a:xfrm>
            <a:off x="6527800" y="4724400"/>
            <a:ext cx="76200" cy="762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BD66EC-038B-4633-8DAD-B0A3AF908488}"/>
              </a:ext>
            </a:extLst>
          </p:cNvPr>
          <p:cNvSpPr txBox="1"/>
          <p:nvPr/>
        </p:nvSpPr>
        <p:spPr>
          <a:xfrm>
            <a:off x="6731000" y="46228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Long-term object storage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DA0EC52-0693-48BB-B750-BBE8ECEB5415}"/>
              </a:ext>
            </a:extLst>
          </p:cNvPr>
          <p:cNvSpPr/>
          <p:nvPr/>
        </p:nvSpPr>
        <p:spPr>
          <a:xfrm>
            <a:off x="8890000" y="3378200"/>
            <a:ext cx="279400" cy="279400"/>
          </a:xfrm>
          <a:prstGeom prst="right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AA9F5BE-AA0D-4FD4-9ABC-6BA5A8783849}"/>
              </a:ext>
            </a:extLst>
          </p:cNvPr>
          <p:cNvSpPr/>
          <p:nvPr/>
        </p:nvSpPr>
        <p:spPr>
          <a:xfrm>
            <a:off x="9220200" y="1854200"/>
            <a:ext cx="2514600" cy="3403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5441824-5D34-4DA2-AB4C-99FF113E41A6}"/>
              </a:ext>
            </a:extLst>
          </p:cNvPr>
          <p:cNvSpPr/>
          <p:nvPr/>
        </p:nvSpPr>
        <p:spPr>
          <a:xfrm>
            <a:off x="9220200" y="1854200"/>
            <a:ext cx="2514600" cy="431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04  VISUALISE &amp; ALERT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11F9BD-7259-4816-BFFD-B4CBC8EDF37E}"/>
              </a:ext>
            </a:extLst>
          </p:cNvPr>
          <p:cNvSpPr/>
          <p:nvPr/>
        </p:nvSpPr>
        <p:spPr>
          <a:xfrm>
            <a:off x="9448800" y="25908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639854-219D-45C0-8905-E2422235E5BB}"/>
              </a:ext>
            </a:extLst>
          </p:cNvPr>
          <p:cNvSpPr txBox="1"/>
          <p:nvPr/>
        </p:nvSpPr>
        <p:spPr>
          <a:xfrm>
            <a:off x="9652000" y="24892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Grafana dashboards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704483E-C584-451E-BB89-DCA73AC6EBDD}"/>
              </a:ext>
            </a:extLst>
          </p:cNvPr>
          <p:cNvSpPr/>
          <p:nvPr/>
        </p:nvSpPr>
        <p:spPr>
          <a:xfrm>
            <a:off x="9448800" y="31242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03BE96-D4F7-437B-B0F7-E79078E0EE2C}"/>
              </a:ext>
            </a:extLst>
          </p:cNvPr>
          <p:cNvSpPr txBox="1"/>
          <p:nvPr/>
        </p:nvSpPr>
        <p:spPr>
          <a:xfrm>
            <a:off x="9652000" y="30226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Explore ad-hoc queries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5BCCF05-C9CD-4105-895E-4A14EF7B5F65}"/>
              </a:ext>
            </a:extLst>
          </p:cNvPr>
          <p:cNvSpPr/>
          <p:nvPr/>
        </p:nvSpPr>
        <p:spPr>
          <a:xfrm>
            <a:off x="9448800" y="36576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5520A1-CF35-4707-98A0-D051C637746D}"/>
              </a:ext>
            </a:extLst>
          </p:cNvPr>
          <p:cNvSpPr txBox="1"/>
          <p:nvPr/>
        </p:nvSpPr>
        <p:spPr>
          <a:xfrm>
            <a:off x="9652000" y="35560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Unified alerting rules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CEDF0A6-D385-44BA-9F8E-79CD3CBD4E21}"/>
              </a:ext>
            </a:extLst>
          </p:cNvPr>
          <p:cNvSpPr/>
          <p:nvPr/>
        </p:nvSpPr>
        <p:spPr>
          <a:xfrm>
            <a:off x="9448800" y="41910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802F30-315F-4C3C-8984-E8A63FFF8949}"/>
              </a:ext>
            </a:extLst>
          </p:cNvPr>
          <p:cNvSpPr txBox="1"/>
          <p:nvPr/>
        </p:nvSpPr>
        <p:spPr>
          <a:xfrm>
            <a:off x="9652000" y="40894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Contact points &amp; routing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1BCC245-9258-4BA5-A5F5-36738945DFBC}"/>
              </a:ext>
            </a:extLst>
          </p:cNvPr>
          <p:cNvSpPr/>
          <p:nvPr/>
        </p:nvSpPr>
        <p:spPr>
          <a:xfrm>
            <a:off x="9448800" y="4724400"/>
            <a:ext cx="76200" cy="762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7A35A3-F51F-4EEF-8458-8DEF8FD82C32}"/>
              </a:ext>
            </a:extLst>
          </p:cNvPr>
          <p:cNvSpPr txBox="1"/>
          <p:nvPr/>
        </p:nvSpPr>
        <p:spPr>
          <a:xfrm>
            <a:off x="9652000" y="4622800"/>
            <a:ext cx="190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Slack, email, PagerDuty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81EDBCA-018B-44FB-9277-A953682925A6}"/>
              </a:ext>
            </a:extLst>
          </p:cNvPr>
          <p:cNvSpPr/>
          <p:nvPr/>
        </p:nvSpPr>
        <p:spPr>
          <a:xfrm>
            <a:off x="457200" y="5461000"/>
            <a:ext cx="36576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8DE0D2-FF98-4631-BB36-6FD200306DE8}"/>
              </a:ext>
            </a:extLst>
          </p:cNvPr>
          <p:cNvSpPr txBox="1"/>
          <p:nvPr/>
        </p:nvSpPr>
        <p:spPr>
          <a:xfrm>
            <a:off x="685800" y="5613400"/>
            <a:ext cx="1016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PULL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4EE3C4-023E-407E-B9EB-893C25B04B05}"/>
              </a:ext>
            </a:extLst>
          </p:cNvPr>
          <p:cNvSpPr txBox="1"/>
          <p:nvPr/>
        </p:nvSpPr>
        <p:spPr>
          <a:xfrm>
            <a:off x="685800" y="5842000"/>
            <a:ext cx="3225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Prometheus scrapes targets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E1DA49A-D1B1-4446-8225-424DFE06EE0E}"/>
              </a:ext>
            </a:extLst>
          </p:cNvPr>
          <p:cNvSpPr/>
          <p:nvPr/>
        </p:nvSpPr>
        <p:spPr>
          <a:xfrm>
            <a:off x="4267200" y="5461000"/>
            <a:ext cx="36576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CE74B7-6253-4342-BEDD-05FAF4ABFF68}"/>
              </a:ext>
            </a:extLst>
          </p:cNvPr>
          <p:cNvSpPr txBox="1"/>
          <p:nvPr/>
        </p:nvSpPr>
        <p:spPr>
          <a:xfrm>
            <a:off x="4495800" y="5613400"/>
            <a:ext cx="1016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PUSH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7F047D-2802-43AF-9AEA-ECF3A743A8B4}"/>
              </a:ext>
            </a:extLst>
          </p:cNvPr>
          <p:cNvSpPr txBox="1"/>
          <p:nvPr/>
        </p:nvSpPr>
        <p:spPr>
          <a:xfrm>
            <a:off x="4495800" y="5842000"/>
            <a:ext cx="3225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Agents ship logs and traces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6968719-C408-4E77-846E-3D6EB16A838F}"/>
              </a:ext>
            </a:extLst>
          </p:cNvPr>
          <p:cNvSpPr/>
          <p:nvPr/>
        </p:nvSpPr>
        <p:spPr>
          <a:xfrm>
            <a:off x="8077200" y="5461000"/>
            <a:ext cx="36576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34CF62-B3DC-4138-A08A-71CD05F16296}"/>
              </a:ext>
            </a:extLst>
          </p:cNvPr>
          <p:cNvSpPr txBox="1"/>
          <p:nvPr/>
        </p:nvSpPr>
        <p:spPr>
          <a:xfrm>
            <a:off x="8305800" y="5613400"/>
            <a:ext cx="1016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QUERY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7B6C45-8326-483D-A96F-4291966998BD}"/>
              </a:ext>
            </a:extLst>
          </p:cNvPr>
          <p:cNvSpPr txBox="1"/>
          <p:nvPr/>
        </p:nvSpPr>
        <p:spPr>
          <a:xfrm>
            <a:off x="8305800" y="5842000"/>
            <a:ext cx="3225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9AA0A8"/>
                </a:solidFill>
              </a:rPr>
              <a:t>PromQL, LogQL and TraceQL</a:t>
            </a:r>
            <a:endParaRPr lang="en-US" sz="1400">
              <a:solidFill>
                <a:srgbClr val="9AA0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95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DAB8-0171-BB2C-055A-333AE6C1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000" b="1"/>
              <a:t>Tooling Landscape &amp; the Grafana Ecosystem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10CE6-010D-460F-B169-7D9730ED2C93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B942A-111C-4E30-8893-B26399EBD2C1}"/>
              </a:ext>
            </a:extLst>
          </p:cNvPr>
          <p:cNvSpPr txBox="1"/>
          <p:nvPr/>
        </p:nvSpPr>
        <p:spPr>
          <a:xfrm>
            <a:off x="609600" y="11684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Grafana is deliberately vendor-neutral: it visualises whatever backend you already run.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C95502-BEF9-465D-B624-C331A7F0B2FD}"/>
              </a:ext>
            </a:extLst>
          </p:cNvPr>
          <p:cNvSpPr/>
          <p:nvPr/>
        </p:nvSpPr>
        <p:spPr>
          <a:xfrm>
            <a:off x="609600" y="1701800"/>
            <a:ext cx="5334000" cy="4419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F115E-92FA-422B-8CD7-0402AE52DF05}"/>
              </a:ext>
            </a:extLst>
          </p:cNvPr>
          <p:cNvSpPr txBox="1"/>
          <p:nvPr/>
        </p:nvSpPr>
        <p:spPr>
          <a:xfrm>
            <a:off x="914400" y="19812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COMMON MONITORING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F3184-EA40-4DA9-97E0-18B4455BC203}"/>
              </a:ext>
            </a:extLst>
          </p:cNvPr>
          <p:cNvSpPr txBox="1"/>
          <p:nvPr/>
        </p:nvSpPr>
        <p:spPr>
          <a:xfrm>
            <a:off x="914400" y="24130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F1F76-65C3-4934-B96D-8F0865E3A59D}"/>
              </a:ext>
            </a:extLst>
          </p:cNvPr>
          <p:cNvSpPr txBox="1"/>
          <p:nvPr/>
        </p:nvSpPr>
        <p:spPr>
          <a:xfrm>
            <a:off x="914400" y="26670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Prometheus  ·  InfluxDB  ·  Graphite  ·  Zabbix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8D563F-8C9B-4862-8C4C-2F7FBB2AAACA}"/>
              </a:ext>
            </a:extLst>
          </p:cNvPr>
          <p:cNvSpPr/>
          <p:nvPr/>
        </p:nvSpPr>
        <p:spPr>
          <a:xfrm>
            <a:off x="914400" y="3048000"/>
            <a:ext cx="47244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67F7A-D7DB-49C0-A28C-D325DA8D21E1}"/>
              </a:ext>
            </a:extLst>
          </p:cNvPr>
          <p:cNvSpPr txBox="1"/>
          <p:nvPr/>
        </p:nvSpPr>
        <p:spPr>
          <a:xfrm>
            <a:off x="914400" y="31496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LOGS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D1D02-3474-4642-91B1-437194D098FF}"/>
              </a:ext>
            </a:extLst>
          </p:cNvPr>
          <p:cNvSpPr txBox="1"/>
          <p:nvPr/>
        </p:nvSpPr>
        <p:spPr>
          <a:xfrm>
            <a:off x="914400" y="34036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Loki  ·  Elasticsearch  ·  Splunk  ·  Fluentd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C47B4-8BAC-4ED5-8AB4-F9E6F2CC8834}"/>
              </a:ext>
            </a:extLst>
          </p:cNvPr>
          <p:cNvSpPr/>
          <p:nvPr/>
        </p:nvSpPr>
        <p:spPr>
          <a:xfrm>
            <a:off x="914400" y="3784600"/>
            <a:ext cx="47244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A7A80D-2929-4244-9884-4101C2A47C61}"/>
              </a:ext>
            </a:extLst>
          </p:cNvPr>
          <p:cNvSpPr txBox="1"/>
          <p:nvPr/>
        </p:nvSpPr>
        <p:spPr>
          <a:xfrm>
            <a:off x="914400" y="38862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TRACES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9928A-DF45-4A8B-953F-CC48FDEF5394}"/>
              </a:ext>
            </a:extLst>
          </p:cNvPr>
          <p:cNvSpPr txBox="1"/>
          <p:nvPr/>
        </p:nvSpPr>
        <p:spPr>
          <a:xfrm>
            <a:off x="914400" y="41402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Tempo  ·  Jaeger  ·  Zipkin  ·  OpenTelemetry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0F84C-0E67-48AC-89DF-13FEB414C199}"/>
              </a:ext>
            </a:extLst>
          </p:cNvPr>
          <p:cNvSpPr/>
          <p:nvPr/>
        </p:nvSpPr>
        <p:spPr>
          <a:xfrm>
            <a:off x="914400" y="4521200"/>
            <a:ext cx="47244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0B8B6-7266-45B1-956D-2901D191D33F}"/>
              </a:ext>
            </a:extLst>
          </p:cNvPr>
          <p:cNvSpPr txBox="1"/>
          <p:nvPr/>
        </p:nvSpPr>
        <p:spPr>
          <a:xfrm>
            <a:off x="914400" y="46228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ALERTING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AB5E1-0041-48DE-B1A4-EBF052BB1EE4}"/>
              </a:ext>
            </a:extLst>
          </p:cNvPr>
          <p:cNvSpPr txBox="1"/>
          <p:nvPr/>
        </p:nvSpPr>
        <p:spPr>
          <a:xfrm>
            <a:off x="914400" y="48768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Grafana Alerting  ·  Alertmanager  ·  PagerDuty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79263-7DC7-4732-8EF1-ABED6E1E06A7}"/>
              </a:ext>
            </a:extLst>
          </p:cNvPr>
          <p:cNvSpPr/>
          <p:nvPr/>
        </p:nvSpPr>
        <p:spPr>
          <a:xfrm>
            <a:off x="914400" y="5257800"/>
            <a:ext cx="47244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3A32B6-6694-4045-A71B-26DB72390DFF}"/>
              </a:ext>
            </a:extLst>
          </p:cNvPr>
          <p:cNvSpPr txBox="1"/>
          <p:nvPr/>
        </p:nvSpPr>
        <p:spPr>
          <a:xfrm>
            <a:off x="914400" y="5359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CLOUD NATIVE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3BAAA-404F-4237-80DC-72F07775D8D5}"/>
              </a:ext>
            </a:extLst>
          </p:cNvPr>
          <p:cNvSpPr txBox="1"/>
          <p:nvPr/>
        </p:nvSpPr>
        <p:spPr>
          <a:xfrm>
            <a:off x="914400" y="56134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CloudWatch  ·  Azure Monitor  ·  Google Cloud Ops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5B068D-76A5-4BC1-BE78-DEC6FA0C3DC6}"/>
              </a:ext>
            </a:extLst>
          </p:cNvPr>
          <p:cNvSpPr/>
          <p:nvPr/>
        </p:nvSpPr>
        <p:spPr>
          <a:xfrm>
            <a:off x="6248400" y="1701800"/>
            <a:ext cx="5334000" cy="44196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91395B-49F2-4DA3-84DF-627081DEF9C9}"/>
              </a:ext>
            </a:extLst>
          </p:cNvPr>
          <p:cNvSpPr txBox="1"/>
          <p:nvPr/>
        </p:nvSpPr>
        <p:spPr>
          <a:xfrm>
            <a:off x="6553200" y="19812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GRAFANA ECOSYSTEM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4E6B1F-CCCF-4BB3-A751-25F8A08C3D78}"/>
              </a:ext>
            </a:extLst>
          </p:cNvPr>
          <p:cNvSpPr/>
          <p:nvPr/>
        </p:nvSpPr>
        <p:spPr>
          <a:xfrm>
            <a:off x="6553200" y="2413000"/>
            <a:ext cx="14224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Grafana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2B486B-4D4A-4F93-A0B9-6AC05E88B073}"/>
              </a:ext>
            </a:extLst>
          </p:cNvPr>
          <p:cNvSpPr txBox="1"/>
          <p:nvPr/>
        </p:nvSpPr>
        <p:spPr>
          <a:xfrm>
            <a:off x="8178800" y="24638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Dashboards, Explore, unified alerting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920159-DC3B-4AFE-9182-B272BF484EC8}"/>
              </a:ext>
            </a:extLst>
          </p:cNvPr>
          <p:cNvSpPr/>
          <p:nvPr/>
        </p:nvSpPr>
        <p:spPr>
          <a:xfrm>
            <a:off x="6553200" y="3149600"/>
            <a:ext cx="14224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3274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Loki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95A02A-AFD1-4755-868B-81871A39ED7F}"/>
              </a:ext>
            </a:extLst>
          </p:cNvPr>
          <p:cNvSpPr txBox="1"/>
          <p:nvPr/>
        </p:nvSpPr>
        <p:spPr>
          <a:xfrm>
            <a:off x="8178800" y="3200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Log aggregation, LogQL queries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F3C2FE-181A-4230-881B-7E0B2EFC3EED}"/>
              </a:ext>
            </a:extLst>
          </p:cNvPr>
          <p:cNvSpPr/>
          <p:nvPr/>
        </p:nvSpPr>
        <p:spPr>
          <a:xfrm>
            <a:off x="6553200" y="3886200"/>
            <a:ext cx="14224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</a:rPr>
              <a:t>Tempo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AE9534-0486-4C70-AADC-7F614B0B41E5}"/>
              </a:ext>
            </a:extLst>
          </p:cNvPr>
          <p:cNvSpPr txBox="1"/>
          <p:nvPr/>
        </p:nvSpPr>
        <p:spPr>
          <a:xfrm>
            <a:off x="8178800" y="39370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Distributed tracing backend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3D61F77-FFB0-43E3-A511-545E5D3AD700}"/>
              </a:ext>
            </a:extLst>
          </p:cNvPr>
          <p:cNvSpPr/>
          <p:nvPr/>
        </p:nvSpPr>
        <p:spPr>
          <a:xfrm>
            <a:off x="6553200" y="4622800"/>
            <a:ext cx="14224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Mimir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5DBCB4-CE22-42C4-B09E-546CA0BCA1D3}"/>
              </a:ext>
            </a:extLst>
          </p:cNvPr>
          <p:cNvSpPr txBox="1"/>
          <p:nvPr/>
        </p:nvSpPr>
        <p:spPr>
          <a:xfrm>
            <a:off x="8178800" y="46736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Scalable long-term metrics storage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DC880C-CC6C-4F7F-BD53-F7091DD2392D}"/>
              </a:ext>
            </a:extLst>
          </p:cNvPr>
          <p:cNvSpPr/>
          <p:nvPr/>
        </p:nvSpPr>
        <p:spPr>
          <a:xfrm>
            <a:off x="6553200" y="5359400"/>
            <a:ext cx="14224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Agent / Alloy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BA4808-680C-41AE-BFAD-67FD00C16240}"/>
              </a:ext>
            </a:extLst>
          </p:cNvPr>
          <p:cNvSpPr txBox="1"/>
          <p:nvPr/>
        </p:nvSpPr>
        <p:spPr>
          <a:xfrm>
            <a:off x="8178800" y="54102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8D9DA"/>
                </a:solidFill>
              </a:rPr>
              <a:t>Telemetry collection pipeline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D59A-53D6-427C-8C38-AEDD1A1E7EE3}"/>
              </a:ext>
            </a:extLst>
          </p:cNvPr>
          <p:cNvSpPr txBox="1"/>
          <p:nvPr/>
        </p:nvSpPr>
        <p:spPr>
          <a:xfrm>
            <a:off x="6553200" y="5867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Deployment options:  Grafana OSS  ·  Grafana Enterprise  ·  Grafana Cloud</a:t>
            </a:r>
          </a:p>
        </p:txBody>
      </p:sp>
    </p:spTree>
    <p:extLst>
      <p:ext uri="{BB962C8B-B14F-4D97-AF65-F5344CB8AC3E}">
        <p14:creationId xmlns:p14="http://schemas.microsoft.com/office/powerpoint/2010/main" val="107301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3791-C927-2AAE-8858-FB5DD583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Real-world Monitoring Use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025DE-95AC-4BF6-A121-6FFCDAF2D63F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91508-0B61-4E47-8679-5C9674236629}"/>
              </a:ext>
            </a:extLst>
          </p:cNvPr>
          <p:cNvSpPr txBox="1"/>
          <p:nvPr/>
        </p:nvSpPr>
        <p:spPr>
          <a:xfrm>
            <a:off x="609600" y="11938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9AA0A8"/>
                </a:solidFill>
              </a:rPr>
              <a:t>The same Grafana instance serves very different audiences  SREs, platform teams and business owners.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A9843A-3CBC-4822-9EC2-3351D18F52BD}"/>
              </a:ext>
            </a:extLst>
          </p:cNvPr>
          <p:cNvSpPr/>
          <p:nvPr/>
        </p:nvSpPr>
        <p:spPr>
          <a:xfrm>
            <a:off x="533400" y="1803400"/>
            <a:ext cx="2590800" cy="3657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D8972-F045-4077-AB64-9BFB92A8A776}"/>
              </a:ext>
            </a:extLst>
          </p:cNvPr>
          <p:cNvSpPr/>
          <p:nvPr/>
        </p:nvSpPr>
        <p:spPr>
          <a:xfrm>
            <a:off x="533400" y="1803400"/>
            <a:ext cx="25908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5E13A-CF1D-45E7-A2DE-542142D4D9DD}"/>
              </a:ext>
            </a:extLst>
          </p:cNvPr>
          <p:cNvSpPr txBox="1"/>
          <p:nvPr/>
        </p:nvSpPr>
        <p:spPr>
          <a:xfrm>
            <a:off x="787400" y="21082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E-COMMERCE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2FDC7-9D55-45AC-89C9-5B5090AF4DE3}"/>
              </a:ext>
            </a:extLst>
          </p:cNvPr>
          <p:cNvSpPr txBox="1"/>
          <p:nvPr/>
        </p:nvSpPr>
        <p:spPr>
          <a:xfrm>
            <a:off x="787400" y="2413000"/>
            <a:ext cx="2133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Checkout reliability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DB717-D618-4866-9313-33B0541A1F0C}"/>
              </a:ext>
            </a:extLst>
          </p:cNvPr>
          <p:cNvSpPr txBox="1"/>
          <p:nvPr/>
        </p:nvSpPr>
        <p:spPr>
          <a:xfrm>
            <a:off x="787400" y="31242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SIGNALS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83AF43-3029-4F0E-BCDB-6719BE433E0C}"/>
              </a:ext>
            </a:extLst>
          </p:cNvPr>
          <p:cNvSpPr/>
          <p:nvPr/>
        </p:nvSpPr>
        <p:spPr>
          <a:xfrm>
            <a:off x="787400" y="34925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40F00-C0A3-4242-B5E1-01EDCDB191DE}"/>
              </a:ext>
            </a:extLst>
          </p:cNvPr>
          <p:cNvSpPr txBox="1"/>
          <p:nvPr/>
        </p:nvSpPr>
        <p:spPr>
          <a:xfrm>
            <a:off x="965200" y="34036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p95 checkout latency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12AB27-1EF8-41BC-8F60-7153B9281329}"/>
              </a:ext>
            </a:extLst>
          </p:cNvPr>
          <p:cNvSpPr/>
          <p:nvPr/>
        </p:nvSpPr>
        <p:spPr>
          <a:xfrm>
            <a:off x="787400" y="38481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1E7413-B4FA-4C2C-B6F0-CF0A2334E26A}"/>
              </a:ext>
            </a:extLst>
          </p:cNvPr>
          <p:cNvSpPr txBox="1"/>
          <p:nvPr/>
        </p:nvSpPr>
        <p:spPr>
          <a:xfrm>
            <a:off x="965200" y="37592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Payment error rate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6271BE-C4D4-492C-B2C6-12857F33B29A}"/>
              </a:ext>
            </a:extLst>
          </p:cNvPr>
          <p:cNvSpPr/>
          <p:nvPr/>
        </p:nvSpPr>
        <p:spPr>
          <a:xfrm>
            <a:off x="787400" y="42037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C027C-E998-4860-A624-D8C78FBCE395}"/>
              </a:ext>
            </a:extLst>
          </p:cNvPr>
          <p:cNvSpPr txBox="1"/>
          <p:nvPr/>
        </p:nvSpPr>
        <p:spPr>
          <a:xfrm>
            <a:off x="965200" y="41148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Cart abandonment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4D2DC2-DCFC-4C5C-A45E-B4743C8F3F53}"/>
              </a:ext>
            </a:extLst>
          </p:cNvPr>
          <p:cNvSpPr/>
          <p:nvPr/>
        </p:nvSpPr>
        <p:spPr>
          <a:xfrm>
            <a:off x="736600" y="4597400"/>
            <a:ext cx="21844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Alert fires before revenue is lost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F76084-81E1-4A0E-8187-CD6E9689302C}"/>
              </a:ext>
            </a:extLst>
          </p:cNvPr>
          <p:cNvSpPr/>
          <p:nvPr/>
        </p:nvSpPr>
        <p:spPr>
          <a:xfrm>
            <a:off x="3378200" y="1803400"/>
            <a:ext cx="2590800" cy="3657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86C272-94F4-48D9-BB52-DB3A51DFF106}"/>
              </a:ext>
            </a:extLst>
          </p:cNvPr>
          <p:cNvSpPr/>
          <p:nvPr/>
        </p:nvSpPr>
        <p:spPr>
          <a:xfrm>
            <a:off x="3378200" y="1803400"/>
            <a:ext cx="2590800" cy="635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655F1-31E0-4CE0-A961-4912EDB01906}"/>
              </a:ext>
            </a:extLst>
          </p:cNvPr>
          <p:cNvSpPr txBox="1"/>
          <p:nvPr/>
        </p:nvSpPr>
        <p:spPr>
          <a:xfrm>
            <a:off x="3632200" y="21082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PLATFORM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04773F-2F37-4857-B822-524C49BC9029}"/>
              </a:ext>
            </a:extLst>
          </p:cNvPr>
          <p:cNvSpPr txBox="1"/>
          <p:nvPr/>
        </p:nvSpPr>
        <p:spPr>
          <a:xfrm>
            <a:off x="3632200" y="2413000"/>
            <a:ext cx="2133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Kubernetes health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A51D2B-0D37-4C3F-85A4-3B961B9BECDA}"/>
              </a:ext>
            </a:extLst>
          </p:cNvPr>
          <p:cNvSpPr txBox="1"/>
          <p:nvPr/>
        </p:nvSpPr>
        <p:spPr>
          <a:xfrm>
            <a:off x="3632200" y="31242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SIGNALS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6A44FF-4366-476D-800F-46FBE29A85C0}"/>
              </a:ext>
            </a:extLst>
          </p:cNvPr>
          <p:cNvSpPr/>
          <p:nvPr/>
        </p:nvSpPr>
        <p:spPr>
          <a:xfrm>
            <a:off x="3632200" y="34925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CCCB52-D941-4393-8B5A-C32921982A27}"/>
              </a:ext>
            </a:extLst>
          </p:cNvPr>
          <p:cNvSpPr txBox="1"/>
          <p:nvPr/>
        </p:nvSpPr>
        <p:spPr>
          <a:xfrm>
            <a:off x="3810000" y="34036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Pod restarts &amp; OOM kills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2B428C0-58B4-46E0-B697-F009CBB9CC33}"/>
              </a:ext>
            </a:extLst>
          </p:cNvPr>
          <p:cNvSpPr/>
          <p:nvPr/>
        </p:nvSpPr>
        <p:spPr>
          <a:xfrm>
            <a:off x="3632200" y="38481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1C843-E88A-4686-AD27-93014797146A}"/>
              </a:ext>
            </a:extLst>
          </p:cNvPr>
          <p:cNvSpPr txBox="1"/>
          <p:nvPr/>
        </p:nvSpPr>
        <p:spPr>
          <a:xfrm>
            <a:off x="3810000" y="37592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Node CPU / memory pressure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4BE531-FB93-4AD2-A997-B3AF683C5643}"/>
              </a:ext>
            </a:extLst>
          </p:cNvPr>
          <p:cNvSpPr/>
          <p:nvPr/>
        </p:nvSpPr>
        <p:spPr>
          <a:xfrm>
            <a:off x="3632200" y="42037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4808F7-BA9A-47CC-B90D-75865055F37B}"/>
              </a:ext>
            </a:extLst>
          </p:cNvPr>
          <p:cNvSpPr txBox="1"/>
          <p:nvPr/>
        </p:nvSpPr>
        <p:spPr>
          <a:xfrm>
            <a:off x="3810000" y="41148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Pending workloads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A902D66-486F-4C96-9763-684DCA1597DA}"/>
              </a:ext>
            </a:extLst>
          </p:cNvPr>
          <p:cNvSpPr/>
          <p:nvPr/>
        </p:nvSpPr>
        <p:spPr>
          <a:xfrm>
            <a:off x="3581400" y="4597400"/>
            <a:ext cx="21844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Right-size clusters and cut spend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760EDB-3730-4EF6-A761-95FCBC055F96}"/>
              </a:ext>
            </a:extLst>
          </p:cNvPr>
          <p:cNvSpPr/>
          <p:nvPr/>
        </p:nvSpPr>
        <p:spPr>
          <a:xfrm>
            <a:off x="6223000" y="1803400"/>
            <a:ext cx="2590800" cy="3657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BCDAE7-7C7A-465A-90FB-8336D742D339}"/>
              </a:ext>
            </a:extLst>
          </p:cNvPr>
          <p:cNvSpPr/>
          <p:nvPr/>
        </p:nvSpPr>
        <p:spPr>
          <a:xfrm>
            <a:off x="6223000" y="1803400"/>
            <a:ext cx="2590800" cy="635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8F0CB9-655E-404B-A846-F7810C412E4D}"/>
              </a:ext>
            </a:extLst>
          </p:cNvPr>
          <p:cNvSpPr txBox="1"/>
          <p:nvPr/>
        </p:nvSpPr>
        <p:spPr>
          <a:xfrm>
            <a:off x="6477000" y="21082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DELIVERY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79A660-3290-4BA4-B3D7-55BB27FE09BC}"/>
              </a:ext>
            </a:extLst>
          </p:cNvPr>
          <p:cNvSpPr txBox="1"/>
          <p:nvPr/>
        </p:nvSpPr>
        <p:spPr>
          <a:xfrm>
            <a:off x="6477000" y="2413000"/>
            <a:ext cx="2133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Release confidence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74F425-2E39-4058-B70D-8FAC8B3B1DE6}"/>
              </a:ext>
            </a:extLst>
          </p:cNvPr>
          <p:cNvSpPr txBox="1"/>
          <p:nvPr/>
        </p:nvSpPr>
        <p:spPr>
          <a:xfrm>
            <a:off x="6477000" y="31242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SIGNALS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50EDD2-2A92-4A90-8F6A-A9132DA637D6}"/>
              </a:ext>
            </a:extLst>
          </p:cNvPr>
          <p:cNvSpPr/>
          <p:nvPr/>
        </p:nvSpPr>
        <p:spPr>
          <a:xfrm>
            <a:off x="6477000" y="34925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C6D0CB-C5BF-42CF-B14C-170662CCF666}"/>
              </a:ext>
            </a:extLst>
          </p:cNvPr>
          <p:cNvSpPr txBox="1"/>
          <p:nvPr/>
        </p:nvSpPr>
        <p:spPr>
          <a:xfrm>
            <a:off x="6654800" y="34036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Error rate before vs after deploy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1F4A5C-690F-4FF9-A0F3-8080576010E6}"/>
              </a:ext>
            </a:extLst>
          </p:cNvPr>
          <p:cNvSpPr/>
          <p:nvPr/>
        </p:nvSpPr>
        <p:spPr>
          <a:xfrm>
            <a:off x="6477000" y="38481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124D13-9CF5-4D19-9AF3-1B7E362B0FCA}"/>
              </a:ext>
            </a:extLst>
          </p:cNvPr>
          <p:cNvSpPr txBox="1"/>
          <p:nvPr/>
        </p:nvSpPr>
        <p:spPr>
          <a:xfrm>
            <a:off x="6654800" y="37592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Deployment annotations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05C6A4-0473-4D06-9AEE-9DFC56DA6E31}"/>
              </a:ext>
            </a:extLst>
          </p:cNvPr>
          <p:cNvSpPr/>
          <p:nvPr/>
        </p:nvSpPr>
        <p:spPr>
          <a:xfrm>
            <a:off x="6477000" y="42037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D586A0-44D5-4F5F-950B-E27D2587BB18}"/>
              </a:ext>
            </a:extLst>
          </p:cNvPr>
          <p:cNvSpPr txBox="1"/>
          <p:nvPr/>
        </p:nvSpPr>
        <p:spPr>
          <a:xfrm>
            <a:off x="6654800" y="41148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Rollback triggers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6F6468C-B6DF-4602-8C51-5858C99A9D03}"/>
              </a:ext>
            </a:extLst>
          </p:cNvPr>
          <p:cNvSpPr/>
          <p:nvPr/>
        </p:nvSpPr>
        <p:spPr>
          <a:xfrm>
            <a:off x="6426200" y="4597400"/>
            <a:ext cx="21844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Ship faster with a safety net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4A315D8-7A6E-4789-A50E-C5F74A7AB4F9}"/>
              </a:ext>
            </a:extLst>
          </p:cNvPr>
          <p:cNvSpPr/>
          <p:nvPr/>
        </p:nvSpPr>
        <p:spPr>
          <a:xfrm>
            <a:off x="9067800" y="1803400"/>
            <a:ext cx="2590800" cy="36576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03C9E0-8B6F-4D6E-A396-D25A5865D826}"/>
              </a:ext>
            </a:extLst>
          </p:cNvPr>
          <p:cNvSpPr/>
          <p:nvPr/>
        </p:nvSpPr>
        <p:spPr>
          <a:xfrm>
            <a:off x="9067800" y="1803400"/>
            <a:ext cx="2590800" cy="635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2CD5E5-E9FC-4AFA-B282-F688BC7C0E19}"/>
              </a:ext>
            </a:extLst>
          </p:cNvPr>
          <p:cNvSpPr txBox="1"/>
          <p:nvPr/>
        </p:nvSpPr>
        <p:spPr>
          <a:xfrm>
            <a:off x="9321800" y="21082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</a:rPr>
              <a:t>BUSINESS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9FABC2-0243-44A5-8CC9-3F72177ED1CF}"/>
              </a:ext>
            </a:extLst>
          </p:cNvPr>
          <p:cNvSpPr txBox="1"/>
          <p:nvPr/>
        </p:nvSpPr>
        <p:spPr>
          <a:xfrm>
            <a:off x="9321800" y="2413000"/>
            <a:ext cx="2133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KPI and IoT views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829377-8CFD-42A8-8246-42D2191D4E7E}"/>
              </a:ext>
            </a:extLst>
          </p:cNvPr>
          <p:cNvSpPr txBox="1"/>
          <p:nvPr/>
        </p:nvSpPr>
        <p:spPr>
          <a:xfrm>
            <a:off x="9321800" y="31242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6E747C"/>
                </a:solidFill>
              </a:rPr>
              <a:t>SIGNALS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061B06C-9CEA-44C8-AAC4-1BE520E6BF2B}"/>
              </a:ext>
            </a:extLst>
          </p:cNvPr>
          <p:cNvSpPr/>
          <p:nvPr/>
        </p:nvSpPr>
        <p:spPr>
          <a:xfrm>
            <a:off x="9321800" y="3492500"/>
            <a:ext cx="63500" cy="635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58B1C6-5092-4F5C-B695-1A7F3BA0CEA2}"/>
              </a:ext>
            </a:extLst>
          </p:cNvPr>
          <p:cNvSpPr txBox="1"/>
          <p:nvPr/>
        </p:nvSpPr>
        <p:spPr>
          <a:xfrm>
            <a:off x="9499600" y="34036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Orders per minute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4FF2AA-0B2C-442B-BC9B-E5114C9671D4}"/>
              </a:ext>
            </a:extLst>
          </p:cNvPr>
          <p:cNvSpPr/>
          <p:nvPr/>
        </p:nvSpPr>
        <p:spPr>
          <a:xfrm>
            <a:off x="9321800" y="3848100"/>
            <a:ext cx="63500" cy="635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3F3815-34F7-4BA1-BED2-02448879DA1A}"/>
              </a:ext>
            </a:extLst>
          </p:cNvPr>
          <p:cNvSpPr txBox="1"/>
          <p:nvPr/>
        </p:nvSpPr>
        <p:spPr>
          <a:xfrm>
            <a:off x="9499600" y="37592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Device fleet uptime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A4AE60-9A28-467E-8D63-86319E3AE289}"/>
              </a:ext>
            </a:extLst>
          </p:cNvPr>
          <p:cNvSpPr/>
          <p:nvPr/>
        </p:nvSpPr>
        <p:spPr>
          <a:xfrm>
            <a:off x="9321800" y="4203700"/>
            <a:ext cx="63500" cy="635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E56CF6-C16C-4220-AC43-20CA93A2CE56}"/>
              </a:ext>
            </a:extLst>
          </p:cNvPr>
          <p:cNvSpPr txBox="1"/>
          <p:nvPr/>
        </p:nvSpPr>
        <p:spPr>
          <a:xfrm>
            <a:off x="9499600" y="4114800"/>
            <a:ext cx="193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Energy and sensor trends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D458392-5E25-47B2-94C9-2D404EBA2D37}"/>
              </a:ext>
            </a:extLst>
          </p:cNvPr>
          <p:cNvSpPr/>
          <p:nvPr/>
        </p:nvSpPr>
        <p:spPr>
          <a:xfrm>
            <a:off x="9271000" y="4597400"/>
            <a:ext cx="2184400" cy="660400"/>
          </a:xfrm>
          <a:prstGeom prst="roundRect">
            <a:avLst/>
          </a:prstGeom>
          <a:solidFill>
            <a:srgbClr val="1518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</a:rPr>
              <a:t>One shared source of truth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8DD77C-3BE4-45DC-9CCF-CE386CAD604D}"/>
              </a:ext>
            </a:extLst>
          </p:cNvPr>
          <p:cNvSpPr txBox="1"/>
          <p:nvPr/>
        </p:nvSpPr>
        <p:spPr>
          <a:xfrm>
            <a:off x="533400" y="5715000"/>
            <a:ext cx="1054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8E939B"/>
                </a:solidFill>
              </a:rPr>
              <a:t>Discussion:  which of these maps closest to the systems you support today?</a:t>
            </a:r>
          </a:p>
        </p:txBody>
      </p:sp>
    </p:spTree>
    <p:extLst>
      <p:ext uri="{BB962C8B-B14F-4D97-AF65-F5344CB8AC3E}">
        <p14:creationId xmlns:p14="http://schemas.microsoft.com/office/powerpoint/2010/main" val="296507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1CE8-32D7-FF23-31C2-3BBCF2F2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235200"/>
            <a:ext cx="7620000" cy="889000"/>
          </a:xfrm>
        </p:spPr>
        <p:txBody>
          <a:bodyPr>
            <a:normAutofit/>
          </a:bodyPr>
          <a:lstStyle/>
          <a:p>
            <a:r>
              <a:rPr lang="en-US" sz="3600" b="1"/>
              <a:t>Grafana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86B68-1659-440F-8A45-12B1A99229A7}"/>
              </a:ext>
            </a:extLst>
          </p:cNvPr>
          <p:cNvSpPr txBox="1"/>
          <p:nvPr/>
        </p:nvSpPr>
        <p:spPr>
          <a:xfrm>
            <a:off x="609600" y="1905000"/>
            <a:ext cx="3175000" cy="2540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5000" b="1">
                <a:solidFill>
                  <a:srgbClr val="22262E"/>
                </a:solidFill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69A29-FF12-49A5-B3AC-F8E9134B2556}"/>
              </a:ext>
            </a:extLst>
          </p:cNvPr>
          <p:cNvSpPr txBox="1"/>
          <p:nvPr/>
        </p:nvSpPr>
        <p:spPr>
          <a:xfrm>
            <a:off x="3810000" y="1778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</a:rPr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16464-2782-4F5B-B1E5-2DF97A59534A}"/>
              </a:ext>
            </a:extLst>
          </p:cNvPr>
          <p:cNvSpPr/>
          <p:nvPr/>
        </p:nvSpPr>
        <p:spPr>
          <a:xfrm>
            <a:off x="3810000" y="3200400"/>
            <a:ext cx="10160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B44C5-A3BC-4D70-9E6A-447EB79CC0E8}"/>
              </a:ext>
            </a:extLst>
          </p:cNvPr>
          <p:cNvSpPr txBox="1"/>
          <p:nvPr/>
        </p:nvSpPr>
        <p:spPr>
          <a:xfrm>
            <a:off x="3810000" y="34544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dirty="0">
                <a:solidFill>
                  <a:srgbClr val="9AA0A8"/>
                </a:solidFill>
              </a:rPr>
              <a:t>How the pieces fit together  from the browser UI down to the backend
services, data sources and plugin system.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E93545-2238-47D4-B082-C2A2BE1D7141}"/>
              </a:ext>
            </a:extLst>
          </p:cNvPr>
          <p:cNvSpPr/>
          <p:nvPr/>
        </p:nvSpPr>
        <p:spPr>
          <a:xfrm>
            <a:off x="3810000" y="4394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0C88E-FF80-4D0B-B72E-8462C51265B6}"/>
              </a:ext>
            </a:extLst>
          </p:cNvPr>
          <p:cNvSpPr txBox="1"/>
          <p:nvPr/>
        </p:nvSpPr>
        <p:spPr>
          <a:xfrm>
            <a:off x="4013200" y="4318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Grafana Components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2E00F5-01CF-4160-8E01-34BB2C2DD254}"/>
              </a:ext>
            </a:extLst>
          </p:cNvPr>
          <p:cNvSpPr/>
          <p:nvPr/>
        </p:nvSpPr>
        <p:spPr>
          <a:xfrm>
            <a:off x="7493000" y="4394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27C7D-7ACE-42C1-9709-104D440F0E7B}"/>
              </a:ext>
            </a:extLst>
          </p:cNvPr>
          <p:cNvSpPr txBox="1"/>
          <p:nvPr/>
        </p:nvSpPr>
        <p:spPr>
          <a:xfrm>
            <a:off x="7696200" y="4318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Frontend Architecture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B022D7-9554-4067-93A0-0588E0D5519C}"/>
              </a:ext>
            </a:extLst>
          </p:cNvPr>
          <p:cNvSpPr/>
          <p:nvPr/>
        </p:nvSpPr>
        <p:spPr>
          <a:xfrm>
            <a:off x="3810000" y="4775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F8C15-8477-44D2-860F-A03B6B276EA4}"/>
              </a:ext>
            </a:extLst>
          </p:cNvPr>
          <p:cNvSpPr txBox="1"/>
          <p:nvPr/>
        </p:nvSpPr>
        <p:spPr>
          <a:xfrm>
            <a:off x="4013200" y="4699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Backend Services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A09D74-E8A2-477D-ABF7-2D417D847803}"/>
              </a:ext>
            </a:extLst>
          </p:cNvPr>
          <p:cNvSpPr/>
          <p:nvPr/>
        </p:nvSpPr>
        <p:spPr>
          <a:xfrm>
            <a:off x="7493000" y="4775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9BA06-2B8A-40A4-95C6-4C6673155642}"/>
              </a:ext>
            </a:extLst>
          </p:cNvPr>
          <p:cNvSpPr txBox="1"/>
          <p:nvPr/>
        </p:nvSpPr>
        <p:spPr>
          <a:xfrm>
            <a:off x="7696200" y="4699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Data Sources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FEAE42-ADC2-449F-ABD7-2C809BC76D3D}"/>
              </a:ext>
            </a:extLst>
          </p:cNvPr>
          <p:cNvSpPr/>
          <p:nvPr/>
        </p:nvSpPr>
        <p:spPr>
          <a:xfrm>
            <a:off x="3810000" y="5156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C289A-2278-413D-AB60-E4EAA65CF823}"/>
              </a:ext>
            </a:extLst>
          </p:cNvPr>
          <p:cNvSpPr txBox="1"/>
          <p:nvPr/>
        </p:nvSpPr>
        <p:spPr>
          <a:xfrm>
            <a:off x="4013200" y="5080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Dashboards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75DD14-75AA-46FE-90A5-0B2C2EBA4F78}"/>
              </a:ext>
            </a:extLst>
          </p:cNvPr>
          <p:cNvSpPr/>
          <p:nvPr/>
        </p:nvSpPr>
        <p:spPr>
          <a:xfrm>
            <a:off x="7493000" y="5156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377834-C22E-45F7-ACDE-53EFE9251776}"/>
              </a:ext>
            </a:extLst>
          </p:cNvPr>
          <p:cNvSpPr txBox="1"/>
          <p:nvPr/>
        </p:nvSpPr>
        <p:spPr>
          <a:xfrm>
            <a:off x="7696200" y="5080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Panels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92AD70-D5EF-4D87-B5E3-C132E27FB7A5}"/>
              </a:ext>
            </a:extLst>
          </p:cNvPr>
          <p:cNvSpPr/>
          <p:nvPr/>
        </p:nvSpPr>
        <p:spPr>
          <a:xfrm>
            <a:off x="3810000" y="5537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D5A2AF-6C83-4777-9D11-EF49F17AE615}"/>
              </a:ext>
            </a:extLst>
          </p:cNvPr>
          <p:cNvSpPr txBox="1"/>
          <p:nvPr/>
        </p:nvSpPr>
        <p:spPr>
          <a:xfrm>
            <a:off x="4013200" y="5461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Organizations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CE3144-B91E-4320-B7C4-51782959020D}"/>
              </a:ext>
            </a:extLst>
          </p:cNvPr>
          <p:cNvSpPr/>
          <p:nvPr/>
        </p:nvSpPr>
        <p:spPr>
          <a:xfrm>
            <a:off x="7493000" y="5537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10E694-7936-4638-BBCB-5B51D9267704}"/>
              </a:ext>
            </a:extLst>
          </p:cNvPr>
          <p:cNvSpPr txBox="1"/>
          <p:nvPr/>
        </p:nvSpPr>
        <p:spPr>
          <a:xfrm>
            <a:off x="7696200" y="5461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Users &amp; Permissions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14401F0-BA06-46C5-8B7C-EF6D5A3918B0}"/>
              </a:ext>
            </a:extLst>
          </p:cNvPr>
          <p:cNvSpPr/>
          <p:nvPr/>
        </p:nvSpPr>
        <p:spPr>
          <a:xfrm>
            <a:off x="3810000" y="59182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A7509-4220-46BC-BB86-AF18358E3593}"/>
              </a:ext>
            </a:extLst>
          </p:cNvPr>
          <p:cNvSpPr txBox="1"/>
          <p:nvPr/>
        </p:nvSpPr>
        <p:spPr>
          <a:xfrm>
            <a:off x="4013200" y="58420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Plugins</a:t>
            </a:r>
          </a:p>
        </p:txBody>
      </p:sp>
    </p:spTree>
    <p:extLst>
      <p:ext uri="{BB962C8B-B14F-4D97-AF65-F5344CB8AC3E}">
        <p14:creationId xmlns:p14="http://schemas.microsoft.com/office/powerpoint/2010/main" val="147520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480D-BB34-EF18-FF3D-B4B72C38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Grafana Architecture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BA2FE-04F8-4D3E-8D7B-AD2A151E739C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60A27-DCEE-4802-B880-6ADF9AACF1B1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A Go backend serving a React single-page app. Dashboards live in Grafana's own database; metrics never do.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DD12B8-6137-4EC8-8BD2-2CAF5E229AED}"/>
              </a:ext>
            </a:extLst>
          </p:cNvPr>
          <p:cNvSpPr/>
          <p:nvPr/>
        </p:nvSpPr>
        <p:spPr>
          <a:xfrm>
            <a:off x="533400" y="1676400"/>
            <a:ext cx="7848600" cy="1270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D4E5F-D732-472B-9A0E-C644ED8DAFE8}"/>
              </a:ext>
            </a:extLst>
          </p:cNvPr>
          <p:cNvSpPr txBox="1"/>
          <p:nvPr/>
        </p:nvSpPr>
        <p:spPr>
          <a:xfrm>
            <a:off x="787400" y="18542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FRONTEND  ·  React SPA in the browser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B44108-48C9-4DC3-ABD1-AA8015A02B97}"/>
              </a:ext>
            </a:extLst>
          </p:cNvPr>
          <p:cNvSpPr/>
          <p:nvPr/>
        </p:nvSpPr>
        <p:spPr>
          <a:xfrm>
            <a:off x="787400" y="2235200"/>
            <a:ext cx="13462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Dashboards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DA39F6-5436-405B-9C6B-D1969C5DC206}"/>
              </a:ext>
            </a:extLst>
          </p:cNvPr>
          <p:cNvSpPr/>
          <p:nvPr/>
        </p:nvSpPr>
        <p:spPr>
          <a:xfrm>
            <a:off x="2273300" y="2235200"/>
            <a:ext cx="13462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Panels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9C69A3-A11B-4DCD-A89E-A16026596B86}"/>
              </a:ext>
            </a:extLst>
          </p:cNvPr>
          <p:cNvSpPr/>
          <p:nvPr/>
        </p:nvSpPr>
        <p:spPr>
          <a:xfrm>
            <a:off x="3759200" y="2235200"/>
            <a:ext cx="13462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Explore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CE56B0-2EEE-4061-A119-9F05C84CE21C}"/>
              </a:ext>
            </a:extLst>
          </p:cNvPr>
          <p:cNvSpPr/>
          <p:nvPr/>
        </p:nvSpPr>
        <p:spPr>
          <a:xfrm>
            <a:off x="5245100" y="2235200"/>
            <a:ext cx="13462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Alert 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BDB223-F882-4FF1-B288-0E5D87DF142F}"/>
              </a:ext>
            </a:extLst>
          </p:cNvPr>
          <p:cNvSpPr/>
          <p:nvPr/>
        </p:nvSpPr>
        <p:spPr>
          <a:xfrm>
            <a:off x="6731000" y="2235200"/>
            <a:ext cx="13462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5794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Plugin UI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6976E2D-3EC6-4289-8EB5-0280AD661885}"/>
              </a:ext>
            </a:extLst>
          </p:cNvPr>
          <p:cNvSpPr/>
          <p:nvPr/>
        </p:nvSpPr>
        <p:spPr>
          <a:xfrm>
            <a:off x="4292600" y="2997200"/>
            <a:ext cx="304800" cy="279400"/>
          </a:xfrm>
          <a:prstGeom prst="down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697C7-451D-401E-8E60-943B1CA402D8}"/>
              </a:ext>
            </a:extLst>
          </p:cNvPr>
          <p:cNvSpPr txBox="1"/>
          <p:nvPr/>
        </p:nvSpPr>
        <p:spPr>
          <a:xfrm>
            <a:off x="4699000" y="30480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E747C"/>
                </a:solidFill>
              </a:rPr>
              <a:t>HTTP / REST  ·  /api/*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276604-40DF-4991-BEBC-890BA138C0C6}"/>
              </a:ext>
            </a:extLst>
          </p:cNvPr>
          <p:cNvSpPr/>
          <p:nvPr/>
        </p:nvSpPr>
        <p:spPr>
          <a:xfrm>
            <a:off x="533400" y="3327400"/>
            <a:ext cx="7848600" cy="18542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FFE0B5-E27E-49B9-951B-FC79D90D2D07}"/>
              </a:ext>
            </a:extLst>
          </p:cNvPr>
          <p:cNvSpPr txBox="1"/>
          <p:nvPr/>
        </p:nvSpPr>
        <p:spPr>
          <a:xfrm>
            <a:off x="787400" y="35052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BACKEND SERVICES  ·  Go server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5DD074-B972-40CD-B9FF-3835428A314B}"/>
              </a:ext>
            </a:extLst>
          </p:cNvPr>
          <p:cNvSpPr/>
          <p:nvPr/>
        </p:nvSpPr>
        <p:spPr>
          <a:xfrm>
            <a:off x="787400" y="38862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HTTP API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2804E4-84FC-44BA-A7A8-321E94D154C2}"/>
              </a:ext>
            </a:extLst>
          </p:cNvPr>
          <p:cNvSpPr/>
          <p:nvPr/>
        </p:nvSpPr>
        <p:spPr>
          <a:xfrm>
            <a:off x="3276600" y="38862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Auth &amp; RBAC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BFF065-1320-45CA-BA49-2A90B9AB14C0}"/>
              </a:ext>
            </a:extLst>
          </p:cNvPr>
          <p:cNvSpPr/>
          <p:nvPr/>
        </p:nvSpPr>
        <p:spPr>
          <a:xfrm>
            <a:off x="5765800" y="38862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Alerting engine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4B7B02-049D-49E4-8378-9E0A1EB46DC8}"/>
              </a:ext>
            </a:extLst>
          </p:cNvPr>
          <p:cNvSpPr/>
          <p:nvPr/>
        </p:nvSpPr>
        <p:spPr>
          <a:xfrm>
            <a:off x="787400" y="44704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Provisioning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788BE9-AEAC-4165-A39B-6EED924BBCCD}"/>
              </a:ext>
            </a:extLst>
          </p:cNvPr>
          <p:cNvSpPr/>
          <p:nvPr/>
        </p:nvSpPr>
        <p:spPr>
          <a:xfrm>
            <a:off x="3276600" y="44704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Plugin manager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239D12-EEDE-4B08-82D8-085BF8CB2A08}"/>
              </a:ext>
            </a:extLst>
          </p:cNvPr>
          <p:cNvSpPr/>
          <p:nvPr/>
        </p:nvSpPr>
        <p:spPr>
          <a:xfrm>
            <a:off x="5765800" y="4470400"/>
            <a:ext cx="2311400" cy="4826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Data source proxy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7C901F-56D1-4949-A63F-F6EB769C63A0}"/>
              </a:ext>
            </a:extLst>
          </p:cNvPr>
          <p:cNvSpPr/>
          <p:nvPr/>
        </p:nvSpPr>
        <p:spPr>
          <a:xfrm>
            <a:off x="533400" y="5384800"/>
            <a:ext cx="7848600" cy="939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9AF85-5F1E-4B90-9BE2-D18D1DB654CE}"/>
              </a:ext>
            </a:extLst>
          </p:cNvPr>
          <p:cNvSpPr txBox="1"/>
          <p:nvPr/>
        </p:nvSpPr>
        <p:spPr>
          <a:xfrm>
            <a:off x="787400" y="55372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PERSISTENCE  ·  Grafana database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89DBD7-2CCB-4EC6-8831-35AD55D26018}"/>
              </a:ext>
            </a:extLst>
          </p:cNvPr>
          <p:cNvSpPr txBox="1"/>
          <p:nvPr/>
        </p:nvSpPr>
        <p:spPr>
          <a:xfrm>
            <a:off x="787400" y="58420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7CAD0"/>
                </a:solidFill>
              </a:rPr>
              <a:t>SQLite (default)  ·  MySQL  ·  PostgreSQL    dashboards, users, orgs, alert rules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857A405-15A8-4813-A4A5-2D1CE41EC1F8}"/>
              </a:ext>
            </a:extLst>
          </p:cNvPr>
          <p:cNvSpPr/>
          <p:nvPr/>
        </p:nvSpPr>
        <p:spPr>
          <a:xfrm>
            <a:off x="8813800" y="1676400"/>
            <a:ext cx="2844800" cy="46482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19D3AC-C63E-4219-8777-667D263E7AFE}"/>
              </a:ext>
            </a:extLst>
          </p:cNvPr>
          <p:cNvSpPr txBox="1"/>
          <p:nvPr/>
        </p:nvSpPr>
        <p:spPr>
          <a:xfrm>
            <a:off x="9067800" y="1879600"/>
            <a:ext cx="241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DATA SOURCES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ADB66-5322-4444-83D7-91ECF8350B71}"/>
              </a:ext>
            </a:extLst>
          </p:cNvPr>
          <p:cNvSpPr txBox="1"/>
          <p:nvPr/>
        </p:nvSpPr>
        <p:spPr>
          <a:xfrm>
            <a:off x="9067800" y="2209800"/>
            <a:ext cx="2362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AA0A8"/>
                </a:solidFill>
              </a:rPr>
              <a:t>Queried live at render time  Grafana stores no metric data.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F101A37-2289-4E8B-BC85-83031FA66F36}"/>
              </a:ext>
            </a:extLst>
          </p:cNvPr>
          <p:cNvSpPr/>
          <p:nvPr/>
        </p:nvSpPr>
        <p:spPr>
          <a:xfrm>
            <a:off x="9067800" y="29464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Prometheus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3635262-5B45-49C2-838E-CBAE7BE65D88}"/>
              </a:ext>
            </a:extLst>
          </p:cNvPr>
          <p:cNvSpPr/>
          <p:nvPr/>
        </p:nvSpPr>
        <p:spPr>
          <a:xfrm>
            <a:off x="9067800" y="34036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Loki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F2F25FB-ACB2-4153-B393-C89DFC211B9D}"/>
              </a:ext>
            </a:extLst>
          </p:cNvPr>
          <p:cNvSpPr/>
          <p:nvPr/>
        </p:nvSpPr>
        <p:spPr>
          <a:xfrm>
            <a:off x="9067800" y="38608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Tempo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9620A47-0A33-4748-AF75-3290782DAA4B}"/>
              </a:ext>
            </a:extLst>
          </p:cNvPr>
          <p:cNvSpPr/>
          <p:nvPr/>
        </p:nvSpPr>
        <p:spPr>
          <a:xfrm>
            <a:off x="9067800" y="43180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MySQL / Postgres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D46C476-248E-4A57-AD80-69A99FF914AA}"/>
              </a:ext>
            </a:extLst>
          </p:cNvPr>
          <p:cNvSpPr/>
          <p:nvPr/>
        </p:nvSpPr>
        <p:spPr>
          <a:xfrm>
            <a:off x="9067800" y="47752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CloudWatch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F33A760-DC1B-4F38-A82A-92E869A0624E}"/>
              </a:ext>
            </a:extLst>
          </p:cNvPr>
          <p:cNvSpPr/>
          <p:nvPr/>
        </p:nvSpPr>
        <p:spPr>
          <a:xfrm>
            <a:off x="9067800" y="52324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Elasticsearch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CD819D-3C4E-4537-8DA9-C4803E47CF44}"/>
              </a:ext>
            </a:extLst>
          </p:cNvPr>
          <p:cNvSpPr/>
          <p:nvPr/>
        </p:nvSpPr>
        <p:spPr>
          <a:xfrm>
            <a:off x="9067800" y="5689600"/>
            <a:ext cx="2362200" cy="3810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E9EAEC"/>
                </a:solidFill>
              </a:rPr>
              <a:t>InfluxDB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7A79B8AC-772E-4F57-B709-84B205BE6EAB}"/>
              </a:ext>
            </a:extLst>
          </p:cNvPr>
          <p:cNvSpPr/>
          <p:nvPr/>
        </p:nvSpPr>
        <p:spPr>
          <a:xfrm>
            <a:off x="8407400" y="4089400"/>
            <a:ext cx="381000" cy="254000"/>
          </a:xfrm>
          <a:prstGeom prst="leftRightArrow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7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D954-BC6C-024A-F90A-E0755CAC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Data Sources, Dashboards &amp; Panels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58854-B4A9-443D-B8AF-B28B0847525E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A8506-CC10-4563-ADB2-92FC7C1C6A7B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9AA0A8"/>
                </a:solidFill>
              </a:rPr>
              <a:t>Everything you build in Grafana is a nesting of these objects  learn the chain and the UI becomes obvious.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24AF0C-5D4C-4E6A-8C0C-20F7FE01EC37}"/>
              </a:ext>
            </a:extLst>
          </p:cNvPr>
          <p:cNvSpPr/>
          <p:nvPr/>
        </p:nvSpPr>
        <p:spPr>
          <a:xfrm>
            <a:off x="4318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86AB862-BD25-40E8-BBC6-48D536966792}"/>
              </a:ext>
            </a:extLst>
          </p:cNvPr>
          <p:cNvSpPr/>
          <p:nvPr/>
        </p:nvSpPr>
        <p:spPr>
          <a:xfrm>
            <a:off x="2108200" y="1841500"/>
            <a:ext cx="228600" cy="228600"/>
          </a:xfrm>
          <a:prstGeom prst="rightArrow">
            <a:avLst/>
          </a:prstGeom>
          <a:solidFill>
            <a:srgbClr val="6E74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7BF3D8-C7CA-4E5A-90D7-3E016E3D215E}"/>
              </a:ext>
            </a:extLst>
          </p:cNvPr>
          <p:cNvSpPr/>
          <p:nvPr/>
        </p:nvSpPr>
        <p:spPr>
          <a:xfrm>
            <a:off x="23622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AD7407-D54C-475D-8E8F-9B4109E03F48}"/>
              </a:ext>
            </a:extLst>
          </p:cNvPr>
          <p:cNvSpPr/>
          <p:nvPr/>
        </p:nvSpPr>
        <p:spPr>
          <a:xfrm>
            <a:off x="4038600" y="1841500"/>
            <a:ext cx="228600" cy="228600"/>
          </a:xfrm>
          <a:prstGeom prst="rightArrow">
            <a:avLst/>
          </a:prstGeom>
          <a:solidFill>
            <a:srgbClr val="6E74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963FB5-34BA-489C-AA90-F692DA7E65A5}"/>
              </a:ext>
            </a:extLst>
          </p:cNvPr>
          <p:cNvSpPr/>
          <p:nvPr/>
        </p:nvSpPr>
        <p:spPr>
          <a:xfrm>
            <a:off x="42926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Panel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B2F81E8-4F14-465C-AAEA-8B86AA911136}"/>
              </a:ext>
            </a:extLst>
          </p:cNvPr>
          <p:cNvSpPr/>
          <p:nvPr/>
        </p:nvSpPr>
        <p:spPr>
          <a:xfrm>
            <a:off x="5969000" y="1841500"/>
            <a:ext cx="228600" cy="228600"/>
          </a:xfrm>
          <a:prstGeom prst="rightArrow">
            <a:avLst/>
          </a:prstGeom>
          <a:solidFill>
            <a:srgbClr val="6E74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719975-F80C-42BE-BC17-A86D8A0694B9}"/>
              </a:ext>
            </a:extLst>
          </p:cNvPr>
          <p:cNvSpPr/>
          <p:nvPr/>
        </p:nvSpPr>
        <p:spPr>
          <a:xfrm>
            <a:off x="62230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5FB0EFF-84D4-4CCB-B953-5FE2C4AC1E3B}"/>
              </a:ext>
            </a:extLst>
          </p:cNvPr>
          <p:cNvSpPr/>
          <p:nvPr/>
        </p:nvSpPr>
        <p:spPr>
          <a:xfrm>
            <a:off x="7899400" y="1841500"/>
            <a:ext cx="228600" cy="228600"/>
          </a:xfrm>
          <a:prstGeom prst="rightArrow">
            <a:avLst/>
          </a:prstGeom>
          <a:solidFill>
            <a:srgbClr val="6E74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7F2A9D-8C94-4D2F-A9FE-8B9CE7D47F3A}"/>
              </a:ext>
            </a:extLst>
          </p:cNvPr>
          <p:cNvSpPr/>
          <p:nvPr/>
        </p:nvSpPr>
        <p:spPr>
          <a:xfrm>
            <a:off x="81534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Folder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0D72EAE-2F0B-4B0C-A788-1C318190D274}"/>
              </a:ext>
            </a:extLst>
          </p:cNvPr>
          <p:cNvSpPr/>
          <p:nvPr/>
        </p:nvSpPr>
        <p:spPr>
          <a:xfrm>
            <a:off x="9829800" y="1841500"/>
            <a:ext cx="228600" cy="228600"/>
          </a:xfrm>
          <a:prstGeom prst="rightArrow">
            <a:avLst/>
          </a:prstGeom>
          <a:solidFill>
            <a:srgbClr val="6E74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5C1865-69E6-4AB8-9C8D-1865B3556AE7}"/>
              </a:ext>
            </a:extLst>
          </p:cNvPr>
          <p:cNvSpPr/>
          <p:nvPr/>
        </p:nvSpPr>
        <p:spPr>
          <a:xfrm>
            <a:off x="10083800" y="1676400"/>
            <a:ext cx="1676400" cy="5588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Organization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4CEA6F-004E-4EB2-8DEC-6746B1366555}"/>
              </a:ext>
            </a:extLst>
          </p:cNvPr>
          <p:cNvSpPr/>
          <p:nvPr/>
        </p:nvSpPr>
        <p:spPr>
          <a:xfrm>
            <a:off x="533400" y="2616200"/>
            <a:ext cx="3454400" cy="3556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96AB14-7E7D-4E4A-BB34-E8D681CCB8D8}"/>
              </a:ext>
            </a:extLst>
          </p:cNvPr>
          <p:cNvSpPr/>
          <p:nvPr/>
        </p:nvSpPr>
        <p:spPr>
          <a:xfrm>
            <a:off x="533400" y="2616200"/>
            <a:ext cx="3454400" cy="63500"/>
          </a:xfrm>
          <a:prstGeom prst="rect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B80903-0C4E-4FAE-96F6-3525D2EDBB48}"/>
              </a:ext>
            </a:extLst>
          </p:cNvPr>
          <p:cNvSpPr txBox="1"/>
          <p:nvPr/>
        </p:nvSpPr>
        <p:spPr>
          <a:xfrm>
            <a:off x="787400" y="2895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9830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8B705D-9DF0-47EE-97F3-AB24799BD155}"/>
              </a:ext>
            </a:extLst>
          </p:cNvPr>
          <p:cNvSpPr/>
          <p:nvPr/>
        </p:nvSpPr>
        <p:spPr>
          <a:xfrm>
            <a:off x="787400" y="3276600"/>
            <a:ext cx="29210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806E07-DEDA-463D-B6FC-D1156B4A79E6}"/>
              </a:ext>
            </a:extLst>
          </p:cNvPr>
          <p:cNvSpPr/>
          <p:nvPr/>
        </p:nvSpPr>
        <p:spPr>
          <a:xfrm>
            <a:off x="787400" y="3543300"/>
            <a:ext cx="63500" cy="635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5683D-C2E0-4CA0-9EB3-79B6FF717240}"/>
              </a:ext>
            </a:extLst>
          </p:cNvPr>
          <p:cNvSpPr txBox="1"/>
          <p:nvPr/>
        </p:nvSpPr>
        <p:spPr>
          <a:xfrm>
            <a:off x="965200" y="34544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A connection to a backend that holds your data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7769AF-6277-4965-BE40-253E2797B964}"/>
              </a:ext>
            </a:extLst>
          </p:cNvPr>
          <p:cNvSpPr/>
          <p:nvPr/>
        </p:nvSpPr>
        <p:spPr>
          <a:xfrm>
            <a:off x="787400" y="4076700"/>
            <a:ext cx="63500" cy="635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D65E2E-9DF6-4B8F-A7D1-1DC0269CC353}"/>
              </a:ext>
            </a:extLst>
          </p:cNvPr>
          <p:cNvSpPr txBox="1"/>
          <p:nvPr/>
        </p:nvSpPr>
        <p:spPr>
          <a:xfrm>
            <a:off x="965200" y="39878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Configured once, reused by every dashboard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47F204-5DFF-4C07-8131-061F28C023BC}"/>
              </a:ext>
            </a:extLst>
          </p:cNvPr>
          <p:cNvSpPr/>
          <p:nvPr/>
        </p:nvSpPr>
        <p:spPr>
          <a:xfrm>
            <a:off x="787400" y="4610100"/>
            <a:ext cx="63500" cy="635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BAF5A-84E4-4F6B-B1E2-650118955D6B}"/>
              </a:ext>
            </a:extLst>
          </p:cNvPr>
          <p:cNvSpPr txBox="1"/>
          <p:nvPr/>
        </p:nvSpPr>
        <p:spPr>
          <a:xfrm>
            <a:off x="965200" y="45212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Each type ships its own query editor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556979-2AC9-41A9-A7CF-CD5CDF679F88}"/>
              </a:ext>
            </a:extLst>
          </p:cNvPr>
          <p:cNvSpPr/>
          <p:nvPr/>
        </p:nvSpPr>
        <p:spPr>
          <a:xfrm>
            <a:off x="787400" y="5143500"/>
            <a:ext cx="63500" cy="635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589E5-6B4B-4663-A4B2-E34A048713A4}"/>
              </a:ext>
            </a:extLst>
          </p:cNvPr>
          <p:cNvSpPr txBox="1"/>
          <p:nvPr/>
        </p:nvSpPr>
        <p:spPr>
          <a:xfrm>
            <a:off x="965200" y="50546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Credentials stored in the Grafana database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94C765-A05F-464B-AEB9-F6D930D911A4}"/>
              </a:ext>
            </a:extLst>
          </p:cNvPr>
          <p:cNvSpPr/>
          <p:nvPr/>
        </p:nvSpPr>
        <p:spPr>
          <a:xfrm>
            <a:off x="787400" y="5676900"/>
            <a:ext cx="63500" cy="63500"/>
          </a:xfrm>
          <a:prstGeom prst="ellipse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E0A71F-8A7D-4BD6-A1C2-4F75E5CC3909}"/>
              </a:ext>
            </a:extLst>
          </p:cNvPr>
          <p:cNvSpPr txBox="1"/>
          <p:nvPr/>
        </p:nvSpPr>
        <p:spPr>
          <a:xfrm>
            <a:off x="965200" y="55880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Test the connection with Save &amp; test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CDFCFF-D608-40CC-AD4F-AB8482D3DDF8}"/>
              </a:ext>
            </a:extLst>
          </p:cNvPr>
          <p:cNvSpPr/>
          <p:nvPr/>
        </p:nvSpPr>
        <p:spPr>
          <a:xfrm>
            <a:off x="4292600" y="2616200"/>
            <a:ext cx="3454400" cy="3556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328EA2-115D-4EA0-9707-216AA98E9F65}"/>
              </a:ext>
            </a:extLst>
          </p:cNvPr>
          <p:cNvSpPr/>
          <p:nvPr/>
        </p:nvSpPr>
        <p:spPr>
          <a:xfrm>
            <a:off x="4292600" y="2616200"/>
            <a:ext cx="3454400" cy="635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3CF581-1D69-47BB-B09D-DD290372D171}"/>
              </a:ext>
            </a:extLst>
          </p:cNvPr>
          <p:cNvSpPr txBox="1"/>
          <p:nvPr/>
        </p:nvSpPr>
        <p:spPr>
          <a:xfrm>
            <a:off x="4546600" y="2895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794F2"/>
                </a:solidFill>
              </a:rPr>
              <a:t>PANEL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A13E97-1CEE-4D74-B453-72174AC5F486}"/>
              </a:ext>
            </a:extLst>
          </p:cNvPr>
          <p:cNvSpPr/>
          <p:nvPr/>
        </p:nvSpPr>
        <p:spPr>
          <a:xfrm>
            <a:off x="4546600" y="3276600"/>
            <a:ext cx="29210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F293C6-E6CB-4F1E-B246-EA87CC9DA801}"/>
              </a:ext>
            </a:extLst>
          </p:cNvPr>
          <p:cNvSpPr/>
          <p:nvPr/>
        </p:nvSpPr>
        <p:spPr>
          <a:xfrm>
            <a:off x="4546600" y="35433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EB9463-F3FE-4468-A1C1-1951FED4BDB8}"/>
              </a:ext>
            </a:extLst>
          </p:cNvPr>
          <p:cNvSpPr txBox="1"/>
          <p:nvPr/>
        </p:nvSpPr>
        <p:spPr>
          <a:xfrm>
            <a:off x="4724400" y="34544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7CAD0"/>
                </a:solidFill>
              </a:rPr>
              <a:t>The smallest visual unit  one or more queries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01E1B97-4394-4F1F-87F2-2436BD75770A}"/>
              </a:ext>
            </a:extLst>
          </p:cNvPr>
          <p:cNvSpPr/>
          <p:nvPr/>
        </p:nvSpPr>
        <p:spPr>
          <a:xfrm>
            <a:off x="4546600" y="40767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9F7C7F-B5E5-461A-B1C5-29FDB34E3741}"/>
              </a:ext>
            </a:extLst>
          </p:cNvPr>
          <p:cNvSpPr txBox="1"/>
          <p:nvPr/>
        </p:nvSpPr>
        <p:spPr>
          <a:xfrm>
            <a:off x="4724400" y="39878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Types: time series, stat, gauge, bar, table, logs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77A92FD-D9AC-49C0-B95A-1664CDABAAE4}"/>
              </a:ext>
            </a:extLst>
          </p:cNvPr>
          <p:cNvSpPr/>
          <p:nvPr/>
        </p:nvSpPr>
        <p:spPr>
          <a:xfrm>
            <a:off x="4546600" y="46101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B46FD-4339-4169-AECA-E4CD00D47B3B}"/>
              </a:ext>
            </a:extLst>
          </p:cNvPr>
          <p:cNvSpPr txBox="1"/>
          <p:nvPr/>
        </p:nvSpPr>
        <p:spPr>
          <a:xfrm>
            <a:off x="4724400" y="45212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Transformations reshape data before display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42D25F-4E2D-4798-A7DB-24CE23BA8BBB}"/>
              </a:ext>
            </a:extLst>
          </p:cNvPr>
          <p:cNvSpPr/>
          <p:nvPr/>
        </p:nvSpPr>
        <p:spPr>
          <a:xfrm>
            <a:off x="4546600" y="51435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C22D72-6B9C-41BC-B252-ED3FF9635FA8}"/>
              </a:ext>
            </a:extLst>
          </p:cNvPr>
          <p:cNvSpPr txBox="1"/>
          <p:nvPr/>
        </p:nvSpPr>
        <p:spPr>
          <a:xfrm>
            <a:off x="4724400" y="50546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Thresholds and value mappings add meaning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BB4D3BF-5782-45E7-BEC1-81614EF640AC}"/>
              </a:ext>
            </a:extLst>
          </p:cNvPr>
          <p:cNvSpPr/>
          <p:nvPr/>
        </p:nvSpPr>
        <p:spPr>
          <a:xfrm>
            <a:off x="4546600" y="5676900"/>
            <a:ext cx="63500" cy="63500"/>
          </a:xfrm>
          <a:prstGeom prst="ellipse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14CE06-1BCF-4004-8FCC-D1A016A8240F}"/>
              </a:ext>
            </a:extLst>
          </p:cNvPr>
          <p:cNvSpPr txBox="1"/>
          <p:nvPr/>
        </p:nvSpPr>
        <p:spPr>
          <a:xfrm>
            <a:off x="4724400" y="55880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Panels can be reused via library panels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6B9A7DA-F830-4C52-A3FC-0EDDD3556FA6}"/>
              </a:ext>
            </a:extLst>
          </p:cNvPr>
          <p:cNvSpPr/>
          <p:nvPr/>
        </p:nvSpPr>
        <p:spPr>
          <a:xfrm>
            <a:off x="8051800" y="2616200"/>
            <a:ext cx="3454400" cy="3556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BD85C6-A375-4655-8CA6-A0F6AD0A7FE0}"/>
              </a:ext>
            </a:extLst>
          </p:cNvPr>
          <p:cNvSpPr/>
          <p:nvPr/>
        </p:nvSpPr>
        <p:spPr>
          <a:xfrm>
            <a:off x="8051800" y="2616200"/>
            <a:ext cx="3454400" cy="635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BDF1A2-ACC5-4961-8C3E-437DE3D57693}"/>
              </a:ext>
            </a:extLst>
          </p:cNvPr>
          <p:cNvSpPr txBox="1"/>
          <p:nvPr/>
        </p:nvSpPr>
        <p:spPr>
          <a:xfrm>
            <a:off x="8305800" y="2895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</a:rPr>
              <a:t>DASHBOARD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A0D97F-4EF1-466D-B681-1F55A6DA01EA}"/>
              </a:ext>
            </a:extLst>
          </p:cNvPr>
          <p:cNvSpPr/>
          <p:nvPr/>
        </p:nvSpPr>
        <p:spPr>
          <a:xfrm>
            <a:off x="8305800" y="3276600"/>
            <a:ext cx="2921000" cy="12700"/>
          </a:xfrm>
          <a:prstGeom prst="rect">
            <a:avLst/>
          </a:prstGeom>
          <a:solidFill>
            <a:srgbClr val="2C3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7B44852-9E87-4352-8D20-B064E6D708C0}"/>
              </a:ext>
            </a:extLst>
          </p:cNvPr>
          <p:cNvSpPr/>
          <p:nvPr/>
        </p:nvSpPr>
        <p:spPr>
          <a:xfrm>
            <a:off x="8305800" y="35433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9A6A41-2BFD-4CE5-833D-B1FC21F9D1F4}"/>
              </a:ext>
            </a:extLst>
          </p:cNvPr>
          <p:cNvSpPr txBox="1"/>
          <p:nvPr/>
        </p:nvSpPr>
        <p:spPr>
          <a:xfrm>
            <a:off x="8483600" y="34544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A grid of panels stored as JSON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5F22A5-8163-4659-ABBE-3BE0B8A7E7C4}"/>
              </a:ext>
            </a:extLst>
          </p:cNvPr>
          <p:cNvSpPr/>
          <p:nvPr/>
        </p:nvSpPr>
        <p:spPr>
          <a:xfrm>
            <a:off x="8305800" y="40767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25246F-F427-4261-A7F3-72AFC581A9FB}"/>
              </a:ext>
            </a:extLst>
          </p:cNvPr>
          <p:cNvSpPr txBox="1"/>
          <p:nvPr/>
        </p:nvSpPr>
        <p:spPr>
          <a:xfrm>
            <a:off x="8483600" y="39878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Variables make one dashboard serve many hosts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1C0688-3FE7-4E1C-B3A9-1D98A9352E57}"/>
              </a:ext>
            </a:extLst>
          </p:cNvPr>
          <p:cNvSpPr/>
          <p:nvPr/>
        </p:nvSpPr>
        <p:spPr>
          <a:xfrm>
            <a:off x="8305800" y="46101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7B05A7-ED2E-40FF-9B91-2730FFD89FF3}"/>
              </a:ext>
            </a:extLst>
          </p:cNvPr>
          <p:cNvSpPr txBox="1"/>
          <p:nvPr/>
        </p:nvSpPr>
        <p:spPr>
          <a:xfrm>
            <a:off x="8483600" y="45212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Time range and refresh apply dashboard-wide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596F507-94B1-4599-BE66-C18C480A2342}"/>
              </a:ext>
            </a:extLst>
          </p:cNvPr>
          <p:cNvSpPr/>
          <p:nvPr/>
        </p:nvSpPr>
        <p:spPr>
          <a:xfrm>
            <a:off x="8305800" y="51435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72782C-2B2B-45E0-8CFB-4F0690C15CE3}"/>
              </a:ext>
            </a:extLst>
          </p:cNvPr>
          <p:cNvSpPr txBox="1"/>
          <p:nvPr/>
        </p:nvSpPr>
        <p:spPr>
          <a:xfrm>
            <a:off x="8483600" y="50546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Organised in folders with their own permissions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D688291-29F0-4A74-9329-79AD3745155D}"/>
              </a:ext>
            </a:extLst>
          </p:cNvPr>
          <p:cNvSpPr/>
          <p:nvPr/>
        </p:nvSpPr>
        <p:spPr>
          <a:xfrm>
            <a:off x="8305800" y="56769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6A7135-40B1-44F8-AD90-5FC4068623C9}"/>
              </a:ext>
            </a:extLst>
          </p:cNvPr>
          <p:cNvSpPr txBox="1"/>
          <p:nvPr/>
        </p:nvSpPr>
        <p:spPr>
          <a:xfrm>
            <a:off x="8483600" y="5588000"/>
            <a:ext cx="274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Versioned, exportable and provisionable as code</a:t>
            </a:r>
          </a:p>
        </p:txBody>
      </p:sp>
    </p:spTree>
    <p:extLst>
      <p:ext uri="{BB962C8B-B14F-4D97-AF65-F5344CB8AC3E}">
        <p14:creationId xmlns:p14="http://schemas.microsoft.com/office/powerpoint/2010/main" val="858236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8CC3-A32E-1105-0EE2-51C6C987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Organizations, Users &amp; Plugins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9A6C5-BC21-4A58-B131-442D7781C420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65966-5B83-4540-8C6C-A0FE618BA265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Organizations isolate tenants; roles control what each user can change; plugins extend what Grafana can do.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B714AB-8A4C-49E5-B20F-E883DDA96D39}"/>
              </a:ext>
            </a:extLst>
          </p:cNvPr>
          <p:cNvSpPr/>
          <p:nvPr/>
        </p:nvSpPr>
        <p:spPr>
          <a:xfrm>
            <a:off x="533400" y="1701800"/>
            <a:ext cx="5486400" cy="4470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A6A42-6004-44D0-B764-6249DB790E18}"/>
              </a:ext>
            </a:extLst>
          </p:cNvPr>
          <p:cNvSpPr txBox="1"/>
          <p:nvPr/>
        </p:nvSpPr>
        <p:spPr>
          <a:xfrm>
            <a:off x="838200" y="19304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ORGANIZATIONS, USERS &amp; PERMISSIONS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4251D-3C52-453C-9396-964AD02E2FB7}"/>
              </a:ext>
            </a:extLst>
          </p:cNvPr>
          <p:cNvSpPr txBox="1"/>
          <p:nvPr/>
        </p:nvSpPr>
        <p:spPr>
          <a:xfrm>
            <a:off x="838200" y="2260600"/>
            <a:ext cx="4978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An organization is a fully isolated tenant: its own users, data sources,
dashboards and preferences. One Grafana can host many.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9F3943-B178-402B-B868-ECB113E787C8}"/>
              </a:ext>
            </a:extLst>
          </p:cNvPr>
          <p:cNvSpPr/>
          <p:nvPr/>
        </p:nvSpPr>
        <p:spPr>
          <a:xfrm>
            <a:off x="838200" y="2946400"/>
            <a:ext cx="1676400" cy="4064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Grafana 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0BF23-5FA6-4075-BF54-71458EB3DA82}"/>
              </a:ext>
            </a:extLst>
          </p:cNvPr>
          <p:cNvSpPr txBox="1"/>
          <p:nvPr/>
        </p:nvSpPr>
        <p:spPr>
          <a:xfrm>
            <a:off x="2692400" y="29972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Server-wide: manages orgs, users and global settings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33B8AB-196E-4A54-8E6C-8F614936FB73}"/>
              </a:ext>
            </a:extLst>
          </p:cNvPr>
          <p:cNvSpPr/>
          <p:nvPr/>
        </p:nvSpPr>
        <p:spPr>
          <a:xfrm>
            <a:off x="838200" y="3632200"/>
            <a:ext cx="1676400" cy="4064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FF98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Org Admin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FB0E2-2E0D-44EE-BF86-453E618A27E6}"/>
              </a:ext>
            </a:extLst>
          </p:cNvPr>
          <p:cNvSpPr txBox="1"/>
          <p:nvPr/>
        </p:nvSpPr>
        <p:spPr>
          <a:xfrm>
            <a:off x="2692400" y="36830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Full control inside one organization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D72F87-749C-43B6-A01D-727BC49D54B6}"/>
              </a:ext>
            </a:extLst>
          </p:cNvPr>
          <p:cNvSpPr/>
          <p:nvPr/>
        </p:nvSpPr>
        <p:spPr>
          <a:xfrm>
            <a:off x="838200" y="4318000"/>
            <a:ext cx="1676400" cy="4064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3274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Editor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187A6-C38A-4CDB-812D-56698CFA8DCE}"/>
              </a:ext>
            </a:extLst>
          </p:cNvPr>
          <p:cNvSpPr txBox="1"/>
          <p:nvPr/>
        </p:nvSpPr>
        <p:spPr>
          <a:xfrm>
            <a:off x="2692400" y="43688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Create and edit dashboards; cannot manage users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23B0F-6086-4BDE-AC41-6ECD481FB4A1}"/>
              </a:ext>
            </a:extLst>
          </p:cNvPr>
          <p:cNvSpPr/>
          <p:nvPr/>
        </p:nvSpPr>
        <p:spPr>
          <a:xfrm>
            <a:off x="838200" y="5003800"/>
            <a:ext cx="1676400" cy="406400"/>
          </a:xfrm>
          <a:prstGeom prst="roundRect">
            <a:avLst/>
          </a:prstGeom>
          <a:solidFill>
            <a:srgbClr val="22262E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Viewer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C2A3E-2437-4AD6-8852-DF3C28FD459E}"/>
              </a:ext>
            </a:extLst>
          </p:cNvPr>
          <p:cNvSpPr txBox="1"/>
          <p:nvPr/>
        </p:nvSpPr>
        <p:spPr>
          <a:xfrm>
            <a:off x="2692400" y="50546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Read-only access to dashboards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668BA6-4AFA-4CAD-8400-B1EC9D83672C}"/>
              </a:ext>
            </a:extLst>
          </p:cNvPr>
          <p:cNvSpPr txBox="1"/>
          <p:nvPr/>
        </p:nvSpPr>
        <p:spPr>
          <a:xfrm>
            <a:off x="838200" y="5740400"/>
            <a:ext cx="4978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E747C"/>
                </a:solidFill>
              </a:rPr>
              <a:t>Folder and dashboard level permissions can override the org role.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40A965-4075-44D6-BC96-4764F22C2FEF}"/>
              </a:ext>
            </a:extLst>
          </p:cNvPr>
          <p:cNvSpPr/>
          <p:nvPr/>
        </p:nvSpPr>
        <p:spPr>
          <a:xfrm>
            <a:off x="6248400" y="1701800"/>
            <a:ext cx="5334000" cy="44704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E3800-B7E7-4FA8-B703-27F009A3C9E9}"/>
              </a:ext>
            </a:extLst>
          </p:cNvPr>
          <p:cNvSpPr txBox="1"/>
          <p:nvPr/>
        </p:nvSpPr>
        <p:spPr>
          <a:xfrm>
            <a:off x="6553200" y="1930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PLUGINS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6FFED2-B5F0-41BB-82A5-81202EEC340F}"/>
              </a:ext>
            </a:extLst>
          </p:cNvPr>
          <p:cNvSpPr txBox="1"/>
          <p:nvPr/>
        </p:nvSpPr>
        <p:spPr>
          <a:xfrm>
            <a:off x="6553200" y="2260600"/>
            <a:ext cx="477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Installed from the Grafana catalogue or side-loaded from a zip.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3C0B93-B40F-404C-892A-A2C645231C48}"/>
              </a:ext>
            </a:extLst>
          </p:cNvPr>
          <p:cNvSpPr/>
          <p:nvPr/>
        </p:nvSpPr>
        <p:spPr>
          <a:xfrm>
            <a:off x="6553200" y="2717800"/>
            <a:ext cx="4724400" cy="787400"/>
          </a:xfrm>
          <a:prstGeom prst="roundRect">
            <a:avLst/>
          </a:prstGeom>
          <a:solidFill>
            <a:srgbClr val="2226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D8957-3F24-40F1-A590-CA1259EB3E98}"/>
              </a:ext>
            </a:extLst>
          </p:cNvPr>
          <p:cNvSpPr txBox="1"/>
          <p:nvPr/>
        </p:nvSpPr>
        <p:spPr>
          <a:xfrm>
            <a:off x="6781800" y="28448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Panel plugins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C64CA-C847-4598-9CE6-93D9A236DA7D}"/>
              </a:ext>
            </a:extLst>
          </p:cNvPr>
          <p:cNvSpPr txBox="1"/>
          <p:nvPr/>
        </p:nvSpPr>
        <p:spPr>
          <a:xfrm>
            <a:off x="6781800" y="31242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AA0A8"/>
                </a:solidFill>
              </a:rPr>
              <a:t>New visualization types  Pie chart, Clock, </a:t>
            </a:r>
            <a:r>
              <a:rPr lang="en-US" sz="1400" dirty="0" err="1">
                <a:solidFill>
                  <a:srgbClr val="9AA0A8"/>
                </a:solidFill>
              </a:rPr>
              <a:t>Worldmap</a:t>
            </a:r>
            <a:r>
              <a:rPr lang="en-US" sz="1400" dirty="0">
                <a:solidFill>
                  <a:srgbClr val="9AA0A8"/>
                </a:solidFill>
              </a:rPr>
              <a:t>, Diagram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05C9E2-639F-4E66-9024-81D89CE99205}"/>
              </a:ext>
            </a:extLst>
          </p:cNvPr>
          <p:cNvSpPr/>
          <p:nvPr/>
        </p:nvSpPr>
        <p:spPr>
          <a:xfrm>
            <a:off x="6553200" y="3632200"/>
            <a:ext cx="4724400" cy="787400"/>
          </a:xfrm>
          <a:prstGeom prst="roundRect">
            <a:avLst/>
          </a:prstGeom>
          <a:solidFill>
            <a:srgbClr val="2226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C7A9E8-1BA8-4F01-BDB0-C9AC88ED2326}"/>
              </a:ext>
            </a:extLst>
          </p:cNvPr>
          <p:cNvSpPr txBox="1"/>
          <p:nvPr/>
        </p:nvSpPr>
        <p:spPr>
          <a:xfrm>
            <a:off x="6781800" y="37592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Data source plugins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96F7CF-987C-46E8-B101-309751A2FD58}"/>
              </a:ext>
            </a:extLst>
          </p:cNvPr>
          <p:cNvSpPr txBox="1"/>
          <p:nvPr/>
        </p:nvSpPr>
        <p:spPr>
          <a:xfrm>
            <a:off x="6781800" y="4038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AA0A8"/>
                </a:solidFill>
              </a:rPr>
              <a:t>New backends  Zabbix, Snowflake, GitHub, Google Sheets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091A0C-FF88-46B0-9FBA-C5741592DB3D}"/>
              </a:ext>
            </a:extLst>
          </p:cNvPr>
          <p:cNvSpPr/>
          <p:nvPr/>
        </p:nvSpPr>
        <p:spPr>
          <a:xfrm>
            <a:off x="6553200" y="4546600"/>
            <a:ext cx="4724400" cy="787400"/>
          </a:xfrm>
          <a:prstGeom prst="roundRect">
            <a:avLst/>
          </a:prstGeom>
          <a:solidFill>
            <a:srgbClr val="2226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06DD8B-600A-4EA0-8954-680C5505B1EB}"/>
              </a:ext>
            </a:extLst>
          </p:cNvPr>
          <p:cNvSpPr txBox="1"/>
          <p:nvPr/>
        </p:nvSpPr>
        <p:spPr>
          <a:xfrm>
            <a:off x="6781800" y="4673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App plugins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0B2813-040F-4CD5-96B2-9711AC1C7544}"/>
              </a:ext>
            </a:extLst>
          </p:cNvPr>
          <p:cNvSpPr txBox="1"/>
          <p:nvPr/>
        </p:nvSpPr>
        <p:spPr>
          <a:xfrm>
            <a:off x="6781800" y="4953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AA0A8"/>
                </a:solidFill>
              </a:rPr>
              <a:t>Bundled dashboards and pages  Kubernetes, </a:t>
            </a:r>
            <a:r>
              <a:rPr lang="en-US" sz="1400" dirty="0" err="1">
                <a:solidFill>
                  <a:srgbClr val="9AA0A8"/>
                </a:solidFill>
              </a:rPr>
              <a:t>Oncall</a:t>
            </a:r>
            <a:r>
              <a:rPr lang="en-US" sz="1400" dirty="0">
                <a:solidFill>
                  <a:srgbClr val="9AA0A8"/>
                </a:solidFill>
              </a:rPr>
              <a:t>, Synthetics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D59893-E6A9-4D71-91A9-EF0B2DF6CBDC}"/>
              </a:ext>
            </a:extLst>
          </p:cNvPr>
          <p:cNvSpPr/>
          <p:nvPr/>
        </p:nvSpPr>
        <p:spPr>
          <a:xfrm>
            <a:off x="6553200" y="5511800"/>
            <a:ext cx="4724400" cy="4826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3A2A1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grafana-cli plugins install &lt;plugin-id&gt;</a:t>
            </a:r>
          </a:p>
        </p:txBody>
      </p:sp>
    </p:spTree>
    <p:extLst>
      <p:ext uri="{BB962C8B-B14F-4D97-AF65-F5344CB8AC3E}">
        <p14:creationId xmlns:p14="http://schemas.microsoft.com/office/powerpoint/2010/main" val="3946491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A990-03DD-79A2-37D7-AB7DC281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235200"/>
            <a:ext cx="7620000" cy="889000"/>
          </a:xfrm>
        </p:spPr>
        <p:txBody>
          <a:bodyPr>
            <a:normAutofit/>
          </a:bodyPr>
          <a:lstStyle/>
          <a:p>
            <a:r>
              <a:rPr lang="en-US" sz="3600" b="1"/>
              <a:t>Installation &amp; Initial Configuration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074E9-77AC-4216-9984-7AEAC8D58DB1}"/>
              </a:ext>
            </a:extLst>
          </p:cNvPr>
          <p:cNvSpPr txBox="1"/>
          <p:nvPr/>
        </p:nvSpPr>
        <p:spPr>
          <a:xfrm>
            <a:off x="609600" y="1905000"/>
            <a:ext cx="3175000" cy="2540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5000" b="1">
                <a:solidFill>
                  <a:srgbClr val="22262E"/>
                </a:solidFill>
              </a:rPr>
              <a:t>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FA847-1E41-4CE6-BF90-449C83AEA83A}"/>
              </a:ext>
            </a:extLst>
          </p:cNvPr>
          <p:cNvSpPr txBox="1"/>
          <p:nvPr/>
        </p:nvSpPr>
        <p:spPr>
          <a:xfrm>
            <a:off x="3810000" y="1778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</a:rPr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72FE8-7B38-4862-AB73-D5BB7848FD95}"/>
              </a:ext>
            </a:extLst>
          </p:cNvPr>
          <p:cNvSpPr/>
          <p:nvPr/>
        </p:nvSpPr>
        <p:spPr>
          <a:xfrm>
            <a:off x="3810000" y="3200400"/>
            <a:ext cx="10160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6CA10-5C2F-4082-B442-9CBD90CB4F58}"/>
              </a:ext>
            </a:extLst>
          </p:cNvPr>
          <p:cNvSpPr txBox="1"/>
          <p:nvPr/>
        </p:nvSpPr>
        <p:spPr>
          <a:xfrm>
            <a:off x="3810000" y="34544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AA0A8"/>
                </a:solidFill>
              </a:rPr>
              <a:t>Get Grafana running on any platform, then learn where its
configuration, data and logs actually live.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1CEEA0-F649-409D-8EFE-8ED8DFB4D944}"/>
              </a:ext>
            </a:extLst>
          </p:cNvPr>
          <p:cNvSpPr/>
          <p:nvPr/>
        </p:nvSpPr>
        <p:spPr>
          <a:xfrm>
            <a:off x="3810000" y="4495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85851-C56C-404A-9781-FA7C6AB8BF43}"/>
              </a:ext>
            </a:extLst>
          </p:cNvPr>
          <p:cNvSpPr txBox="1"/>
          <p:nvPr/>
        </p:nvSpPr>
        <p:spPr>
          <a:xfrm>
            <a:off x="4013200" y="4419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Installing Grafana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9CB410-651E-4A74-810A-660C78D5D3D5}"/>
              </a:ext>
            </a:extLst>
          </p:cNvPr>
          <p:cNvSpPr/>
          <p:nvPr/>
        </p:nvSpPr>
        <p:spPr>
          <a:xfrm>
            <a:off x="7493000" y="4495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B6F60-DC40-4653-A97A-B69987D02988}"/>
              </a:ext>
            </a:extLst>
          </p:cNvPr>
          <p:cNvSpPr txBox="1"/>
          <p:nvPr/>
        </p:nvSpPr>
        <p:spPr>
          <a:xfrm>
            <a:off x="7696200" y="4419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Docker Installation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040678-1DCF-4A46-9124-D0897FA44BC1}"/>
              </a:ext>
            </a:extLst>
          </p:cNvPr>
          <p:cNvSpPr/>
          <p:nvPr/>
        </p:nvSpPr>
        <p:spPr>
          <a:xfrm>
            <a:off x="3810000" y="4876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4DA9A1-6C08-495F-971C-A2B19A1A5C11}"/>
              </a:ext>
            </a:extLst>
          </p:cNvPr>
          <p:cNvSpPr txBox="1"/>
          <p:nvPr/>
        </p:nvSpPr>
        <p:spPr>
          <a:xfrm>
            <a:off x="4013200" y="4800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Windows Installation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3A30C8-17BA-4CA0-A128-B002E8E616B5}"/>
              </a:ext>
            </a:extLst>
          </p:cNvPr>
          <p:cNvSpPr/>
          <p:nvPr/>
        </p:nvSpPr>
        <p:spPr>
          <a:xfrm>
            <a:off x="7493000" y="4876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AED08-F7F6-41B0-B3E8-62E79BD2043F}"/>
              </a:ext>
            </a:extLst>
          </p:cNvPr>
          <p:cNvSpPr txBox="1"/>
          <p:nvPr/>
        </p:nvSpPr>
        <p:spPr>
          <a:xfrm>
            <a:off x="7696200" y="4800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Linux Installation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1F58E5-9DD4-45F9-864F-5852CEF1F964}"/>
              </a:ext>
            </a:extLst>
          </p:cNvPr>
          <p:cNvSpPr/>
          <p:nvPr/>
        </p:nvSpPr>
        <p:spPr>
          <a:xfrm>
            <a:off x="3810000" y="5257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CEF299-12A4-4088-93A9-0BEAF82A86B9}"/>
              </a:ext>
            </a:extLst>
          </p:cNvPr>
          <p:cNvSpPr txBox="1"/>
          <p:nvPr/>
        </p:nvSpPr>
        <p:spPr>
          <a:xfrm>
            <a:off x="4013200" y="5181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Configuration Files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D261B6-CBBE-4189-BD67-877AF226AAF0}"/>
              </a:ext>
            </a:extLst>
          </p:cNvPr>
          <p:cNvSpPr/>
          <p:nvPr/>
        </p:nvSpPr>
        <p:spPr>
          <a:xfrm>
            <a:off x="7493000" y="5257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AE262F-C507-43D5-92A3-C731A89D14C8}"/>
              </a:ext>
            </a:extLst>
          </p:cNvPr>
          <p:cNvSpPr txBox="1"/>
          <p:nvPr/>
        </p:nvSpPr>
        <p:spPr>
          <a:xfrm>
            <a:off x="7696200" y="5181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Default Ports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75BDDF-A8E9-42CF-ABA8-855D95322E68}"/>
              </a:ext>
            </a:extLst>
          </p:cNvPr>
          <p:cNvSpPr/>
          <p:nvPr/>
        </p:nvSpPr>
        <p:spPr>
          <a:xfrm>
            <a:off x="3810000" y="5638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7373C4-ED8A-439F-AF16-F442AEC090DB}"/>
              </a:ext>
            </a:extLst>
          </p:cNvPr>
          <p:cNvSpPr txBox="1"/>
          <p:nvPr/>
        </p:nvSpPr>
        <p:spPr>
          <a:xfrm>
            <a:off x="4013200" y="5562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Initial Login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2E5A92-9F59-4F22-8452-45FA494722D9}"/>
              </a:ext>
            </a:extLst>
          </p:cNvPr>
          <p:cNvSpPr/>
          <p:nvPr/>
        </p:nvSpPr>
        <p:spPr>
          <a:xfrm>
            <a:off x="7493000" y="56388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D66AA5-DD3F-43DE-9264-8DAB92CDE6E2}"/>
              </a:ext>
            </a:extLst>
          </p:cNvPr>
          <p:cNvSpPr txBox="1"/>
          <p:nvPr/>
        </p:nvSpPr>
        <p:spPr>
          <a:xfrm>
            <a:off x="7696200" y="5562600"/>
            <a:ext cx="336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138369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05CA0-967B-6166-6964-56539948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Installing Grafana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BE13C-B167-4502-8CB6-D5FC8E241B9A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4C4AE-0193-46E3-ACF3-52C68FACBF19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9AA0A8"/>
                </a:solidFill>
              </a:rPr>
              <a:t>Pick the method that matches your environment. Docker is what we use in Lab 1  it is the fastest to reset.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2E0DAB-EBB4-4BB3-A3C3-5FB0C374ADB3}"/>
              </a:ext>
            </a:extLst>
          </p:cNvPr>
          <p:cNvSpPr/>
          <p:nvPr/>
        </p:nvSpPr>
        <p:spPr>
          <a:xfrm>
            <a:off x="533400" y="1701800"/>
            <a:ext cx="3454400" cy="4470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9550-FD9B-4D2F-B28F-082794C31591}"/>
              </a:ext>
            </a:extLst>
          </p:cNvPr>
          <p:cNvSpPr/>
          <p:nvPr/>
        </p:nvSpPr>
        <p:spPr>
          <a:xfrm>
            <a:off x="533400" y="1701800"/>
            <a:ext cx="34544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67D93-05C5-4A24-A7C4-E658DD4C1120}"/>
              </a:ext>
            </a:extLst>
          </p:cNvPr>
          <p:cNvSpPr txBox="1"/>
          <p:nvPr/>
        </p:nvSpPr>
        <p:spPr>
          <a:xfrm>
            <a:off x="787400" y="1955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46800"/>
                </a:solidFill>
              </a:rPr>
              <a:t>DOCKER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19DE4-C71D-490B-907A-BBBEE1A8EB85}"/>
              </a:ext>
            </a:extLst>
          </p:cNvPr>
          <p:cNvSpPr txBox="1"/>
          <p:nvPr/>
        </p:nvSpPr>
        <p:spPr>
          <a:xfrm>
            <a:off x="787400" y="23114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Recommended for the lab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85C0F9-C44D-40EA-A231-46EAD5835B81}"/>
              </a:ext>
            </a:extLst>
          </p:cNvPr>
          <p:cNvSpPr/>
          <p:nvPr/>
        </p:nvSpPr>
        <p:spPr>
          <a:xfrm>
            <a:off x="787400" y="27813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A17F3-CB37-4A77-9559-94A857914782}"/>
              </a:ext>
            </a:extLst>
          </p:cNvPr>
          <p:cNvSpPr txBox="1"/>
          <p:nvPr/>
        </p:nvSpPr>
        <p:spPr>
          <a:xfrm>
            <a:off x="965200" y="2692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Isolated, disposable, identical for everyone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93AF94-D7CD-4C69-B294-820DA9B1F7F7}"/>
              </a:ext>
            </a:extLst>
          </p:cNvPr>
          <p:cNvSpPr/>
          <p:nvPr/>
        </p:nvSpPr>
        <p:spPr>
          <a:xfrm>
            <a:off x="787400" y="32893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804C99-BBCE-4282-81A5-32BAD365EB0F}"/>
              </a:ext>
            </a:extLst>
          </p:cNvPr>
          <p:cNvSpPr txBox="1"/>
          <p:nvPr/>
        </p:nvSpPr>
        <p:spPr>
          <a:xfrm>
            <a:off x="965200" y="3200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Named volume keeps dashboards between runs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A672F1-9FE6-4BE4-A5EE-8BCE32C24945}"/>
              </a:ext>
            </a:extLst>
          </p:cNvPr>
          <p:cNvSpPr/>
          <p:nvPr/>
        </p:nvSpPr>
        <p:spPr>
          <a:xfrm>
            <a:off x="787400" y="3797300"/>
            <a:ext cx="63500" cy="635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9E3CC-E69C-4814-982F-158F9F2B36D4}"/>
              </a:ext>
            </a:extLst>
          </p:cNvPr>
          <p:cNvSpPr txBox="1"/>
          <p:nvPr/>
        </p:nvSpPr>
        <p:spPr>
          <a:xfrm>
            <a:off x="965200" y="3708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No system packages installed on the host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30274B-45F1-4F8A-BB24-3A12AA6DBDCE}"/>
              </a:ext>
            </a:extLst>
          </p:cNvPr>
          <p:cNvSpPr/>
          <p:nvPr/>
        </p:nvSpPr>
        <p:spPr>
          <a:xfrm>
            <a:off x="736600" y="4318000"/>
            <a:ext cx="3048000" cy="165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8CD1E-C212-47C6-8BC5-2F144C611E11}"/>
              </a:ext>
            </a:extLst>
          </p:cNvPr>
          <p:cNvSpPr txBox="1"/>
          <p:nvPr/>
        </p:nvSpPr>
        <p:spPr>
          <a:xfrm>
            <a:off x="889000" y="4470400"/>
            <a:ext cx="2895600" cy="142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sv-SE" sz="1400">
                <a:solidFill>
                  <a:srgbClr val="73BF69"/>
                </a:solidFill>
                <a:latin typeface="Consolas"/>
              </a:rPr>
              <a:t>docker run -d \
  -p 3000:3000 \
  --name grafana \
  grafana/grafana-oss</a:t>
            </a:r>
            <a:endParaRPr lang="en-US" sz="1400">
              <a:solidFill>
                <a:srgbClr val="73BF69"/>
              </a:solidFill>
              <a:latin typeface="Consola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A31CDEA-EFB3-4FAA-B1C1-2DCB70F23962}"/>
              </a:ext>
            </a:extLst>
          </p:cNvPr>
          <p:cNvSpPr/>
          <p:nvPr/>
        </p:nvSpPr>
        <p:spPr>
          <a:xfrm>
            <a:off x="4292600" y="1701800"/>
            <a:ext cx="3454400" cy="4470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FF3BB4-7AEF-49C1-BF8E-41E43DC414F5}"/>
              </a:ext>
            </a:extLst>
          </p:cNvPr>
          <p:cNvSpPr/>
          <p:nvPr/>
        </p:nvSpPr>
        <p:spPr>
          <a:xfrm>
            <a:off x="4292600" y="1701800"/>
            <a:ext cx="3454400" cy="635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C5DDB-0E5C-499F-89CC-A3C7B424E487}"/>
              </a:ext>
            </a:extLst>
          </p:cNvPr>
          <p:cNvSpPr txBox="1"/>
          <p:nvPr/>
        </p:nvSpPr>
        <p:spPr>
          <a:xfrm>
            <a:off x="4546600" y="1955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73BF69"/>
                </a:solidFill>
              </a:rPr>
              <a:t>LINUX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9BADE3-73BB-4FD2-A8A6-A20BD70BC4A5}"/>
              </a:ext>
            </a:extLst>
          </p:cNvPr>
          <p:cNvSpPr txBox="1"/>
          <p:nvPr/>
        </p:nvSpPr>
        <p:spPr>
          <a:xfrm>
            <a:off x="4546600" y="23114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Debian / Ubuntu package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E331CF-9712-47D1-A12C-2D00937DE05D}"/>
              </a:ext>
            </a:extLst>
          </p:cNvPr>
          <p:cNvSpPr/>
          <p:nvPr/>
        </p:nvSpPr>
        <p:spPr>
          <a:xfrm>
            <a:off x="4546600" y="27813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E6CC03-F1C0-4448-B425-BB55245E9DE4}"/>
              </a:ext>
            </a:extLst>
          </p:cNvPr>
          <p:cNvSpPr txBox="1"/>
          <p:nvPr/>
        </p:nvSpPr>
        <p:spPr>
          <a:xfrm>
            <a:off x="4724400" y="2692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Runs as the grafana-server systemd unit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B96063-6BD3-4C35-8A75-9E964AB59AAC}"/>
              </a:ext>
            </a:extLst>
          </p:cNvPr>
          <p:cNvSpPr/>
          <p:nvPr/>
        </p:nvSpPr>
        <p:spPr>
          <a:xfrm>
            <a:off x="4546600" y="32893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003D2-05AC-4924-B018-EFC16BAA248E}"/>
              </a:ext>
            </a:extLst>
          </p:cNvPr>
          <p:cNvSpPr txBox="1"/>
          <p:nvPr/>
        </p:nvSpPr>
        <p:spPr>
          <a:xfrm>
            <a:off x="4724400" y="3200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Config lives in /etc/grafana/grafana.ini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1C2178-C722-4E66-9623-B0F712D88F32}"/>
              </a:ext>
            </a:extLst>
          </p:cNvPr>
          <p:cNvSpPr/>
          <p:nvPr/>
        </p:nvSpPr>
        <p:spPr>
          <a:xfrm>
            <a:off x="4546600" y="3797300"/>
            <a:ext cx="63500" cy="635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8A23F1-5CF9-4192-8059-C5ADF0B2BD49}"/>
              </a:ext>
            </a:extLst>
          </p:cNvPr>
          <p:cNvSpPr txBox="1"/>
          <p:nvPr/>
        </p:nvSpPr>
        <p:spPr>
          <a:xfrm>
            <a:off x="4724400" y="3708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Starts automatically on boot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8121138-57F8-441C-B0CE-361F56E78277}"/>
              </a:ext>
            </a:extLst>
          </p:cNvPr>
          <p:cNvSpPr/>
          <p:nvPr/>
        </p:nvSpPr>
        <p:spPr>
          <a:xfrm>
            <a:off x="4495800" y="4318000"/>
            <a:ext cx="3048000" cy="165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B50607-E4E1-4812-9175-E399D10A3FEF}"/>
              </a:ext>
            </a:extLst>
          </p:cNvPr>
          <p:cNvSpPr txBox="1"/>
          <p:nvPr/>
        </p:nvSpPr>
        <p:spPr>
          <a:xfrm>
            <a:off x="4648200" y="4470400"/>
            <a:ext cx="2895600" cy="142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sudo apt install grafana
sudo systemctl enable \
  --now grafana-server
systemctl status grafana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D47B1FE-F96F-425D-BEA5-2C34C6814336}"/>
              </a:ext>
            </a:extLst>
          </p:cNvPr>
          <p:cNvSpPr/>
          <p:nvPr/>
        </p:nvSpPr>
        <p:spPr>
          <a:xfrm>
            <a:off x="8051800" y="1701800"/>
            <a:ext cx="3454400" cy="44704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DB099-E7F2-4B86-9617-A93F0CDA7385}"/>
              </a:ext>
            </a:extLst>
          </p:cNvPr>
          <p:cNvSpPr/>
          <p:nvPr/>
        </p:nvSpPr>
        <p:spPr>
          <a:xfrm>
            <a:off x="8051800" y="1701800"/>
            <a:ext cx="3454400" cy="63500"/>
          </a:xfrm>
          <a:prstGeom prst="rect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4CEA19-B3F2-4CBF-84FD-E8F5C37F2165}"/>
              </a:ext>
            </a:extLst>
          </p:cNvPr>
          <p:cNvSpPr txBox="1"/>
          <p:nvPr/>
        </p:nvSpPr>
        <p:spPr>
          <a:xfrm>
            <a:off x="8305800" y="1955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5794F2"/>
                </a:solidFill>
              </a:rPr>
              <a:t>WINDOWS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7C120D-615B-4CA0-9756-4A111FBB580B}"/>
              </a:ext>
            </a:extLst>
          </p:cNvPr>
          <p:cNvSpPr txBox="1"/>
          <p:nvPr/>
        </p:nvSpPr>
        <p:spPr>
          <a:xfrm>
            <a:off x="8305800" y="23114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MSI installer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58E9E73-CA83-4619-BC6D-3450199D217B}"/>
              </a:ext>
            </a:extLst>
          </p:cNvPr>
          <p:cNvSpPr/>
          <p:nvPr/>
        </p:nvSpPr>
        <p:spPr>
          <a:xfrm>
            <a:off x="8305800" y="2781300"/>
            <a:ext cx="63500" cy="635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EF84DD-73F2-401E-B979-9155A9255B4E}"/>
              </a:ext>
            </a:extLst>
          </p:cNvPr>
          <p:cNvSpPr txBox="1"/>
          <p:nvPr/>
        </p:nvSpPr>
        <p:spPr>
          <a:xfrm>
            <a:off x="8483600" y="2692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Download the .msi from grafana.com/get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C84EE7D-6A06-401C-B70D-6752B41CDBA6}"/>
              </a:ext>
            </a:extLst>
          </p:cNvPr>
          <p:cNvSpPr/>
          <p:nvPr/>
        </p:nvSpPr>
        <p:spPr>
          <a:xfrm>
            <a:off x="8305800" y="3289300"/>
            <a:ext cx="63500" cy="635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B54197-93AC-4B04-BB64-3E162C04C8F0}"/>
              </a:ext>
            </a:extLst>
          </p:cNvPr>
          <p:cNvSpPr txBox="1"/>
          <p:nvPr/>
        </p:nvSpPr>
        <p:spPr>
          <a:xfrm>
            <a:off x="8483600" y="3200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Installed as a Windows service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BF3577-3926-480E-83C2-415C3D7D0C03}"/>
              </a:ext>
            </a:extLst>
          </p:cNvPr>
          <p:cNvSpPr/>
          <p:nvPr/>
        </p:nvSpPr>
        <p:spPr>
          <a:xfrm>
            <a:off x="8305800" y="3797300"/>
            <a:ext cx="63500" cy="63500"/>
          </a:xfrm>
          <a:prstGeom prst="ellipse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C4FE2A-892B-40F2-AFC5-E32478ADC1A2}"/>
              </a:ext>
            </a:extLst>
          </p:cNvPr>
          <p:cNvSpPr txBox="1"/>
          <p:nvPr/>
        </p:nvSpPr>
        <p:spPr>
          <a:xfrm>
            <a:off x="8483600" y="3708400"/>
            <a:ext cx="2717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Config in conf\defaults.ini and custom.ini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CA41F7D-8094-42D9-9D81-CCE2BD71ABFF}"/>
              </a:ext>
            </a:extLst>
          </p:cNvPr>
          <p:cNvSpPr/>
          <p:nvPr/>
        </p:nvSpPr>
        <p:spPr>
          <a:xfrm>
            <a:off x="8255000" y="4318000"/>
            <a:ext cx="3048000" cy="165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43A2FD-C366-4704-B6BE-603D8FF35972}"/>
              </a:ext>
            </a:extLst>
          </p:cNvPr>
          <p:cNvSpPr txBox="1"/>
          <p:nvPr/>
        </p:nvSpPr>
        <p:spPr>
          <a:xfrm>
            <a:off x="8407400" y="4470400"/>
            <a:ext cx="2895600" cy="142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# run grafana-x.y.z.msi
Get-Service grafana
# then browse to
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2180199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AE9B-9AFF-2D93-7749-DF76970E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Configuration, Ports, Login &amp; Folders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9D2CD-F1C0-4000-874E-06103A6E824E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9F335B-2893-4E29-9289-C76B0168326E}"/>
              </a:ext>
            </a:extLst>
          </p:cNvPr>
          <p:cNvSpPr/>
          <p:nvPr/>
        </p:nvSpPr>
        <p:spPr>
          <a:xfrm>
            <a:off x="533400" y="1524000"/>
            <a:ext cx="5435600" cy="2209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C6452B-7B92-4452-9D47-82CC0B9C6AFB}"/>
              </a:ext>
            </a:extLst>
          </p:cNvPr>
          <p:cNvSpPr/>
          <p:nvPr/>
        </p:nvSpPr>
        <p:spPr>
          <a:xfrm>
            <a:off x="533400" y="1524000"/>
            <a:ext cx="50800" cy="2209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35F34-157A-45D0-8502-8322EF061DA9}"/>
              </a:ext>
            </a:extLst>
          </p:cNvPr>
          <p:cNvSpPr txBox="1"/>
          <p:nvPr/>
        </p:nvSpPr>
        <p:spPr>
          <a:xfrm>
            <a:off x="812800" y="17272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46800"/>
                </a:solidFill>
              </a:rPr>
              <a:t>CONFIGURATION FILES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984360-2AF3-4E67-A9F4-7E030B526A63}"/>
              </a:ext>
            </a:extLst>
          </p:cNvPr>
          <p:cNvSpPr/>
          <p:nvPr/>
        </p:nvSpPr>
        <p:spPr>
          <a:xfrm>
            <a:off x="812800" y="2082800"/>
            <a:ext cx="4876800" cy="1117600"/>
          </a:xfrm>
          <a:prstGeom prst="roundRect">
            <a:avLst/>
          </a:prstGeom>
          <a:solidFill>
            <a:srgbClr val="0D0E1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5A901-CCBA-4AEA-B902-183BFFFA5F88}"/>
              </a:ext>
            </a:extLst>
          </p:cNvPr>
          <p:cNvSpPr txBox="1"/>
          <p:nvPr/>
        </p:nvSpPr>
        <p:spPr>
          <a:xfrm>
            <a:off x="965200" y="2184400"/>
            <a:ext cx="4597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  <a:latin typeface="Consolas"/>
              </a:rPr>
              <a:t>defaults.ini      never edit this file
grafana.ini       your overrides
custom.ini        Windows override
GF_SECTION_KEY    env var wins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EF869-01F2-409A-88A9-C9F0F5CFD0EE}"/>
              </a:ext>
            </a:extLst>
          </p:cNvPr>
          <p:cNvSpPr txBox="1"/>
          <p:nvPr/>
        </p:nvSpPr>
        <p:spPr>
          <a:xfrm>
            <a:off x="812800" y="33020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Precedence: defaults → ini file → environment variable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81A3B9-EC7B-4384-987C-4AD27F9F46F8}"/>
              </a:ext>
            </a:extLst>
          </p:cNvPr>
          <p:cNvSpPr/>
          <p:nvPr/>
        </p:nvSpPr>
        <p:spPr>
          <a:xfrm>
            <a:off x="6121400" y="1524000"/>
            <a:ext cx="5435600" cy="2209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454E2-EB67-4526-B60A-1E878F38EC01}"/>
              </a:ext>
            </a:extLst>
          </p:cNvPr>
          <p:cNvSpPr/>
          <p:nvPr/>
        </p:nvSpPr>
        <p:spPr>
          <a:xfrm>
            <a:off x="6121400" y="1524000"/>
            <a:ext cx="50800" cy="2209800"/>
          </a:xfrm>
          <a:prstGeom prst="rect">
            <a:avLst/>
          </a:prstGeom>
          <a:solidFill>
            <a:srgbClr val="5794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3B18B-6629-474A-82C0-F89007C2F201}"/>
              </a:ext>
            </a:extLst>
          </p:cNvPr>
          <p:cNvSpPr txBox="1"/>
          <p:nvPr/>
        </p:nvSpPr>
        <p:spPr>
          <a:xfrm>
            <a:off x="6400800" y="17272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5794F2"/>
                </a:solidFill>
              </a:rPr>
              <a:t>DEFAULT PORTS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5722A0-02FC-4778-9E28-94CF3303F537}"/>
              </a:ext>
            </a:extLst>
          </p:cNvPr>
          <p:cNvSpPr/>
          <p:nvPr/>
        </p:nvSpPr>
        <p:spPr>
          <a:xfrm>
            <a:off x="6400800" y="2082800"/>
            <a:ext cx="4876800" cy="1117600"/>
          </a:xfrm>
          <a:prstGeom prst="roundRect">
            <a:avLst/>
          </a:prstGeom>
          <a:solidFill>
            <a:srgbClr val="0D0E1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B4C02-CFF8-40FB-90F0-A22616910DA0}"/>
              </a:ext>
            </a:extLst>
          </p:cNvPr>
          <p:cNvSpPr txBox="1"/>
          <p:nvPr/>
        </p:nvSpPr>
        <p:spPr>
          <a:xfrm>
            <a:off x="6553200" y="2184400"/>
            <a:ext cx="4597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  <a:latin typeface="Consolas"/>
              </a:rPr>
              <a:t>3000   Grafana web UI
9090   Prometheus
3100   Loki
9100   node_exporter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63C70-7C1B-494D-BD7D-989CEEFF612E}"/>
              </a:ext>
            </a:extLst>
          </p:cNvPr>
          <p:cNvSpPr txBox="1"/>
          <p:nvPr/>
        </p:nvSpPr>
        <p:spPr>
          <a:xfrm>
            <a:off x="6400800" y="33020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Change with server.http_port or -p on docker run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091A01-7B4D-4E62-9731-466597486885}"/>
              </a:ext>
            </a:extLst>
          </p:cNvPr>
          <p:cNvSpPr/>
          <p:nvPr/>
        </p:nvSpPr>
        <p:spPr>
          <a:xfrm>
            <a:off x="533400" y="3886200"/>
            <a:ext cx="5435600" cy="2209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A799FA-BF39-4351-AE7C-D79A8D35BEDC}"/>
              </a:ext>
            </a:extLst>
          </p:cNvPr>
          <p:cNvSpPr/>
          <p:nvPr/>
        </p:nvSpPr>
        <p:spPr>
          <a:xfrm>
            <a:off x="533400" y="3886200"/>
            <a:ext cx="50800" cy="2209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86F91D-CA6E-43F4-94EE-34C5BD6D0ECA}"/>
              </a:ext>
            </a:extLst>
          </p:cNvPr>
          <p:cNvSpPr txBox="1"/>
          <p:nvPr/>
        </p:nvSpPr>
        <p:spPr>
          <a:xfrm>
            <a:off x="812800" y="4089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</a:rPr>
              <a:t>INITIAL LOGIN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C55AE5-D586-477E-9B85-29ECFD5041A5}"/>
              </a:ext>
            </a:extLst>
          </p:cNvPr>
          <p:cNvSpPr/>
          <p:nvPr/>
        </p:nvSpPr>
        <p:spPr>
          <a:xfrm>
            <a:off x="812800" y="4445000"/>
            <a:ext cx="4876800" cy="1117600"/>
          </a:xfrm>
          <a:prstGeom prst="roundRect">
            <a:avLst/>
          </a:prstGeom>
          <a:solidFill>
            <a:srgbClr val="0D0E1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802B2-B1C7-4204-9958-D9737A46E94E}"/>
              </a:ext>
            </a:extLst>
          </p:cNvPr>
          <p:cNvSpPr txBox="1"/>
          <p:nvPr/>
        </p:nvSpPr>
        <p:spPr>
          <a:xfrm>
            <a:off x="965200" y="4546600"/>
            <a:ext cx="4597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  <a:latin typeface="Consolas"/>
              </a:rPr>
              <a:t>URL       http://localhost:3000
User      admin
Password  admin
Then      forced password change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A8861-0E01-4F36-8FC9-EFDB6516FD83}"/>
              </a:ext>
            </a:extLst>
          </p:cNvPr>
          <p:cNvSpPr txBox="1"/>
          <p:nvPr/>
        </p:nvSpPr>
        <p:spPr>
          <a:xfrm>
            <a:off x="812800" y="56642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Set GF_SECURITY_ADMIN_PASSWORD to skip the prompt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1E5F6C-C2B1-44BC-B518-D4BAD9DBF834}"/>
              </a:ext>
            </a:extLst>
          </p:cNvPr>
          <p:cNvSpPr/>
          <p:nvPr/>
        </p:nvSpPr>
        <p:spPr>
          <a:xfrm>
            <a:off x="6121400" y="3886200"/>
            <a:ext cx="5435600" cy="2209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21DFF-2614-47E9-BB16-D3D7BD845C97}"/>
              </a:ext>
            </a:extLst>
          </p:cNvPr>
          <p:cNvSpPr/>
          <p:nvPr/>
        </p:nvSpPr>
        <p:spPr>
          <a:xfrm>
            <a:off x="6121400" y="3886200"/>
            <a:ext cx="50800" cy="2209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31150C-C8EB-4A35-9280-7C41DB576DCD}"/>
              </a:ext>
            </a:extLst>
          </p:cNvPr>
          <p:cNvSpPr txBox="1"/>
          <p:nvPr/>
        </p:nvSpPr>
        <p:spPr>
          <a:xfrm>
            <a:off x="6400800" y="4089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B877D9"/>
                </a:solidFill>
              </a:rPr>
              <a:t>FOLDER STRUCTURE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BFA45D-8FD5-408B-82CB-22C3E0EF2F52}"/>
              </a:ext>
            </a:extLst>
          </p:cNvPr>
          <p:cNvSpPr/>
          <p:nvPr/>
        </p:nvSpPr>
        <p:spPr>
          <a:xfrm>
            <a:off x="6400800" y="4445000"/>
            <a:ext cx="4876800" cy="1117600"/>
          </a:xfrm>
          <a:prstGeom prst="roundRect">
            <a:avLst/>
          </a:prstGeom>
          <a:solidFill>
            <a:srgbClr val="0D0E1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1B0727-C865-49C0-AE8C-4F4AF3AEADB8}"/>
              </a:ext>
            </a:extLst>
          </p:cNvPr>
          <p:cNvSpPr txBox="1"/>
          <p:nvPr/>
        </p:nvSpPr>
        <p:spPr>
          <a:xfrm>
            <a:off x="6553200" y="4546600"/>
            <a:ext cx="4597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  <a:latin typeface="Consolas"/>
              </a:rPr>
              <a:t>/etc/grafana        configuration
/var/lib/grafana    database, plugins
/var/log/grafana    logs
/usr/share/grafana  binaries, web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D6CC1-C94F-46AB-ACC8-0061645F87D3}"/>
              </a:ext>
            </a:extLst>
          </p:cNvPr>
          <p:cNvSpPr txBox="1"/>
          <p:nvPr/>
        </p:nvSpPr>
        <p:spPr>
          <a:xfrm>
            <a:off x="6400800" y="56642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E939B"/>
                </a:solidFill>
              </a:rPr>
              <a:t>In Docker only /var/lib/grafana needs a volume</a:t>
            </a:r>
          </a:p>
        </p:txBody>
      </p:sp>
    </p:spTree>
    <p:extLst>
      <p:ext uri="{BB962C8B-B14F-4D97-AF65-F5344CB8AC3E}">
        <p14:creationId xmlns:p14="http://schemas.microsoft.com/office/powerpoint/2010/main" val="1774853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FBFD-CA5F-3718-1FCA-FCDDB56F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235200"/>
            <a:ext cx="7620000" cy="889000"/>
          </a:xfrm>
        </p:spPr>
        <p:txBody>
          <a:bodyPr>
            <a:normAutofit/>
          </a:bodyPr>
          <a:lstStyle/>
          <a:p>
            <a:r>
              <a:rPr lang="en-US" sz="3600" b="1"/>
              <a:t>Grafana UI Walkthrough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0DDA5-8AFE-4479-AD0C-B1B28FDF13F2}"/>
              </a:ext>
            </a:extLst>
          </p:cNvPr>
          <p:cNvSpPr txBox="1"/>
          <p:nvPr/>
        </p:nvSpPr>
        <p:spPr>
          <a:xfrm>
            <a:off x="609600" y="1905000"/>
            <a:ext cx="3175000" cy="2540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5000" b="1">
                <a:solidFill>
                  <a:srgbClr val="22262E"/>
                </a:solidFill>
              </a:rPr>
              <a:t>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B535D-D9E4-4485-B214-4090F4A5AAFC}"/>
              </a:ext>
            </a:extLst>
          </p:cNvPr>
          <p:cNvSpPr txBox="1"/>
          <p:nvPr/>
        </p:nvSpPr>
        <p:spPr>
          <a:xfrm>
            <a:off x="3810000" y="1778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</a:rPr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54CC9-7C36-4E1A-8F40-6FCD2986F97B}"/>
              </a:ext>
            </a:extLst>
          </p:cNvPr>
          <p:cNvSpPr/>
          <p:nvPr/>
        </p:nvSpPr>
        <p:spPr>
          <a:xfrm>
            <a:off x="3810000" y="3200400"/>
            <a:ext cx="10160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069D7-D982-4A19-B2FD-F9CA5DB7ACA9}"/>
              </a:ext>
            </a:extLst>
          </p:cNvPr>
          <p:cNvSpPr txBox="1"/>
          <p:nvPr/>
        </p:nvSpPr>
        <p:spPr>
          <a:xfrm>
            <a:off x="3810000" y="34544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dirty="0">
                <a:solidFill>
                  <a:srgbClr val="9AA0A8"/>
                </a:solidFill>
              </a:rPr>
              <a:t>A guided tour of the interface you will live in for the rest of the
course  and where each setting hides.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F4B78A-3CA6-4122-BFA6-5ED387C2C2D4}"/>
              </a:ext>
            </a:extLst>
          </p:cNvPr>
          <p:cNvSpPr/>
          <p:nvPr/>
        </p:nvSpPr>
        <p:spPr>
          <a:xfrm>
            <a:off x="3810000" y="46101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995C7-21CD-453C-9814-734387481BBB}"/>
              </a:ext>
            </a:extLst>
          </p:cNvPr>
          <p:cNvSpPr txBox="1"/>
          <p:nvPr/>
        </p:nvSpPr>
        <p:spPr>
          <a:xfrm>
            <a:off x="4013200" y="45212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Home Dashboard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D8CDEC-A306-44D0-B445-28A7A4816A1B}"/>
              </a:ext>
            </a:extLst>
          </p:cNvPr>
          <p:cNvSpPr/>
          <p:nvPr/>
        </p:nvSpPr>
        <p:spPr>
          <a:xfrm>
            <a:off x="7493000" y="46101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7E4E1-680C-40DA-8079-3D27984FDA03}"/>
              </a:ext>
            </a:extLst>
          </p:cNvPr>
          <p:cNvSpPr txBox="1"/>
          <p:nvPr/>
        </p:nvSpPr>
        <p:spPr>
          <a:xfrm>
            <a:off x="7696200" y="45212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Navigation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C72C45-F98A-4DBA-B857-4E9ABF01ACD8}"/>
              </a:ext>
            </a:extLst>
          </p:cNvPr>
          <p:cNvSpPr/>
          <p:nvPr/>
        </p:nvSpPr>
        <p:spPr>
          <a:xfrm>
            <a:off x="3810000" y="50165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C110C-998B-4764-849A-0653A9823B6D}"/>
              </a:ext>
            </a:extLst>
          </p:cNvPr>
          <p:cNvSpPr txBox="1"/>
          <p:nvPr/>
        </p:nvSpPr>
        <p:spPr>
          <a:xfrm>
            <a:off x="4013200" y="49276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Search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55B88F-F57A-452D-8357-8B5B87B904E3}"/>
              </a:ext>
            </a:extLst>
          </p:cNvPr>
          <p:cNvSpPr/>
          <p:nvPr/>
        </p:nvSpPr>
        <p:spPr>
          <a:xfrm>
            <a:off x="7493000" y="50165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46CB8-9F27-4495-8363-48805CE0EC92}"/>
              </a:ext>
            </a:extLst>
          </p:cNvPr>
          <p:cNvSpPr txBox="1"/>
          <p:nvPr/>
        </p:nvSpPr>
        <p:spPr>
          <a:xfrm>
            <a:off x="7696200" y="49276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Explore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C8E241-0B2D-49F8-B814-A5D3A406ED7A}"/>
              </a:ext>
            </a:extLst>
          </p:cNvPr>
          <p:cNvSpPr/>
          <p:nvPr/>
        </p:nvSpPr>
        <p:spPr>
          <a:xfrm>
            <a:off x="3810000" y="54229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F8AECF-9CFF-42D1-B0F8-5388E98AD434}"/>
              </a:ext>
            </a:extLst>
          </p:cNvPr>
          <p:cNvSpPr txBox="1"/>
          <p:nvPr/>
        </p:nvSpPr>
        <p:spPr>
          <a:xfrm>
            <a:off x="4013200" y="53340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Configuration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B301BA-FCFC-409B-B232-50665CC058F7}"/>
              </a:ext>
            </a:extLst>
          </p:cNvPr>
          <p:cNvSpPr/>
          <p:nvPr/>
        </p:nvSpPr>
        <p:spPr>
          <a:xfrm>
            <a:off x="7493000" y="54229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1488D9-1C63-4C7F-8732-8239D920C3AC}"/>
              </a:ext>
            </a:extLst>
          </p:cNvPr>
          <p:cNvSpPr txBox="1"/>
          <p:nvPr/>
        </p:nvSpPr>
        <p:spPr>
          <a:xfrm>
            <a:off x="7696200" y="5334000"/>
            <a:ext cx="3365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7CAD0"/>
                </a:solidFill>
              </a:rPr>
              <a:t>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5437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9F33-DF93-7CAB-9B99-F83C9AE9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Finding Your Way Around Grafana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54329-AEF8-4533-8151-5C83497AFCED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MODULE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6E854-26A7-4C51-8097-ABD455CDDA38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9AA0A8"/>
                </a:solidFill>
              </a:rPr>
              <a:t>The interface in one picture  nav rail on the left, breadcrumb and search on top, dashboard canvas in the middle.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9EA245-ED4C-4A00-80BE-439DDD0B9D25}"/>
              </a:ext>
            </a:extLst>
          </p:cNvPr>
          <p:cNvSpPr/>
          <p:nvPr/>
        </p:nvSpPr>
        <p:spPr>
          <a:xfrm>
            <a:off x="533400" y="1676400"/>
            <a:ext cx="7010400" cy="4470400"/>
          </a:xfrm>
          <a:prstGeom prst="roundRect">
            <a:avLst/>
          </a:prstGeom>
          <a:solidFill>
            <a:srgbClr val="16192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DED0E-2FCD-45F4-B3C1-6ACC139CEE6B}"/>
              </a:ext>
            </a:extLst>
          </p:cNvPr>
          <p:cNvSpPr/>
          <p:nvPr/>
        </p:nvSpPr>
        <p:spPr>
          <a:xfrm>
            <a:off x="533400" y="1676400"/>
            <a:ext cx="7010400" cy="482600"/>
          </a:xfrm>
          <a:prstGeom prst="rect">
            <a:avLst/>
          </a:prstGeom>
          <a:solidFill>
            <a:srgbClr val="1B1E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37221C-2D52-428F-96EE-6D1FC622F226}"/>
              </a:ext>
            </a:extLst>
          </p:cNvPr>
          <p:cNvSpPr/>
          <p:nvPr/>
        </p:nvSpPr>
        <p:spPr>
          <a:xfrm>
            <a:off x="2489200" y="1803400"/>
            <a:ext cx="3048000" cy="254000"/>
          </a:xfrm>
          <a:prstGeom prst="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AF81C-8364-4428-8FE2-B8EA98320576}"/>
              </a:ext>
            </a:extLst>
          </p:cNvPr>
          <p:cNvSpPr txBox="1"/>
          <p:nvPr/>
        </p:nvSpPr>
        <p:spPr>
          <a:xfrm>
            <a:off x="2590800" y="1841500"/>
            <a:ext cx="2895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E747C"/>
                </a:solidFill>
              </a:rPr>
              <a:t>Search dashboards and panels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A144D4-149A-4DDB-AA09-B2F7DCD10990}"/>
              </a:ext>
            </a:extLst>
          </p:cNvPr>
          <p:cNvSpPr/>
          <p:nvPr/>
        </p:nvSpPr>
        <p:spPr>
          <a:xfrm>
            <a:off x="7112000" y="1803400"/>
            <a:ext cx="254000" cy="2540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127F9-49E8-4C0A-B54C-B4D02E059440}"/>
              </a:ext>
            </a:extLst>
          </p:cNvPr>
          <p:cNvSpPr txBox="1"/>
          <p:nvPr/>
        </p:nvSpPr>
        <p:spPr>
          <a:xfrm>
            <a:off x="711200" y="18415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FA09C-1AB6-4360-BE77-EEB6502215FF}"/>
              </a:ext>
            </a:extLst>
          </p:cNvPr>
          <p:cNvSpPr/>
          <p:nvPr/>
        </p:nvSpPr>
        <p:spPr>
          <a:xfrm>
            <a:off x="533400" y="2159000"/>
            <a:ext cx="1879600" cy="3987800"/>
          </a:xfrm>
          <a:prstGeom prst="rect">
            <a:avLst/>
          </a:prstGeom>
          <a:solidFill>
            <a:srgbClr val="1B1E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546488-9ACD-46C0-8493-C8BD4049C7FF}"/>
              </a:ext>
            </a:extLst>
          </p:cNvPr>
          <p:cNvSpPr/>
          <p:nvPr/>
        </p:nvSpPr>
        <p:spPr>
          <a:xfrm>
            <a:off x="736600" y="2362200"/>
            <a:ext cx="177800" cy="177800"/>
          </a:xfrm>
          <a:prstGeom prst="roundRect">
            <a:avLst/>
          </a:prstGeom>
          <a:solidFill>
            <a:srgbClr val="4B51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3B84A-CA22-4836-B9E3-97EA7378B22E}"/>
              </a:ext>
            </a:extLst>
          </p:cNvPr>
          <p:cNvSpPr txBox="1"/>
          <p:nvPr/>
        </p:nvSpPr>
        <p:spPr>
          <a:xfrm>
            <a:off x="1016000" y="23368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Home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6E1C6C-352C-49EE-99C3-5CC8A1D334A5}"/>
              </a:ext>
            </a:extLst>
          </p:cNvPr>
          <p:cNvSpPr/>
          <p:nvPr/>
        </p:nvSpPr>
        <p:spPr>
          <a:xfrm>
            <a:off x="533400" y="2743200"/>
            <a:ext cx="1879600" cy="406400"/>
          </a:xfrm>
          <a:prstGeom prst="rect">
            <a:avLst/>
          </a:prstGeom>
          <a:solidFill>
            <a:srgbClr val="2226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FB4F8D-6762-4EBE-A23D-C6F9A5C2E493}"/>
              </a:ext>
            </a:extLst>
          </p:cNvPr>
          <p:cNvSpPr/>
          <p:nvPr/>
        </p:nvSpPr>
        <p:spPr>
          <a:xfrm>
            <a:off x="736600" y="2819400"/>
            <a:ext cx="177800" cy="177800"/>
          </a:xfrm>
          <a:prstGeom prst="round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B813B-8986-46ED-9FA1-88999F49F1D1}"/>
              </a:ext>
            </a:extLst>
          </p:cNvPr>
          <p:cNvSpPr txBox="1"/>
          <p:nvPr/>
        </p:nvSpPr>
        <p:spPr>
          <a:xfrm>
            <a:off x="1016000" y="27940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Dashboards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B0480C-657D-4476-A7A3-245C05684348}"/>
              </a:ext>
            </a:extLst>
          </p:cNvPr>
          <p:cNvSpPr/>
          <p:nvPr/>
        </p:nvSpPr>
        <p:spPr>
          <a:xfrm>
            <a:off x="736600" y="3276600"/>
            <a:ext cx="177800" cy="177800"/>
          </a:xfrm>
          <a:prstGeom prst="roundRect">
            <a:avLst/>
          </a:prstGeom>
          <a:solidFill>
            <a:srgbClr val="4B51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CCCA3-1823-4DF0-9CF9-542A1BDFF780}"/>
              </a:ext>
            </a:extLst>
          </p:cNvPr>
          <p:cNvSpPr txBox="1"/>
          <p:nvPr/>
        </p:nvSpPr>
        <p:spPr>
          <a:xfrm>
            <a:off x="1016000" y="32512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Explore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1CA209-8803-4106-AD2C-837165B4EADF}"/>
              </a:ext>
            </a:extLst>
          </p:cNvPr>
          <p:cNvSpPr/>
          <p:nvPr/>
        </p:nvSpPr>
        <p:spPr>
          <a:xfrm>
            <a:off x="736600" y="3733800"/>
            <a:ext cx="177800" cy="177800"/>
          </a:xfrm>
          <a:prstGeom prst="roundRect">
            <a:avLst/>
          </a:prstGeom>
          <a:solidFill>
            <a:srgbClr val="4B51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CF3D86-FEB3-459B-9F40-0A9D08E26DB7}"/>
              </a:ext>
            </a:extLst>
          </p:cNvPr>
          <p:cNvSpPr txBox="1"/>
          <p:nvPr/>
        </p:nvSpPr>
        <p:spPr>
          <a:xfrm>
            <a:off x="1016000" y="37084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Alerting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484CF1-4FAE-4E30-B306-3D4D11F6714A}"/>
              </a:ext>
            </a:extLst>
          </p:cNvPr>
          <p:cNvSpPr/>
          <p:nvPr/>
        </p:nvSpPr>
        <p:spPr>
          <a:xfrm>
            <a:off x="736600" y="4191000"/>
            <a:ext cx="177800" cy="177800"/>
          </a:xfrm>
          <a:prstGeom prst="roundRect">
            <a:avLst/>
          </a:prstGeom>
          <a:solidFill>
            <a:srgbClr val="4B51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3162FE-7D5F-49A0-B21C-D5140AC9B03D}"/>
              </a:ext>
            </a:extLst>
          </p:cNvPr>
          <p:cNvSpPr txBox="1"/>
          <p:nvPr/>
        </p:nvSpPr>
        <p:spPr>
          <a:xfrm>
            <a:off x="1016000" y="41656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Connections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71CECB-F43D-4533-ACC9-61E98ED8EE10}"/>
              </a:ext>
            </a:extLst>
          </p:cNvPr>
          <p:cNvSpPr/>
          <p:nvPr/>
        </p:nvSpPr>
        <p:spPr>
          <a:xfrm>
            <a:off x="736600" y="4648200"/>
            <a:ext cx="177800" cy="177800"/>
          </a:xfrm>
          <a:prstGeom prst="roundRect">
            <a:avLst/>
          </a:prstGeom>
          <a:solidFill>
            <a:srgbClr val="4B51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318FD9-42F9-4677-822E-990CF34A3797}"/>
              </a:ext>
            </a:extLst>
          </p:cNvPr>
          <p:cNvSpPr txBox="1"/>
          <p:nvPr/>
        </p:nvSpPr>
        <p:spPr>
          <a:xfrm>
            <a:off x="1016000" y="4622800"/>
            <a:ext cx="1320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Administration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6D6EE7-B9A4-4A33-B0D7-3BC2AD742BC5}"/>
              </a:ext>
            </a:extLst>
          </p:cNvPr>
          <p:cNvSpPr/>
          <p:nvPr/>
        </p:nvSpPr>
        <p:spPr>
          <a:xfrm>
            <a:off x="2413000" y="2362200"/>
            <a:ext cx="23368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1202DB-C64C-4BCB-B7E6-FAB484824543}"/>
              </a:ext>
            </a:extLst>
          </p:cNvPr>
          <p:cNvSpPr txBox="1"/>
          <p:nvPr/>
        </p:nvSpPr>
        <p:spPr>
          <a:xfrm>
            <a:off x="2590800" y="2489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Requests / sec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A4DA84-5224-400D-842E-9DD65E9C2D61}"/>
              </a:ext>
            </a:extLst>
          </p:cNvPr>
          <p:cNvSpPr/>
          <p:nvPr/>
        </p:nvSpPr>
        <p:spPr>
          <a:xfrm>
            <a:off x="2616200" y="3606800"/>
            <a:ext cx="152400" cy="177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E97A6A-B8FD-421D-93E1-2DC6A6CD343E}"/>
              </a:ext>
            </a:extLst>
          </p:cNvPr>
          <p:cNvSpPr/>
          <p:nvPr/>
        </p:nvSpPr>
        <p:spPr>
          <a:xfrm>
            <a:off x="2844800" y="3136900"/>
            <a:ext cx="152400" cy="6477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2E9840-0F78-4811-AFBC-A9DB3C34A768}"/>
              </a:ext>
            </a:extLst>
          </p:cNvPr>
          <p:cNvSpPr/>
          <p:nvPr/>
        </p:nvSpPr>
        <p:spPr>
          <a:xfrm>
            <a:off x="3073400" y="3429000"/>
            <a:ext cx="152400" cy="3556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2EBC8E-BE07-437D-8B3A-FE6EFC02F4E9}"/>
              </a:ext>
            </a:extLst>
          </p:cNvPr>
          <p:cNvSpPr/>
          <p:nvPr/>
        </p:nvSpPr>
        <p:spPr>
          <a:xfrm>
            <a:off x="3302000" y="2959100"/>
            <a:ext cx="152400" cy="825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C7FDD5-49EC-4555-82CF-ED2F620549F0}"/>
              </a:ext>
            </a:extLst>
          </p:cNvPr>
          <p:cNvSpPr/>
          <p:nvPr/>
        </p:nvSpPr>
        <p:spPr>
          <a:xfrm>
            <a:off x="3530600" y="3251200"/>
            <a:ext cx="152400" cy="5334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C0E9D5-54F2-4FBC-A935-DE4EB13A1BAD}"/>
              </a:ext>
            </a:extLst>
          </p:cNvPr>
          <p:cNvSpPr/>
          <p:nvPr/>
        </p:nvSpPr>
        <p:spPr>
          <a:xfrm>
            <a:off x="3759200" y="3543300"/>
            <a:ext cx="152400" cy="2413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E8B8A2-1881-4477-9889-B4DC158AB0BB}"/>
              </a:ext>
            </a:extLst>
          </p:cNvPr>
          <p:cNvSpPr/>
          <p:nvPr/>
        </p:nvSpPr>
        <p:spPr>
          <a:xfrm>
            <a:off x="3987800" y="3073400"/>
            <a:ext cx="152400" cy="7112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22082-694F-4B0B-96F6-F1C7FCAD43A7}"/>
              </a:ext>
            </a:extLst>
          </p:cNvPr>
          <p:cNvSpPr/>
          <p:nvPr/>
        </p:nvSpPr>
        <p:spPr>
          <a:xfrm>
            <a:off x="4216400" y="3365500"/>
            <a:ext cx="152400" cy="4191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CA3FEB-CD78-4631-B9D2-B97C25A8CCCA}"/>
              </a:ext>
            </a:extLst>
          </p:cNvPr>
          <p:cNvSpPr/>
          <p:nvPr/>
        </p:nvSpPr>
        <p:spPr>
          <a:xfrm>
            <a:off x="4445000" y="2895600"/>
            <a:ext cx="152400" cy="8890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8C529A0-5BE6-4529-AE29-CB315E78B187}"/>
              </a:ext>
            </a:extLst>
          </p:cNvPr>
          <p:cNvSpPr/>
          <p:nvPr/>
        </p:nvSpPr>
        <p:spPr>
          <a:xfrm>
            <a:off x="4902200" y="2362200"/>
            <a:ext cx="23368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181BEF-68B5-4BE0-BBB0-6075C75CB7E3}"/>
              </a:ext>
            </a:extLst>
          </p:cNvPr>
          <p:cNvSpPr txBox="1"/>
          <p:nvPr/>
        </p:nvSpPr>
        <p:spPr>
          <a:xfrm>
            <a:off x="5080000" y="2489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p95 latency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9CA3FC-AF70-4CAE-A169-56B6FA17CFD0}"/>
              </a:ext>
            </a:extLst>
          </p:cNvPr>
          <p:cNvSpPr/>
          <p:nvPr/>
        </p:nvSpPr>
        <p:spPr>
          <a:xfrm>
            <a:off x="5105400" y="3606800"/>
            <a:ext cx="152400" cy="177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96CEF4-9E85-4276-86B2-7298D22E02F7}"/>
              </a:ext>
            </a:extLst>
          </p:cNvPr>
          <p:cNvSpPr/>
          <p:nvPr/>
        </p:nvSpPr>
        <p:spPr>
          <a:xfrm>
            <a:off x="5334000" y="3136900"/>
            <a:ext cx="152400" cy="6477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D0DCAD-8BCC-4126-B315-6D272F819939}"/>
              </a:ext>
            </a:extLst>
          </p:cNvPr>
          <p:cNvSpPr/>
          <p:nvPr/>
        </p:nvSpPr>
        <p:spPr>
          <a:xfrm>
            <a:off x="5562600" y="3429000"/>
            <a:ext cx="152400" cy="3556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02975A-6454-476F-B355-9F4F6A422CBD}"/>
              </a:ext>
            </a:extLst>
          </p:cNvPr>
          <p:cNvSpPr/>
          <p:nvPr/>
        </p:nvSpPr>
        <p:spPr>
          <a:xfrm>
            <a:off x="5791200" y="2959100"/>
            <a:ext cx="152400" cy="825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4E2BE4-A726-4AFD-B208-296DA1DB67F4}"/>
              </a:ext>
            </a:extLst>
          </p:cNvPr>
          <p:cNvSpPr/>
          <p:nvPr/>
        </p:nvSpPr>
        <p:spPr>
          <a:xfrm>
            <a:off x="6019800" y="3251200"/>
            <a:ext cx="152400" cy="5334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C822E3-32A8-4A3B-9BAC-06A136C1265B}"/>
              </a:ext>
            </a:extLst>
          </p:cNvPr>
          <p:cNvSpPr/>
          <p:nvPr/>
        </p:nvSpPr>
        <p:spPr>
          <a:xfrm>
            <a:off x="6248400" y="3543300"/>
            <a:ext cx="152400" cy="2413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840288-0C77-4624-B9BE-55E9FC973437}"/>
              </a:ext>
            </a:extLst>
          </p:cNvPr>
          <p:cNvSpPr/>
          <p:nvPr/>
        </p:nvSpPr>
        <p:spPr>
          <a:xfrm>
            <a:off x="6477000" y="3073400"/>
            <a:ext cx="152400" cy="7112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14B140-4E61-4407-A4B0-C8CF3098E5C8}"/>
              </a:ext>
            </a:extLst>
          </p:cNvPr>
          <p:cNvSpPr/>
          <p:nvPr/>
        </p:nvSpPr>
        <p:spPr>
          <a:xfrm>
            <a:off x="6705600" y="3365500"/>
            <a:ext cx="152400" cy="4191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D79701-0B0A-4C26-9293-A66E89A4A606}"/>
              </a:ext>
            </a:extLst>
          </p:cNvPr>
          <p:cNvSpPr/>
          <p:nvPr/>
        </p:nvSpPr>
        <p:spPr>
          <a:xfrm>
            <a:off x="6934200" y="2895600"/>
            <a:ext cx="152400" cy="8890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D250F7-CB28-41E3-A26E-76963D886D81}"/>
              </a:ext>
            </a:extLst>
          </p:cNvPr>
          <p:cNvSpPr/>
          <p:nvPr/>
        </p:nvSpPr>
        <p:spPr>
          <a:xfrm>
            <a:off x="2413000" y="4241800"/>
            <a:ext cx="23368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0781BC-5446-41D9-8F80-B09F8A0610DD}"/>
              </a:ext>
            </a:extLst>
          </p:cNvPr>
          <p:cNvSpPr txBox="1"/>
          <p:nvPr/>
        </p:nvSpPr>
        <p:spPr>
          <a:xfrm>
            <a:off x="2590800" y="4368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Error rate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73181B-3C91-4B8C-83A7-04CF1820326E}"/>
              </a:ext>
            </a:extLst>
          </p:cNvPr>
          <p:cNvSpPr/>
          <p:nvPr/>
        </p:nvSpPr>
        <p:spPr>
          <a:xfrm>
            <a:off x="2616200" y="5486400"/>
            <a:ext cx="152400" cy="177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9D2B78D-AD52-4C48-B3B1-0CB889FF1187}"/>
              </a:ext>
            </a:extLst>
          </p:cNvPr>
          <p:cNvSpPr/>
          <p:nvPr/>
        </p:nvSpPr>
        <p:spPr>
          <a:xfrm>
            <a:off x="2844800" y="5016500"/>
            <a:ext cx="152400" cy="6477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A74335-76B8-4BB9-B7A7-4DF6646AEE5E}"/>
              </a:ext>
            </a:extLst>
          </p:cNvPr>
          <p:cNvSpPr/>
          <p:nvPr/>
        </p:nvSpPr>
        <p:spPr>
          <a:xfrm>
            <a:off x="3073400" y="5308600"/>
            <a:ext cx="152400" cy="3556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F8489A-C2D4-420D-B738-891AAF69ABF1}"/>
              </a:ext>
            </a:extLst>
          </p:cNvPr>
          <p:cNvSpPr/>
          <p:nvPr/>
        </p:nvSpPr>
        <p:spPr>
          <a:xfrm>
            <a:off x="3302000" y="4838700"/>
            <a:ext cx="152400" cy="825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666C0B8-15E6-4DA6-9039-031F82CB0058}"/>
              </a:ext>
            </a:extLst>
          </p:cNvPr>
          <p:cNvSpPr/>
          <p:nvPr/>
        </p:nvSpPr>
        <p:spPr>
          <a:xfrm>
            <a:off x="3530600" y="5130800"/>
            <a:ext cx="152400" cy="5334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18120D0-4DDD-4B06-85DC-0561A4BD2D33}"/>
              </a:ext>
            </a:extLst>
          </p:cNvPr>
          <p:cNvSpPr/>
          <p:nvPr/>
        </p:nvSpPr>
        <p:spPr>
          <a:xfrm>
            <a:off x="3759200" y="5422900"/>
            <a:ext cx="152400" cy="2413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C4C6CF-9FD1-4A2A-AA8C-1DFA23EA5779}"/>
              </a:ext>
            </a:extLst>
          </p:cNvPr>
          <p:cNvSpPr/>
          <p:nvPr/>
        </p:nvSpPr>
        <p:spPr>
          <a:xfrm>
            <a:off x="3987800" y="4953000"/>
            <a:ext cx="152400" cy="7112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4B4F47-DC5F-4493-B6EE-A1EE0CF3AB5B}"/>
              </a:ext>
            </a:extLst>
          </p:cNvPr>
          <p:cNvSpPr/>
          <p:nvPr/>
        </p:nvSpPr>
        <p:spPr>
          <a:xfrm>
            <a:off x="4216400" y="5245100"/>
            <a:ext cx="152400" cy="4191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2BED7D-3D2E-4B0D-9B1F-D5EBA8CFC77C}"/>
              </a:ext>
            </a:extLst>
          </p:cNvPr>
          <p:cNvSpPr/>
          <p:nvPr/>
        </p:nvSpPr>
        <p:spPr>
          <a:xfrm>
            <a:off x="4445000" y="4775200"/>
            <a:ext cx="152400" cy="8890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A69743-EC18-4909-A55D-36C2AC475822}"/>
              </a:ext>
            </a:extLst>
          </p:cNvPr>
          <p:cNvSpPr/>
          <p:nvPr/>
        </p:nvSpPr>
        <p:spPr>
          <a:xfrm>
            <a:off x="4902200" y="4241800"/>
            <a:ext cx="2336800" cy="1701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98BEB4-7AB8-42BA-B6D3-FF9843AFEFF7}"/>
              </a:ext>
            </a:extLst>
          </p:cNvPr>
          <p:cNvSpPr txBox="1"/>
          <p:nvPr/>
        </p:nvSpPr>
        <p:spPr>
          <a:xfrm>
            <a:off x="5080000" y="4368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Log volume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A2DB44-41D2-4502-9D35-368523FA3BC9}"/>
              </a:ext>
            </a:extLst>
          </p:cNvPr>
          <p:cNvSpPr/>
          <p:nvPr/>
        </p:nvSpPr>
        <p:spPr>
          <a:xfrm>
            <a:off x="5105400" y="5486400"/>
            <a:ext cx="152400" cy="177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ACA6B94-8371-4A2F-B80B-CC11C6BC9BDA}"/>
              </a:ext>
            </a:extLst>
          </p:cNvPr>
          <p:cNvSpPr/>
          <p:nvPr/>
        </p:nvSpPr>
        <p:spPr>
          <a:xfrm>
            <a:off x="5334000" y="5016500"/>
            <a:ext cx="152400" cy="6477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F1F2AE-59E2-41C0-8EF8-99CCCDF5D9A3}"/>
              </a:ext>
            </a:extLst>
          </p:cNvPr>
          <p:cNvSpPr/>
          <p:nvPr/>
        </p:nvSpPr>
        <p:spPr>
          <a:xfrm>
            <a:off x="5562600" y="5308600"/>
            <a:ext cx="152400" cy="3556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4A3EEA1-7454-47E2-9839-E9C17F36C506}"/>
              </a:ext>
            </a:extLst>
          </p:cNvPr>
          <p:cNvSpPr/>
          <p:nvPr/>
        </p:nvSpPr>
        <p:spPr>
          <a:xfrm>
            <a:off x="5791200" y="4838700"/>
            <a:ext cx="152400" cy="825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D273ACD-585F-45BA-82A6-D1EAE8741EDE}"/>
              </a:ext>
            </a:extLst>
          </p:cNvPr>
          <p:cNvSpPr/>
          <p:nvPr/>
        </p:nvSpPr>
        <p:spPr>
          <a:xfrm>
            <a:off x="6019800" y="5130800"/>
            <a:ext cx="152400" cy="5334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8D9BFC3-337C-4177-881C-7551101BD956}"/>
              </a:ext>
            </a:extLst>
          </p:cNvPr>
          <p:cNvSpPr/>
          <p:nvPr/>
        </p:nvSpPr>
        <p:spPr>
          <a:xfrm>
            <a:off x="6248400" y="5422900"/>
            <a:ext cx="152400" cy="2413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87BC09-A21B-4910-B188-C70FB6EDE717}"/>
              </a:ext>
            </a:extLst>
          </p:cNvPr>
          <p:cNvSpPr/>
          <p:nvPr/>
        </p:nvSpPr>
        <p:spPr>
          <a:xfrm>
            <a:off x="6477000" y="4953000"/>
            <a:ext cx="152400" cy="7112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459BF0-3AFC-46C1-AE3A-596EC0532D4D}"/>
              </a:ext>
            </a:extLst>
          </p:cNvPr>
          <p:cNvSpPr/>
          <p:nvPr/>
        </p:nvSpPr>
        <p:spPr>
          <a:xfrm>
            <a:off x="6705600" y="5245100"/>
            <a:ext cx="152400" cy="4191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908F15A-111C-43EC-94BE-64664201C5AE}"/>
              </a:ext>
            </a:extLst>
          </p:cNvPr>
          <p:cNvSpPr/>
          <p:nvPr/>
        </p:nvSpPr>
        <p:spPr>
          <a:xfrm>
            <a:off x="6934200" y="4775200"/>
            <a:ext cx="152400" cy="8890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07FF92B-5BFA-48F0-81FA-6710B8314108}"/>
              </a:ext>
            </a:extLst>
          </p:cNvPr>
          <p:cNvSpPr/>
          <p:nvPr/>
        </p:nvSpPr>
        <p:spPr>
          <a:xfrm>
            <a:off x="7797800" y="1676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4FCFAB-3308-457A-A227-B3976E6BB423}"/>
              </a:ext>
            </a:extLst>
          </p:cNvPr>
          <p:cNvSpPr txBox="1"/>
          <p:nvPr/>
        </p:nvSpPr>
        <p:spPr>
          <a:xfrm>
            <a:off x="8229600" y="1689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Home Dashboard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EC0AB5-920C-45B0-AA09-EFCD494E2004}"/>
              </a:ext>
            </a:extLst>
          </p:cNvPr>
          <p:cNvSpPr txBox="1"/>
          <p:nvPr/>
        </p:nvSpPr>
        <p:spPr>
          <a:xfrm>
            <a:off x="8229600" y="1968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AA0A8"/>
                </a:solidFill>
              </a:rPr>
              <a:t>Landing page  replace it with your team's overview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349BB35-548F-4594-A668-8E02FC604C25}"/>
              </a:ext>
            </a:extLst>
          </p:cNvPr>
          <p:cNvSpPr/>
          <p:nvPr/>
        </p:nvSpPr>
        <p:spPr>
          <a:xfrm>
            <a:off x="7797800" y="2438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10DD92-18B5-4262-A5C8-2E310036FF99}"/>
              </a:ext>
            </a:extLst>
          </p:cNvPr>
          <p:cNvSpPr txBox="1"/>
          <p:nvPr/>
        </p:nvSpPr>
        <p:spPr>
          <a:xfrm>
            <a:off x="8229600" y="2451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Navigation rail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E22087-C9CD-4847-AE97-990C77D80E80}"/>
              </a:ext>
            </a:extLst>
          </p:cNvPr>
          <p:cNvSpPr txBox="1"/>
          <p:nvPr/>
        </p:nvSpPr>
        <p:spPr>
          <a:xfrm>
            <a:off x="8229600" y="2730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Dashboards, Explore, Alerting, Connections, Admin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41FD301-4353-4B20-9D10-2407A225140A}"/>
              </a:ext>
            </a:extLst>
          </p:cNvPr>
          <p:cNvSpPr/>
          <p:nvPr/>
        </p:nvSpPr>
        <p:spPr>
          <a:xfrm>
            <a:off x="7797800" y="3200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9E2341-FD1A-4045-AAD2-F582BD92378A}"/>
              </a:ext>
            </a:extLst>
          </p:cNvPr>
          <p:cNvSpPr txBox="1"/>
          <p:nvPr/>
        </p:nvSpPr>
        <p:spPr>
          <a:xfrm>
            <a:off x="8229600" y="3213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EC9CCC-B40D-42E3-94A3-1ABF6DAB0CC0}"/>
              </a:ext>
            </a:extLst>
          </p:cNvPr>
          <p:cNvSpPr txBox="1"/>
          <p:nvPr/>
        </p:nvSpPr>
        <p:spPr>
          <a:xfrm>
            <a:off x="8229600" y="3492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Fuzzy search across dashboards, folders and panels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6610B17-AE71-4D48-88A2-603899396C23}"/>
              </a:ext>
            </a:extLst>
          </p:cNvPr>
          <p:cNvSpPr/>
          <p:nvPr/>
        </p:nvSpPr>
        <p:spPr>
          <a:xfrm>
            <a:off x="7797800" y="3962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D196B1-D266-4436-B54E-63DC9380AA14}"/>
              </a:ext>
            </a:extLst>
          </p:cNvPr>
          <p:cNvSpPr txBox="1"/>
          <p:nvPr/>
        </p:nvSpPr>
        <p:spPr>
          <a:xfrm>
            <a:off x="8229600" y="3975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Explore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2EB0C5-BC8A-4068-A7FF-E689987B3359}"/>
              </a:ext>
            </a:extLst>
          </p:cNvPr>
          <p:cNvSpPr txBox="1"/>
          <p:nvPr/>
        </p:nvSpPr>
        <p:spPr>
          <a:xfrm>
            <a:off x="8229600" y="4254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Ad-hoc querying without creating a dashboard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7519519-3798-4CC1-9D84-AF070D3E8D7B}"/>
              </a:ext>
            </a:extLst>
          </p:cNvPr>
          <p:cNvSpPr/>
          <p:nvPr/>
        </p:nvSpPr>
        <p:spPr>
          <a:xfrm>
            <a:off x="7797800" y="4724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1EE7F9-2A86-41FE-AEFB-9636A290C2A9}"/>
              </a:ext>
            </a:extLst>
          </p:cNvPr>
          <p:cNvSpPr txBox="1"/>
          <p:nvPr/>
        </p:nvSpPr>
        <p:spPr>
          <a:xfrm>
            <a:off x="8229600" y="4737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57B344-2C1F-4446-835D-30BACFE1FEA5}"/>
              </a:ext>
            </a:extLst>
          </p:cNvPr>
          <p:cNvSpPr txBox="1"/>
          <p:nvPr/>
        </p:nvSpPr>
        <p:spPr>
          <a:xfrm>
            <a:off x="8229600" y="5016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Data sources, plugins, preferences, API keys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FD2C6D1-D0F9-4080-B863-50F937D5D320}"/>
              </a:ext>
            </a:extLst>
          </p:cNvPr>
          <p:cNvSpPr/>
          <p:nvPr/>
        </p:nvSpPr>
        <p:spPr>
          <a:xfrm>
            <a:off x="7797800" y="54864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0E12"/>
                </a:solidFill>
              </a:rPr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E2C9D8-004F-42A1-BCEF-064E580E7F61}"/>
              </a:ext>
            </a:extLst>
          </p:cNvPr>
          <p:cNvSpPr txBox="1"/>
          <p:nvPr/>
        </p:nvSpPr>
        <p:spPr>
          <a:xfrm>
            <a:off x="8229600" y="5499100"/>
            <a:ext cx="335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Administration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55D52D-72BA-4565-ABC0-A5C20A5D3A40}"/>
              </a:ext>
            </a:extLst>
          </p:cNvPr>
          <p:cNvSpPr txBox="1"/>
          <p:nvPr/>
        </p:nvSpPr>
        <p:spPr>
          <a:xfrm>
            <a:off x="8229600" y="5778500"/>
            <a:ext cx="335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Users, teams, orgs, server stats and settings</a:t>
            </a:r>
          </a:p>
        </p:txBody>
      </p:sp>
    </p:spTree>
    <p:extLst>
      <p:ext uri="{BB962C8B-B14F-4D97-AF65-F5344CB8AC3E}">
        <p14:creationId xmlns:p14="http://schemas.microsoft.com/office/powerpoint/2010/main" val="201796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E816-F419-4A8C-69A9-293C42428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60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 dirty="0"/>
              <a:t>Lab 1  Stand Up Grafana with Docker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DA4BA2-CF08-4CC3-A15C-BEEAE85F95A6}"/>
              </a:ext>
            </a:extLst>
          </p:cNvPr>
          <p:cNvSpPr/>
          <p:nvPr/>
        </p:nvSpPr>
        <p:spPr>
          <a:xfrm>
            <a:off x="533400" y="304800"/>
            <a:ext cx="1524000" cy="304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HANDS-ON LAB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67104-0FB9-4D38-BB8B-33C294FEF4B2}"/>
              </a:ext>
            </a:extLst>
          </p:cNvPr>
          <p:cNvSpPr txBox="1"/>
          <p:nvPr/>
        </p:nvSpPr>
        <p:spPr>
          <a:xfrm>
            <a:off x="10033000" y="381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45 MINUTES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66E9F-C32C-4C1D-9102-4F01B5259AFC}"/>
              </a:ext>
            </a:extLst>
          </p:cNvPr>
          <p:cNvSpPr txBox="1"/>
          <p:nvPr/>
        </p:nvSpPr>
        <p:spPr>
          <a:xfrm>
            <a:off x="533400" y="1295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Work in pairs. By the end you will have a running Grafana you can break and rebuild in seconds.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7B43FE-49EF-4A5D-A4B6-7108BB86985F}"/>
              </a:ext>
            </a:extLst>
          </p:cNvPr>
          <p:cNvSpPr/>
          <p:nvPr/>
        </p:nvSpPr>
        <p:spPr>
          <a:xfrm>
            <a:off x="533400" y="1803400"/>
            <a:ext cx="3479800" cy="4368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10748-622F-4F69-A252-236277AA561F}"/>
              </a:ext>
            </a:extLst>
          </p:cNvPr>
          <p:cNvSpPr txBox="1"/>
          <p:nvPr/>
        </p:nvSpPr>
        <p:spPr>
          <a:xfrm>
            <a:off x="838200" y="20320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OBJECTIVES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56EBC9-8DFB-4273-B990-96D45D542CC2}"/>
              </a:ext>
            </a:extLst>
          </p:cNvPr>
          <p:cNvSpPr/>
          <p:nvPr/>
        </p:nvSpPr>
        <p:spPr>
          <a:xfrm>
            <a:off x="838200" y="24892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C7CDE-2374-447E-9F30-6B6D02E21C6E}"/>
              </a:ext>
            </a:extLst>
          </p:cNvPr>
          <p:cNvSpPr txBox="1"/>
          <p:nvPr/>
        </p:nvSpPr>
        <p:spPr>
          <a:xfrm>
            <a:off x="1041400" y="2413000"/>
            <a:ext cx="2641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Install Docker and verify it runs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6BE421-EFF0-4D7E-8745-B6AEA2BAE1EF}"/>
              </a:ext>
            </a:extLst>
          </p:cNvPr>
          <p:cNvSpPr/>
          <p:nvPr/>
        </p:nvSpPr>
        <p:spPr>
          <a:xfrm>
            <a:off x="838200" y="30480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4284F-1F79-41E4-B908-D716065F8063}"/>
              </a:ext>
            </a:extLst>
          </p:cNvPr>
          <p:cNvSpPr txBox="1"/>
          <p:nvPr/>
        </p:nvSpPr>
        <p:spPr>
          <a:xfrm>
            <a:off x="1041400" y="2971800"/>
            <a:ext cx="2641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Deploy Grafana with Docker Compose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D19E22-48BD-4D8F-87FB-3536DCA055BF}"/>
              </a:ext>
            </a:extLst>
          </p:cNvPr>
          <p:cNvSpPr/>
          <p:nvPr/>
        </p:nvSpPr>
        <p:spPr>
          <a:xfrm>
            <a:off x="838200" y="36068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FD27F8-AB81-4AEA-8F1D-027A2EBA8D37}"/>
              </a:ext>
            </a:extLst>
          </p:cNvPr>
          <p:cNvSpPr txBox="1"/>
          <p:nvPr/>
        </p:nvSpPr>
        <p:spPr>
          <a:xfrm>
            <a:off x="1041400" y="3530600"/>
            <a:ext cx="2641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Log in and change the admin password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B1E399-23BC-4D12-BCA6-B89CBAC679E5}"/>
              </a:ext>
            </a:extLst>
          </p:cNvPr>
          <p:cNvSpPr/>
          <p:nvPr/>
        </p:nvSpPr>
        <p:spPr>
          <a:xfrm>
            <a:off x="838200" y="41656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ECC73-72C3-4A99-B471-9E108E15B92D}"/>
              </a:ext>
            </a:extLst>
          </p:cNvPr>
          <p:cNvSpPr txBox="1"/>
          <p:nvPr/>
        </p:nvSpPr>
        <p:spPr>
          <a:xfrm>
            <a:off x="1041400" y="4089400"/>
            <a:ext cx="2641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Take a first tour of the UI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1EF4CE-6D69-477E-AE88-D29F134197FC}"/>
              </a:ext>
            </a:extLst>
          </p:cNvPr>
          <p:cNvSpPr/>
          <p:nvPr/>
        </p:nvSpPr>
        <p:spPr>
          <a:xfrm>
            <a:off x="838200" y="47244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5F398-D9BB-4C90-AE83-4E1E3C645990}"/>
              </a:ext>
            </a:extLst>
          </p:cNvPr>
          <p:cNvSpPr txBox="1"/>
          <p:nvPr/>
        </p:nvSpPr>
        <p:spPr>
          <a:xfrm>
            <a:off x="1041400" y="4648200"/>
            <a:ext cx="2641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Install a plugin and restart cleanly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7DD70-20D9-466A-B9B3-B6E7AE46DE5A}"/>
              </a:ext>
            </a:extLst>
          </p:cNvPr>
          <p:cNvSpPr txBox="1"/>
          <p:nvPr/>
        </p:nvSpPr>
        <p:spPr>
          <a:xfrm>
            <a:off x="838200" y="5308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PREREQUISITES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D46289-AEA9-43BA-9399-3A32C5108806}"/>
              </a:ext>
            </a:extLst>
          </p:cNvPr>
          <p:cNvSpPr txBox="1"/>
          <p:nvPr/>
        </p:nvSpPr>
        <p:spPr>
          <a:xfrm>
            <a:off x="838200" y="5613400"/>
            <a:ext cx="2844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8 GB RAM  ·  admin rights  ·  ports 3000 free  ·  internet access for image pull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506CE3-A053-4D0E-9E96-D45FF211FEB6}"/>
              </a:ext>
            </a:extLst>
          </p:cNvPr>
          <p:cNvSpPr/>
          <p:nvPr/>
        </p:nvSpPr>
        <p:spPr>
          <a:xfrm>
            <a:off x="4318000" y="18034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8DD72F-DBBE-47A6-9232-CAC77B4A7F98}"/>
              </a:ext>
            </a:extLst>
          </p:cNvPr>
          <p:cNvSpPr/>
          <p:nvPr/>
        </p:nvSpPr>
        <p:spPr>
          <a:xfrm>
            <a:off x="4546600" y="20320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F88517-EE4F-45CC-809D-B8C76C20E51C}"/>
              </a:ext>
            </a:extLst>
          </p:cNvPr>
          <p:cNvSpPr txBox="1"/>
          <p:nvPr/>
        </p:nvSpPr>
        <p:spPr>
          <a:xfrm>
            <a:off x="5054600" y="20320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Install Docker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9C595B-2D5D-4714-B8AB-A16BE18FEE70}"/>
              </a:ext>
            </a:extLst>
          </p:cNvPr>
          <p:cNvSpPr txBox="1"/>
          <p:nvPr/>
        </p:nvSpPr>
        <p:spPr>
          <a:xfrm>
            <a:off x="5054600" y="23622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 Desktop on Windows/macOS, docker-ce on Linux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9BF3DE-BFE2-442E-BD2F-53630F622822}"/>
              </a:ext>
            </a:extLst>
          </p:cNvPr>
          <p:cNvSpPr/>
          <p:nvPr/>
        </p:nvSpPr>
        <p:spPr>
          <a:xfrm>
            <a:off x="8026400" y="18034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4B45DB-97FC-4C0B-B207-DAE9BEA87745}"/>
              </a:ext>
            </a:extLst>
          </p:cNvPr>
          <p:cNvSpPr/>
          <p:nvPr/>
        </p:nvSpPr>
        <p:spPr>
          <a:xfrm>
            <a:off x="8255000" y="20320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AE4C0-213D-46D7-B3D1-E4344EB337CA}"/>
              </a:ext>
            </a:extLst>
          </p:cNvPr>
          <p:cNvSpPr txBox="1"/>
          <p:nvPr/>
        </p:nvSpPr>
        <p:spPr>
          <a:xfrm>
            <a:off x="8763000" y="20320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Verify the engine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61BCDA-9D2F-4CA0-B14E-2E1BB1A5F2DA}"/>
              </a:ext>
            </a:extLst>
          </p:cNvPr>
          <p:cNvSpPr txBox="1"/>
          <p:nvPr/>
        </p:nvSpPr>
        <p:spPr>
          <a:xfrm>
            <a:off x="8763000" y="23622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 --version and docker run hello-world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0944D2E-0C98-41DC-98FF-3083E38E24DB}"/>
              </a:ext>
            </a:extLst>
          </p:cNvPr>
          <p:cNvSpPr/>
          <p:nvPr/>
        </p:nvSpPr>
        <p:spPr>
          <a:xfrm>
            <a:off x="4318000" y="33020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47B0C2-57D3-45AD-B434-AADDC1D3E63C}"/>
              </a:ext>
            </a:extLst>
          </p:cNvPr>
          <p:cNvSpPr/>
          <p:nvPr/>
        </p:nvSpPr>
        <p:spPr>
          <a:xfrm>
            <a:off x="4546600" y="35306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591DDD-B46D-4050-8AE2-FE81094A0667}"/>
              </a:ext>
            </a:extLst>
          </p:cNvPr>
          <p:cNvSpPr txBox="1"/>
          <p:nvPr/>
        </p:nvSpPr>
        <p:spPr>
          <a:xfrm>
            <a:off x="5054600" y="35306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Write compose file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31DFCB-AFB3-4356-9FD1-FC046A3F49D1}"/>
              </a:ext>
            </a:extLst>
          </p:cNvPr>
          <p:cNvSpPr txBox="1"/>
          <p:nvPr/>
        </p:nvSpPr>
        <p:spPr>
          <a:xfrm>
            <a:off x="5054600" y="38608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Define the grafana service, port and volume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F54746-29B9-4703-BF49-1FB28AE1B224}"/>
              </a:ext>
            </a:extLst>
          </p:cNvPr>
          <p:cNvSpPr/>
          <p:nvPr/>
        </p:nvSpPr>
        <p:spPr>
          <a:xfrm>
            <a:off x="8026400" y="33020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7C82AC-179C-412E-BDAC-3841D6B5E35F}"/>
              </a:ext>
            </a:extLst>
          </p:cNvPr>
          <p:cNvSpPr/>
          <p:nvPr/>
        </p:nvSpPr>
        <p:spPr>
          <a:xfrm>
            <a:off x="8255000" y="35306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A42F2A-978F-451C-B1E8-7F29BB4295EB}"/>
              </a:ext>
            </a:extLst>
          </p:cNvPr>
          <p:cNvSpPr txBox="1"/>
          <p:nvPr/>
        </p:nvSpPr>
        <p:spPr>
          <a:xfrm>
            <a:off x="8763000" y="35306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Bring the stack 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59F51D-DE35-46F3-9E29-98300F087FAE}"/>
              </a:ext>
            </a:extLst>
          </p:cNvPr>
          <p:cNvSpPr txBox="1"/>
          <p:nvPr/>
        </p:nvSpPr>
        <p:spPr>
          <a:xfrm>
            <a:off x="8763000" y="38608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 compose up -d, then check container health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1B15F8F-05CD-45D1-A0C5-21CF4BDDA300}"/>
              </a:ext>
            </a:extLst>
          </p:cNvPr>
          <p:cNvSpPr/>
          <p:nvPr/>
        </p:nvSpPr>
        <p:spPr>
          <a:xfrm>
            <a:off x="4318000" y="48006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C8B2C52-9160-4F47-8DE0-58C59662135F}"/>
              </a:ext>
            </a:extLst>
          </p:cNvPr>
          <p:cNvSpPr/>
          <p:nvPr/>
        </p:nvSpPr>
        <p:spPr>
          <a:xfrm>
            <a:off x="4546600" y="50292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E394D6-B9EF-46CD-A1E0-1D498CF6D5D2}"/>
              </a:ext>
            </a:extLst>
          </p:cNvPr>
          <p:cNvSpPr txBox="1"/>
          <p:nvPr/>
        </p:nvSpPr>
        <p:spPr>
          <a:xfrm>
            <a:off x="5054600" y="50292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First login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1F5632-7784-4341-A5FF-147E3C1766D4}"/>
              </a:ext>
            </a:extLst>
          </p:cNvPr>
          <p:cNvSpPr txBox="1"/>
          <p:nvPr/>
        </p:nvSpPr>
        <p:spPr>
          <a:xfrm>
            <a:off x="5054600" y="53594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localhost:3000, admin / admin, set a new password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0A2AA40-4545-410F-BDE5-04701A543FDB}"/>
              </a:ext>
            </a:extLst>
          </p:cNvPr>
          <p:cNvSpPr/>
          <p:nvPr/>
        </p:nvSpPr>
        <p:spPr>
          <a:xfrm>
            <a:off x="8026400" y="4800600"/>
            <a:ext cx="3556000" cy="13208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1A734A2-872D-43E0-B48E-834615D26CC6}"/>
              </a:ext>
            </a:extLst>
          </p:cNvPr>
          <p:cNvSpPr/>
          <p:nvPr/>
        </p:nvSpPr>
        <p:spPr>
          <a:xfrm>
            <a:off x="8255000" y="5029200"/>
            <a:ext cx="381000" cy="3810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0D0E12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058FAC-F65D-4AE0-967C-CBEEB90A7FD9}"/>
              </a:ext>
            </a:extLst>
          </p:cNvPr>
          <p:cNvSpPr txBox="1"/>
          <p:nvPr/>
        </p:nvSpPr>
        <p:spPr>
          <a:xfrm>
            <a:off x="8763000" y="50292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Install a plugin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70813D-B731-492B-B906-246F3E5BB2D5}"/>
              </a:ext>
            </a:extLst>
          </p:cNvPr>
          <p:cNvSpPr txBox="1"/>
          <p:nvPr/>
        </p:nvSpPr>
        <p:spPr>
          <a:xfrm>
            <a:off x="8763000" y="5359400"/>
            <a:ext cx="2641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Add a panel plugin, restart, confirm it appears</a:t>
            </a:r>
          </a:p>
        </p:txBody>
      </p:sp>
    </p:spTree>
    <p:extLst>
      <p:ext uri="{BB962C8B-B14F-4D97-AF65-F5344CB8AC3E}">
        <p14:creationId xmlns:p14="http://schemas.microsoft.com/office/powerpoint/2010/main" val="1037105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5037-2A6E-F309-4D59-5D20ED8AF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60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 dirty="0"/>
              <a:t>Lab 1  Compose File &amp; Verification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DDEE65-230D-404B-A5FF-7D2B04A06E4F}"/>
              </a:ext>
            </a:extLst>
          </p:cNvPr>
          <p:cNvSpPr/>
          <p:nvPr/>
        </p:nvSpPr>
        <p:spPr>
          <a:xfrm>
            <a:off x="533400" y="304800"/>
            <a:ext cx="1524000" cy="304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HANDS-ON LAB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99195E-040C-433D-B48A-BFF0F9B6C2D5}"/>
              </a:ext>
            </a:extLst>
          </p:cNvPr>
          <p:cNvSpPr/>
          <p:nvPr/>
        </p:nvSpPr>
        <p:spPr>
          <a:xfrm>
            <a:off x="533400" y="1397000"/>
            <a:ext cx="6096000" cy="47752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306A6D-6482-4E6C-81FF-7189966C4EA3}"/>
              </a:ext>
            </a:extLst>
          </p:cNvPr>
          <p:cNvSpPr/>
          <p:nvPr/>
        </p:nvSpPr>
        <p:spPr>
          <a:xfrm>
            <a:off x="533400" y="1397000"/>
            <a:ext cx="6096000" cy="381000"/>
          </a:xfrm>
          <a:prstGeom prst="rect">
            <a:avLst/>
          </a:prstGeom>
          <a:solidFill>
            <a:srgbClr val="1B1E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BAFB1-EE8A-448E-8C11-2AE3CAAF7DE0}"/>
              </a:ext>
            </a:extLst>
          </p:cNvPr>
          <p:cNvSpPr txBox="1"/>
          <p:nvPr/>
        </p:nvSpPr>
        <p:spPr>
          <a:xfrm>
            <a:off x="762000" y="1473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  <a:latin typeface="Consolas"/>
              </a:rPr>
              <a:t>docker-compose.yml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BCFAE-A6A1-4B55-A663-2D5910A0DB68}"/>
              </a:ext>
            </a:extLst>
          </p:cNvPr>
          <p:cNvSpPr txBox="1"/>
          <p:nvPr/>
        </p:nvSpPr>
        <p:spPr>
          <a:xfrm>
            <a:off x="787400" y="1930400"/>
            <a:ext cx="56896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services:
  grafana:
    image: grafana/grafana-oss:latest
    container_name: grafana
    ports:
      - "3000:3000"
    volumes:
      - grafana-data:/var/lib/grafana
    environment:
      - GF_SECURITY_ADMIN_USER=admin
      - GF_SECURITY_ADMIN_PASSWORD=admin
      - GF_INSTALL_PLUGINS=grafana-clock-panel
    restart: unless-stopped
volumes:
  grafana-data: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38FD6-D008-498F-9568-090434C6497B}"/>
              </a:ext>
            </a:extLst>
          </p:cNvPr>
          <p:cNvSpPr txBox="1"/>
          <p:nvPr/>
        </p:nvSpPr>
        <p:spPr>
          <a:xfrm>
            <a:off x="6934200" y="1473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RUN 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627AFC-B4D2-4434-AD71-9055FABF8881}"/>
              </a:ext>
            </a:extLst>
          </p:cNvPr>
          <p:cNvSpPr/>
          <p:nvPr/>
        </p:nvSpPr>
        <p:spPr>
          <a:xfrm>
            <a:off x="6934200" y="1803400"/>
            <a:ext cx="4648200" cy="38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12A7D3-98D3-4F67-85E1-74A3381B140A}"/>
              </a:ext>
            </a:extLst>
          </p:cNvPr>
          <p:cNvSpPr txBox="1"/>
          <p:nvPr/>
        </p:nvSpPr>
        <p:spPr>
          <a:xfrm>
            <a:off x="7112000" y="18669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$ docker compose up -d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925FEF-133D-4EDB-A3F9-BEA7C9D4DC8C}"/>
              </a:ext>
            </a:extLst>
          </p:cNvPr>
          <p:cNvSpPr/>
          <p:nvPr/>
        </p:nvSpPr>
        <p:spPr>
          <a:xfrm>
            <a:off x="6934200" y="2286000"/>
            <a:ext cx="4648200" cy="38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71BEF-F8C9-47D3-8614-2EC39F8B326D}"/>
              </a:ext>
            </a:extLst>
          </p:cNvPr>
          <p:cNvSpPr txBox="1"/>
          <p:nvPr/>
        </p:nvSpPr>
        <p:spPr>
          <a:xfrm>
            <a:off x="7112000" y="23495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$ docker compose ps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BDCB30-4487-41D4-A8E0-71F62BAAA867}"/>
              </a:ext>
            </a:extLst>
          </p:cNvPr>
          <p:cNvSpPr/>
          <p:nvPr/>
        </p:nvSpPr>
        <p:spPr>
          <a:xfrm>
            <a:off x="6934200" y="2768600"/>
            <a:ext cx="4648200" cy="38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92D54-026C-4CA9-A162-CE9EA82BD429}"/>
              </a:ext>
            </a:extLst>
          </p:cNvPr>
          <p:cNvSpPr txBox="1"/>
          <p:nvPr/>
        </p:nvSpPr>
        <p:spPr>
          <a:xfrm>
            <a:off x="7112000" y="28321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$ docker compose logs -f grafana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5FDE3F-04B5-4E6C-B702-1F91FB04430F}"/>
              </a:ext>
            </a:extLst>
          </p:cNvPr>
          <p:cNvSpPr/>
          <p:nvPr/>
        </p:nvSpPr>
        <p:spPr>
          <a:xfrm>
            <a:off x="6934200" y="3251200"/>
            <a:ext cx="4648200" cy="381000"/>
          </a:xfrm>
          <a:prstGeom prst="roundRect">
            <a:avLst/>
          </a:prstGeom>
          <a:solidFill>
            <a:srgbClr val="0D0E12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192BC-7528-4D3C-8D82-C0D563B4725B}"/>
              </a:ext>
            </a:extLst>
          </p:cNvPr>
          <p:cNvSpPr txBox="1"/>
          <p:nvPr/>
        </p:nvSpPr>
        <p:spPr>
          <a:xfrm>
            <a:off x="7112000" y="33147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73BF69"/>
                </a:solidFill>
                <a:latin typeface="Consolas"/>
              </a:rPr>
              <a:t>$ docker compose 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A97F5-B3BF-4495-8155-B05629BE87A2}"/>
              </a:ext>
            </a:extLst>
          </p:cNvPr>
          <p:cNvSpPr txBox="1"/>
          <p:nvPr/>
        </p:nvSpPr>
        <p:spPr>
          <a:xfrm>
            <a:off x="6934200" y="388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VERIFY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B792C4-31B8-4F19-AA84-0C5728D64BC4}"/>
              </a:ext>
            </a:extLst>
          </p:cNvPr>
          <p:cNvSpPr/>
          <p:nvPr/>
        </p:nvSpPr>
        <p:spPr>
          <a:xfrm>
            <a:off x="6934200" y="4241800"/>
            <a:ext cx="177800" cy="177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97AC04-B343-44F3-AD7A-B276F66E3817}"/>
              </a:ext>
            </a:extLst>
          </p:cNvPr>
          <p:cNvSpPr txBox="1"/>
          <p:nvPr/>
        </p:nvSpPr>
        <p:spPr>
          <a:xfrm>
            <a:off x="7264400" y="42164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Container status shows Up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C431D7-BF80-4058-9269-84DABD8B4507}"/>
              </a:ext>
            </a:extLst>
          </p:cNvPr>
          <p:cNvSpPr/>
          <p:nvPr/>
        </p:nvSpPr>
        <p:spPr>
          <a:xfrm>
            <a:off x="6934200" y="4648200"/>
            <a:ext cx="177800" cy="177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4EE48-49D0-4207-855E-686AAFDBD497}"/>
              </a:ext>
            </a:extLst>
          </p:cNvPr>
          <p:cNvSpPr txBox="1"/>
          <p:nvPr/>
        </p:nvSpPr>
        <p:spPr>
          <a:xfrm>
            <a:off x="7264400" y="46228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http://localhost:3000 loads the login page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0373B9-2B06-4B0A-A1F0-31A7E6352EEA}"/>
              </a:ext>
            </a:extLst>
          </p:cNvPr>
          <p:cNvSpPr/>
          <p:nvPr/>
        </p:nvSpPr>
        <p:spPr>
          <a:xfrm>
            <a:off x="6934200" y="5054600"/>
            <a:ext cx="177800" cy="177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58AD5B-7ECB-429F-9FD2-B0C3817D4883}"/>
              </a:ext>
            </a:extLst>
          </p:cNvPr>
          <p:cNvSpPr txBox="1"/>
          <p:nvPr/>
        </p:nvSpPr>
        <p:spPr>
          <a:xfrm>
            <a:off x="7264400" y="5029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Password change prompt appears on first login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9385DD-8E90-4002-B61F-38C54A0304C5}"/>
              </a:ext>
            </a:extLst>
          </p:cNvPr>
          <p:cNvSpPr/>
          <p:nvPr/>
        </p:nvSpPr>
        <p:spPr>
          <a:xfrm>
            <a:off x="6934200" y="5461000"/>
            <a:ext cx="177800" cy="177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0DD8D0-1425-41EA-BEAB-0A9A193FEB62}"/>
              </a:ext>
            </a:extLst>
          </p:cNvPr>
          <p:cNvSpPr txBox="1"/>
          <p:nvPr/>
        </p:nvSpPr>
        <p:spPr>
          <a:xfrm>
            <a:off x="7264400" y="54356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Clock panel is listed under Administration → Plugins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4592C-0E7A-4B0D-B64C-3A954D76FEFE}"/>
              </a:ext>
            </a:extLst>
          </p:cNvPr>
          <p:cNvSpPr/>
          <p:nvPr/>
        </p:nvSpPr>
        <p:spPr>
          <a:xfrm>
            <a:off x="6934200" y="5867400"/>
            <a:ext cx="177800" cy="1778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5C51AA-F3FF-4C9E-909E-11138DDB4587}"/>
              </a:ext>
            </a:extLst>
          </p:cNvPr>
          <p:cNvSpPr txBox="1"/>
          <p:nvPr/>
        </p:nvSpPr>
        <p:spPr>
          <a:xfrm>
            <a:off x="7264400" y="58420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7CAD0"/>
                </a:solidFill>
              </a:rPr>
              <a:t>Dashboards survive docker compose down and up</a:t>
            </a:r>
          </a:p>
        </p:txBody>
      </p:sp>
    </p:spTree>
    <p:extLst>
      <p:ext uri="{BB962C8B-B14F-4D97-AF65-F5344CB8AC3E}">
        <p14:creationId xmlns:p14="http://schemas.microsoft.com/office/powerpoint/2010/main" val="1410627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511D-5997-89B7-6FF5-CDBA2170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8890000" cy="584200"/>
          </a:xfrm>
        </p:spPr>
        <p:txBody>
          <a:bodyPr>
            <a:normAutofit/>
          </a:bodyPr>
          <a:lstStyle/>
          <a:p>
            <a:r>
              <a:rPr lang="en-US" sz="3200" b="1"/>
              <a:t>Day 1 Recap &amp; What Comes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D633C-8564-41A2-ADD8-2B0458E91990}"/>
              </a:ext>
            </a:extLst>
          </p:cNvPr>
          <p:cNvSpPr txBox="1"/>
          <p:nvPr/>
        </p:nvSpPr>
        <p:spPr>
          <a:xfrm>
            <a:off x="10033000" y="635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WRAP-UP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512D6-A144-42CD-BD80-D6B897797CDE}"/>
              </a:ext>
            </a:extLst>
          </p:cNvPr>
          <p:cNvSpPr txBox="1"/>
          <p:nvPr/>
        </p:nvSpPr>
        <p:spPr>
          <a:xfrm>
            <a:off x="533400" y="1168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9AA0A8"/>
                </a:solidFill>
              </a:rPr>
              <a:t>You can now explain why we monitor, how Grafana is built, and you have a working instance on your machine.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C0AE8C-5569-474E-95E4-82BD01F1A964}"/>
              </a:ext>
            </a:extLst>
          </p:cNvPr>
          <p:cNvSpPr/>
          <p:nvPr/>
        </p:nvSpPr>
        <p:spPr>
          <a:xfrm>
            <a:off x="533400" y="1727200"/>
            <a:ext cx="2590800" cy="1905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4BF9C-0087-4C28-8309-13F40FF80764}"/>
              </a:ext>
            </a:extLst>
          </p:cNvPr>
          <p:cNvSpPr/>
          <p:nvPr/>
        </p:nvSpPr>
        <p:spPr>
          <a:xfrm>
            <a:off x="533400" y="1727200"/>
            <a:ext cx="25908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B40C0-C7FA-40F8-82A5-BA9DAC2C84AE}"/>
              </a:ext>
            </a:extLst>
          </p:cNvPr>
          <p:cNvSpPr txBox="1"/>
          <p:nvPr/>
        </p:nvSpPr>
        <p:spPr>
          <a:xfrm>
            <a:off x="787400" y="2006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B7240-8110-40B9-A287-6F013108078C}"/>
              </a:ext>
            </a:extLst>
          </p:cNvPr>
          <p:cNvSpPr txBox="1"/>
          <p:nvPr/>
        </p:nvSpPr>
        <p:spPr>
          <a:xfrm>
            <a:off x="787400" y="22860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67495-34AB-4898-865C-0BC58BD0E24C}"/>
              </a:ext>
            </a:extLst>
          </p:cNvPr>
          <p:cNvSpPr txBox="1"/>
          <p:nvPr/>
        </p:nvSpPr>
        <p:spPr>
          <a:xfrm>
            <a:off x="787400" y="2692400"/>
            <a:ext cx="2133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Metrics, logs and traces answer different questions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A21437-A3F6-420F-84D1-5FEF8C0F2EC9}"/>
              </a:ext>
            </a:extLst>
          </p:cNvPr>
          <p:cNvSpPr/>
          <p:nvPr/>
        </p:nvSpPr>
        <p:spPr>
          <a:xfrm>
            <a:off x="3378200" y="1727200"/>
            <a:ext cx="2590800" cy="1905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1D0EFF-3F56-471E-A57A-26707CFDBB79}"/>
              </a:ext>
            </a:extLst>
          </p:cNvPr>
          <p:cNvSpPr/>
          <p:nvPr/>
        </p:nvSpPr>
        <p:spPr>
          <a:xfrm>
            <a:off x="3378200" y="1727200"/>
            <a:ext cx="2590800" cy="63500"/>
          </a:xfrm>
          <a:prstGeom prst="rect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BAEE1-C242-49F1-A27D-B9242F88826C}"/>
              </a:ext>
            </a:extLst>
          </p:cNvPr>
          <p:cNvSpPr txBox="1"/>
          <p:nvPr/>
        </p:nvSpPr>
        <p:spPr>
          <a:xfrm>
            <a:off x="3632200" y="2006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D2A48-682D-4934-B551-5C3B5D8D0079}"/>
              </a:ext>
            </a:extLst>
          </p:cNvPr>
          <p:cNvSpPr txBox="1"/>
          <p:nvPr/>
        </p:nvSpPr>
        <p:spPr>
          <a:xfrm>
            <a:off x="3632200" y="22860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B0D194-F2C1-40EC-B123-A687BFBE5718}"/>
              </a:ext>
            </a:extLst>
          </p:cNvPr>
          <p:cNvSpPr txBox="1"/>
          <p:nvPr/>
        </p:nvSpPr>
        <p:spPr>
          <a:xfrm>
            <a:off x="3632200" y="2692400"/>
            <a:ext cx="2133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React frontend, Go backend, external data sources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969ADF-228E-4100-9653-6B927FE96765}"/>
              </a:ext>
            </a:extLst>
          </p:cNvPr>
          <p:cNvSpPr/>
          <p:nvPr/>
        </p:nvSpPr>
        <p:spPr>
          <a:xfrm>
            <a:off x="6223000" y="1727200"/>
            <a:ext cx="2590800" cy="1905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991568-12A5-4245-BA3E-BDE17A41566D}"/>
              </a:ext>
            </a:extLst>
          </p:cNvPr>
          <p:cNvSpPr/>
          <p:nvPr/>
        </p:nvSpPr>
        <p:spPr>
          <a:xfrm>
            <a:off x="6223000" y="1727200"/>
            <a:ext cx="2590800" cy="63500"/>
          </a:xfrm>
          <a:prstGeom prst="rect">
            <a:avLst/>
          </a:prstGeom>
          <a:solidFill>
            <a:srgbClr val="3274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84B54-2AE2-49C6-8A71-468D4244651B}"/>
              </a:ext>
            </a:extLst>
          </p:cNvPr>
          <p:cNvSpPr txBox="1"/>
          <p:nvPr/>
        </p:nvSpPr>
        <p:spPr>
          <a:xfrm>
            <a:off x="6477000" y="2006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5794F2"/>
                </a:solidFill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528CBB-6FDB-4228-A845-16F12B499F6C}"/>
              </a:ext>
            </a:extLst>
          </p:cNvPr>
          <p:cNvSpPr txBox="1"/>
          <p:nvPr/>
        </p:nvSpPr>
        <p:spPr>
          <a:xfrm>
            <a:off x="6477000" y="22860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Installation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8283C-E8C3-41EA-BF49-76656CDA9016}"/>
              </a:ext>
            </a:extLst>
          </p:cNvPr>
          <p:cNvSpPr txBox="1"/>
          <p:nvPr/>
        </p:nvSpPr>
        <p:spPr>
          <a:xfrm>
            <a:off x="6477000" y="2692400"/>
            <a:ext cx="2133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Docker, Linux and Windows paths plus config layout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3C7ABA-F61D-44B2-936A-352BD91A10E2}"/>
              </a:ext>
            </a:extLst>
          </p:cNvPr>
          <p:cNvSpPr/>
          <p:nvPr/>
        </p:nvSpPr>
        <p:spPr>
          <a:xfrm>
            <a:off x="9067800" y="1727200"/>
            <a:ext cx="2590800" cy="1905000"/>
          </a:xfrm>
          <a:prstGeom prst="roundRect">
            <a:avLst/>
          </a:prstGeom>
          <a:solidFill>
            <a:srgbClr val="1B1E25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74C8BF-A476-47E4-90EA-9F02D5A4452E}"/>
              </a:ext>
            </a:extLst>
          </p:cNvPr>
          <p:cNvSpPr/>
          <p:nvPr/>
        </p:nvSpPr>
        <p:spPr>
          <a:xfrm>
            <a:off x="9067800" y="1727200"/>
            <a:ext cx="2590800" cy="635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719C9D-1837-42F1-9AAC-0A6AC0AE5715}"/>
              </a:ext>
            </a:extLst>
          </p:cNvPr>
          <p:cNvSpPr txBox="1"/>
          <p:nvPr/>
        </p:nvSpPr>
        <p:spPr>
          <a:xfrm>
            <a:off x="9321800" y="2006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CAA648-0135-4B96-8B6A-775F5313CA7C}"/>
              </a:ext>
            </a:extLst>
          </p:cNvPr>
          <p:cNvSpPr txBox="1"/>
          <p:nvPr/>
        </p:nvSpPr>
        <p:spPr>
          <a:xfrm>
            <a:off x="9321800" y="22860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Lab complete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455E1-5696-454B-A214-5B1C1E656B76}"/>
              </a:ext>
            </a:extLst>
          </p:cNvPr>
          <p:cNvSpPr txBox="1"/>
          <p:nvPr/>
        </p:nvSpPr>
        <p:spPr>
          <a:xfrm>
            <a:off x="9321800" y="2692400"/>
            <a:ext cx="2133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AA0A8"/>
                </a:solidFill>
              </a:rPr>
              <a:t>Grafana running, admin secured, plugin installed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323345-0DEF-4335-B0CB-E72C9BC929DB}"/>
              </a:ext>
            </a:extLst>
          </p:cNvPr>
          <p:cNvSpPr/>
          <p:nvPr/>
        </p:nvSpPr>
        <p:spPr>
          <a:xfrm>
            <a:off x="533400" y="3860800"/>
            <a:ext cx="5486400" cy="2311400"/>
          </a:xfrm>
          <a:prstGeom prst="roundRect">
            <a:avLst/>
          </a:prstGeom>
          <a:solidFill>
            <a:srgbClr val="1230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761531-AA84-4C1B-A0FF-0F941B3A9DC7}"/>
              </a:ext>
            </a:extLst>
          </p:cNvPr>
          <p:cNvSpPr txBox="1"/>
          <p:nvPr/>
        </p:nvSpPr>
        <p:spPr>
          <a:xfrm>
            <a:off x="838200" y="4089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</a:rPr>
              <a:t>BEFORE DAY 2, MAKE SURE YOU CAN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9CC9CB-04B5-4FCB-BE0F-C40729E0A968}"/>
              </a:ext>
            </a:extLst>
          </p:cNvPr>
          <p:cNvSpPr/>
          <p:nvPr/>
        </p:nvSpPr>
        <p:spPr>
          <a:xfrm>
            <a:off x="838200" y="45593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7229A1-AAE9-414A-9FC7-D5529845400E}"/>
              </a:ext>
            </a:extLst>
          </p:cNvPr>
          <p:cNvSpPr txBox="1"/>
          <p:nvPr/>
        </p:nvSpPr>
        <p:spPr>
          <a:xfrm>
            <a:off x="1041400" y="44704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Start and stop your Grafana container on demand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303918-B043-4C73-AD98-DD72B72B77FF}"/>
              </a:ext>
            </a:extLst>
          </p:cNvPr>
          <p:cNvSpPr/>
          <p:nvPr/>
        </p:nvSpPr>
        <p:spPr>
          <a:xfrm>
            <a:off x="838200" y="49657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806329-79E6-4C8D-9A19-46C596E878F3}"/>
              </a:ext>
            </a:extLst>
          </p:cNvPr>
          <p:cNvSpPr txBox="1"/>
          <p:nvPr/>
        </p:nvSpPr>
        <p:spPr>
          <a:xfrm>
            <a:off x="1041400" y="48768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Log in and reach the Explore page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824E448-9E56-434D-B84B-927CB0F6213A}"/>
              </a:ext>
            </a:extLst>
          </p:cNvPr>
          <p:cNvSpPr/>
          <p:nvPr/>
        </p:nvSpPr>
        <p:spPr>
          <a:xfrm>
            <a:off x="838200" y="53721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376226-CDCA-442C-AC63-078AA3108400}"/>
              </a:ext>
            </a:extLst>
          </p:cNvPr>
          <p:cNvSpPr txBox="1"/>
          <p:nvPr/>
        </p:nvSpPr>
        <p:spPr>
          <a:xfrm>
            <a:off x="1041400" y="52832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Find where configuration and data are stored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A345E0D-143F-4162-BE48-627E78B3F64F}"/>
              </a:ext>
            </a:extLst>
          </p:cNvPr>
          <p:cNvSpPr/>
          <p:nvPr/>
        </p:nvSpPr>
        <p:spPr>
          <a:xfrm>
            <a:off x="838200" y="5778500"/>
            <a:ext cx="76200" cy="76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3A33D5-CD70-4BD5-ACD3-FB2A4892C04D}"/>
              </a:ext>
            </a:extLst>
          </p:cNvPr>
          <p:cNvSpPr txBox="1"/>
          <p:nvPr/>
        </p:nvSpPr>
        <p:spPr>
          <a:xfrm>
            <a:off x="1041400" y="5689600"/>
            <a:ext cx="477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Name the three pillars of observability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F14E6E9-F2BA-4CF1-94C8-5BE9ADB6892C}"/>
              </a:ext>
            </a:extLst>
          </p:cNvPr>
          <p:cNvSpPr/>
          <p:nvPr/>
        </p:nvSpPr>
        <p:spPr>
          <a:xfrm>
            <a:off x="6248400" y="3860800"/>
            <a:ext cx="5334000" cy="2311400"/>
          </a:xfrm>
          <a:prstGeom prst="roundRect">
            <a:avLst/>
          </a:prstGeom>
          <a:solidFill>
            <a:srgbClr val="1A1410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F8BEE-87C7-468E-9313-2F2B361FFCE4}"/>
              </a:ext>
            </a:extLst>
          </p:cNvPr>
          <p:cNvSpPr txBox="1"/>
          <p:nvPr/>
        </p:nvSpPr>
        <p:spPr>
          <a:xfrm>
            <a:off x="6553200" y="4089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9830"/>
                </a:solidFill>
              </a:rPr>
              <a:t>COMING IN DAY 2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46287B1-1415-4F0F-9206-03268E3AA0EA}"/>
              </a:ext>
            </a:extLst>
          </p:cNvPr>
          <p:cNvSpPr/>
          <p:nvPr/>
        </p:nvSpPr>
        <p:spPr>
          <a:xfrm>
            <a:off x="6553200" y="4546600"/>
            <a:ext cx="127000" cy="114300"/>
          </a:xfrm>
          <a:prstGeom prst="rightArrow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E0E5AD-D238-4BAB-9D63-C381F9FF2755}"/>
              </a:ext>
            </a:extLst>
          </p:cNvPr>
          <p:cNvSpPr txBox="1"/>
          <p:nvPr/>
        </p:nvSpPr>
        <p:spPr>
          <a:xfrm>
            <a:off x="6807200" y="44704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Connecting Prometheus as a data source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A6A3100-FEC0-4B35-AC2A-2AEB900828A0}"/>
              </a:ext>
            </a:extLst>
          </p:cNvPr>
          <p:cNvSpPr/>
          <p:nvPr/>
        </p:nvSpPr>
        <p:spPr>
          <a:xfrm>
            <a:off x="6553200" y="4953000"/>
            <a:ext cx="127000" cy="114300"/>
          </a:xfrm>
          <a:prstGeom prst="rightArrow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DA02F1-21BA-4191-839A-A01D08E85742}"/>
              </a:ext>
            </a:extLst>
          </p:cNvPr>
          <p:cNvSpPr txBox="1"/>
          <p:nvPr/>
        </p:nvSpPr>
        <p:spPr>
          <a:xfrm>
            <a:off x="6807200" y="48768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Building your first dashboard from scratch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CDCF915-B517-4343-AC9C-65A1470DA939}"/>
              </a:ext>
            </a:extLst>
          </p:cNvPr>
          <p:cNvSpPr/>
          <p:nvPr/>
        </p:nvSpPr>
        <p:spPr>
          <a:xfrm>
            <a:off x="6553200" y="5359400"/>
            <a:ext cx="127000" cy="114300"/>
          </a:xfrm>
          <a:prstGeom prst="rightArrow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A9B1E0-4017-46B8-9D55-53ADF516261A}"/>
              </a:ext>
            </a:extLst>
          </p:cNvPr>
          <p:cNvSpPr txBox="1"/>
          <p:nvPr/>
        </p:nvSpPr>
        <p:spPr>
          <a:xfrm>
            <a:off x="6807200" y="52832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Panel types, transformations and thresholds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628B6F3-748B-448A-8450-0E76D19AFD03}"/>
              </a:ext>
            </a:extLst>
          </p:cNvPr>
          <p:cNvSpPr/>
          <p:nvPr/>
        </p:nvSpPr>
        <p:spPr>
          <a:xfrm>
            <a:off x="6553200" y="5765800"/>
            <a:ext cx="127000" cy="114300"/>
          </a:xfrm>
          <a:prstGeom prst="rightArrow">
            <a:avLst/>
          </a:prstGeom>
          <a:solidFill>
            <a:srgbClr val="FF9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FDE9A7-26D7-45B1-817E-F5894D043FF6}"/>
              </a:ext>
            </a:extLst>
          </p:cNvPr>
          <p:cNvSpPr txBox="1"/>
          <p:nvPr/>
        </p:nvSpPr>
        <p:spPr>
          <a:xfrm>
            <a:off x="6807200" y="56896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8D9DA"/>
                </a:solidFill>
              </a:rPr>
              <a:t>Template variables and dashboard reuse</a:t>
            </a:r>
          </a:p>
        </p:txBody>
      </p:sp>
    </p:spTree>
    <p:extLst>
      <p:ext uri="{BB962C8B-B14F-4D97-AF65-F5344CB8AC3E}">
        <p14:creationId xmlns:p14="http://schemas.microsoft.com/office/powerpoint/2010/main" val="35017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693505623]">
  <a:themeElements>
    <a:clrScheme name="Office">
      <a:dk1>
        <a:srgbClr val="E9EAEC"/>
      </a:dk1>
      <a:lt1>
        <a:srgbClr val="111217"/>
      </a:lt1>
      <a:dk2>
        <a:srgbClr val="C7CAD0"/>
      </a:dk2>
      <a:lt2>
        <a:srgbClr val="1F2229"/>
      </a:lt2>
      <a:accent1>
        <a:srgbClr val="F46800"/>
      </a:accent1>
      <a:accent2>
        <a:srgbClr val="FF9830"/>
      </a:accent2>
      <a:accent3>
        <a:srgbClr val="3274D9"/>
      </a:accent3>
      <a:accent4>
        <a:srgbClr val="73BF69"/>
      </a:accent4>
      <a:accent5>
        <a:srgbClr val="B877D9"/>
      </a:accent5>
      <a:accent6>
        <a:srgbClr val="5794F2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16CA32-9B3B-47F1-97F0-39AC0325CFC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402e9de-f97b-453e-89cc-72f7cad781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2322</Words>
  <Application>Microsoft Office PowerPoint</Application>
  <PresentationFormat>Widescreen</PresentationFormat>
  <Paragraphs>443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Consolas</vt:lpstr>
      <vt:lpstr>Segoe UI</vt:lpstr>
      <vt:lpstr>Segoe UI Semibold</vt:lpstr>
      <vt:lpstr>Office Theme [1785693505623]</vt:lpstr>
      <vt:lpstr>Grafana Fundamentals &amp; Environment Setup</vt:lpstr>
      <vt:lpstr>Day 1 Roadmap</vt:lpstr>
      <vt:lpstr>Introduction to Monitoring &amp; Observability</vt:lpstr>
      <vt:lpstr>Why Monitoring Matters</vt:lpstr>
      <vt:lpstr>Monitoring vs Logging vs Tracing</vt:lpstr>
      <vt:lpstr>Observability Fundamentals</vt:lpstr>
      <vt:lpstr>Modern Monitoring Architecture</vt:lpstr>
      <vt:lpstr>Tooling Landscape &amp; the Grafana Ecosystem</vt:lpstr>
      <vt:lpstr>Real-world Monitoring Use Cases</vt:lpstr>
      <vt:lpstr>Grafana Architecture</vt:lpstr>
      <vt:lpstr>Grafana Architecture at a Glance</vt:lpstr>
      <vt:lpstr>Data Sources, Dashboards &amp; Panels</vt:lpstr>
      <vt:lpstr>Organizations, Users &amp; Plugins</vt:lpstr>
      <vt:lpstr>Installation &amp; Initial Configuration</vt:lpstr>
      <vt:lpstr>Installing Grafana</vt:lpstr>
      <vt:lpstr>Configuration, Ports, Login &amp; Folders</vt:lpstr>
      <vt:lpstr>Grafana UI Walkthrough</vt:lpstr>
      <vt:lpstr>Finding Your Way Around Grafana</vt:lpstr>
      <vt:lpstr>Lab 1  Stand Up Grafana with Docker</vt:lpstr>
      <vt:lpstr>Lab 1  Compose File &amp; Verification</vt:lpstr>
      <vt:lpstr>Day 1 Recap &amp; What Comes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2</cp:revision>
  <dcterms:created xsi:type="dcterms:W3CDTF">2026-08-02T17:58:25Z</dcterms:created>
  <dcterms:modified xsi:type="dcterms:W3CDTF">2026-08-02T18:15:43Z</dcterms:modified>
</cp:coreProperties>
</file>