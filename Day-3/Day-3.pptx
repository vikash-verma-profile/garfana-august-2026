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FA284-BF8D-0C41-4DCE-77CCCE7DE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35F6B6-E1B7-5DC9-EF7D-4566099A5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AD735-52D8-1701-2525-CE57E91C3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75521-E5CD-4ED1-A3FA-9FE753CB5FD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CC9BC-4D68-3410-2E22-C203D291C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C5758-F672-8AE5-6A9C-AEE7BA28F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BDC5-84DA-4BCC-AA4A-271528278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73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814E0-E3BD-6E54-341B-1D6DE508D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F6A36-B8C5-42E8-60C5-B57561465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5DA1B-DAF7-D8B4-3F83-EDF5280B8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75521-E5CD-4ED1-A3FA-9FE753CB5FD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6F34E-7564-170E-F6C2-4AE14DCDD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4DC22-E39B-1DED-8018-D4C34F23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BDC5-84DA-4BCC-AA4A-271528278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49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1C4AA-F84D-2446-03F6-8352BF867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E5B62-9B86-3C12-EEB2-0CBDF6D63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3023A-CEBD-A7A4-E239-92AFEA2B0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75521-E5CD-4ED1-A3FA-9FE753CB5FD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946E2-7F46-26A9-3102-78C749AEC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5B25E-A362-3B41-9834-E9AE98E92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BDC5-84DA-4BCC-AA4A-271528278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355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71768-576B-368D-F259-BBBCFD281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9042D-E17C-B175-CF14-8CAF5E457B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63AB9-71F0-AE40-CFCC-701EFABBC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42E28-6809-AF99-7DA4-1FACF7577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75521-E5CD-4ED1-A3FA-9FE753CB5FD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8B0BD-E4A6-C477-B945-0C78DF87C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6B376-30EB-1A47-1C58-41F7F3A8D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BDC5-84DA-4BCC-AA4A-271528278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6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5E293-39DE-B7FF-4289-EE5D96B83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D544F-1715-4AE4-9F77-277D89DD4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77E9B-1DDB-38D8-C356-A4037855C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B9B2AC-0226-0EDF-3A52-DDA3C4E10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4F40B0-B958-FFAB-315F-732DE24CDE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FCF8E6-7EE7-5823-7AA2-BE53272B3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75521-E5CD-4ED1-A3FA-9FE753CB5FD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504ABD-1578-3AEE-ACD9-CAE6B50CD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A7F26F-D9D8-033C-6DCC-DB8EC7732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BDC5-84DA-4BCC-AA4A-271528278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9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96DF4-19EA-1FEC-5881-C06A2ADF4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2C6C2-DC9D-40A5-BA3A-E1123CD9B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75521-E5CD-4ED1-A3FA-9FE753CB5FD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8FFB1C-2906-A211-F848-7035F7E20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939CA1-7EEE-8F10-49A8-858E11C59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BDC5-84DA-4BCC-AA4A-271528278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0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AD7010-908F-3B88-30C4-0CA76D013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75521-E5CD-4ED1-A3FA-9FE753CB5FD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156DE8-78B2-2956-00BE-3238B9044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7A83C-2CEC-B809-B735-599740E2F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BDC5-84DA-4BCC-AA4A-271528278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84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35505-0C99-0413-8747-B2F96ADB6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DB83D-7DAE-83EB-E033-B0646734C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0A6B6F-15BD-E9D9-ED5C-CCD9F17EE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3110B-C2EF-5F81-6C18-B1FDCEB0F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75521-E5CD-4ED1-A3FA-9FE753CB5FD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B222C-556D-9A5B-ABA7-7C44FB968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09FB33-B23B-0ACA-1FF8-EED40C79E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BDC5-84DA-4BCC-AA4A-271528278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66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6643-B9B7-2051-E599-D608C3A79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7DE8F-CC83-6B44-6454-530B012CB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05783E-5B16-3CA8-A824-C845E9108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ADCEF-EB68-8CB8-9FE1-CE89BCD82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75521-E5CD-4ED1-A3FA-9FE753CB5FD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5CCC58-608C-C5C0-0ABA-4462C424E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4397B-04B5-E7EC-FE8F-EEB3B7330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BDC5-84DA-4BCC-AA4A-271528278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131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304E9-14ED-B67C-DC26-D6E9BB4BF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F37A-5DC9-F39A-3638-17958AC9C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89FD4-50A1-0AD4-1AD9-A8C2FE05A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75521-E5CD-4ED1-A3FA-9FE753CB5FD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6720E-69F1-5AFF-7CAD-5DE139ADA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867C1-5AC2-9879-3A0F-1C31BDEB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BDC5-84DA-4BCC-AA4A-271528278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32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CA8A9-0680-84CD-FCA8-C08A43E984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F2E52-7CDD-EB06-8354-952FACCF4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D9669-FE22-F53D-0ABA-AD116CDFE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75521-E5CD-4ED1-A3FA-9FE753CB5FD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C482D-FA25-9021-1E10-5A1810E74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FBE58-4F06-8658-7EC5-71DD79359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1BDC5-84DA-4BCC-AA4A-271528278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3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81D"/>
            </a:gs>
            <a:gs pos="100000">
              <a:srgbClr val="0D0E1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B68E47-9ED2-2449-E44D-D5C4C8FBF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09C2F-C481-3B8F-7A09-D5B5DBCC0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0832E-5882-59B3-3E5A-94901EE849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75521-E5CD-4ED1-A3FA-9FE753CB5FD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CD831-ACEF-DF4E-0765-4C41688B8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245B3-31C5-CB7A-C1BB-5E275BD17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01BDC5-84DA-4BCC-AA4A-271528278A0F}" type="slidenum">
              <a:rPr lang="en-US" smtClean="0"/>
              <a:t>‹#›</a:t>
            </a:fld>
            <a:endParaRPr lang="en-US"/>
          </a:p>
        </p:txBody>
      </p:sp>
      <p:grpSp>
        <p:nvGrpSpPr>
          <p:cNvPr id="90" name="Deco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1" name="AccentBar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gradFill>
              <a:gsLst>
                <a:gs pos="0">
                  <a:srgbClr val="FF8800"/>
                </a:gs>
                <a:gs pos="100000">
                  <a:srgbClr val="F2495C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FooterLine"/>
            <p:cNvSpPr/>
            <p:nvPr/>
          </p:nvSpPr>
          <p:spPr>
            <a:xfrm>
              <a:off x="76200" y="6553200"/>
              <a:ext cx="12115800" cy="12700"/>
            </a:xfrm>
            <a:prstGeom prst="rect">
              <a:avLst/>
            </a:prstGeom>
            <a:solidFill>
              <a:srgbClr val="2C30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01694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D2D6DB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E1358-D5B2-F828-6ECF-2BE03CAB6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Querying, Transformations &amp; Alerting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F24D9C-81FB-8332-D2D2-AF3249A8C5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000" dirty="0">
                <a:solidFill>
                  <a:srgbClr val="9BA3AE"/>
                </a:solidFill>
              </a:rPr>
              <a:t>Modules 9–12  ·  Hands-on Lab 3  </a:t>
            </a:r>
          </a:p>
        </p:txBody>
      </p:sp>
      <p:sp>
        <p:nvSpPr>
          <p:cNvPr id="40" name="Chip"/>
          <p:cNvSpPr/>
          <p:nvPr/>
        </p:nvSpPr>
        <p:spPr>
          <a:xfrm>
            <a:off x="5080000" y="508000"/>
            <a:ext cx="2032000" cy="431800"/>
          </a:xfrm>
          <a:prstGeom prst="roundRect">
            <a:avLst>
              <a:gd name="adj" fmla="val 50000"/>
            </a:avLst>
          </a:prstGeom>
          <a:solidFill>
            <a:srgbClr val="2A1C0B"/>
          </a:solidFill>
          <a:ln w="12700">
            <a:solidFill>
              <a:srgbClr val="FF8800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8800"/>
                </a:solidFill>
              </a:rPr>
              <a:t>DAY 3</a:t>
            </a:r>
          </a:p>
        </p:txBody>
      </p:sp>
      <p:sp>
        <p:nvSpPr>
          <p:cNvPr id="41" name="Rule"/>
          <p:cNvSpPr/>
          <p:nvPr/>
        </p:nvSpPr>
        <p:spPr>
          <a:xfrm>
            <a:off x="5334000" y="3403600"/>
            <a:ext cx="1524000" cy="508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Foot"/>
          <p:cNvSpPr txBox="1"/>
          <p:nvPr/>
        </p:nvSpPr>
        <p:spPr>
          <a:xfrm>
            <a:off x="1524000" y="5664200"/>
            <a:ext cx="9144000" cy="381000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6E9FFF"/>
                </a:solidFill>
              </a:rPr>
              <a:t>Grafana Observability Training  |  Instructor-led</a:t>
            </a:r>
          </a:p>
        </p:txBody>
      </p:sp>
    </p:spTree>
    <p:extLst>
      <p:ext uri="{BB962C8B-B14F-4D97-AF65-F5344CB8AC3E}">
        <p14:creationId xmlns:p14="http://schemas.microsoft.com/office/powerpoint/2010/main" val="2949315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197B5BC5-BFA0-4760-8D55-CA73BFFA7BC2}"/>
              </a:ext>
            </a:extLst>
          </p:cNvPr>
          <p:cNvSpPr/>
          <p:nvPr/>
        </p:nvSpPr>
        <p:spPr>
          <a:xfrm>
            <a:off x="8890000" y="1524000"/>
            <a:ext cx="2794000" cy="2794000"/>
          </a:xfrm>
          <a:prstGeom prst="ellipse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04FE8-56AB-68B3-2D87-E6FC60D95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2489200"/>
            <a:ext cx="6604000" cy="711200"/>
          </a:xfrm>
        </p:spPr>
        <p:txBody>
          <a:bodyPr>
            <a:normAutofit/>
          </a:bodyPr>
          <a:lstStyle/>
          <a:p>
            <a:r>
              <a:rPr lang="en-US" b="1"/>
              <a:t>Querying Data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45187E-50A9-4CC1-9AE9-754025C2152B}"/>
              </a:ext>
            </a:extLst>
          </p:cNvPr>
          <p:cNvSpPr/>
          <p:nvPr/>
        </p:nvSpPr>
        <p:spPr>
          <a:xfrm>
            <a:off x="1778000" y="1524000"/>
            <a:ext cx="1524000" cy="711200"/>
          </a:xfrm>
          <a:prstGeom prst="roundRect">
            <a:avLst/>
          </a:prstGeom>
          <a:solidFill>
            <a:srgbClr val="2A1C0B"/>
          </a:solidFill>
          <a:ln w="12700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8800"/>
                </a:solidFill>
              </a:rPr>
              <a:t>MODULE 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2F9DCF-32C3-443B-AED7-1DA7F5D8DA2B}"/>
              </a:ext>
            </a:extLst>
          </p:cNvPr>
          <p:cNvSpPr txBox="1"/>
          <p:nvPr/>
        </p:nvSpPr>
        <p:spPr>
          <a:xfrm>
            <a:off x="1778000" y="3352800"/>
            <a:ext cx="660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>
                <a:solidFill>
                  <a:srgbClr val="9BA3AE"/>
                </a:solidFill>
                <a:latin typeface="Segoe UI"/>
                <a:cs typeface="Segoe UI"/>
              </a:rPr>
              <a:t>PromQL Basics  ·  SQL Queries  ·  Query Builder  ·  Explore Mode  ·  Query Inspector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9261E0-F9DA-40BA-A497-F1A380113D92}"/>
              </a:ext>
            </a:extLst>
          </p:cNvPr>
          <p:cNvSpPr/>
          <p:nvPr/>
        </p:nvSpPr>
        <p:spPr>
          <a:xfrm>
            <a:off x="1778000" y="3886200"/>
            <a:ext cx="1143000" cy="508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821570-68B1-4B45-A358-5B3770CB9808}"/>
              </a:ext>
            </a:extLst>
          </p:cNvPr>
          <p:cNvSpPr txBox="1"/>
          <p:nvPr/>
        </p:nvSpPr>
        <p:spPr>
          <a:xfrm>
            <a:off x="1778000" y="4191000"/>
            <a:ext cx="660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dirty="0">
                <a:solidFill>
                  <a:srgbClr val="6E9FFF"/>
                </a:solidFill>
                <a:latin typeface="Segoe UI"/>
                <a:cs typeface="Segoe UI"/>
              </a:rPr>
              <a:t>Theory + live demo in Explore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FA1FE81-5F6D-4734-AA66-EBD94E4A5B58}"/>
              </a:ext>
            </a:extLst>
          </p:cNvPr>
          <p:cNvSpPr/>
          <p:nvPr/>
        </p:nvSpPr>
        <p:spPr>
          <a:xfrm>
            <a:off x="9652000" y="2286000"/>
            <a:ext cx="1270000" cy="1270000"/>
          </a:xfrm>
          <a:prstGeom prst="ellipse">
            <a:avLst/>
          </a:prstGeom>
          <a:solidFill>
            <a:srgbClr val="1F1608"/>
          </a:solidFill>
          <a:ln w="12700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42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5B98-33F3-D072-7E36-1FA60ED45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2600"/>
            <a:ext cx="10668000" cy="584200"/>
          </a:xfrm>
        </p:spPr>
        <p:txBody>
          <a:bodyPr>
            <a:normAutofit/>
          </a:bodyPr>
          <a:lstStyle/>
          <a:p>
            <a:r>
              <a:rPr lang="en-US" sz="3000" b="1" dirty="0"/>
              <a:t>Query Architecture - How a Panel Gets Its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1D9D10-AD71-454D-A590-3575EAF0CB08}"/>
              </a:ext>
            </a:extLst>
          </p:cNvPr>
          <p:cNvSpPr/>
          <p:nvPr/>
        </p:nvSpPr>
        <p:spPr>
          <a:xfrm>
            <a:off x="762000" y="1143000"/>
            <a:ext cx="889000" cy="381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71838D3-092B-46E3-B935-55D7E415081C}"/>
              </a:ext>
            </a:extLst>
          </p:cNvPr>
          <p:cNvSpPr/>
          <p:nvPr/>
        </p:nvSpPr>
        <p:spPr>
          <a:xfrm>
            <a:off x="762000" y="1498600"/>
            <a:ext cx="1879600" cy="1625600"/>
          </a:xfrm>
          <a:prstGeom prst="roundRect">
            <a:avLst/>
          </a:prstGeom>
          <a:solidFill>
            <a:srgbClr val="1B1E24"/>
          </a:solidFill>
          <a:ln w="15875" cap="flat" cmpd="sng" algn="ctr">
            <a:solidFill>
              <a:srgbClr val="6E9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1B538-D437-4B70-97BC-402001B315EA}"/>
              </a:ext>
            </a:extLst>
          </p:cNvPr>
          <p:cNvSpPr/>
          <p:nvPr/>
        </p:nvSpPr>
        <p:spPr>
          <a:xfrm>
            <a:off x="762000" y="1498600"/>
            <a:ext cx="1879600" cy="50800"/>
          </a:xfrm>
          <a:prstGeom prst="rect">
            <a:avLst/>
          </a:prstGeom>
          <a:solidFill>
            <a:srgbClr val="6E9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4C4CB4-EC95-47D8-AF90-8F6E2234D382}"/>
              </a:ext>
            </a:extLst>
          </p:cNvPr>
          <p:cNvSpPr txBox="1"/>
          <p:nvPr/>
        </p:nvSpPr>
        <p:spPr>
          <a:xfrm>
            <a:off x="914400" y="1701800"/>
            <a:ext cx="15748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  <a:cs typeface="Segoe UI"/>
              </a:rPr>
              <a:t>Panel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59390-C606-415C-AB37-491E074EBFFA}"/>
              </a:ext>
            </a:extLst>
          </p:cNvPr>
          <p:cNvSpPr txBox="1"/>
          <p:nvPr/>
        </p:nvSpPr>
        <p:spPr>
          <a:xfrm>
            <a:off x="889000" y="2209800"/>
            <a:ext cx="16256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BA3AE"/>
                </a:solidFill>
                <a:latin typeface="Segoe UI"/>
                <a:cs typeface="Segoe UI"/>
              </a:rPr>
              <a:t>Requests data for the
selected time range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24D5A4F-79A3-47E1-8DA4-BFB31C6568FD}"/>
              </a:ext>
            </a:extLst>
          </p:cNvPr>
          <p:cNvSpPr/>
          <p:nvPr/>
        </p:nvSpPr>
        <p:spPr>
          <a:xfrm>
            <a:off x="2705100" y="2095500"/>
            <a:ext cx="279400" cy="279400"/>
          </a:xfrm>
          <a:prstGeom prst="rightArrow">
            <a:avLst/>
          </a:prstGeom>
          <a:solidFill>
            <a:srgbClr val="5A6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8C4E8F7-805B-4A30-B68D-602FE050E015}"/>
              </a:ext>
            </a:extLst>
          </p:cNvPr>
          <p:cNvSpPr/>
          <p:nvPr/>
        </p:nvSpPr>
        <p:spPr>
          <a:xfrm>
            <a:off x="2959100" y="1498600"/>
            <a:ext cx="1879600" cy="1625600"/>
          </a:xfrm>
          <a:prstGeom prst="roundRect">
            <a:avLst/>
          </a:prstGeom>
          <a:solidFill>
            <a:srgbClr val="1B1E24"/>
          </a:solidFill>
          <a:ln w="15875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289053-2B01-4058-B2CB-5DEF04F256A0}"/>
              </a:ext>
            </a:extLst>
          </p:cNvPr>
          <p:cNvSpPr/>
          <p:nvPr/>
        </p:nvSpPr>
        <p:spPr>
          <a:xfrm>
            <a:off x="2959100" y="1498600"/>
            <a:ext cx="1879600" cy="508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EC44B4-445F-40B7-BFDE-39F7CA32AE81}"/>
              </a:ext>
            </a:extLst>
          </p:cNvPr>
          <p:cNvSpPr txBox="1"/>
          <p:nvPr/>
        </p:nvSpPr>
        <p:spPr>
          <a:xfrm>
            <a:off x="3111500" y="1701800"/>
            <a:ext cx="15748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  <a:cs typeface="Segoe UI"/>
              </a:rPr>
              <a:t>Data source
plugin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9A1048-BC53-4C05-9E3A-C86510BCD0C7}"/>
              </a:ext>
            </a:extLst>
          </p:cNvPr>
          <p:cNvSpPr txBox="1"/>
          <p:nvPr/>
        </p:nvSpPr>
        <p:spPr>
          <a:xfrm>
            <a:off x="3086100" y="2209800"/>
            <a:ext cx="16256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BA3AE"/>
                </a:solidFill>
                <a:latin typeface="Segoe UI"/>
                <a:cs typeface="Segoe UI"/>
              </a:rPr>
              <a:t>Prometheus, MySQL,
Loki, Elastic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597BFBD-AE65-4BC3-AD62-F221CD34FD39}"/>
              </a:ext>
            </a:extLst>
          </p:cNvPr>
          <p:cNvSpPr/>
          <p:nvPr/>
        </p:nvSpPr>
        <p:spPr>
          <a:xfrm>
            <a:off x="4902200" y="2095500"/>
            <a:ext cx="279400" cy="279400"/>
          </a:xfrm>
          <a:prstGeom prst="rightArrow">
            <a:avLst/>
          </a:prstGeom>
          <a:solidFill>
            <a:srgbClr val="5A6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626C483-258A-44C3-B02B-148A1F29A5BF}"/>
              </a:ext>
            </a:extLst>
          </p:cNvPr>
          <p:cNvSpPr/>
          <p:nvPr/>
        </p:nvSpPr>
        <p:spPr>
          <a:xfrm>
            <a:off x="5156200" y="1498600"/>
            <a:ext cx="1879600" cy="1625600"/>
          </a:xfrm>
          <a:prstGeom prst="roundRect">
            <a:avLst/>
          </a:prstGeom>
          <a:solidFill>
            <a:srgbClr val="1B1E24"/>
          </a:solidFill>
          <a:ln w="15875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BFCF70-05EA-4479-BDF1-E649541B9D7F}"/>
              </a:ext>
            </a:extLst>
          </p:cNvPr>
          <p:cNvSpPr/>
          <p:nvPr/>
        </p:nvSpPr>
        <p:spPr>
          <a:xfrm>
            <a:off x="5156200" y="1498600"/>
            <a:ext cx="1879600" cy="508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5EF411-9E8B-43DD-A513-B76F13EFAC74}"/>
              </a:ext>
            </a:extLst>
          </p:cNvPr>
          <p:cNvSpPr txBox="1"/>
          <p:nvPr/>
        </p:nvSpPr>
        <p:spPr>
          <a:xfrm>
            <a:off x="5308600" y="1701800"/>
            <a:ext cx="15748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  <a:cs typeface="Segoe UI"/>
              </a:rPr>
              <a:t>Query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CD6BAF-59D5-4005-8838-DC1096F3AB3D}"/>
              </a:ext>
            </a:extLst>
          </p:cNvPr>
          <p:cNvSpPr txBox="1"/>
          <p:nvPr/>
        </p:nvSpPr>
        <p:spPr>
          <a:xfrm>
            <a:off x="5283200" y="2209800"/>
            <a:ext cx="16256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BA3AE"/>
                </a:solidFill>
                <a:latin typeface="Segoe UI"/>
                <a:cs typeface="Segoe UI"/>
              </a:rPr>
              <a:t>PromQL or SQL sent
to the backend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292A985D-3FF2-4258-8410-84C37A3BCE95}"/>
              </a:ext>
            </a:extLst>
          </p:cNvPr>
          <p:cNvSpPr/>
          <p:nvPr/>
        </p:nvSpPr>
        <p:spPr>
          <a:xfrm>
            <a:off x="7099300" y="2095500"/>
            <a:ext cx="279400" cy="279400"/>
          </a:xfrm>
          <a:prstGeom prst="rightArrow">
            <a:avLst/>
          </a:prstGeom>
          <a:solidFill>
            <a:srgbClr val="5A6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F56DBB8-5925-4602-9C74-B3FBB6E1852F}"/>
              </a:ext>
            </a:extLst>
          </p:cNvPr>
          <p:cNvSpPr/>
          <p:nvPr/>
        </p:nvSpPr>
        <p:spPr>
          <a:xfrm>
            <a:off x="7353300" y="1498600"/>
            <a:ext cx="1879600" cy="1625600"/>
          </a:xfrm>
          <a:prstGeom prst="roundRect">
            <a:avLst/>
          </a:prstGeom>
          <a:solidFill>
            <a:srgbClr val="1B1E24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80EDE3-30C3-4992-A953-CAF00AB25FF1}"/>
              </a:ext>
            </a:extLst>
          </p:cNvPr>
          <p:cNvSpPr/>
          <p:nvPr/>
        </p:nvSpPr>
        <p:spPr>
          <a:xfrm>
            <a:off x="7353300" y="1498600"/>
            <a:ext cx="1879600" cy="508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E93AA0-37A7-4DC6-8BB6-7503F1244F11}"/>
              </a:ext>
            </a:extLst>
          </p:cNvPr>
          <p:cNvSpPr txBox="1"/>
          <p:nvPr/>
        </p:nvSpPr>
        <p:spPr>
          <a:xfrm>
            <a:off x="7505700" y="1701800"/>
            <a:ext cx="15748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  <a:cs typeface="Segoe UI"/>
              </a:rPr>
              <a:t>Data frames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1318E7-2F2A-4227-B814-01C16C63D39E}"/>
              </a:ext>
            </a:extLst>
          </p:cNvPr>
          <p:cNvSpPr txBox="1"/>
          <p:nvPr/>
        </p:nvSpPr>
        <p:spPr>
          <a:xfrm>
            <a:off x="7480300" y="2209800"/>
            <a:ext cx="16256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BA3AE"/>
                </a:solidFill>
                <a:latin typeface="Segoe UI"/>
                <a:cs typeface="Segoe UI"/>
              </a:rPr>
              <a:t>Tabular results back
to Grafana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B62540F2-ED8B-4C13-9508-F49CF6150DBB}"/>
              </a:ext>
            </a:extLst>
          </p:cNvPr>
          <p:cNvSpPr/>
          <p:nvPr/>
        </p:nvSpPr>
        <p:spPr>
          <a:xfrm>
            <a:off x="9296400" y="2095500"/>
            <a:ext cx="279400" cy="279400"/>
          </a:xfrm>
          <a:prstGeom prst="rightArrow">
            <a:avLst/>
          </a:prstGeom>
          <a:solidFill>
            <a:srgbClr val="5A6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67B760A-6A89-46F9-949D-5E54682C12E0}"/>
              </a:ext>
            </a:extLst>
          </p:cNvPr>
          <p:cNvSpPr/>
          <p:nvPr/>
        </p:nvSpPr>
        <p:spPr>
          <a:xfrm>
            <a:off x="9550400" y="1498600"/>
            <a:ext cx="1879600" cy="1625600"/>
          </a:xfrm>
          <a:prstGeom prst="roundRect">
            <a:avLst/>
          </a:prstGeom>
          <a:solidFill>
            <a:srgbClr val="1B1E24"/>
          </a:solidFill>
          <a:ln w="15875" cap="flat" cmpd="sng" algn="ctr">
            <a:solidFill>
              <a:srgbClr val="B877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3F8FDF-A371-4E3B-823D-530A7251E786}"/>
              </a:ext>
            </a:extLst>
          </p:cNvPr>
          <p:cNvSpPr/>
          <p:nvPr/>
        </p:nvSpPr>
        <p:spPr>
          <a:xfrm>
            <a:off x="9550400" y="1498600"/>
            <a:ext cx="1879600" cy="50800"/>
          </a:xfrm>
          <a:prstGeom prst="rect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B43D32-E2F4-47B4-9DF6-B33C35CD598B}"/>
              </a:ext>
            </a:extLst>
          </p:cNvPr>
          <p:cNvSpPr txBox="1"/>
          <p:nvPr/>
        </p:nvSpPr>
        <p:spPr>
          <a:xfrm>
            <a:off x="9702800" y="1701800"/>
            <a:ext cx="15748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  <a:cs typeface="Segoe UI"/>
              </a:rPr>
              <a:t>Transform +
Visualize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EB291C-5342-4748-B364-97663627C3C6}"/>
              </a:ext>
            </a:extLst>
          </p:cNvPr>
          <p:cNvSpPr txBox="1"/>
          <p:nvPr/>
        </p:nvSpPr>
        <p:spPr>
          <a:xfrm>
            <a:off x="9677400" y="2209800"/>
            <a:ext cx="16256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BA3AE"/>
                </a:solidFill>
                <a:latin typeface="Segoe UI"/>
                <a:cs typeface="Segoe UI"/>
              </a:rPr>
              <a:t>Reshape, then render
the panel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C5D0EB7-C2FF-400F-96CD-AA220C724639}"/>
              </a:ext>
            </a:extLst>
          </p:cNvPr>
          <p:cNvSpPr/>
          <p:nvPr/>
        </p:nvSpPr>
        <p:spPr>
          <a:xfrm>
            <a:off x="762000" y="3378200"/>
            <a:ext cx="3429000" cy="1651000"/>
          </a:xfrm>
          <a:prstGeom prst="roundRect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783B94A-C200-4D24-89C3-38C3D026A8B7}"/>
              </a:ext>
            </a:extLst>
          </p:cNvPr>
          <p:cNvSpPr/>
          <p:nvPr/>
        </p:nvSpPr>
        <p:spPr>
          <a:xfrm>
            <a:off x="990600" y="3657600"/>
            <a:ext cx="152400" cy="152400"/>
          </a:xfrm>
          <a:prstGeom prst="ellipse">
            <a:avLst/>
          </a:prstGeom>
          <a:solidFill>
            <a:srgbClr val="6E9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AD59AD-4B83-4455-A265-55CFDD05D734}"/>
              </a:ext>
            </a:extLst>
          </p:cNvPr>
          <p:cNvSpPr txBox="1"/>
          <p:nvPr/>
        </p:nvSpPr>
        <p:spPr>
          <a:xfrm>
            <a:off x="1244600" y="3632200"/>
            <a:ext cx="2717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Segoe UI"/>
                <a:cs typeface="Segoe UI"/>
              </a:rPr>
              <a:t>Time range &amp; variables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A44902-E010-41E9-8564-C267212DBDD1}"/>
              </a:ext>
            </a:extLst>
          </p:cNvPr>
          <p:cNvSpPr txBox="1"/>
          <p:nvPr/>
        </p:nvSpPr>
        <p:spPr>
          <a:xfrm>
            <a:off x="990600" y="4064000"/>
            <a:ext cx="29718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A8B0BA"/>
                </a:solidFill>
                <a:latin typeface="Segoe UI"/>
                <a:cs typeface="Segoe UI"/>
              </a:rPr>
              <a:t>Every query is scoped by the dashboard time picker and any template variables ($job, $instance).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23F4CF6-2B8E-419D-9E78-BA57EDB50816}"/>
              </a:ext>
            </a:extLst>
          </p:cNvPr>
          <p:cNvSpPr/>
          <p:nvPr/>
        </p:nvSpPr>
        <p:spPr>
          <a:xfrm>
            <a:off x="4381500" y="3378200"/>
            <a:ext cx="3429000" cy="1651000"/>
          </a:xfrm>
          <a:prstGeom prst="roundRect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D133F26-138B-49BE-A28E-DC647C8252F6}"/>
              </a:ext>
            </a:extLst>
          </p:cNvPr>
          <p:cNvSpPr/>
          <p:nvPr/>
        </p:nvSpPr>
        <p:spPr>
          <a:xfrm>
            <a:off x="4610100" y="3657600"/>
            <a:ext cx="152400" cy="152400"/>
          </a:xfrm>
          <a:prstGeom prst="ellipse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B75486-0097-4AFB-9AFC-B9CAF82B7F44}"/>
              </a:ext>
            </a:extLst>
          </p:cNvPr>
          <p:cNvSpPr txBox="1"/>
          <p:nvPr/>
        </p:nvSpPr>
        <p:spPr>
          <a:xfrm>
            <a:off x="4864100" y="3632200"/>
            <a:ext cx="2717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Segoe UI"/>
                <a:cs typeface="Segoe UI"/>
              </a:rPr>
              <a:t>Query options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C37F00-1ED3-4C35-92E8-558FD55961E7}"/>
              </a:ext>
            </a:extLst>
          </p:cNvPr>
          <p:cNvSpPr txBox="1"/>
          <p:nvPr/>
        </p:nvSpPr>
        <p:spPr>
          <a:xfrm>
            <a:off x="4610100" y="4064000"/>
            <a:ext cx="29718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A8B0BA"/>
                </a:solidFill>
                <a:latin typeface="Segoe UI"/>
                <a:cs typeface="Segoe UI"/>
              </a:rPr>
              <a:t>Min interval, max data points and relative time change what the backend actually receives.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8932E4B-7FCE-4294-8B12-D8FCB515DC5E}"/>
              </a:ext>
            </a:extLst>
          </p:cNvPr>
          <p:cNvSpPr/>
          <p:nvPr/>
        </p:nvSpPr>
        <p:spPr>
          <a:xfrm>
            <a:off x="8001000" y="3378200"/>
            <a:ext cx="3429000" cy="1651000"/>
          </a:xfrm>
          <a:prstGeom prst="roundRect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4CC872B-4FD5-483C-9B83-35139D4F00F7}"/>
              </a:ext>
            </a:extLst>
          </p:cNvPr>
          <p:cNvSpPr/>
          <p:nvPr/>
        </p:nvSpPr>
        <p:spPr>
          <a:xfrm>
            <a:off x="8229600" y="3657600"/>
            <a:ext cx="152400" cy="1524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1D297E-6AB4-4E16-805C-6F263B9B3201}"/>
              </a:ext>
            </a:extLst>
          </p:cNvPr>
          <p:cNvSpPr txBox="1"/>
          <p:nvPr/>
        </p:nvSpPr>
        <p:spPr>
          <a:xfrm>
            <a:off x="8483600" y="3632200"/>
            <a:ext cx="2717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Segoe UI"/>
                <a:cs typeface="Segoe UI"/>
              </a:rPr>
              <a:t>Inspect anything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CAE896-32EC-4E68-9497-B7037563E09A}"/>
              </a:ext>
            </a:extLst>
          </p:cNvPr>
          <p:cNvSpPr txBox="1"/>
          <p:nvPr/>
        </p:nvSpPr>
        <p:spPr>
          <a:xfrm>
            <a:off x="8229600" y="4064000"/>
            <a:ext cx="29718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A8B0BA"/>
                </a:solidFill>
                <a:latin typeface="Segoe UI"/>
                <a:cs typeface="Segoe UI"/>
              </a:rPr>
              <a:t>Query Inspector shows the exact request, response JSON, timing and returned data frames.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242DC6B-DE6B-4EB9-8C6B-1BF1B1B3E505}"/>
              </a:ext>
            </a:extLst>
          </p:cNvPr>
          <p:cNvSpPr/>
          <p:nvPr/>
        </p:nvSpPr>
        <p:spPr>
          <a:xfrm>
            <a:off x="762000" y="5257800"/>
            <a:ext cx="10668000" cy="889000"/>
          </a:xfrm>
          <a:prstGeom prst="roundRect">
            <a:avLst/>
          </a:prstGeom>
          <a:solidFill>
            <a:srgbClr val="12211A"/>
          </a:solidFill>
          <a:ln w="12700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04811D-3B6C-4863-8EFA-C870649D9AAE}"/>
              </a:ext>
            </a:extLst>
          </p:cNvPr>
          <p:cNvSpPr txBox="1"/>
          <p:nvPr/>
        </p:nvSpPr>
        <p:spPr>
          <a:xfrm>
            <a:off x="1016000" y="54356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73BF69"/>
                </a:solidFill>
                <a:latin typeface="Segoe UI"/>
                <a:cs typeface="Segoe UI"/>
              </a:rPr>
              <a:t>Instructor note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CA6890-21B0-4C4C-AD24-D5DE28128715}"/>
              </a:ext>
            </a:extLst>
          </p:cNvPr>
          <p:cNvSpPr txBox="1"/>
          <p:nvPr/>
        </p:nvSpPr>
        <p:spPr>
          <a:xfrm>
            <a:off x="1016000" y="57404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Open a dashboard panel → Edit → show the query, then open Query Inspector to prove the round trip end to end.</a:t>
            </a:r>
          </a:p>
        </p:txBody>
      </p:sp>
    </p:spTree>
    <p:extLst>
      <p:ext uri="{BB962C8B-B14F-4D97-AF65-F5344CB8AC3E}">
        <p14:creationId xmlns:p14="http://schemas.microsoft.com/office/powerpoint/2010/main" val="1461936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6ECAC-C5F7-0091-199B-DF8F3FBCD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2600"/>
            <a:ext cx="10668000" cy="584200"/>
          </a:xfrm>
        </p:spPr>
        <p:txBody>
          <a:bodyPr>
            <a:normAutofit/>
          </a:bodyPr>
          <a:lstStyle/>
          <a:p>
            <a:r>
              <a:rPr lang="en-US" sz="3000" b="1" dirty="0" err="1"/>
              <a:t>PromQL</a:t>
            </a:r>
            <a:r>
              <a:rPr lang="en-US" sz="3000" b="1" dirty="0"/>
              <a:t> Basics - The Four Building Blocks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9C7A6F-B33B-4132-A6E9-9B460E79DE0D}"/>
              </a:ext>
            </a:extLst>
          </p:cNvPr>
          <p:cNvSpPr/>
          <p:nvPr/>
        </p:nvSpPr>
        <p:spPr>
          <a:xfrm>
            <a:off x="762000" y="1143000"/>
            <a:ext cx="889000" cy="381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7B258CD-5A48-46BE-ABF7-AF8F30716624}"/>
              </a:ext>
            </a:extLst>
          </p:cNvPr>
          <p:cNvSpPr/>
          <p:nvPr/>
        </p:nvSpPr>
        <p:spPr>
          <a:xfrm>
            <a:off x="762000" y="1473200"/>
            <a:ext cx="5080000" cy="10922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151AE3-AB8D-47FE-A610-9BC3C3A47E57}"/>
              </a:ext>
            </a:extLst>
          </p:cNvPr>
          <p:cNvSpPr/>
          <p:nvPr/>
        </p:nvSpPr>
        <p:spPr>
          <a:xfrm>
            <a:off x="762000" y="1473200"/>
            <a:ext cx="50800" cy="10922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53A321-6376-4CFB-B1C3-2DFADDF276CC}"/>
              </a:ext>
            </a:extLst>
          </p:cNvPr>
          <p:cNvSpPr txBox="1"/>
          <p:nvPr/>
        </p:nvSpPr>
        <p:spPr>
          <a:xfrm>
            <a:off x="1016000" y="16256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Segoe UI"/>
                <a:cs typeface="Segoe UI"/>
              </a:rPr>
              <a:t>Metric + labels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CF95B-B929-4627-B1FC-DF2D65E7E76D}"/>
              </a:ext>
            </a:extLst>
          </p:cNvPr>
          <p:cNvSpPr txBox="1"/>
          <p:nvPr/>
        </p:nvSpPr>
        <p:spPr>
          <a:xfrm>
            <a:off x="1016000" y="1981200"/>
            <a:ext cx="457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node_cpu_seconds_total{job="node"}  selects series. Labels filter with = != =~ !~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6CDE48E-5715-4C85-A994-2CBB2061C799}"/>
              </a:ext>
            </a:extLst>
          </p:cNvPr>
          <p:cNvSpPr/>
          <p:nvPr/>
        </p:nvSpPr>
        <p:spPr>
          <a:xfrm>
            <a:off x="762000" y="2667000"/>
            <a:ext cx="5080000" cy="10922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E0728E-D82C-4090-8F9B-053C0FFAD9F2}"/>
              </a:ext>
            </a:extLst>
          </p:cNvPr>
          <p:cNvSpPr/>
          <p:nvPr/>
        </p:nvSpPr>
        <p:spPr>
          <a:xfrm>
            <a:off x="762000" y="2667000"/>
            <a:ext cx="50800" cy="1092200"/>
          </a:xfrm>
          <a:prstGeom prst="rect">
            <a:avLst/>
          </a:prstGeom>
          <a:solidFill>
            <a:srgbClr val="6E9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8E2D6D-D6FD-4954-9CF2-8CC3C3F45E65}"/>
              </a:ext>
            </a:extLst>
          </p:cNvPr>
          <p:cNvSpPr txBox="1"/>
          <p:nvPr/>
        </p:nvSpPr>
        <p:spPr>
          <a:xfrm>
            <a:off x="1016000" y="28194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Segoe UI"/>
                <a:cs typeface="Segoe UI"/>
              </a:rPr>
              <a:t>Range vector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2FB71E-4560-44D8-8195-290D0BA0B1C5}"/>
              </a:ext>
            </a:extLst>
          </p:cNvPr>
          <p:cNvSpPr txBox="1"/>
          <p:nvPr/>
        </p:nvSpPr>
        <p:spPr>
          <a:xfrm>
            <a:off x="1016000" y="3175000"/>
            <a:ext cx="457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Append [5m] to get a window of samples. Required by rate(), increase(), delta().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7B9E40B-2EB6-4F33-AF05-97711B5057A7}"/>
              </a:ext>
            </a:extLst>
          </p:cNvPr>
          <p:cNvSpPr/>
          <p:nvPr/>
        </p:nvSpPr>
        <p:spPr>
          <a:xfrm>
            <a:off x="762000" y="3860800"/>
            <a:ext cx="5080000" cy="10922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607B4A-F04D-441C-A9E0-43705FAE8025}"/>
              </a:ext>
            </a:extLst>
          </p:cNvPr>
          <p:cNvSpPr/>
          <p:nvPr/>
        </p:nvSpPr>
        <p:spPr>
          <a:xfrm>
            <a:off x="762000" y="3860800"/>
            <a:ext cx="50800" cy="10922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76D57F-9DB5-4669-B356-504FA69A6F31}"/>
              </a:ext>
            </a:extLst>
          </p:cNvPr>
          <p:cNvSpPr txBox="1"/>
          <p:nvPr/>
        </p:nvSpPr>
        <p:spPr>
          <a:xfrm>
            <a:off x="1016000" y="40132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Segoe UI"/>
                <a:cs typeface="Segoe UI"/>
              </a:rPr>
              <a:t>Functions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C88B08-F3FB-403D-A4EB-57247F28C5DB}"/>
              </a:ext>
            </a:extLst>
          </p:cNvPr>
          <p:cNvSpPr txBox="1"/>
          <p:nvPr/>
        </p:nvSpPr>
        <p:spPr>
          <a:xfrm>
            <a:off x="1016000" y="4368800"/>
            <a:ext cx="457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rate() for counters, histogram_quantile() for latency, irate() for spiky signals.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A680683-209B-474E-88A1-099E5E903B19}"/>
              </a:ext>
            </a:extLst>
          </p:cNvPr>
          <p:cNvSpPr/>
          <p:nvPr/>
        </p:nvSpPr>
        <p:spPr>
          <a:xfrm>
            <a:off x="762000" y="5054600"/>
            <a:ext cx="5080000" cy="10922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E1357C-D836-41EA-9F53-1679B18ECFB1}"/>
              </a:ext>
            </a:extLst>
          </p:cNvPr>
          <p:cNvSpPr/>
          <p:nvPr/>
        </p:nvSpPr>
        <p:spPr>
          <a:xfrm>
            <a:off x="762000" y="5054600"/>
            <a:ext cx="50800" cy="1092200"/>
          </a:xfrm>
          <a:prstGeom prst="rect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8E0659-06A7-4F08-B3BA-7EDFB118B524}"/>
              </a:ext>
            </a:extLst>
          </p:cNvPr>
          <p:cNvSpPr txBox="1"/>
          <p:nvPr/>
        </p:nvSpPr>
        <p:spPr>
          <a:xfrm>
            <a:off x="1016000" y="52070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Segoe UI"/>
                <a:cs typeface="Segoe UI"/>
              </a:rPr>
              <a:t>Aggregation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8C8922-CC57-4480-9055-085AEEAFCC7B}"/>
              </a:ext>
            </a:extLst>
          </p:cNvPr>
          <p:cNvSpPr txBox="1"/>
          <p:nvPr/>
        </p:nvSpPr>
        <p:spPr>
          <a:xfrm>
            <a:off x="1016000" y="5562600"/>
            <a:ext cx="457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sum / avg / max ... by (instance) or without (pod) to collapse label dimensions.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4B5BEC1-D9D2-4E76-809C-AD53626E03A4}"/>
              </a:ext>
            </a:extLst>
          </p:cNvPr>
          <p:cNvSpPr/>
          <p:nvPr/>
        </p:nvSpPr>
        <p:spPr>
          <a:xfrm>
            <a:off x="6223000" y="1473200"/>
            <a:ext cx="5207000" cy="4800600"/>
          </a:xfrm>
          <a:prstGeom prst="roundRect">
            <a:avLst/>
          </a:prstGeom>
          <a:solidFill>
            <a:srgbClr val="0B0C0E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7AADCD-BE19-4577-A050-2EBE90D0A71F}"/>
              </a:ext>
            </a:extLst>
          </p:cNvPr>
          <p:cNvSpPr txBox="1"/>
          <p:nvPr/>
        </p:nvSpPr>
        <p:spPr>
          <a:xfrm>
            <a:off x="6477000" y="1676400"/>
            <a:ext cx="469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8800"/>
                </a:solidFill>
                <a:latin typeface="Segoe UI"/>
                <a:cs typeface="Segoe UI"/>
              </a:rPr>
              <a:t>Try these in Explore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90823D-A3AB-439F-A533-4A701E8A4F19}"/>
              </a:ext>
            </a:extLst>
          </p:cNvPr>
          <p:cNvSpPr txBox="1"/>
          <p:nvPr/>
        </p:nvSpPr>
        <p:spPr>
          <a:xfrm>
            <a:off x="6477000" y="2082800"/>
            <a:ext cx="4699000" cy="406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FD48A"/>
                </a:solidFill>
                <a:latin typeface="Consolas"/>
              </a:rPr>
              <a:t># CPU busy %
100 - avg by (instance) (
  rate(node_cpu_seconds_total{mode="idle"}[5m])
) * 100
# Memory available ratio
node_memory_MemAvailable_bytes
  / node_memory_MemTotal_bytes
# 5 busiest handlers
topk(5, sum by (handler) (
  rate(http_requests_total[5m])
))
# p95 latency
histogram_quantile(0.95, sum by (le) (
  rate(http_duration_seconds_bucket[5m])
))</a:t>
            </a:r>
          </a:p>
        </p:txBody>
      </p:sp>
    </p:spTree>
    <p:extLst>
      <p:ext uri="{BB962C8B-B14F-4D97-AF65-F5344CB8AC3E}">
        <p14:creationId xmlns:p14="http://schemas.microsoft.com/office/powerpoint/2010/main" val="3710086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9AA7D-B2F2-631F-06E4-E519E80B7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2600"/>
            <a:ext cx="10668000" cy="584200"/>
          </a:xfrm>
        </p:spPr>
        <p:txBody>
          <a:bodyPr>
            <a:normAutofit/>
          </a:bodyPr>
          <a:lstStyle/>
          <a:p>
            <a:r>
              <a:rPr lang="fr-FR" sz="3000" b="1" dirty="0"/>
              <a:t>SQL </a:t>
            </a:r>
            <a:r>
              <a:rPr lang="fr-FR" sz="3000" b="1" dirty="0" err="1"/>
              <a:t>Queries</a:t>
            </a:r>
            <a:r>
              <a:rPr lang="fr-FR" sz="3000" b="1" dirty="0"/>
              <a:t> - </a:t>
            </a:r>
            <a:r>
              <a:rPr lang="fr-FR" sz="3000" b="1" dirty="0" err="1"/>
              <a:t>Relational</a:t>
            </a:r>
            <a:r>
              <a:rPr lang="fr-FR" sz="3000" b="1" dirty="0"/>
              <a:t> Data Sources</a:t>
            </a:r>
            <a:endParaRPr lang="en-US" sz="30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CB5F64-C5BD-4C01-9178-EF0CE054FCE0}"/>
              </a:ext>
            </a:extLst>
          </p:cNvPr>
          <p:cNvSpPr/>
          <p:nvPr/>
        </p:nvSpPr>
        <p:spPr>
          <a:xfrm>
            <a:off x="762000" y="1143000"/>
            <a:ext cx="889000" cy="381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6FB3DB5-0F78-4F23-BA28-D05A45C9E512}"/>
              </a:ext>
            </a:extLst>
          </p:cNvPr>
          <p:cNvSpPr/>
          <p:nvPr/>
        </p:nvSpPr>
        <p:spPr>
          <a:xfrm>
            <a:off x="762000" y="1473200"/>
            <a:ext cx="5080000" cy="10922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B0F970-4CD0-4B34-91B7-429F554DE136}"/>
              </a:ext>
            </a:extLst>
          </p:cNvPr>
          <p:cNvSpPr/>
          <p:nvPr/>
        </p:nvSpPr>
        <p:spPr>
          <a:xfrm>
            <a:off x="762000" y="1473200"/>
            <a:ext cx="50800" cy="10922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17E713-405D-4216-AC84-77A033C29D40}"/>
              </a:ext>
            </a:extLst>
          </p:cNvPr>
          <p:cNvSpPr txBox="1"/>
          <p:nvPr/>
        </p:nvSpPr>
        <p:spPr>
          <a:xfrm>
            <a:off x="1016000" y="16256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Segoe UI"/>
                <a:cs typeface="Segoe UI"/>
              </a:rPr>
              <a:t>Format as: Time series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D7FF91-2938-4D11-9518-90ACB0456497}"/>
              </a:ext>
            </a:extLst>
          </p:cNvPr>
          <p:cNvSpPr txBox="1"/>
          <p:nvPr/>
        </p:nvSpPr>
        <p:spPr>
          <a:xfrm>
            <a:off x="1016000" y="1981200"/>
            <a:ext cx="4572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Needs a time column plus one or more numeric columns. Extra string column becomes the series name.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2FAA368-835C-44CC-B425-55EDB1F18851}"/>
              </a:ext>
            </a:extLst>
          </p:cNvPr>
          <p:cNvSpPr/>
          <p:nvPr/>
        </p:nvSpPr>
        <p:spPr>
          <a:xfrm>
            <a:off x="762000" y="2667000"/>
            <a:ext cx="5080000" cy="10922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FA7655-2DA4-464E-B82D-9233C17C9C0E}"/>
              </a:ext>
            </a:extLst>
          </p:cNvPr>
          <p:cNvSpPr/>
          <p:nvPr/>
        </p:nvSpPr>
        <p:spPr>
          <a:xfrm>
            <a:off x="762000" y="2667000"/>
            <a:ext cx="50800" cy="1092200"/>
          </a:xfrm>
          <a:prstGeom prst="rect">
            <a:avLst/>
          </a:prstGeom>
          <a:solidFill>
            <a:srgbClr val="6E9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99FA82-65E3-4CDF-96EC-2D528D3ED597}"/>
              </a:ext>
            </a:extLst>
          </p:cNvPr>
          <p:cNvSpPr txBox="1"/>
          <p:nvPr/>
        </p:nvSpPr>
        <p:spPr>
          <a:xfrm>
            <a:off x="1016000" y="28194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Segoe UI"/>
                <a:cs typeface="Segoe UI"/>
              </a:rPr>
              <a:t>Format as: 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27A7EF-E2EC-4586-9BD7-6FDFC6A9B54A}"/>
              </a:ext>
            </a:extLst>
          </p:cNvPr>
          <p:cNvSpPr txBox="1"/>
          <p:nvPr/>
        </p:nvSpPr>
        <p:spPr>
          <a:xfrm>
            <a:off x="1016000" y="3175000"/>
            <a:ext cx="4572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Any shape of result. Best for top-N lists, inventories and audit views.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9C8C690-3151-4882-9E63-5F0EB7738762}"/>
              </a:ext>
            </a:extLst>
          </p:cNvPr>
          <p:cNvSpPr/>
          <p:nvPr/>
        </p:nvSpPr>
        <p:spPr>
          <a:xfrm>
            <a:off x="762000" y="3860800"/>
            <a:ext cx="5080000" cy="10922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8619C4-BC35-4466-BDF7-9A97CEEE2097}"/>
              </a:ext>
            </a:extLst>
          </p:cNvPr>
          <p:cNvSpPr/>
          <p:nvPr/>
        </p:nvSpPr>
        <p:spPr>
          <a:xfrm>
            <a:off x="762000" y="3860800"/>
            <a:ext cx="50800" cy="10922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2BAE92-AA6E-4E3E-9E47-30E63D6B0167}"/>
              </a:ext>
            </a:extLst>
          </p:cNvPr>
          <p:cNvSpPr txBox="1"/>
          <p:nvPr/>
        </p:nvSpPr>
        <p:spPr>
          <a:xfrm>
            <a:off x="1016000" y="40132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Segoe UI"/>
                <a:cs typeface="Segoe UI"/>
              </a:rPr>
              <a:t>Macros do the heavy lifting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01A263-55BF-49A9-A2A1-EA3FF9CB7061}"/>
              </a:ext>
            </a:extLst>
          </p:cNvPr>
          <p:cNvSpPr txBox="1"/>
          <p:nvPr/>
        </p:nvSpPr>
        <p:spPr>
          <a:xfrm>
            <a:off x="1016000" y="4368800"/>
            <a:ext cx="4572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$__timeFilter(col) applies the dashboard range; $__timeGroup(col,$__interval) buckets it.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1D3E825-EDA7-44C8-807A-71D7ED794198}"/>
              </a:ext>
            </a:extLst>
          </p:cNvPr>
          <p:cNvSpPr/>
          <p:nvPr/>
        </p:nvSpPr>
        <p:spPr>
          <a:xfrm>
            <a:off x="762000" y="5054600"/>
            <a:ext cx="5080000" cy="10922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2BE9C8-EC59-40C9-BC1B-B5FB7B6B3074}"/>
              </a:ext>
            </a:extLst>
          </p:cNvPr>
          <p:cNvSpPr/>
          <p:nvPr/>
        </p:nvSpPr>
        <p:spPr>
          <a:xfrm>
            <a:off x="762000" y="5054600"/>
            <a:ext cx="50800" cy="1092200"/>
          </a:xfrm>
          <a:prstGeom prst="rect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2AE739-B90D-4ED2-B117-1E1EE9513F52}"/>
              </a:ext>
            </a:extLst>
          </p:cNvPr>
          <p:cNvSpPr txBox="1"/>
          <p:nvPr/>
        </p:nvSpPr>
        <p:spPr>
          <a:xfrm>
            <a:off x="1016000" y="52070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Segoe UI"/>
                <a:cs typeface="Segoe UI"/>
              </a:rPr>
              <a:t>Push work to the database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0DAA5F-32AD-4512-8B7B-7A03B157059D}"/>
              </a:ext>
            </a:extLst>
          </p:cNvPr>
          <p:cNvSpPr txBox="1"/>
          <p:nvPr/>
        </p:nvSpPr>
        <p:spPr>
          <a:xfrm>
            <a:off x="1016000" y="5562600"/>
            <a:ext cx="4572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Filter and aggregate in SQL, not in the panel. Index the time column.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5962914-FD06-4B22-87A6-3AE622842DFD}"/>
              </a:ext>
            </a:extLst>
          </p:cNvPr>
          <p:cNvSpPr/>
          <p:nvPr/>
        </p:nvSpPr>
        <p:spPr>
          <a:xfrm>
            <a:off x="6223000" y="1473200"/>
            <a:ext cx="5207000" cy="4800600"/>
          </a:xfrm>
          <a:prstGeom prst="roundRect">
            <a:avLst/>
          </a:prstGeom>
          <a:solidFill>
            <a:srgbClr val="0B0C0E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4E6DBD-3D4D-4FA1-B0D4-AC914FAF411B}"/>
              </a:ext>
            </a:extLst>
          </p:cNvPr>
          <p:cNvSpPr txBox="1"/>
          <p:nvPr/>
        </p:nvSpPr>
        <p:spPr>
          <a:xfrm>
            <a:off x="6477000" y="1676400"/>
            <a:ext cx="469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8800"/>
                </a:solidFill>
                <a:latin typeface="Segoe UI"/>
                <a:cs typeface="Segoe UI"/>
              </a:rPr>
              <a:t>Time series query (MySQL / Postgres)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158427-F919-48E2-A1AC-3A00D45067D0}"/>
              </a:ext>
            </a:extLst>
          </p:cNvPr>
          <p:cNvSpPr txBox="1"/>
          <p:nvPr/>
        </p:nvSpPr>
        <p:spPr>
          <a:xfrm>
            <a:off x="6477000" y="2082800"/>
            <a:ext cx="4699000" cy="406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FD48A"/>
                </a:solidFill>
                <a:latin typeface="Consolas"/>
              </a:rPr>
              <a:t>SELECT
  $__timeGroup(created_at, $__interval) AS time,
  status_code AS metric,
  COUNT(*) AS value
FROM api_requests
WHERE $__timeFilter(created_at)
  AND service = '$service'
GROUP BY 1, 2
ORDER BY 1;
-- Table query: slowest endpoints
SELECT endpoint,
       AVG(duration_ms) AS avg_ms,
       COUNT(*) AS calls
FROM api_requests
WHERE $__timeFilter(created_at)
GROUP BY endpoint
ORDER BY avg_ms DESC
LIMIT 10;</a:t>
            </a:r>
          </a:p>
        </p:txBody>
      </p:sp>
    </p:spTree>
    <p:extLst>
      <p:ext uri="{BB962C8B-B14F-4D97-AF65-F5344CB8AC3E}">
        <p14:creationId xmlns:p14="http://schemas.microsoft.com/office/powerpoint/2010/main" val="3894796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7E157-F688-D880-9FC4-11EDC86D8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2600"/>
            <a:ext cx="10668000" cy="584200"/>
          </a:xfrm>
        </p:spPr>
        <p:txBody>
          <a:bodyPr>
            <a:normAutofit/>
          </a:bodyPr>
          <a:lstStyle/>
          <a:p>
            <a:r>
              <a:rPr lang="en-US" sz="3000" b="1"/>
              <a:t>Query Builder vs. Code Mode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C9D105-1CE9-4B2C-965A-2C75B8C3F0C5}"/>
              </a:ext>
            </a:extLst>
          </p:cNvPr>
          <p:cNvSpPr/>
          <p:nvPr/>
        </p:nvSpPr>
        <p:spPr>
          <a:xfrm>
            <a:off x="762000" y="1143000"/>
            <a:ext cx="889000" cy="381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FCF51EC-8CD4-430F-BDB8-B8169C26A4F6}"/>
              </a:ext>
            </a:extLst>
          </p:cNvPr>
          <p:cNvSpPr/>
          <p:nvPr/>
        </p:nvSpPr>
        <p:spPr>
          <a:xfrm>
            <a:off x="762000" y="1422400"/>
            <a:ext cx="5207000" cy="3683000"/>
          </a:xfrm>
          <a:prstGeom prst="roundRect">
            <a:avLst/>
          </a:prstGeom>
          <a:solidFill>
            <a:srgbClr val="181B1F"/>
          </a:solidFill>
          <a:ln w="15875" cap="flat" cmpd="sng" algn="ctr">
            <a:solidFill>
              <a:srgbClr val="6E9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2D40F9-DC49-497E-989F-BB41F6DB30D7}"/>
              </a:ext>
            </a:extLst>
          </p:cNvPr>
          <p:cNvSpPr/>
          <p:nvPr/>
        </p:nvSpPr>
        <p:spPr>
          <a:xfrm>
            <a:off x="762000" y="1422400"/>
            <a:ext cx="5207000" cy="50800"/>
          </a:xfrm>
          <a:prstGeom prst="rect">
            <a:avLst/>
          </a:prstGeom>
          <a:solidFill>
            <a:srgbClr val="6E9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7D1ED-09A4-4412-BD71-002AAD6D846D}"/>
              </a:ext>
            </a:extLst>
          </p:cNvPr>
          <p:cNvSpPr txBox="1"/>
          <p:nvPr/>
        </p:nvSpPr>
        <p:spPr>
          <a:xfrm>
            <a:off x="1016000" y="1651000"/>
            <a:ext cx="4699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 dirty="0">
                <a:solidFill>
                  <a:srgbClr val="FFFFFF"/>
                </a:solidFill>
                <a:latin typeface="Segoe UI"/>
                <a:cs typeface="Segoe UI"/>
              </a:rPr>
              <a:t>Builder mode - guided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0DA37D-0D94-42EE-986E-4DFDEE1E5A03}"/>
              </a:ext>
            </a:extLst>
          </p:cNvPr>
          <p:cNvSpPr/>
          <p:nvPr/>
        </p:nvSpPr>
        <p:spPr>
          <a:xfrm>
            <a:off x="1016000" y="2108200"/>
            <a:ext cx="4699000" cy="660400"/>
          </a:xfrm>
          <a:prstGeom prst="roundRect">
            <a:avLst/>
          </a:prstGeom>
          <a:solidFill>
            <a:srgbClr val="111217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6C3780-5A7B-4458-B113-996A2882C00F}"/>
              </a:ext>
            </a:extLst>
          </p:cNvPr>
          <p:cNvSpPr txBox="1"/>
          <p:nvPr/>
        </p:nvSpPr>
        <p:spPr>
          <a:xfrm>
            <a:off x="1193800" y="2197100"/>
            <a:ext cx="431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6E9FFF"/>
                </a:solidFill>
                <a:latin typeface="Segoe UI"/>
                <a:cs typeface="Segoe UI"/>
              </a:rPr>
              <a:t>Dropdown driven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A44FEE-6C8A-4951-9AD5-A67A72448AA3}"/>
              </a:ext>
            </a:extLst>
          </p:cNvPr>
          <p:cNvSpPr txBox="1"/>
          <p:nvPr/>
        </p:nvSpPr>
        <p:spPr>
          <a:xfrm>
            <a:off x="1193800" y="2451100"/>
            <a:ext cx="431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Pick metric, labels and functions from lists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4F03D5C-4756-4A81-A5D5-7660D16695D6}"/>
              </a:ext>
            </a:extLst>
          </p:cNvPr>
          <p:cNvSpPr/>
          <p:nvPr/>
        </p:nvSpPr>
        <p:spPr>
          <a:xfrm>
            <a:off x="1016000" y="2844800"/>
            <a:ext cx="4699000" cy="660400"/>
          </a:xfrm>
          <a:prstGeom prst="roundRect">
            <a:avLst/>
          </a:prstGeom>
          <a:solidFill>
            <a:srgbClr val="111217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A3A156-C490-442B-A0C4-29110D8A0DB3}"/>
              </a:ext>
            </a:extLst>
          </p:cNvPr>
          <p:cNvSpPr txBox="1"/>
          <p:nvPr/>
        </p:nvSpPr>
        <p:spPr>
          <a:xfrm>
            <a:off x="1193800" y="2933700"/>
            <a:ext cx="431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6E9FFF"/>
                </a:solidFill>
                <a:latin typeface="Segoe UI"/>
                <a:cs typeface="Segoe UI"/>
              </a:rPr>
              <a:t>Great for onboarding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A9D11A-FFCC-4F64-9C43-9F8F7AF8E6B0}"/>
              </a:ext>
            </a:extLst>
          </p:cNvPr>
          <p:cNvSpPr txBox="1"/>
          <p:nvPr/>
        </p:nvSpPr>
        <p:spPr>
          <a:xfrm>
            <a:off x="1193800" y="3187700"/>
            <a:ext cx="431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No syntax to memorise, fewer typos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EB7A75B-88B4-4C25-8FC6-97A7F87040B3}"/>
              </a:ext>
            </a:extLst>
          </p:cNvPr>
          <p:cNvSpPr/>
          <p:nvPr/>
        </p:nvSpPr>
        <p:spPr>
          <a:xfrm>
            <a:off x="1016000" y="3581400"/>
            <a:ext cx="4699000" cy="660400"/>
          </a:xfrm>
          <a:prstGeom prst="roundRect">
            <a:avLst/>
          </a:prstGeom>
          <a:solidFill>
            <a:srgbClr val="111217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25B53B-45C2-4461-8BA5-1A46BE8FFB7D}"/>
              </a:ext>
            </a:extLst>
          </p:cNvPr>
          <p:cNvSpPr txBox="1"/>
          <p:nvPr/>
        </p:nvSpPr>
        <p:spPr>
          <a:xfrm>
            <a:off x="1193800" y="3670300"/>
            <a:ext cx="431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6E9FFF"/>
                </a:solidFill>
                <a:latin typeface="Segoe UI"/>
                <a:cs typeface="Segoe UI"/>
              </a:rPr>
              <a:t>Label value lookup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14F131-6920-49BF-A4F7-F3CE592C0C5D}"/>
              </a:ext>
            </a:extLst>
          </p:cNvPr>
          <p:cNvSpPr txBox="1"/>
          <p:nvPr/>
        </p:nvSpPr>
        <p:spPr>
          <a:xfrm>
            <a:off x="1193800" y="3924300"/>
            <a:ext cx="431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Grafana asks the data source for options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DBD620C-C9C2-454D-9790-5C219C229795}"/>
              </a:ext>
            </a:extLst>
          </p:cNvPr>
          <p:cNvSpPr/>
          <p:nvPr/>
        </p:nvSpPr>
        <p:spPr>
          <a:xfrm>
            <a:off x="6223000" y="1422400"/>
            <a:ext cx="5207000" cy="3683000"/>
          </a:xfrm>
          <a:prstGeom prst="roundRect">
            <a:avLst/>
          </a:prstGeom>
          <a:solidFill>
            <a:srgbClr val="181B1F"/>
          </a:solidFill>
          <a:ln w="15875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AB471B-8DBF-44AC-B61A-B02966D2DAFF}"/>
              </a:ext>
            </a:extLst>
          </p:cNvPr>
          <p:cNvSpPr/>
          <p:nvPr/>
        </p:nvSpPr>
        <p:spPr>
          <a:xfrm>
            <a:off x="6223000" y="1422400"/>
            <a:ext cx="5207000" cy="508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A0BDDE-09AD-4FA8-9B1F-6AE3A47AC1CE}"/>
              </a:ext>
            </a:extLst>
          </p:cNvPr>
          <p:cNvSpPr txBox="1"/>
          <p:nvPr/>
        </p:nvSpPr>
        <p:spPr>
          <a:xfrm>
            <a:off x="6477000" y="1651000"/>
            <a:ext cx="4699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 dirty="0">
                <a:solidFill>
                  <a:srgbClr val="FFFFFF"/>
                </a:solidFill>
                <a:latin typeface="Segoe UI"/>
                <a:cs typeface="Segoe UI"/>
              </a:rPr>
              <a:t>Code mode - full power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ACA4CC2-2A9E-47FB-A6B6-8D91C0C811BC}"/>
              </a:ext>
            </a:extLst>
          </p:cNvPr>
          <p:cNvSpPr/>
          <p:nvPr/>
        </p:nvSpPr>
        <p:spPr>
          <a:xfrm>
            <a:off x="6477000" y="2108200"/>
            <a:ext cx="4699000" cy="660400"/>
          </a:xfrm>
          <a:prstGeom prst="roundRect">
            <a:avLst/>
          </a:prstGeom>
          <a:solidFill>
            <a:srgbClr val="111217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0DCE92-3E19-4EB2-883A-A09E9E92A3C9}"/>
              </a:ext>
            </a:extLst>
          </p:cNvPr>
          <p:cNvSpPr txBox="1"/>
          <p:nvPr/>
        </p:nvSpPr>
        <p:spPr>
          <a:xfrm>
            <a:off x="6654800" y="2197100"/>
            <a:ext cx="431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8800"/>
                </a:solidFill>
                <a:latin typeface="Segoe UI"/>
                <a:cs typeface="Segoe UI"/>
              </a:rPr>
              <a:t>Raw PromQL / SQL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3B72CF-7C5E-45BF-860E-9BBB98E2DF38}"/>
              </a:ext>
            </a:extLst>
          </p:cNvPr>
          <p:cNvSpPr txBox="1"/>
          <p:nvPr/>
        </p:nvSpPr>
        <p:spPr>
          <a:xfrm>
            <a:off x="6654800" y="2451100"/>
            <a:ext cx="431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Everything the query language supports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C7E07A8-111D-4BBC-A224-CB84F85D03BA}"/>
              </a:ext>
            </a:extLst>
          </p:cNvPr>
          <p:cNvSpPr/>
          <p:nvPr/>
        </p:nvSpPr>
        <p:spPr>
          <a:xfrm>
            <a:off x="6477000" y="2844800"/>
            <a:ext cx="4699000" cy="660400"/>
          </a:xfrm>
          <a:prstGeom prst="roundRect">
            <a:avLst/>
          </a:prstGeom>
          <a:solidFill>
            <a:srgbClr val="111217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12E593-B6E1-414F-9D1A-E2A8B4C2454B}"/>
              </a:ext>
            </a:extLst>
          </p:cNvPr>
          <p:cNvSpPr txBox="1"/>
          <p:nvPr/>
        </p:nvSpPr>
        <p:spPr>
          <a:xfrm>
            <a:off x="6654800" y="2933700"/>
            <a:ext cx="431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8800"/>
                </a:solidFill>
                <a:latin typeface="Segoe UI"/>
                <a:cs typeface="Segoe UI"/>
              </a:rPr>
              <a:t>Autocomplete + docs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702ABF-3794-4B40-8849-ECA5910F24FE}"/>
              </a:ext>
            </a:extLst>
          </p:cNvPr>
          <p:cNvSpPr txBox="1"/>
          <p:nvPr/>
        </p:nvSpPr>
        <p:spPr>
          <a:xfrm>
            <a:off x="6654800" y="3187700"/>
            <a:ext cx="431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Inline hints and function help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123EA29-3AFE-4E9E-A86C-3B80CBFE51D5}"/>
              </a:ext>
            </a:extLst>
          </p:cNvPr>
          <p:cNvSpPr/>
          <p:nvPr/>
        </p:nvSpPr>
        <p:spPr>
          <a:xfrm>
            <a:off x="6477000" y="3581400"/>
            <a:ext cx="4699000" cy="660400"/>
          </a:xfrm>
          <a:prstGeom prst="roundRect">
            <a:avLst/>
          </a:prstGeom>
          <a:solidFill>
            <a:srgbClr val="111217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A835F1-2080-4ADA-B073-A1A8CC12A10B}"/>
              </a:ext>
            </a:extLst>
          </p:cNvPr>
          <p:cNvSpPr txBox="1"/>
          <p:nvPr/>
        </p:nvSpPr>
        <p:spPr>
          <a:xfrm>
            <a:off x="6654800" y="3670300"/>
            <a:ext cx="431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8800"/>
                </a:solidFill>
                <a:latin typeface="Segoe UI"/>
                <a:cs typeface="Segoe UI"/>
              </a:rPr>
              <a:t>Copy / paste friendly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1AF274-9FE6-4656-91E6-5130AE0A5152}"/>
              </a:ext>
            </a:extLst>
          </p:cNvPr>
          <p:cNvSpPr txBox="1"/>
          <p:nvPr/>
        </p:nvSpPr>
        <p:spPr>
          <a:xfrm>
            <a:off x="6654800" y="3924300"/>
            <a:ext cx="431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Share queries in tickets and runbooks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370F7E5-F7A0-44A8-8F3C-47339CF565B4}"/>
              </a:ext>
            </a:extLst>
          </p:cNvPr>
          <p:cNvSpPr/>
          <p:nvPr/>
        </p:nvSpPr>
        <p:spPr>
          <a:xfrm>
            <a:off x="762000" y="5257800"/>
            <a:ext cx="10668000" cy="9652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28BA3C-4F76-4403-BBB8-4E716014BB7D}"/>
              </a:ext>
            </a:extLst>
          </p:cNvPr>
          <p:cNvSpPr txBox="1"/>
          <p:nvPr/>
        </p:nvSpPr>
        <p:spPr>
          <a:xfrm>
            <a:off x="1016000" y="54356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73BF69"/>
                </a:solidFill>
                <a:latin typeface="Segoe UI"/>
                <a:cs typeface="Segoe UI"/>
              </a:rPr>
              <a:t>Also on the query editor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083E29-5AA3-48BC-BFB2-059705DB7F7E}"/>
              </a:ext>
            </a:extLst>
          </p:cNvPr>
          <p:cNvSpPr txBox="1"/>
          <p:nvPr/>
        </p:nvSpPr>
        <p:spPr>
          <a:xfrm>
            <a:off x="1016000" y="57404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D2D6DB"/>
                </a:solidFill>
                <a:latin typeface="Segoe UI"/>
                <a:cs typeface="Segoe UI"/>
              </a:rPr>
              <a:t>Multiple queries A, B, C per panel   ·   Expression rows for math and reduce   ·   Query options: min interval, max data points, relative time</a:t>
            </a:r>
          </a:p>
        </p:txBody>
      </p:sp>
    </p:spTree>
    <p:extLst>
      <p:ext uri="{BB962C8B-B14F-4D97-AF65-F5344CB8AC3E}">
        <p14:creationId xmlns:p14="http://schemas.microsoft.com/office/powerpoint/2010/main" val="2050747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D25AF-A175-C9A4-9368-42E6F70A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2600"/>
            <a:ext cx="10668000" cy="584200"/>
          </a:xfrm>
        </p:spPr>
        <p:txBody>
          <a:bodyPr>
            <a:normAutofit/>
          </a:bodyPr>
          <a:lstStyle/>
          <a:p>
            <a:r>
              <a:rPr lang="en-US" sz="3000" b="1" dirty="0"/>
              <a:t>Explore Mode - The Query Workbench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B32BBD-B712-4E86-9283-52790ACA4E1E}"/>
              </a:ext>
            </a:extLst>
          </p:cNvPr>
          <p:cNvSpPr/>
          <p:nvPr/>
        </p:nvSpPr>
        <p:spPr>
          <a:xfrm>
            <a:off x="762000" y="1143000"/>
            <a:ext cx="889000" cy="381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940CFDEA-6ECC-48DB-8CE7-9685060D9AB9}"/>
              </a:ext>
            </a:extLst>
          </p:cNvPr>
          <p:cNvSpPr/>
          <p:nvPr/>
        </p:nvSpPr>
        <p:spPr>
          <a:xfrm>
            <a:off x="762000" y="1447800"/>
            <a:ext cx="2184400" cy="787400"/>
          </a:xfrm>
          <a:prstGeom prst="homePlate">
            <a:avLst/>
          </a:prstGeom>
          <a:solidFill>
            <a:srgbClr val="1B1E24"/>
          </a:solidFill>
          <a:ln w="15875" cap="flat" cmpd="sng" algn="ctr">
            <a:solidFill>
              <a:srgbClr val="6E9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89002D6-742C-4551-9264-8F17D2223EBA}"/>
              </a:ext>
            </a:extLst>
          </p:cNvPr>
          <p:cNvSpPr/>
          <p:nvPr/>
        </p:nvSpPr>
        <p:spPr>
          <a:xfrm>
            <a:off x="939800" y="1676400"/>
            <a:ext cx="330200" cy="330200"/>
          </a:xfrm>
          <a:prstGeom prst="ellipse">
            <a:avLst/>
          </a:prstGeom>
          <a:solidFill>
            <a:srgbClr val="6E9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C7116F-A38B-4722-80A6-0AE315814BEE}"/>
              </a:ext>
            </a:extLst>
          </p:cNvPr>
          <p:cNvSpPr txBox="1"/>
          <p:nvPr/>
        </p:nvSpPr>
        <p:spPr>
          <a:xfrm>
            <a:off x="1371600" y="1625600"/>
            <a:ext cx="1371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Segoe UI"/>
                <a:cs typeface="Segoe UI"/>
              </a:rPr>
              <a:t>Pick data source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77D8EC20-7D17-409B-B866-04EBD7270FED}"/>
              </a:ext>
            </a:extLst>
          </p:cNvPr>
          <p:cNvSpPr/>
          <p:nvPr/>
        </p:nvSpPr>
        <p:spPr>
          <a:xfrm>
            <a:off x="2895600" y="1447800"/>
            <a:ext cx="2184400" cy="787400"/>
          </a:xfrm>
          <a:prstGeom prst="homePlate">
            <a:avLst/>
          </a:prstGeom>
          <a:solidFill>
            <a:srgbClr val="1B1E24"/>
          </a:solidFill>
          <a:ln w="15875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F889A57-3905-4D11-8219-8D7FCF74D858}"/>
              </a:ext>
            </a:extLst>
          </p:cNvPr>
          <p:cNvSpPr/>
          <p:nvPr/>
        </p:nvSpPr>
        <p:spPr>
          <a:xfrm>
            <a:off x="3073400" y="1676400"/>
            <a:ext cx="330200" cy="330200"/>
          </a:xfrm>
          <a:prstGeom prst="ellipse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C4B07A-3912-4501-ACD0-8F9FCA4A3D83}"/>
              </a:ext>
            </a:extLst>
          </p:cNvPr>
          <p:cNvSpPr txBox="1"/>
          <p:nvPr/>
        </p:nvSpPr>
        <p:spPr>
          <a:xfrm>
            <a:off x="3505200" y="1625600"/>
            <a:ext cx="1371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Segoe UI"/>
                <a:cs typeface="Segoe UI"/>
              </a:rPr>
              <a:t>Write the query</a:t>
            </a: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B2A86B84-D90E-4081-9F26-273857952552}"/>
              </a:ext>
            </a:extLst>
          </p:cNvPr>
          <p:cNvSpPr/>
          <p:nvPr/>
        </p:nvSpPr>
        <p:spPr>
          <a:xfrm>
            <a:off x="5029200" y="1447800"/>
            <a:ext cx="2184400" cy="787400"/>
          </a:xfrm>
          <a:prstGeom prst="homePlate">
            <a:avLst/>
          </a:prstGeom>
          <a:solidFill>
            <a:srgbClr val="1B1E24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804C3CA-0A30-4AFB-A4EA-F7E67DF6FF73}"/>
              </a:ext>
            </a:extLst>
          </p:cNvPr>
          <p:cNvSpPr/>
          <p:nvPr/>
        </p:nvSpPr>
        <p:spPr>
          <a:xfrm>
            <a:off x="5207000" y="1676400"/>
            <a:ext cx="330200" cy="3302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208007-77A9-4530-AA55-48C84341D1CB}"/>
              </a:ext>
            </a:extLst>
          </p:cNvPr>
          <p:cNvSpPr txBox="1"/>
          <p:nvPr/>
        </p:nvSpPr>
        <p:spPr>
          <a:xfrm>
            <a:off x="5638800" y="1625600"/>
            <a:ext cx="1371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Segoe UI"/>
                <a:cs typeface="Segoe UI"/>
              </a:rPr>
              <a:t>Read the graph &amp; table</a:t>
            </a: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B1B0A726-64C6-4DBE-9A11-28C29BD2CFED}"/>
              </a:ext>
            </a:extLst>
          </p:cNvPr>
          <p:cNvSpPr/>
          <p:nvPr/>
        </p:nvSpPr>
        <p:spPr>
          <a:xfrm>
            <a:off x="7162800" y="1447800"/>
            <a:ext cx="2184400" cy="787400"/>
          </a:xfrm>
          <a:prstGeom prst="homePlate">
            <a:avLst/>
          </a:prstGeom>
          <a:solidFill>
            <a:srgbClr val="1B1E24"/>
          </a:solidFill>
          <a:ln w="15875" cap="flat" cmpd="sng" algn="ctr">
            <a:solidFill>
              <a:srgbClr val="B877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4BC0917-DEA5-4541-924E-05F4485C6EFD}"/>
              </a:ext>
            </a:extLst>
          </p:cNvPr>
          <p:cNvSpPr/>
          <p:nvPr/>
        </p:nvSpPr>
        <p:spPr>
          <a:xfrm>
            <a:off x="7340600" y="1676400"/>
            <a:ext cx="330200" cy="330200"/>
          </a:xfrm>
          <a:prstGeom prst="ellipse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3F7CC0-5AC5-48D7-83B4-3205ED580350}"/>
              </a:ext>
            </a:extLst>
          </p:cNvPr>
          <p:cNvSpPr txBox="1"/>
          <p:nvPr/>
        </p:nvSpPr>
        <p:spPr>
          <a:xfrm>
            <a:off x="7772400" y="1625600"/>
            <a:ext cx="1371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Segoe UI"/>
                <a:cs typeface="Segoe UI"/>
              </a:rPr>
              <a:t>Split view to correlate</a:t>
            </a: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14A45BFF-DED5-4381-ADF2-EBC42DD60FE8}"/>
              </a:ext>
            </a:extLst>
          </p:cNvPr>
          <p:cNvSpPr/>
          <p:nvPr/>
        </p:nvSpPr>
        <p:spPr>
          <a:xfrm>
            <a:off x="9296400" y="1447800"/>
            <a:ext cx="2184400" cy="787400"/>
          </a:xfrm>
          <a:prstGeom prst="homePlate">
            <a:avLst/>
          </a:prstGeom>
          <a:solidFill>
            <a:srgbClr val="1B1E24"/>
          </a:solidFill>
          <a:ln w="15875" cap="flat" cmpd="sng" algn="ctr">
            <a:solidFill>
              <a:srgbClr val="FADE2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1590938-78B9-4E61-938B-EEE43BA3B0A0}"/>
              </a:ext>
            </a:extLst>
          </p:cNvPr>
          <p:cNvSpPr/>
          <p:nvPr/>
        </p:nvSpPr>
        <p:spPr>
          <a:xfrm>
            <a:off x="9474200" y="1676400"/>
            <a:ext cx="330200" cy="330200"/>
          </a:xfrm>
          <a:prstGeom prst="ellipse">
            <a:avLst/>
          </a:prstGeom>
          <a:solidFill>
            <a:srgbClr val="FADE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5EBE9B-52A1-4A09-85DF-31B1DF723129}"/>
              </a:ext>
            </a:extLst>
          </p:cNvPr>
          <p:cNvSpPr txBox="1"/>
          <p:nvPr/>
        </p:nvSpPr>
        <p:spPr>
          <a:xfrm>
            <a:off x="9906000" y="1625600"/>
            <a:ext cx="1371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Segoe UI"/>
                <a:cs typeface="Segoe UI"/>
              </a:rPr>
              <a:t>Add to dashboard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0A33E1C-2A33-4302-A036-CA87441E1783}"/>
              </a:ext>
            </a:extLst>
          </p:cNvPr>
          <p:cNvSpPr/>
          <p:nvPr/>
        </p:nvSpPr>
        <p:spPr>
          <a:xfrm>
            <a:off x="762000" y="2540000"/>
            <a:ext cx="3429000" cy="1905000"/>
          </a:xfrm>
          <a:prstGeom prst="roundRect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1EC240-A1B4-4390-A344-E8A0E488E90B}"/>
              </a:ext>
            </a:extLst>
          </p:cNvPr>
          <p:cNvSpPr/>
          <p:nvPr/>
        </p:nvSpPr>
        <p:spPr>
          <a:xfrm>
            <a:off x="762000" y="2540000"/>
            <a:ext cx="3429000" cy="50800"/>
          </a:xfrm>
          <a:prstGeom prst="rect">
            <a:avLst/>
          </a:prstGeom>
          <a:solidFill>
            <a:srgbClr val="6E9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EE48A1-B2EA-4A15-A684-5753092D60A4}"/>
              </a:ext>
            </a:extLst>
          </p:cNvPr>
          <p:cNvSpPr txBox="1"/>
          <p:nvPr/>
        </p:nvSpPr>
        <p:spPr>
          <a:xfrm>
            <a:off x="1016000" y="28194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Segoe UI"/>
                <a:cs typeface="Segoe UI"/>
              </a:rPr>
              <a:t>No dashboard needed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AA832D-28DD-4F60-8F0E-B117DC48C91A}"/>
              </a:ext>
            </a:extLst>
          </p:cNvPr>
          <p:cNvSpPr txBox="1"/>
          <p:nvPr/>
        </p:nvSpPr>
        <p:spPr>
          <a:xfrm>
            <a:off x="1016000" y="3251200"/>
            <a:ext cx="292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A8B0BA"/>
                </a:solidFill>
                <a:latin typeface="Segoe UI"/>
                <a:cs typeface="Segoe UI"/>
              </a:rPr>
              <a:t>Explore is a scratchpad. Nothing is saved until you choose to add the query to a dashboard or panel.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5DC75AA-9A04-4313-B6C7-C466017A65C6}"/>
              </a:ext>
            </a:extLst>
          </p:cNvPr>
          <p:cNvSpPr/>
          <p:nvPr/>
        </p:nvSpPr>
        <p:spPr>
          <a:xfrm>
            <a:off x="4381500" y="2540000"/>
            <a:ext cx="3429000" cy="1905000"/>
          </a:xfrm>
          <a:prstGeom prst="roundRect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334331-2F60-4B2A-8B2E-55E40074292A}"/>
              </a:ext>
            </a:extLst>
          </p:cNvPr>
          <p:cNvSpPr/>
          <p:nvPr/>
        </p:nvSpPr>
        <p:spPr>
          <a:xfrm>
            <a:off x="4381500" y="2540000"/>
            <a:ext cx="3429000" cy="508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BC42C1-6E6F-4621-9BAD-C3A3D3E8110E}"/>
              </a:ext>
            </a:extLst>
          </p:cNvPr>
          <p:cNvSpPr txBox="1"/>
          <p:nvPr/>
        </p:nvSpPr>
        <p:spPr>
          <a:xfrm>
            <a:off x="4635500" y="28194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Segoe UI"/>
                <a:cs typeface="Segoe UI"/>
              </a:rPr>
              <a:t>Split view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E0F5BB-18A2-4A67-87D4-5C0C1CF5904C}"/>
              </a:ext>
            </a:extLst>
          </p:cNvPr>
          <p:cNvSpPr txBox="1"/>
          <p:nvPr/>
        </p:nvSpPr>
        <p:spPr>
          <a:xfrm>
            <a:off x="4635500" y="3251200"/>
            <a:ext cx="292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dirty="0">
                <a:solidFill>
                  <a:srgbClr val="A8B0BA"/>
                </a:solidFill>
                <a:latin typeface="Segoe UI"/>
                <a:cs typeface="Segoe UI"/>
              </a:rPr>
              <a:t>Open two panes side by side - metrics on the left, logs on the right - with a shared time range.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D8BD169-9023-48F4-8C05-48D990A6916A}"/>
              </a:ext>
            </a:extLst>
          </p:cNvPr>
          <p:cNvSpPr/>
          <p:nvPr/>
        </p:nvSpPr>
        <p:spPr>
          <a:xfrm>
            <a:off x="8001000" y="2540000"/>
            <a:ext cx="3429000" cy="1905000"/>
          </a:xfrm>
          <a:prstGeom prst="roundRect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3EA5BAE-C5E7-4906-846D-583E40A13170}"/>
              </a:ext>
            </a:extLst>
          </p:cNvPr>
          <p:cNvSpPr/>
          <p:nvPr/>
        </p:nvSpPr>
        <p:spPr>
          <a:xfrm>
            <a:off x="8001000" y="2540000"/>
            <a:ext cx="3429000" cy="508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486035-4DD2-4C5F-80CD-9AF448FD4F4A}"/>
              </a:ext>
            </a:extLst>
          </p:cNvPr>
          <p:cNvSpPr txBox="1"/>
          <p:nvPr/>
        </p:nvSpPr>
        <p:spPr>
          <a:xfrm>
            <a:off x="8255000" y="28194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Segoe UI"/>
                <a:cs typeface="Segoe UI"/>
              </a:rPr>
              <a:t>Query history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CB1B06-9385-4109-BD2F-C01E0A82ADA3}"/>
              </a:ext>
            </a:extLst>
          </p:cNvPr>
          <p:cNvSpPr txBox="1"/>
          <p:nvPr/>
        </p:nvSpPr>
        <p:spPr>
          <a:xfrm>
            <a:off x="8255000" y="3251200"/>
            <a:ext cx="292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A8B0BA"/>
                </a:solidFill>
                <a:latin typeface="Segoe UI"/>
                <a:cs typeface="Segoe UI"/>
              </a:rPr>
              <a:t>Every query you ran is kept per data source. Star the good ones and re-run them later.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E95B6A1-6C8C-41DF-B8F5-D7E778D9354D}"/>
              </a:ext>
            </a:extLst>
          </p:cNvPr>
          <p:cNvSpPr/>
          <p:nvPr/>
        </p:nvSpPr>
        <p:spPr>
          <a:xfrm>
            <a:off x="762000" y="4673600"/>
            <a:ext cx="10668000" cy="1524000"/>
          </a:xfrm>
          <a:prstGeom prst="roundRect">
            <a:avLst/>
          </a:prstGeom>
          <a:solidFill>
            <a:srgbClr val="12211A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71EA54-E588-4B59-B2F0-622291AFE6C6}"/>
              </a:ext>
            </a:extLst>
          </p:cNvPr>
          <p:cNvSpPr txBox="1"/>
          <p:nvPr/>
        </p:nvSpPr>
        <p:spPr>
          <a:xfrm>
            <a:off x="1016000" y="48768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73BF69"/>
                </a:solidFill>
                <a:latin typeface="Segoe UI"/>
                <a:cs typeface="Segoe UI"/>
              </a:rPr>
              <a:t>LIVE DEMO - 5 min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513245-7969-47E9-BF5D-FA7A35B3C909}"/>
              </a:ext>
            </a:extLst>
          </p:cNvPr>
          <p:cNvSpPr txBox="1"/>
          <p:nvPr/>
        </p:nvSpPr>
        <p:spPr>
          <a:xfrm>
            <a:off x="1016000" y="5232400"/>
            <a:ext cx="10160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Open Explore → Prometheus → run rate(node_cpu_seconds_total[5m]) → switch Builder/Code → split the view and add a Loki
query beside it → open Query History → 'Add to dashboard' to turn the result into a panel.</a:t>
            </a:r>
          </a:p>
        </p:txBody>
      </p:sp>
    </p:spTree>
    <p:extLst>
      <p:ext uri="{BB962C8B-B14F-4D97-AF65-F5344CB8AC3E}">
        <p14:creationId xmlns:p14="http://schemas.microsoft.com/office/powerpoint/2010/main" val="2887228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38BAC-9C02-39CD-F27A-CD67A83CD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2600"/>
            <a:ext cx="10668000" cy="584200"/>
          </a:xfrm>
        </p:spPr>
        <p:txBody>
          <a:bodyPr>
            <a:normAutofit/>
          </a:bodyPr>
          <a:lstStyle/>
          <a:p>
            <a:r>
              <a:rPr lang="en-US" sz="3000" b="1" dirty="0"/>
              <a:t>Query Inspector - Your Debugging Window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7A9FE7-E5B2-4162-A360-433B14CC7922}"/>
              </a:ext>
            </a:extLst>
          </p:cNvPr>
          <p:cNvSpPr/>
          <p:nvPr/>
        </p:nvSpPr>
        <p:spPr>
          <a:xfrm>
            <a:off x="762000" y="1143000"/>
            <a:ext cx="889000" cy="381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3EA9D9-D70B-47B2-825D-0C3ABD56A992}"/>
              </a:ext>
            </a:extLst>
          </p:cNvPr>
          <p:cNvSpPr/>
          <p:nvPr/>
        </p:nvSpPr>
        <p:spPr>
          <a:xfrm>
            <a:off x="762000" y="1447800"/>
            <a:ext cx="2565400" cy="2235200"/>
          </a:xfrm>
          <a:prstGeom prst="roundRect">
            <a:avLst/>
          </a:prstGeom>
          <a:solidFill>
            <a:srgbClr val="181B1F"/>
          </a:solidFill>
          <a:ln w="15875" cap="flat" cmpd="sng" algn="ctr">
            <a:solidFill>
              <a:srgbClr val="6E9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6B80FF-2149-4EAB-925B-BAA9D460AC63}"/>
              </a:ext>
            </a:extLst>
          </p:cNvPr>
          <p:cNvSpPr/>
          <p:nvPr/>
        </p:nvSpPr>
        <p:spPr>
          <a:xfrm>
            <a:off x="762000" y="1447800"/>
            <a:ext cx="2565400" cy="50800"/>
          </a:xfrm>
          <a:prstGeom prst="rect">
            <a:avLst/>
          </a:prstGeom>
          <a:solidFill>
            <a:srgbClr val="6E9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46A124-BE80-49AA-9EFE-111A61A725DC}"/>
              </a:ext>
            </a:extLst>
          </p:cNvPr>
          <p:cNvSpPr txBox="1"/>
          <p:nvPr/>
        </p:nvSpPr>
        <p:spPr>
          <a:xfrm>
            <a:off x="990600" y="1701800"/>
            <a:ext cx="2108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Segoe UI"/>
                <a:cs typeface="Segoe UI"/>
              </a:rPr>
              <a:t>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214E01-D61E-4EA0-A26C-733599DFE9F3}"/>
              </a:ext>
            </a:extLst>
          </p:cNvPr>
          <p:cNvSpPr txBox="1"/>
          <p:nvPr/>
        </p:nvSpPr>
        <p:spPr>
          <a:xfrm>
            <a:off x="990600" y="2184400"/>
            <a:ext cx="21082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A8B0BA"/>
                </a:solidFill>
                <a:latin typeface="Segoe UI"/>
                <a:cs typeface="Segoe UI"/>
              </a:rPr>
              <a:t>The returned data frames as a table. Download CSV to check values row by row.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4A7021-A571-4900-A980-EC5D015F0CE3}"/>
              </a:ext>
            </a:extLst>
          </p:cNvPr>
          <p:cNvSpPr/>
          <p:nvPr/>
        </p:nvSpPr>
        <p:spPr>
          <a:xfrm>
            <a:off x="3454400" y="1447800"/>
            <a:ext cx="2565400" cy="2235200"/>
          </a:xfrm>
          <a:prstGeom prst="roundRect">
            <a:avLst/>
          </a:prstGeom>
          <a:solidFill>
            <a:srgbClr val="181B1F"/>
          </a:solidFill>
          <a:ln w="15875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F21FA3-2405-4C08-A052-2B7F171F48CA}"/>
              </a:ext>
            </a:extLst>
          </p:cNvPr>
          <p:cNvSpPr/>
          <p:nvPr/>
        </p:nvSpPr>
        <p:spPr>
          <a:xfrm>
            <a:off x="3454400" y="1447800"/>
            <a:ext cx="2565400" cy="508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489E75-97BF-40E3-A6EF-15AA76C1184A}"/>
              </a:ext>
            </a:extLst>
          </p:cNvPr>
          <p:cNvSpPr txBox="1"/>
          <p:nvPr/>
        </p:nvSpPr>
        <p:spPr>
          <a:xfrm>
            <a:off x="3683000" y="1701800"/>
            <a:ext cx="2108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Segoe UI"/>
                <a:cs typeface="Segoe UI"/>
              </a:rPr>
              <a:t>Stats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A24B66-6ACC-4D58-A20D-BACD50D2B73E}"/>
              </a:ext>
            </a:extLst>
          </p:cNvPr>
          <p:cNvSpPr txBox="1"/>
          <p:nvPr/>
        </p:nvSpPr>
        <p:spPr>
          <a:xfrm>
            <a:off x="3683000" y="2184400"/>
            <a:ext cx="21082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A8B0BA"/>
                </a:solidFill>
                <a:latin typeface="Segoe UI"/>
                <a:cs typeface="Segoe UI"/>
              </a:rPr>
              <a:t>Request time, number of queries, rows returned. First stop for slow panels.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F2A8EE8-7B60-4F6B-949A-0C2494EE1B17}"/>
              </a:ext>
            </a:extLst>
          </p:cNvPr>
          <p:cNvSpPr/>
          <p:nvPr/>
        </p:nvSpPr>
        <p:spPr>
          <a:xfrm>
            <a:off x="6146800" y="1447800"/>
            <a:ext cx="2565400" cy="2235200"/>
          </a:xfrm>
          <a:prstGeom prst="roundRect">
            <a:avLst/>
          </a:prstGeom>
          <a:solidFill>
            <a:srgbClr val="181B1F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8C1781-8C6C-475D-8B3A-569052AA7B5B}"/>
              </a:ext>
            </a:extLst>
          </p:cNvPr>
          <p:cNvSpPr/>
          <p:nvPr/>
        </p:nvSpPr>
        <p:spPr>
          <a:xfrm>
            <a:off x="6146800" y="1447800"/>
            <a:ext cx="2565400" cy="508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B6D0FF-E75E-4325-A5E4-4F154C8CED92}"/>
              </a:ext>
            </a:extLst>
          </p:cNvPr>
          <p:cNvSpPr txBox="1"/>
          <p:nvPr/>
        </p:nvSpPr>
        <p:spPr>
          <a:xfrm>
            <a:off x="6375400" y="1701800"/>
            <a:ext cx="2108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Segoe UI"/>
                <a:cs typeface="Segoe UI"/>
              </a:rPr>
              <a:t>JSON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062B16-905A-49FC-BE3D-E1F4D95E73D6}"/>
              </a:ext>
            </a:extLst>
          </p:cNvPr>
          <p:cNvSpPr txBox="1"/>
          <p:nvPr/>
        </p:nvSpPr>
        <p:spPr>
          <a:xfrm>
            <a:off x="6375400" y="2184400"/>
            <a:ext cx="21082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dirty="0">
                <a:solidFill>
                  <a:srgbClr val="A8B0BA"/>
                </a:solidFill>
                <a:latin typeface="Segoe UI"/>
                <a:cs typeface="Segoe UI"/>
              </a:rPr>
              <a:t>Panel JSON, panel data and data frame structure - exact field names and types.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C5BE344-B5E3-4D26-AD59-0623B7C65BCF}"/>
              </a:ext>
            </a:extLst>
          </p:cNvPr>
          <p:cNvSpPr/>
          <p:nvPr/>
        </p:nvSpPr>
        <p:spPr>
          <a:xfrm>
            <a:off x="8839200" y="1447800"/>
            <a:ext cx="2565400" cy="2235200"/>
          </a:xfrm>
          <a:prstGeom prst="roundRect">
            <a:avLst/>
          </a:prstGeom>
          <a:solidFill>
            <a:srgbClr val="181B1F"/>
          </a:solidFill>
          <a:ln w="15875" cap="flat" cmpd="sng" algn="ctr">
            <a:solidFill>
              <a:srgbClr val="B877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734BEA-A4C1-4965-A8C7-003C07CEA189}"/>
              </a:ext>
            </a:extLst>
          </p:cNvPr>
          <p:cNvSpPr/>
          <p:nvPr/>
        </p:nvSpPr>
        <p:spPr>
          <a:xfrm>
            <a:off x="8839200" y="1447800"/>
            <a:ext cx="2565400" cy="50800"/>
          </a:xfrm>
          <a:prstGeom prst="rect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EBA20C-879C-4271-8D66-9C5A7796880D}"/>
              </a:ext>
            </a:extLst>
          </p:cNvPr>
          <p:cNvSpPr txBox="1"/>
          <p:nvPr/>
        </p:nvSpPr>
        <p:spPr>
          <a:xfrm>
            <a:off x="9067800" y="1701800"/>
            <a:ext cx="2108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Segoe UI"/>
                <a:cs typeface="Segoe UI"/>
              </a:rPr>
              <a:t>Query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171408-F93E-40AD-9F59-0D309DA38B36}"/>
              </a:ext>
            </a:extLst>
          </p:cNvPr>
          <p:cNvSpPr txBox="1"/>
          <p:nvPr/>
        </p:nvSpPr>
        <p:spPr>
          <a:xfrm>
            <a:off x="9067800" y="2184400"/>
            <a:ext cx="21082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A8B0BA"/>
                </a:solidFill>
                <a:latin typeface="Segoe UI"/>
                <a:cs typeface="Segoe UI"/>
              </a:rPr>
              <a:t>The raw request and response sent to the data source, with headers and timings.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5AC49E6-1050-4643-8235-8AA0203C7682}"/>
              </a:ext>
            </a:extLst>
          </p:cNvPr>
          <p:cNvSpPr/>
          <p:nvPr/>
        </p:nvSpPr>
        <p:spPr>
          <a:xfrm>
            <a:off x="762000" y="3860800"/>
            <a:ext cx="10668000" cy="23622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05E942-DB45-4D69-893C-BD7A3C346A78}"/>
              </a:ext>
            </a:extLst>
          </p:cNvPr>
          <p:cNvSpPr txBox="1"/>
          <p:nvPr/>
        </p:nvSpPr>
        <p:spPr>
          <a:xfrm>
            <a:off x="1016000" y="40640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 dirty="0">
                <a:solidFill>
                  <a:srgbClr val="FF8800"/>
                </a:solidFill>
                <a:latin typeface="Segoe UI"/>
                <a:cs typeface="Segoe UI"/>
              </a:rPr>
              <a:t>"My panel shows No data" - work through this order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6BCD848-08AE-40E1-83F3-47C4F2D0230D}"/>
              </a:ext>
            </a:extLst>
          </p:cNvPr>
          <p:cNvSpPr/>
          <p:nvPr/>
        </p:nvSpPr>
        <p:spPr>
          <a:xfrm>
            <a:off x="1219200" y="4495800"/>
            <a:ext cx="304800" cy="304800"/>
          </a:xfrm>
          <a:prstGeom prst="ellipse">
            <a:avLst/>
          </a:prstGeom>
          <a:solidFill>
            <a:srgbClr val="2A1C0B"/>
          </a:solidFill>
          <a:ln w="12700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8800"/>
                </a:solidFill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B5C6C4-8CE2-4B3B-8369-704684BEC832}"/>
              </a:ext>
            </a:extLst>
          </p:cNvPr>
          <p:cNvSpPr txBox="1"/>
          <p:nvPr/>
        </p:nvSpPr>
        <p:spPr>
          <a:xfrm>
            <a:off x="1651000" y="4521200"/>
            <a:ext cx="4470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Is the time range right? Shift it to Last 6 hours.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1802400-7955-4295-8089-E50DC277C0C6}"/>
              </a:ext>
            </a:extLst>
          </p:cNvPr>
          <p:cNvSpPr/>
          <p:nvPr/>
        </p:nvSpPr>
        <p:spPr>
          <a:xfrm>
            <a:off x="1219200" y="5054600"/>
            <a:ext cx="304800" cy="304800"/>
          </a:xfrm>
          <a:prstGeom prst="ellipse">
            <a:avLst/>
          </a:prstGeom>
          <a:solidFill>
            <a:srgbClr val="2A1C0B"/>
          </a:solidFill>
          <a:ln w="12700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8800"/>
                </a:solidFill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C9634F-EEDD-4345-AF12-F8892E77E908}"/>
              </a:ext>
            </a:extLst>
          </p:cNvPr>
          <p:cNvSpPr txBox="1"/>
          <p:nvPr/>
        </p:nvSpPr>
        <p:spPr>
          <a:xfrm>
            <a:off x="1651000" y="5080000"/>
            <a:ext cx="4470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Does the query return rows in Explore, outside the dashboard?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7FA6D78-6291-46CA-AB7C-E76A1D5456E1}"/>
              </a:ext>
            </a:extLst>
          </p:cNvPr>
          <p:cNvSpPr/>
          <p:nvPr/>
        </p:nvSpPr>
        <p:spPr>
          <a:xfrm>
            <a:off x="1219200" y="5613400"/>
            <a:ext cx="304800" cy="304800"/>
          </a:xfrm>
          <a:prstGeom prst="ellipse">
            <a:avLst/>
          </a:prstGeom>
          <a:solidFill>
            <a:srgbClr val="2A1C0B"/>
          </a:solidFill>
          <a:ln w="12700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8800"/>
                </a:solidFill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AC3583-3651-4A0B-8684-97BDAF1BFBF8}"/>
              </a:ext>
            </a:extLst>
          </p:cNvPr>
          <p:cNvSpPr txBox="1"/>
          <p:nvPr/>
        </p:nvSpPr>
        <p:spPr>
          <a:xfrm>
            <a:off x="1651000" y="5638800"/>
            <a:ext cx="4470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Check Inspector → Data: are values null, or is the frame empty?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27A9EFC-72DC-46CD-BA3B-F022D28EF0A3}"/>
              </a:ext>
            </a:extLst>
          </p:cNvPr>
          <p:cNvSpPr/>
          <p:nvPr/>
        </p:nvSpPr>
        <p:spPr>
          <a:xfrm>
            <a:off x="6502400" y="4495800"/>
            <a:ext cx="304800" cy="304800"/>
          </a:xfrm>
          <a:prstGeom prst="ellipse">
            <a:avLst/>
          </a:prstGeom>
          <a:solidFill>
            <a:srgbClr val="2A1C0B"/>
          </a:solidFill>
          <a:ln w="12700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8800"/>
                </a:solidFill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591DCC-C512-49CC-A664-E4215E2708B1}"/>
              </a:ext>
            </a:extLst>
          </p:cNvPr>
          <p:cNvSpPr txBox="1"/>
          <p:nvPr/>
        </p:nvSpPr>
        <p:spPr>
          <a:xfrm>
            <a:off x="6934200" y="4521200"/>
            <a:ext cx="4470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Are template variables resolved? Look at the interpolated query.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D813567-85BF-4558-8CDF-354016139B11}"/>
              </a:ext>
            </a:extLst>
          </p:cNvPr>
          <p:cNvSpPr/>
          <p:nvPr/>
        </p:nvSpPr>
        <p:spPr>
          <a:xfrm>
            <a:off x="6502400" y="5054600"/>
            <a:ext cx="304800" cy="304800"/>
          </a:xfrm>
          <a:prstGeom prst="ellipse">
            <a:avLst/>
          </a:prstGeom>
          <a:solidFill>
            <a:srgbClr val="2A1C0B"/>
          </a:solidFill>
          <a:ln w="12700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8800"/>
                </a:solidFill>
              </a:rPr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94BEA4-DD04-4A5D-977F-B7DE37205184}"/>
              </a:ext>
            </a:extLst>
          </p:cNvPr>
          <p:cNvSpPr txBox="1"/>
          <p:nvPr/>
        </p:nvSpPr>
        <p:spPr>
          <a:xfrm>
            <a:off x="6934200" y="5080000"/>
            <a:ext cx="4470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Inspector → Stats: is the request timing out or being throttled?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D513E91-DD71-41C2-BCE8-71383C0B6C23}"/>
              </a:ext>
            </a:extLst>
          </p:cNvPr>
          <p:cNvSpPr/>
          <p:nvPr/>
        </p:nvSpPr>
        <p:spPr>
          <a:xfrm>
            <a:off x="6502400" y="5613400"/>
            <a:ext cx="304800" cy="304800"/>
          </a:xfrm>
          <a:prstGeom prst="ellipse">
            <a:avLst/>
          </a:prstGeom>
          <a:solidFill>
            <a:srgbClr val="2A1C0B"/>
          </a:solidFill>
          <a:ln w="12700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8800"/>
                </a:solidFill>
              </a:rPr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46A975-6840-46A3-8907-456A91D1EACE}"/>
              </a:ext>
            </a:extLst>
          </p:cNvPr>
          <p:cNvSpPr txBox="1"/>
          <p:nvPr/>
        </p:nvSpPr>
        <p:spPr>
          <a:xfrm>
            <a:off x="6934200" y="5638800"/>
            <a:ext cx="4470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Confirm the panel's Format as / field mapping matches the frame.</a:t>
            </a:r>
          </a:p>
        </p:txBody>
      </p:sp>
    </p:spTree>
    <p:extLst>
      <p:ext uri="{BB962C8B-B14F-4D97-AF65-F5344CB8AC3E}">
        <p14:creationId xmlns:p14="http://schemas.microsoft.com/office/powerpoint/2010/main" val="4261610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2DDE0-DCA8-1C6A-3D4E-1443DB97E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2600"/>
            <a:ext cx="10668000" cy="584200"/>
          </a:xfrm>
        </p:spPr>
        <p:txBody>
          <a:bodyPr>
            <a:normAutofit/>
          </a:bodyPr>
          <a:lstStyle/>
          <a:p>
            <a:r>
              <a:rPr lang="en-US" sz="3000" b="1" dirty="0"/>
              <a:t>Guided Practice 9 - Query It Yourself  (10 min)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69CD1A-4CF1-4D60-B1E4-4F738184C05A}"/>
              </a:ext>
            </a:extLst>
          </p:cNvPr>
          <p:cNvSpPr/>
          <p:nvPr/>
        </p:nvSpPr>
        <p:spPr>
          <a:xfrm>
            <a:off x="762000" y="1143000"/>
            <a:ext cx="889000" cy="381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AAD2194-4B46-4C35-9559-CDC3044E3B69}"/>
              </a:ext>
            </a:extLst>
          </p:cNvPr>
          <p:cNvSpPr/>
          <p:nvPr/>
        </p:nvSpPr>
        <p:spPr>
          <a:xfrm>
            <a:off x="762000" y="1422400"/>
            <a:ext cx="6858000" cy="4800600"/>
          </a:xfrm>
          <a:prstGeom prst="roundRect">
            <a:avLst/>
          </a:prstGeom>
          <a:solidFill>
            <a:srgbClr val="181B1F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90FEBD-9E24-4D7C-A19A-AA868B377634}"/>
              </a:ext>
            </a:extLst>
          </p:cNvPr>
          <p:cNvSpPr txBox="1"/>
          <p:nvPr/>
        </p:nvSpPr>
        <p:spPr>
          <a:xfrm>
            <a:off x="1066800" y="1625600"/>
            <a:ext cx="381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73BF69"/>
                </a:solidFill>
                <a:latin typeface="Segoe UI"/>
                <a:cs typeface="Segoe UI"/>
              </a:rPr>
              <a:t>Steps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CEE05C3-BB4E-43A4-B988-BB6F92B895F3}"/>
              </a:ext>
            </a:extLst>
          </p:cNvPr>
          <p:cNvSpPr/>
          <p:nvPr/>
        </p:nvSpPr>
        <p:spPr>
          <a:xfrm>
            <a:off x="1066800" y="20574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EB04A2-715D-49B5-B64F-DFCA6A2E2A7A}"/>
              </a:ext>
            </a:extLst>
          </p:cNvPr>
          <p:cNvSpPr txBox="1"/>
          <p:nvPr/>
        </p:nvSpPr>
        <p:spPr>
          <a:xfrm>
            <a:off x="1498600" y="2082800"/>
            <a:ext cx="5816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Open Explore and select the Prometheus data source.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3BEED00-4B57-4D28-A319-FB1AB5AA4EE0}"/>
              </a:ext>
            </a:extLst>
          </p:cNvPr>
          <p:cNvSpPr/>
          <p:nvPr/>
        </p:nvSpPr>
        <p:spPr>
          <a:xfrm>
            <a:off x="1066800" y="26289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D0779E-9DE5-4C3F-B1F5-8CF80112346A}"/>
              </a:ext>
            </a:extLst>
          </p:cNvPr>
          <p:cNvSpPr txBox="1"/>
          <p:nvPr/>
        </p:nvSpPr>
        <p:spPr>
          <a:xfrm>
            <a:off x="1498600" y="2654300"/>
            <a:ext cx="5816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Run: rate(node_cpu_seconds_total{mode="user"}[5m])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8A0BF10-B8C1-4EC1-961F-730423D015E2}"/>
              </a:ext>
            </a:extLst>
          </p:cNvPr>
          <p:cNvSpPr/>
          <p:nvPr/>
        </p:nvSpPr>
        <p:spPr>
          <a:xfrm>
            <a:off x="1066800" y="32004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A8B94-7861-4969-8147-C4214A09ABEF}"/>
              </a:ext>
            </a:extLst>
          </p:cNvPr>
          <p:cNvSpPr txBox="1"/>
          <p:nvPr/>
        </p:nvSpPr>
        <p:spPr>
          <a:xfrm>
            <a:off x="1498600" y="3225800"/>
            <a:ext cx="5816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Wrap it in sum by (instance) ( ... ) and compare the graphs.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F485A9-B43D-45DB-92F1-DF9205DA64E2}"/>
              </a:ext>
            </a:extLst>
          </p:cNvPr>
          <p:cNvSpPr/>
          <p:nvPr/>
        </p:nvSpPr>
        <p:spPr>
          <a:xfrm>
            <a:off x="1066800" y="37719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087ABF-7A8B-4FEB-AE3B-52A99140882B}"/>
              </a:ext>
            </a:extLst>
          </p:cNvPr>
          <p:cNvSpPr txBox="1"/>
          <p:nvPr/>
        </p:nvSpPr>
        <p:spPr>
          <a:xfrm>
            <a:off x="1498600" y="3797300"/>
            <a:ext cx="5816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Switch Builder ↔ Code mode and confirm the query survives.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3C6DD49-F0C2-4858-9D9B-1ED26F0C0487}"/>
              </a:ext>
            </a:extLst>
          </p:cNvPr>
          <p:cNvSpPr/>
          <p:nvPr/>
        </p:nvSpPr>
        <p:spPr>
          <a:xfrm>
            <a:off x="1066800" y="43434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</a:rPr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96F364-4B23-490D-B041-C4F529EE2BBF}"/>
              </a:ext>
            </a:extLst>
          </p:cNvPr>
          <p:cNvSpPr txBox="1"/>
          <p:nvPr/>
        </p:nvSpPr>
        <p:spPr>
          <a:xfrm>
            <a:off x="1498600" y="4368800"/>
            <a:ext cx="5816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Keep only the busiest 3: topk(3, sum by (instance) (...))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683D29C-65EA-4F9D-B473-C88EC82AB32F}"/>
              </a:ext>
            </a:extLst>
          </p:cNvPr>
          <p:cNvSpPr/>
          <p:nvPr/>
        </p:nvSpPr>
        <p:spPr>
          <a:xfrm>
            <a:off x="1066800" y="49149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</a:rPr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2DE5B6-666D-4546-A911-B27CFD313050}"/>
              </a:ext>
            </a:extLst>
          </p:cNvPr>
          <p:cNvSpPr txBox="1"/>
          <p:nvPr/>
        </p:nvSpPr>
        <p:spPr>
          <a:xfrm>
            <a:off x="1498600" y="4940300"/>
            <a:ext cx="5816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Open Query Inspector → Data tab and download the CSV.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3488CBE-DBD5-47DE-A5DB-F9077754B011}"/>
              </a:ext>
            </a:extLst>
          </p:cNvPr>
          <p:cNvSpPr/>
          <p:nvPr/>
        </p:nvSpPr>
        <p:spPr>
          <a:xfrm>
            <a:off x="1066800" y="54864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</a:rPr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ABB923-2568-4490-9898-28E51E6DC0EC}"/>
              </a:ext>
            </a:extLst>
          </p:cNvPr>
          <p:cNvSpPr txBox="1"/>
          <p:nvPr/>
        </p:nvSpPr>
        <p:spPr>
          <a:xfrm>
            <a:off x="1498600" y="5511800"/>
            <a:ext cx="5816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Click 'Add to dashboard' and name the panel CPU by instance.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7B385E1-A6C5-4129-B696-1A7ADCA531BA}"/>
              </a:ext>
            </a:extLst>
          </p:cNvPr>
          <p:cNvSpPr/>
          <p:nvPr/>
        </p:nvSpPr>
        <p:spPr>
          <a:xfrm>
            <a:off x="7874000" y="1422400"/>
            <a:ext cx="3556000" cy="2362200"/>
          </a:xfrm>
          <a:prstGeom prst="roundRect">
            <a:avLst/>
          </a:prstGeom>
          <a:solidFill>
            <a:srgbClr val="0B0C0E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86CBF7-160F-47CB-8B45-42CB24967C5A}"/>
              </a:ext>
            </a:extLst>
          </p:cNvPr>
          <p:cNvSpPr txBox="1"/>
          <p:nvPr/>
        </p:nvSpPr>
        <p:spPr>
          <a:xfrm>
            <a:off x="8128000" y="1625600"/>
            <a:ext cx="304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8800"/>
                </a:solidFill>
                <a:latin typeface="Segoe UI"/>
                <a:cs typeface="Segoe UI"/>
              </a:rPr>
              <a:t>You are done when…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1713A3-2DD3-4AD4-A215-C97B244A9D88}"/>
              </a:ext>
            </a:extLst>
          </p:cNvPr>
          <p:cNvSpPr txBox="1"/>
          <p:nvPr/>
        </p:nvSpPr>
        <p:spPr>
          <a:xfrm>
            <a:off x="8128000" y="2032000"/>
            <a:ext cx="3048000" cy="157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A8B0BA"/>
                </a:solidFill>
                <a:latin typeface="Segoe UI"/>
                <a:cs typeface="Segoe UI"/>
              </a:rPr>
              <a:t>A panel exists showing 3 CPU series, one per instance, and you can point to the exact request Grafana sent in the Query tab of the Inspector.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46C9A58-2EF4-41A3-A757-B6DA4C751317}"/>
              </a:ext>
            </a:extLst>
          </p:cNvPr>
          <p:cNvSpPr/>
          <p:nvPr/>
        </p:nvSpPr>
        <p:spPr>
          <a:xfrm>
            <a:off x="7874000" y="3962400"/>
            <a:ext cx="3556000" cy="22606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6E9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64289F-C269-467C-8402-597B3F80B254}"/>
              </a:ext>
            </a:extLst>
          </p:cNvPr>
          <p:cNvSpPr txBox="1"/>
          <p:nvPr/>
        </p:nvSpPr>
        <p:spPr>
          <a:xfrm>
            <a:off x="8128000" y="4165600"/>
            <a:ext cx="304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6E9FFF"/>
                </a:solidFill>
                <a:latin typeface="Segoe UI"/>
                <a:cs typeface="Segoe UI"/>
              </a:rPr>
              <a:t>If you get stuck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1339AA-DD13-4E3B-B8A5-E7C955701FB5}"/>
              </a:ext>
            </a:extLst>
          </p:cNvPr>
          <p:cNvSpPr txBox="1"/>
          <p:nvPr/>
        </p:nvSpPr>
        <p:spPr>
          <a:xfrm>
            <a:off x="8128000" y="4546600"/>
            <a:ext cx="3048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A8B0BA"/>
                </a:solidFill>
                <a:latin typeface="Segoe UI"/>
                <a:cs typeface="Segoe UI"/>
              </a:rPr>
              <a:t>No data? Widen the time range to 6 hours.
Empty label dropdowns? The exporter may not be scraping - check Status → Targets in Prometheus.
Ask your instructor before you lose 5 minutes.</a:t>
            </a:r>
          </a:p>
        </p:txBody>
      </p:sp>
    </p:spTree>
    <p:extLst>
      <p:ext uri="{BB962C8B-B14F-4D97-AF65-F5344CB8AC3E}">
        <p14:creationId xmlns:p14="http://schemas.microsoft.com/office/powerpoint/2010/main" val="1648671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7694D-0376-C0E8-6A18-393F94BF4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2489200"/>
            <a:ext cx="6604000" cy="711200"/>
          </a:xfrm>
        </p:spPr>
        <p:txBody>
          <a:bodyPr>
            <a:normAutofit/>
          </a:bodyPr>
          <a:lstStyle/>
          <a:p>
            <a:r>
              <a:rPr lang="en-US" b="1"/>
              <a:t>Transformations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0A34411-461C-4BE8-A191-5B4CB3244370}"/>
              </a:ext>
            </a:extLst>
          </p:cNvPr>
          <p:cNvSpPr/>
          <p:nvPr/>
        </p:nvSpPr>
        <p:spPr>
          <a:xfrm>
            <a:off x="1778000" y="1524000"/>
            <a:ext cx="1651000" cy="711200"/>
          </a:xfrm>
          <a:prstGeom prst="roundRect">
            <a:avLst/>
          </a:prstGeom>
          <a:solidFill>
            <a:srgbClr val="2A1C0B"/>
          </a:solidFill>
          <a:ln w="12700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8800"/>
                </a:solidFill>
              </a:rPr>
              <a:t>MODULE 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20CAD1-CFAA-4D8E-ACFA-67DC701BAC91}"/>
              </a:ext>
            </a:extLst>
          </p:cNvPr>
          <p:cNvSpPr txBox="1"/>
          <p:nvPr/>
        </p:nvSpPr>
        <p:spPr>
          <a:xfrm>
            <a:off x="1778000" y="3352800"/>
            <a:ext cx="660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>
                <a:solidFill>
                  <a:srgbClr val="9BA3AE"/>
                </a:solidFill>
                <a:latin typeface="Segoe UI"/>
                <a:cs typeface="Segoe UI"/>
              </a:rPr>
              <a:t>Merge  ·  Join  ·  Group By  ·  Reduce  ·  Rename  ·  Organize Fields  ·  Filter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0D0BD0-7C65-451F-B39B-A6F71DF3308E}"/>
              </a:ext>
            </a:extLst>
          </p:cNvPr>
          <p:cNvSpPr/>
          <p:nvPr/>
        </p:nvSpPr>
        <p:spPr>
          <a:xfrm>
            <a:off x="1778000" y="3886200"/>
            <a:ext cx="1143000" cy="508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F4B41F-70E0-4FF4-A366-E7E801D220A7}"/>
              </a:ext>
            </a:extLst>
          </p:cNvPr>
          <p:cNvSpPr txBox="1"/>
          <p:nvPr/>
        </p:nvSpPr>
        <p:spPr>
          <a:xfrm>
            <a:off x="1778000" y="4191000"/>
            <a:ext cx="660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dirty="0">
                <a:solidFill>
                  <a:srgbClr val="6E9FFF"/>
                </a:solidFill>
                <a:latin typeface="Segoe UI"/>
                <a:cs typeface="Segoe UI"/>
              </a:rPr>
              <a:t>Reshape data without touching the query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5DC6E9-13F9-4526-90FA-0A60B385E27E}"/>
              </a:ext>
            </a:extLst>
          </p:cNvPr>
          <p:cNvSpPr/>
          <p:nvPr/>
        </p:nvSpPr>
        <p:spPr>
          <a:xfrm>
            <a:off x="8890000" y="1651000"/>
            <a:ext cx="2540000" cy="2540000"/>
          </a:xfrm>
          <a:prstGeom prst="roundRect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B4405903-4D69-4CF1-9F63-D7B202529590}"/>
              </a:ext>
            </a:extLst>
          </p:cNvPr>
          <p:cNvSpPr/>
          <p:nvPr/>
        </p:nvSpPr>
        <p:spPr>
          <a:xfrm>
            <a:off x="9652000" y="2413000"/>
            <a:ext cx="1016000" cy="1016000"/>
          </a:xfrm>
          <a:prstGeom prst="diamond">
            <a:avLst/>
          </a:prstGeom>
          <a:solidFill>
            <a:srgbClr val="1F1608"/>
          </a:solidFill>
          <a:ln w="12700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490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386AE-C887-D3C8-2B20-6D9D51C96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2600"/>
            <a:ext cx="10668000" cy="584200"/>
          </a:xfrm>
        </p:spPr>
        <p:txBody>
          <a:bodyPr>
            <a:normAutofit/>
          </a:bodyPr>
          <a:lstStyle/>
          <a:p>
            <a:r>
              <a:rPr lang="en-US" sz="3000" b="1"/>
              <a:t>The Transformation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2C9FEB-AADF-4873-909C-898AF1E21201}"/>
              </a:ext>
            </a:extLst>
          </p:cNvPr>
          <p:cNvSpPr/>
          <p:nvPr/>
        </p:nvSpPr>
        <p:spPr>
          <a:xfrm>
            <a:off x="762000" y="1143000"/>
            <a:ext cx="889000" cy="381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AA68B27-39B9-4EFE-ABA3-6CEFC68343F3}"/>
              </a:ext>
            </a:extLst>
          </p:cNvPr>
          <p:cNvSpPr/>
          <p:nvPr/>
        </p:nvSpPr>
        <p:spPr>
          <a:xfrm>
            <a:off x="762000" y="1752600"/>
            <a:ext cx="1905000" cy="635000"/>
          </a:xfrm>
          <a:prstGeom prst="roundRect">
            <a:avLst/>
          </a:prstGeom>
          <a:solidFill>
            <a:srgbClr val="1B1E24"/>
          </a:solidFill>
          <a:ln w="15875" cap="flat" cmpd="sng" algn="ctr">
            <a:solidFill>
              <a:srgbClr val="6E9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  <a:cs typeface="Segoe UI"/>
              </a:rPr>
              <a:t>Query 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3C371D-B88E-4F0F-9F93-EED7A41E8983}"/>
              </a:ext>
            </a:extLst>
          </p:cNvPr>
          <p:cNvSpPr/>
          <p:nvPr/>
        </p:nvSpPr>
        <p:spPr>
          <a:xfrm>
            <a:off x="762000" y="2540000"/>
            <a:ext cx="1905000" cy="635000"/>
          </a:xfrm>
          <a:prstGeom prst="roundRect">
            <a:avLst/>
          </a:prstGeom>
          <a:solidFill>
            <a:srgbClr val="1B1E24"/>
          </a:solidFill>
          <a:ln w="15875" cap="flat" cmpd="sng" algn="ctr">
            <a:solidFill>
              <a:srgbClr val="6E9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  <a:cs typeface="Segoe UI"/>
              </a:rPr>
              <a:t>Query B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0EBC521-522D-42C9-BCCC-FC7B5BC9A034}"/>
              </a:ext>
            </a:extLst>
          </p:cNvPr>
          <p:cNvSpPr/>
          <p:nvPr/>
        </p:nvSpPr>
        <p:spPr>
          <a:xfrm>
            <a:off x="2743200" y="2336800"/>
            <a:ext cx="279400" cy="279400"/>
          </a:xfrm>
          <a:prstGeom prst="rightArrow">
            <a:avLst/>
          </a:prstGeom>
          <a:solidFill>
            <a:srgbClr val="5A6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6E0238F-BFAC-40E2-99A9-1D418B95CD38}"/>
              </a:ext>
            </a:extLst>
          </p:cNvPr>
          <p:cNvSpPr/>
          <p:nvPr/>
        </p:nvSpPr>
        <p:spPr>
          <a:xfrm>
            <a:off x="3048000" y="1752600"/>
            <a:ext cx="1905000" cy="1422400"/>
          </a:xfrm>
          <a:prstGeom prst="roundRect">
            <a:avLst/>
          </a:prstGeom>
          <a:solidFill>
            <a:srgbClr val="1B1E24"/>
          </a:solidFill>
          <a:ln w="15875" cap="flat" cmpd="sng" algn="ctr">
            <a:solidFill>
              <a:srgbClr val="9BA3A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  <a:cs typeface="Segoe UI"/>
              </a:rPr>
              <a:t>Data frames
(rows + fields)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4838DEA-1A57-4D55-B88D-EA4DBFACEC3C}"/>
              </a:ext>
            </a:extLst>
          </p:cNvPr>
          <p:cNvSpPr/>
          <p:nvPr/>
        </p:nvSpPr>
        <p:spPr>
          <a:xfrm>
            <a:off x="5029200" y="2336800"/>
            <a:ext cx="279400" cy="279400"/>
          </a:xfrm>
          <a:prstGeom prst="rightArrow">
            <a:avLst/>
          </a:prstGeom>
          <a:solidFill>
            <a:srgbClr val="5A6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243E95C-77CD-4929-AFAD-787D9BBC88F2}"/>
              </a:ext>
            </a:extLst>
          </p:cNvPr>
          <p:cNvSpPr/>
          <p:nvPr/>
        </p:nvSpPr>
        <p:spPr>
          <a:xfrm>
            <a:off x="5334000" y="1752600"/>
            <a:ext cx="1905000" cy="1422400"/>
          </a:xfrm>
          <a:prstGeom prst="roundRect">
            <a:avLst/>
          </a:prstGeom>
          <a:solidFill>
            <a:srgbClr val="1B1E24"/>
          </a:solidFill>
          <a:ln w="15875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  <a:cs typeface="Segoe UI"/>
              </a:rPr>
              <a:t>Transform 1
Merge / Join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F251E79-65B1-402F-891E-03BE4AD5F065}"/>
              </a:ext>
            </a:extLst>
          </p:cNvPr>
          <p:cNvSpPr/>
          <p:nvPr/>
        </p:nvSpPr>
        <p:spPr>
          <a:xfrm>
            <a:off x="7315200" y="2336800"/>
            <a:ext cx="279400" cy="279400"/>
          </a:xfrm>
          <a:prstGeom prst="rightArrow">
            <a:avLst/>
          </a:prstGeom>
          <a:solidFill>
            <a:srgbClr val="5A6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5B05A48-456A-4437-8B09-762D7B729FC0}"/>
              </a:ext>
            </a:extLst>
          </p:cNvPr>
          <p:cNvSpPr/>
          <p:nvPr/>
        </p:nvSpPr>
        <p:spPr>
          <a:xfrm>
            <a:off x="7620000" y="1752600"/>
            <a:ext cx="1905000" cy="1422400"/>
          </a:xfrm>
          <a:prstGeom prst="roundRect">
            <a:avLst/>
          </a:prstGeom>
          <a:solidFill>
            <a:srgbClr val="1B1E24"/>
          </a:solidFill>
          <a:ln w="15875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  <a:cs typeface="Segoe UI"/>
              </a:rPr>
              <a:t>Transform 2
Group by / Filter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A775206-655B-42E9-AA9A-8702E09990B4}"/>
              </a:ext>
            </a:extLst>
          </p:cNvPr>
          <p:cNvSpPr/>
          <p:nvPr/>
        </p:nvSpPr>
        <p:spPr>
          <a:xfrm>
            <a:off x="9601200" y="2336800"/>
            <a:ext cx="279400" cy="279400"/>
          </a:xfrm>
          <a:prstGeom prst="rightArrow">
            <a:avLst/>
          </a:prstGeom>
          <a:solidFill>
            <a:srgbClr val="5A6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861A833-669A-4DAF-95A6-3A8FE0765E7D}"/>
              </a:ext>
            </a:extLst>
          </p:cNvPr>
          <p:cNvSpPr/>
          <p:nvPr/>
        </p:nvSpPr>
        <p:spPr>
          <a:xfrm>
            <a:off x="9906000" y="1752600"/>
            <a:ext cx="1524000" cy="1422400"/>
          </a:xfrm>
          <a:prstGeom prst="roundRect">
            <a:avLst/>
          </a:prstGeom>
          <a:solidFill>
            <a:srgbClr val="1B1E24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  <a:cs typeface="Segoe UI"/>
              </a:rPr>
              <a:t>Panel
render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66B738E-1CD3-45F3-BD42-A542DB6B02AD}"/>
              </a:ext>
            </a:extLst>
          </p:cNvPr>
          <p:cNvSpPr/>
          <p:nvPr/>
        </p:nvSpPr>
        <p:spPr>
          <a:xfrm>
            <a:off x="762000" y="3479800"/>
            <a:ext cx="3429000" cy="1778000"/>
          </a:xfrm>
          <a:prstGeom prst="roundRect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30AB2E-AB42-419A-8AB9-0B62AEC38B1B}"/>
              </a:ext>
            </a:extLst>
          </p:cNvPr>
          <p:cNvSpPr/>
          <p:nvPr/>
        </p:nvSpPr>
        <p:spPr>
          <a:xfrm>
            <a:off x="762000" y="3479800"/>
            <a:ext cx="3429000" cy="508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D47C0E-816D-496B-B177-B2CAE0687815}"/>
              </a:ext>
            </a:extLst>
          </p:cNvPr>
          <p:cNvSpPr txBox="1"/>
          <p:nvPr/>
        </p:nvSpPr>
        <p:spPr>
          <a:xfrm>
            <a:off x="1016000" y="37338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Segoe UI"/>
                <a:cs typeface="Segoe UI"/>
              </a:rPr>
              <a:t>Order matters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14CA95-0B41-4A39-B55C-993195E33877}"/>
              </a:ext>
            </a:extLst>
          </p:cNvPr>
          <p:cNvSpPr txBox="1"/>
          <p:nvPr/>
        </p:nvSpPr>
        <p:spPr>
          <a:xfrm>
            <a:off x="1016000" y="4165600"/>
            <a:ext cx="29210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A8B0BA"/>
                </a:solidFill>
                <a:latin typeface="Segoe UI"/>
                <a:cs typeface="Segoe UI"/>
              </a:rPr>
              <a:t>Transformations run top to bottom. A Filter placed before a Group by changes the result.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70D5055-5845-403E-AAC5-C8C8D5E3E658}"/>
              </a:ext>
            </a:extLst>
          </p:cNvPr>
          <p:cNvSpPr/>
          <p:nvPr/>
        </p:nvSpPr>
        <p:spPr>
          <a:xfrm>
            <a:off x="4381500" y="3479800"/>
            <a:ext cx="3429000" cy="1778000"/>
          </a:xfrm>
          <a:prstGeom prst="roundRect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B95262-E89C-41DF-966A-3A1197136E36}"/>
              </a:ext>
            </a:extLst>
          </p:cNvPr>
          <p:cNvSpPr/>
          <p:nvPr/>
        </p:nvSpPr>
        <p:spPr>
          <a:xfrm>
            <a:off x="4381500" y="3479800"/>
            <a:ext cx="3429000" cy="50800"/>
          </a:xfrm>
          <a:prstGeom prst="rect">
            <a:avLst/>
          </a:prstGeom>
          <a:solidFill>
            <a:srgbClr val="6E9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1DA462-A480-4E43-8E1B-80F3EAD61AA7}"/>
              </a:ext>
            </a:extLst>
          </p:cNvPr>
          <p:cNvSpPr txBox="1"/>
          <p:nvPr/>
        </p:nvSpPr>
        <p:spPr>
          <a:xfrm>
            <a:off x="4635500" y="37338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Segoe UI"/>
                <a:cs typeface="Segoe UI"/>
              </a:rPr>
              <a:t>Runs in the browser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7B3DE7-EB02-422A-981A-36BEAA5A598F}"/>
              </a:ext>
            </a:extLst>
          </p:cNvPr>
          <p:cNvSpPr txBox="1"/>
          <p:nvPr/>
        </p:nvSpPr>
        <p:spPr>
          <a:xfrm>
            <a:off x="4635500" y="4165600"/>
            <a:ext cx="29210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dirty="0">
                <a:solidFill>
                  <a:srgbClr val="A8B0BA"/>
                </a:solidFill>
                <a:latin typeface="Segoe UI"/>
                <a:cs typeface="Segoe UI"/>
              </a:rPr>
              <a:t>Transformations act on the returned frames - they never change the query or the database.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C2BDC76-5D79-4D8F-AB6B-C9B9DACF312C}"/>
              </a:ext>
            </a:extLst>
          </p:cNvPr>
          <p:cNvSpPr/>
          <p:nvPr/>
        </p:nvSpPr>
        <p:spPr>
          <a:xfrm>
            <a:off x="8001000" y="3479800"/>
            <a:ext cx="3429000" cy="1778000"/>
          </a:xfrm>
          <a:prstGeom prst="roundRect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CA4566-EE53-490B-8748-28D566CC48B7}"/>
              </a:ext>
            </a:extLst>
          </p:cNvPr>
          <p:cNvSpPr/>
          <p:nvPr/>
        </p:nvSpPr>
        <p:spPr>
          <a:xfrm>
            <a:off x="8001000" y="3479800"/>
            <a:ext cx="3429000" cy="508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CDDFEA-7BB3-43CB-8721-4177C750B1A4}"/>
              </a:ext>
            </a:extLst>
          </p:cNvPr>
          <p:cNvSpPr txBox="1"/>
          <p:nvPr/>
        </p:nvSpPr>
        <p:spPr>
          <a:xfrm>
            <a:off x="8255000" y="37338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Segoe UI"/>
                <a:cs typeface="Segoe UI"/>
              </a:rPr>
              <a:t>Debug it visually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C528C1-BCF3-4F7E-B979-0ECEB22D0FC1}"/>
              </a:ext>
            </a:extLst>
          </p:cNvPr>
          <p:cNvSpPr txBox="1"/>
          <p:nvPr/>
        </p:nvSpPr>
        <p:spPr>
          <a:xfrm>
            <a:off x="8255000" y="4165600"/>
            <a:ext cx="29210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A8B0BA"/>
                </a:solidFill>
                <a:latin typeface="Segoe UI"/>
                <a:cs typeface="Segoe UI"/>
              </a:rPr>
              <a:t>Inspector → Data has a toggle for 'Apply panel transformations' so you can see before and after.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92D7996-C94F-4A1B-BCE1-E80DD2B20C40}"/>
              </a:ext>
            </a:extLst>
          </p:cNvPr>
          <p:cNvSpPr/>
          <p:nvPr/>
        </p:nvSpPr>
        <p:spPr>
          <a:xfrm>
            <a:off x="762000" y="5461000"/>
            <a:ext cx="10668000" cy="762000"/>
          </a:xfrm>
          <a:prstGeom prst="roundRect">
            <a:avLst/>
          </a:prstGeom>
          <a:solidFill>
            <a:srgbClr val="2A1214"/>
          </a:solidFill>
          <a:ln w="12700" cap="flat" cmpd="sng" algn="ctr">
            <a:solidFill>
              <a:srgbClr val="F249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B200F1-B76D-44DB-B001-07FAB7AF63F6}"/>
              </a:ext>
            </a:extLst>
          </p:cNvPr>
          <p:cNvSpPr txBox="1"/>
          <p:nvPr/>
        </p:nvSpPr>
        <p:spPr>
          <a:xfrm>
            <a:off x="1016000" y="5613400"/>
            <a:ext cx="203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2495C"/>
                </a:solidFill>
                <a:latin typeface="Segoe UI"/>
                <a:cs typeface="Segoe UI"/>
              </a:rPr>
              <a:t>Watch out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624B5B-B766-4E06-9819-BEB29248F885}"/>
              </a:ext>
            </a:extLst>
          </p:cNvPr>
          <p:cNvSpPr txBox="1"/>
          <p:nvPr/>
        </p:nvSpPr>
        <p:spPr>
          <a:xfrm>
            <a:off x="1016000" y="58928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dirty="0">
                <a:solidFill>
                  <a:srgbClr val="D2D6DB"/>
                </a:solidFill>
                <a:latin typeface="Segoe UI"/>
                <a:cs typeface="Segoe UI"/>
              </a:rPr>
              <a:t>Heavy transformations on large result sets are done client-side and will make the dashboard feel slow - aggregate in the query first.</a:t>
            </a:r>
          </a:p>
        </p:txBody>
      </p:sp>
    </p:spTree>
    <p:extLst>
      <p:ext uri="{BB962C8B-B14F-4D97-AF65-F5344CB8AC3E}">
        <p14:creationId xmlns:p14="http://schemas.microsoft.com/office/powerpoint/2010/main" val="352876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1552F-D53E-3CF6-5C7A-14BE18B00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2600"/>
            <a:ext cx="10668000" cy="584200"/>
          </a:xfrm>
        </p:spPr>
        <p:txBody>
          <a:bodyPr>
            <a:normAutofit/>
          </a:bodyPr>
          <a:lstStyle/>
          <a:p>
            <a:r>
              <a:rPr lang="en-US" sz="3000" b="1"/>
              <a:t>Merge vs. Join by Field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5F9247-B38C-495A-A919-28DD38EDCCA6}"/>
              </a:ext>
            </a:extLst>
          </p:cNvPr>
          <p:cNvSpPr/>
          <p:nvPr/>
        </p:nvSpPr>
        <p:spPr>
          <a:xfrm>
            <a:off x="762000" y="1143000"/>
            <a:ext cx="889000" cy="381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C6248E8-BF7F-4C0D-931D-8788DE26E4CB}"/>
              </a:ext>
            </a:extLst>
          </p:cNvPr>
          <p:cNvSpPr/>
          <p:nvPr/>
        </p:nvSpPr>
        <p:spPr>
          <a:xfrm>
            <a:off x="762000" y="1422400"/>
            <a:ext cx="5207000" cy="3810000"/>
          </a:xfrm>
          <a:prstGeom prst="roundRect">
            <a:avLst/>
          </a:prstGeom>
          <a:solidFill>
            <a:srgbClr val="181B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DF499B-6CBA-474B-BC72-97EAA5399345}"/>
              </a:ext>
            </a:extLst>
          </p:cNvPr>
          <p:cNvSpPr/>
          <p:nvPr/>
        </p:nvSpPr>
        <p:spPr>
          <a:xfrm>
            <a:off x="762000" y="1143000"/>
            <a:ext cx="889000" cy="381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D0C291-6CE1-4EC9-A697-ACC099B8C0E8}"/>
              </a:ext>
            </a:extLst>
          </p:cNvPr>
          <p:cNvSpPr/>
          <p:nvPr/>
        </p:nvSpPr>
        <p:spPr>
          <a:xfrm>
            <a:off x="762000" y="1422400"/>
            <a:ext cx="5207000" cy="3810000"/>
          </a:xfrm>
          <a:prstGeom prst="roundRect">
            <a:avLst/>
          </a:prstGeom>
          <a:solidFill>
            <a:srgbClr val="181B1F"/>
          </a:solidFill>
          <a:ln w="15875" cap="flat" cmpd="sng" algn="ctr">
            <a:solidFill>
              <a:srgbClr val="6E9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547703-D2A2-4B13-B05A-6BFC89036948}"/>
              </a:ext>
            </a:extLst>
          </p:cNvPr>
          <p:cNvSpPr/>
          <p:nvPr/>
        </p:nvSpPr>
        <p:spPr>
          <a:xfrm>
            <a:off x="762000" y="1422400"/>
            <a:ext cx="5207000" cy="50800"/>
          </a:xfrm>
          <a:prstGeom prst="rect">
            <a:avLst/>
          </a:prstGeom>
          <a:solidFill>
            <a:srgbClr val="6E9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1FEAC5-0A4D-4FF8-829C-9CE5DF3B2712}"/>
              </a:ext>
            </a:extLst>
          </p:cNvPr>
          <p:cNvSpPr txBox="1"/>
          <p:nvPr/>
        </p:nvSpPr>
        <p:spPr>
          <a:xfrm>
            <a:off x="1016000" y="1625600"/>
            <a:ext cx="4699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Segoe UI"/>
                <a:cs typeface="Segoe UI"/>
              </a:rPr>
              <a:t>Merge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A11DFA-0DB7-4E1A-91EC-36EB10EA1ECC}"/>
              </a:ext>
            </a:extLst>
          </p:cNvPr>
          <p:cNvSpPr txBox="1"/>
          <p:nvPr/>
        </p:nvSpPr>
        <p:spPr>
          <a:xfrm>
            <a:off x="1016000" y="1981200"/>
            <a:ext cx="469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BA3AE"/>
                </a:solidFill>
                <a:latin typeface="Segoe UI"/>
                <a:cs typeface="Segoe UI"/>
              </a:rPr>
              <a:t>Combines several results into one table. No key needed.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4E40DC7-2F78-4388-A10B-D316379D3C28}"/>
              </a:ext>
            </a:extLst>
          </p:cNvPr>
          <p:cNvSpPr/>
          <p:nvPr/>
        </p:nvSpPr>
        <p:spPr>
          <a:xfrm>
            <a:off x="1016000" y="2336800"/>
            <a:ext cx="4699000" cy="2692400"/>
          </a:xfrm>
          <a:prstGeom prst="roundRect">
            <a:avLst/>
          </a:prstGeom>
          <a:solidFill>
            <a:srgbClr val="0B0C0E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4B5F8D-082B-4A8A-8345-15D266AF44A8}"/>
              </a:ext>
            </a:extLst>
          </p:cNvPr>
          <p:cNvSpPr txBox="1"/>
          <p:nvPr/>
        </p:nvSpPr>
        <p:spPr>
          <a:xfrm>
            <a:off x="1193800" y="2489200"/>
            <a:ext cx="4343400" cy="243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FD48A"/>
                </a:solidFill>
                <a:latin typeface="Consolas"/>
              </a:rPr>
              <a:t>A: host   cpu     B: host   cpu
   web-1  0.42        web-3  0.19
   web-2  0.77
Merge -&gt;  host   cpu
          web-1  0.42
          web-2  0.77
          web-3  0.19
Same field names collapse into
one column; others are appended.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973FF6A-7C77-4816-A024-6B460B25AD61}"/>
              </a:ext>
            </a:extLst>
          </p:cNvPr>
          <p:cNvSpPr/>
          <p:nvPr/>
        </p:nvSpPr>
        <p:spPr>
          <a:xfrm>
            <a:off x="6223000" y="1422400"/>
            <a:ext cx="5207000" cy="3810000"/>
          </a:xfrm>
          <a:prstGeom prst="roundRect">
            <a:avLst/>
          </a:prstGeom>
          <a:solidFill>
            <a:srgbClr val="181B1F"/>
          </a:solidFill>
          <a:ln w="15875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B46CA5-6197-47FE-BF08-C7897F898920}"/>
              </a:ext>
            </a:extLst>
          </p:cNvPr>
          <p:cNvSpPr/>
          <p:nvPr/>
        </p:nvSpPr>
        <p:spPr>
          <a:xfrm>
            <a:off x="6223000" y="1422400"/>
            <a:ext cx="5207000" cy="508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10DCD2-A5CA-47BF-9B06-511B70DA35D1}"/>
              </a:ext>
            </a:extLst>
          </p:cNvPr>
          <p:cNvSpPr txBox="1"/>
          <p:nvPr/>
        </p:nvSpPr>
        <p:spPr>
          <a:xfrm>
            <a:off x="6477000" y="1625600"/>
            <a:ext cx="4699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Segoe UI"/>
                <a:cs typeface="Segoe UI"/>
              </a:rPr>
              <a:t>Join by field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67836F-BC7C-4A94-8E3C-99A2D2AAB285}"/>
              </a:ext>
            </a:extLst>
          </p:cNvPr>
          <p:cNvSpPr txBox="1"/>
          <p:nvPr/>
        </p:nvSpPr>
        <p:spPr>
          <a:xfrm>
            <a:off x="6477000" y="1981200"/>
            <a:ext cx="469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9BA3AE"/>
                </a:solidFill>
                <a:latin typeface="Segoe UI"/>
                <a:cs typeface="Segoe UI"/>
              </a:rPr>
              <a:t>Aligns rows on a shared key - usually time.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AAD4502-FED2-4124-8C41-861C18EFAB5A}"/>
              </a:ext>
            </a:extLst>
          </p:cNvPr>
          <p:cNvSpPr/>
          <p:nvPr/>
        </p:nvSpPr>
        <p:spPr>
          <a:xfrm>
            <a:off x="6477000" y="2336800"/>
            <a:ext cx="4699000" cy="2692400"/>
          </a:xfrm>
          <a:prstGeom prst="roundRect">
            <a:avLst/>
          </a:prstGeom>
          <a:solidFill>
            <a:srgbClr val="0B0C0E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22185C-1D5F-4E24-8076-E70AD9EAA2FB}"/>
              </a:ext>
            </a:extLst>
          </p:cNvPr>
          <p:cNvSpPr txBox="1"/>
          <p:nvPr/>
        </p:nvSpPr>
        <p:spPr>
          <a:xfrm>
            <a:off x="6654800" y="2489200"/>
            <a:ext cx="4343400" cy="243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FD48A"/>
                </a:solidFill>
                <a:latin typeface="Consolas"/>
              </a:rPr>
              <a:t>A: time   cpu     B: time   mem
   10:00  0.42       10:00  61.2
   10:01  0.55       10:01  62.0
Join on time (OUTER) -&gt;
   time   cpu   mem
   10:00  0.42  61.2
   10:01  0.55  62.0
INNER drops rows that are
missing on either side.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30E9826-0018-4498-ACF8-1B0979D74275}"/>
              </a:ext>
            </a:extLst>
          </p:cNvPr>
          <p:cNvSpPr/>
          <p:nvPr/>
        </p:nvSpPr>
        <p:spPr>
          <a:xfrm>
            <a:off x="762000" y="5384800"/>
            <a:ext cx="10668000" cy="8382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3EFFF3-2E15-4C9B-BF2F-C9BF55F58F65}"/>
              </a:ext>
            </a:extLst>
          </p:cNvPr>
          <p:cNvSpPr txBox="1"/>
          <p:nvPr/>
        </p:nvSpPr>
        <p:spPr>
          <a:xfrm>
            <a:off x="1016000" y="55372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73BF69"/>
                </a:solidFill>
                <a:latin typeface="Segoe UI"/>
                <a:cs typeface="Segoe UI"/>
              </a:rPr>
              <a:t>Rule of thumb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60B5DF-8C89-40E9-847C-CC417558461F}"/>
              </a:ext>
            </a:extLst>
          </p:cNvPr>
          <p:cNvSpPr txBox="1"/>
          <p:nvPr/>
        </p:nvSpPr>
        <p:spPr>
          <a:xfrm>
            <a:off x="1016000" y="58166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Two queries you want side by side in one row → Join by field.   Many series of the same shape you want in one list → Merge.</a:t>
            </a:r>
          </a:p>
        </p:txBody>
      </p:sp>
    </p:spTree>
    <p:extLst>
      <p:ext uri="{BB962C8B-B14F-4D97-AF65-F5344CB8AC3E}">
        <p14:creationId xmlns:p14="http://schemas.microsoft.com/office/powerpoint/2010/main" val="793038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7093C-0DF0-7F78-E0F5-187C0E902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2600"/>
            <a:ext cx="10668000" cy="584200"/>
          </a:xfrm>
        </p:spPr>
        <p:txBody>
          <a:bodyPr>
            <a:normAutofit/>
          </a:bodyPr>
          <a:lstStyle/>
          <a:p>
            <a:r>
              <a:rPr lang="en-US" sz="3000" b="1"/>
              <a:t>Group By and Reduce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5F9C51-790F-46D8-B960-68C871A06A68}"/>
              </a:ext>
            </a:extLst>
          </p:cNvPr>
          <p:cNvSpPr/>
          <p:nvPr/>
        </p:nvSpPr>
        <p:spPr>
          <a:xfrm>
            <a:off x="762000" y="1143000"/>
            <a:ext cx="889000" cy="381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3B0C7ED-ADBD-4DBC-925F-3EAB794F5E8F}"/>
              </a:ext>
            </a:extLst>
          </p:cNvPr>
          <p:cNvSpPr/>
          <p:nvPr/>
        </p:nvSpPr>
        <p:spPr>
          <a:xfrm>
            <a:off x="762000" y="1422400"/>
            <a:ext cx="5207000" cy="3810000"/>
          </a:xfrm>
          <a:prstGeom prst="roundRect">
            <a:avLst/>
          </a:prstGeom>
          <a:solidFill>
            <a:srgbClr val="181B1F"/>
          </a:solidFill>
          <a:ln w="15875" cap="flat" cmpd="sng" algn="ctr">
            <a:solidFill>
              <a:srgbClr val="B877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2C89E-B110-4FEA-A6A3-B40BECC076B4}"/>
              </a:ext>
            </a:extLst>
          </p:cNvPr>
          <p:cNvSpPr/>
          <p:nvPr/>
        </p:nvSpPr>
        <p:spPr>
          <a:xfrm>
            <a:off x="762000" y="1422400"/>
            <a:ext cx="5207000" cy="50800"/>
          </a:xfrm>
          <a:prstGeom prst="rect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D06A7B-0922-446F-89E0-0391E52927E1}"/>
              </a:ext>
            </a:extLst>
          </p:cNvPr>
          <p:cNvSpPr txBox="1"/>
          <p:nvPr/>
        </p:nvSpPr>
        <p:spPr>
          <a:xfrm>
            <a:off x="1016000" y="1625600"/>
            <a:ext cx="4699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Segoe UI"/>
                <a:cs typeface="Segoe UI"/>
              </a:rPr>
              <a:t>Group by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76504A-7E15-40C3-86BE-3415E965452F}"/>
              </a:ext>
            </a:extLst>
          </p:cNvPr>
          <p:cNvSpPr txBox="1"/>
          <p:nvPr/>
        </p:nvSpPr>
        <p:spPr>
          <a:xfrm>
            <a:off x="1016000" y="1981200"/>
            <a:ext cx="469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BA3AE"/>
                </a:solidFill>
                <a:latin typeface="Segoe UI"/>
                <a:cs typeface="Segoe UI"/>
              </a:rPr>
              <a:t>Pick a field to group on, then aggregate the rest.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A01DDD-621D-4659-8BB4-AA080823D80C}"/>
              </a:ext>
            </a:extLst>
          </p:cNvPr>
          <p:cNvSpPr/>
          <p:nvPr/>
        </p:nvSpPr>
        <p:spPr>
          <a:xfrm>
            <a:off x="1016000" y="2336800"/>
            <a:ext cx="4699000" cy="2692400"/>
          </a:xfrm>
          <a:prstGeom prst="roundRect">
            <a:avLst/>
          </a:prstGeom>
          <a:solidFill>
            <a:srgbClr val="0B0C0E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AFF44-3896-423A-874D-8526021E6B25}"/>
              </a:ext>
            </a:extLst>
          </p:cNvPr>
          <p:cNvSpPr txBox="1"/>
          <p:nvPr/>
        </p:nvSpPr>
        <p:spPr>
          <a:xfrm>
            <a:off x="1193800" y="2489200"/>
            <a:ext cx="4343400" cy="243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FD48A"/>
                </a:solidFill>
                <a:latin typeface="Consolas"/>
              </a:rPr>
              <a:t>Input
  region  host   cpu
  eu      web-1  0.42
  eu      web-2  0.78
  us      web-3  0.19
Group by region, cpu = mean + count
  region  cpu(mean)  cpu(count)
  eu      0.60       2
  us      0.19       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610AC55-DE0B-42A9-8233-AB6E75328EA5}"/>
              </a:ext>
            </a:extLst>
          </p:cNvPr>
          <p:cNvSpPr/>
          <p:nvPr/>
        </p:nvSpPr>
        <p:spPr>
          <a:xfrm>
            <a:off x="6223000" y="1422400"/>
            <a:ext cx="5207000" cy="3810000"/>
          </a:xfrm>
          <a:prstGeom prst="roundRect">
            <a:avLst/>
          </a:prstGeom>
          <a:solidFill>
            <a:srgbClr val="181B1F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E6C957-618B-4560-8B97-C05780A39F35}"/>
              </a:ext>
            </a:extLst>
          </p:cNvPr>
          <p:cNvSpPr/>
          <p:nvPr/>
        </p:nvSpPr>
        <p:spPr>
          <a:xfrm>
            <a:off x="6223000" y="1422400"/>
            <a:ext cx="5207000" cy="508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AD5F0D-358F-4EF4-9E5A-F7904EF435AF}"/>
              </a:ext>
            </a:extLst>
          </p:cNvPr>
          <p:cNvSpPr txBox="1"/>
          <p:nvPr/>
        </p:nvSpPr>
        <p:spPr>
          <a:xfrm>
            <a:off x="6477000" y="1625600"/>
            <a:ext cx="4699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Segoe UI"/>
                <a:cs typeface="Segoe UI"/>
              </a:rPr>
              <a:t>Reduce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BCDB87-9381-47CF-9F0C-EAFC9D979297}"/>
              </a:ext>
            </a:extLst>
          </p:cNvPr>
          <p:cNvSpPr txBox="1"/>
          <p:nvPr/>
        </p:nvSpPr>
        <p:spPr>
          <a:xfrm>
            <a:off x="6477000" y="1981200"/>
            <a:ext cx="469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BA3AE"/>
                </a:solidFill>
                <a:latin typeface="Segoe UI"/>
                <a:cs typeface="Segoe UI"/>
              </a:rPr>
              <a:t>Collapses every series to a single number.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6FDEA52-0F38-485C-9415-0027DF7B6F28}"/>
              </a:ext>
            </a:extLst>
          </p:cNvPr>
          <p:cNvSpPr/>
          <p:nvPr/>
        </p:nvSpPr>
        <p:spPr>
          <a:xfrm>
            <a:off x="6477000" y="2336800"/>
            <a:ext cx="4699000" cy="2692400"/>
          </a:xfrm>
          <a:prstGeom prst="roundRect">
            <a:avLst/>
          </a:prstGeom>
          <a:solidFill>
            <a:srgbClr val="0B0C0E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87BD58-DE15-4BA7-B375-FBE3A7A68096}"/>
              </a:ext>
            </a:extLst>
          </p:cNvPr>
          <p:cNvSpPr txBox="1"/>
          <p:nvPr/>
        </p:nvSpPr>
        <p:spPr>
          <a:xfrm>
            <a:off x="6654800" y="2489200"/>
            <a:ext cx="4343400" cy="243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FD48A"/>
                </a:solidFill>
                <a:latin typeface="Consolas"/>
              </a:rPr>
              <a:t>Mode: Series to rows
  Field         Last   Max   Mean
  cpu web-1     0.42   0.91  0.55
  cpu web-2     0.78   0.95  0.71
Mode: Reduce fields
  keeps one row, one column per calc
Use it to feed Stat, Gauge and
Bar gauge panels, or a table of KPIs.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E74793E-B7F2-4A6D-B261-E91919067CB1}"/>
              </a:ext>
            </a:extLst>
          </p:cNvPr>
          <p:cNvSpPr/>
          <p:nvPr/>
        </p:nvSpPr>
        <p:spPr>
          <a:xfrm>
            <a:off x="762000" y="5384800"/>
            <a:ext cx="10668000" cy="838200"/>
          </a:xfrm>
          <a:prstGeom prst="roundRect">
            <a:avLst/>
          </a:prstGeom>
          <a:solidFill>
            <a:srgbClr val="2A1214"/>
          </a:solidFill>
          <a:ln w="12700" cap="flat" cmpd="sng" algn="ctr">
            <a:solidFill>
              <a:srgbClr val="F249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C66507-A188-4C95-8B59-CE63551D03D5}"/>
              </a:ext>
            </a:extLst>
          </p:cNvPr>
          <p:cNvSpPr txBox="1"/>
          <p:nvPr/>
        </p:nvSpPr>
        <p:spPr>
          <a:xfrm>
            <a:off x="1016000" y="55372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2495C"/>
                </a:solidFill>
                <a:latin typeface="Segoe UI"/>
                <a:cs typeface="Segoe UI"/>
              </a:rPr>
              <a:t>Common mistake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CB228E-0963-4807-BE62-338D30321785}"/>
              </a:ext>
            </a:extLst>
          </p:cNvPr>
          <p:cNvSpPr txBox="1"/>
          <p:nvPr/>
        </p:nvSpPr>
        <p:spPr>
          <a:xfrm>
            <a:off x="1016000" y="58166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dirty="0">
                <a:solidFill>
                  <a:srgbClr val="D2D6DB"/>
                </a:solidFill>
                <a:latin typeface="Segoe UI"/>
                <a:cs typeface="Segoe UI"/>
              </a:rPr>
              <a:t>Reduce before Group by throws away the rows you wanted to group. Check the order in the transformation list - drag to reorder.</a:t>
            </a:r>
          </a:p>
        </p:txBody>
      </p:sp>
    </p:spTree>
    <p:extLst>
      <p:ext uri="{BB962C8B-B14F-4D97-AF65-F5344CB8AC3E}">
        <p14:creationId xmlns:p14="http://schemas.microsoft.com/office/powerpoint/2010/main" val="2716724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89E30-60BA-DF2A-9F4F-5F31119F2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2600"/>
            <a:ext cx="10668000" cy="584200"/>
          </a:xfrm>
        </p:spPr>
        <p:txBody>
          <a:bodyPr>
            <a:normAutofit/>
          </a:bodyPr>
          <a:lstStyle/>
          <a:p>
            <a:r>
              <a:rPr lang="en-US" sz="3000" b="1"/>
              <a:t>Rename · Organize Fields · Filter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D9D654-0E60-4269-8A75-713C6516D2C8}"/>
              </a:ext>
            </a:extLst>
          </p:cNvPr>
          <p:cNvSpPr/>
          <p:nvPr/>
        </p:nvSpPr>
        <p:spPr>
          <a:xfrm>
            <a:off x="762000" y="1143000"/>
            <a:ext cx="889000" cy="381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3B54962-A39C-4E84-8545-D9E00E25BA49}"/>
              </a:ext>
            </a:extLst>
          </p:cNvPr>
          <p:cNvSpPr/>
          <p:nvPr/>
        </p:nvSpPr>
        <p:spPr>
          <a:xfrm>
            <a:off x="762000" y="1422400"/>
            <a:ext cx="3429000" cy="3810000"/>
          </a:xfrm>
          <a:prstGeom prst="roundRect">
            <a:avLst/>
          </a:prstGeom>
          <a:solidFill>
            <a:srgbClr val="181B1F"/>
          </a:solidFill>
          <a:ln w="15875" cap="flat" cmpd="sng" algn="ctr">
            <a:solidFill>
              <a:srgbClr val="6E9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422CEF-9E72-4DF7-82F3-B047E3DA238D}"/>
              </a:ext>
            </a:extLst>
          </p:cNvPr>
          <p:cNvSpPr/>
          <p:nvPr/>
        </p:nvSpPr>
        <p:spPr>
          <a:xfrm>
            <a:off x="762000" y="1422400"/>
            <a:ext cx="3429000" cy="50800"/>
          </a:xfrm>
          <a:prstGeom prst="rect">
            <a:avLst/>
          </a:prstGeom>
          <a:solidFill>
            <a:srgbClr val="6E9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D40AA-8760-44D3-B7F0-E54F05177050}"/>
              </a:ext>
            </a:extLst>
          </p:cNvPr>
          <p:cNvSpPr txBox="1"/>
          <p:nvPr/>
        </p:nvSpPr>
        <p:spPr>
          <a:xfrm>
            <a:off x="990600" y="1625600"/>
            <a:ext cx="2971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Segoe UI"/>
                <a:cs typeface="Segoe UI"/>
              </a:rPr>
              <a:t>Rename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2A950B-B1EE-443A-8B4C-4E1E7A51E561}"/>
              </a:ext>
            </a:extLst>
          </p:cNvPr>
          <p:cNvSpPr txBox="1"/>
          <p:nvPr/>
        </p:nvSpPr>
        <p:spPr>
          <a:xfrm>
            <a:off x="990600" y="1981200"/>
            <a:ext cx="29718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BA3AE"/>
                </a:solidFill>
                <a:latin typeface="Segoe UI"/>
                <a:cs typeface="Segoe UI"/>
              </a:rPr>
              <a:t>Turn machine names into human ones.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D377AF4-A323-4065-A322-830CD7A35389}"/>
              </a:ext>
            </a:extLst>
          </p:cNvPr>
          <p:cNvSpPr/>
          <p:nvPr/>
        </p:nvSpPr>
        <p:spPr>
          <a:xfrm>
            <a:off x="990600" y="2489200"/>
            <a:ext cx="2971800" cy="2540000"/>
          </a:xfrm>
          <a:prstGeom prst="roundRect">
            <a:avLst/>
          </a:prstGeom>
          <a:solidFill>
            <a:srgbClr val="0B0C0E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DA42BA-6CF2-4348-B286-858B650A0345}"/>
              </a:ext>
            </a:extLst>
          </p:cNvPr>
          <p:cNvSpPr txBox="1"/>
          <p:nvPr/>
        </p:nvSpPr>
        <p:spPr>
          <a:xfrm>
            <a:off x="1143000" y="2616200"/>
            <a:ext cx="2692400" cy="236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FD48A"/>
                </a:solidFill>
                <a:latin typeface="Consolas"/>
              </a:rPr>
              <a:t>Rename fields:
  Value #A -&gt; Req/s
Rename by regex:
  match
  .*instance="([^"]+)"
  replace $1
Result:
  web-1:9100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3FA708F-BE7C-4091-8EC3-8C90A32CB0B1}"/>
              </a:ext>
            </a:extLst>
          </p:cNvPr>
          <p:cNvSpPr/>
          <p:nvPr/>
        </p:nvSpPr>
        <p:spPr>
          <a:xfrm>
            <a:off x="4381500" y="1422400"/>
            <a:ext cx="3429000" cy="3810000"/>
          </a:xfrm>
          <a:prstGeom prst="roundRect">
            <a:avLst/>
          </a:prstGeom>
          <a:solidFill>
            <a:srgbClr val="181B1F"/>
          </a:solidFill>
          <a:ln w="15875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534461-2D21-494B-A4D2-D524FD016894}"/>
              </a:ext>
            </a:extLst>
          </p:cNvPr>
          <p:cNvSpPr/>
          <p:nvPr/>
        </p:nvSpPr>
        <p:spPr>
          <a:xfrm>
            <a:off x="4381500" y="1422400"/>
            <a:ext cx="3429000" cy="508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667930-64E4-4F76-8682-2B7637FF73D9}"/>
              </a:ext>
            </a:extLst>
          </p:cNvPr>
          <p:cNvSpPr txBox="1"/>
          <p:nvPr/>
        </p:nvSpPr>
        <p:spPr>
          <a:xfrm>
            <a:off x="4610100" y="1625600"/>
            <a:ext cx="2971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Segoe UI"/>
                <a:cs typeface="Segoe UI"/>
              </a:rPr>
              <a:t>Organize fields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395124-7236-422F-993D-215A24DF2149}"/>
              </a:ext>
            </a:extLst>
          </p:cNvPr>
          <p:cNvSpPr txBox="1"/>
          <p:nvPr/>
        </p:nvSpPr>
        <p:spPr>
          <a:xfrm>
            <a:off x="4610100" y="1981200"/>
            <a:ext cx="29718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BA3AE"/>
                </a:solidFill>
                <a:latin typeface="Segoe UI"/>
                <a:cs typeface="Segoe UI"/>
              </a:rPr>
              <a:t>Reorder, hide and relabel columns.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A9687B9-C1B9-4903-8A0B-75EB77801ADA}"/>
              </a:ext>
            </a:extLst>
          </p:cNvPr>
          <p:cNvSpPr/>
          <p:nvPr/>
        </p:nvSpPr>
        <p:spPr>
          <a:xfrm>
            <a:off x="4610100" y="2489200"/>
            <a:ext cx="2971800" cy="2540000"/>
          </a:xfrm>
          <a:prstGeom prst="roundRect">
            <a:avLst/>
          </a:prstGeom>
          <a:solidFill>
            <a:srgbClr val="0B0C0E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3B0E3E-CC2D-4FE3-8C72-5301521A803B}"/>
              </a:ext>
            </a:extLst>
          </p:cNvPr>
          <p:cNvSpPr txBox="1"/>
          <p:nvPr/>
        </p:nvSpPr>
        <p:spPr>
          <a:xfrm>
            <a:off x="4762500" y="2616200"/>
            <a:ext cx="2692400" cy="236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FD48A"/>
                </a:solidFill>
                <a:latin typeface="Consolas"/>
              </a:rPr>
              <a:t>Drag to reorder columns
Eye icon hides a field
Inline box renames it
Good for table panels:
  time | route | p95
Hidden fields stay in
the data frame, hidden
only from the panel.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77C6CED-3994-4C43-9030-8D56B1B0865A}"/>
              </a:ext>
            </a:extLst>
          </p:cNvPr>
          <p:cNvSpPr/>
          <p:nvPr/>
        </p:nvSpPr>
        <p:spPr>
          <a:xfrm>
            <a:off x="8001000" y="1422400"/>
            <a:ext cx="3429000" cy="3810000"/>
          </a:xfrm>
          <a:prstGeom prst="roundRect">
            <a:avLst/>
          </a:prstGeom>
          <a:solidFill>
            <a:srgbClr val="181B1F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82694E-7DD8-48CC-AD07-1A00E46B35E6}"/>
              </a:ext>
            </a:extLst>
          </p:cNvPr>
          <p:cNvSpPr/>
          <p:nvPr/>
        </p:nvSpPr>
        <p:spPr>
          <a:xfrm>
            <a:off x="8001000" y="1422400"/>
            <a:ext cx="3429000" cy="508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0E92D8-B67D-436F-BF80-D28A5ED019F8}"/>
              </a:ext>
            </a:extLst>
          </p:cNvPr>
          <p:cNvSpPr txBox="1"/>
          <p:nvPr/>
        </p:nvSpPr>
        <p:spPr>
          <a:xfrm>
            <a:off x="8229600" y="1625600"/>
            <a:ext cx="2971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Segoe UI"/>
                <a:cs typeface="Segoe UI"/>
              </a:rPr>
              <a:t>Filter 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650DB6-98B8-4935-886C-116F45FA1583}"/>
              </a:ext>
            </a:extLst>
          </p:cNvPr>
          <p:cNvSpPr txBox="1"/>
          <p:nvPr/>
        </p:nvSpPr>
        <p:spPr>
          <a:xfrm>
            <a:off x="8229600" y="1981200"/>
            <a:ext cx="29718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BA3AE"/>
                </a:solidFill>
                <a:latin typeface="Segoe UI"/>
                <a:cs typeface="Segoe UI"/>
              </a:rPr>
              <a:t>Three different filters, three jobs.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661D90B-66F6-448D-B91C-F2BB7D083347}"/>
              </a:ext>
            </a:extLst>
          </p:cNvPr>
          <p:cNvSpPr/>
          <p:nvPr/>
        </p:nvSpPr>
        <p:spPr>
          <a:xfrm>
            <a:off x="8229600" y="2489200"/>
            <a:ext cx="2971800" cy="2540000"/>
          </a:xfrm>
          <a:prstGeom prst="roundRect">
            <a:avLst/>
          </a:prstGeom>
          <a:solidFill>
            <a:srgbClr val="0B0C0E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DBDD3F-9C3B-4A27-92B7-0F109483F926}"/>
              </a:ext>
            </a:extLst>
          </p:cNvPr>
          <p:cNvSpPr txBox="1"/>
          <p:nvPr/>
        </p:nvSpPr>
        <p:spPr>
          <a:xfrm>
            <a:off x="8382000" y="2616200"/>
            <a:ext cx="2692400" cy="236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FD48A"/>
                </a:solidFill>
                <a:latin typeface="Consolas"/>
              </a:rPr>
              <a:t>By values:
  cpu &gt; 0.8 AND
  region = eu
By name:
  include / exclude
  field names (regex)
By query refId:
  keep only query A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51AA37D-6BCE-49FE-8F30-66267951A1A7}"/>
              </a:ext>
            </a:extLst>
          </p:cNvPr>
          <p:cNvSpPr/>
          <p:nvPr/>
        </p:nvSpPr>
        <p:spPr>
          <a:xfrm>
            <a:off x="762000" y="5384800"/>
            <a:ext cx="10668000" cy="838200"/>
          </a:xfrm>
          <a:prstGeom prst="roundRect">
            <a:avLst/>
          </a:prstGeom>
          <a:solidFill>
            <a:srgbClr val="12211A"/>
          </a:solidFill>
          <a:ln w="12700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576761-A0C1-4569-90CB-7A4E33BF5924}"/>
              </a:ext>
            </a:extLst>
          </p:cNvPr>
          <p:cNvSpPr txBox="1"/>
          <p:nvPr/>
        </p:nvSpPr>
        <p:spPr>
          <a:xfrm>
            <a:off x="1016000" y="55372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dirty="0">
                <a:solidFill>
                  <a:srgbClr val="73BF69"/>
                </a:solidFill>
                <a:latin typeface="Segoe UI"/>
                <a:cs typeface="Segoe UI"/>
              </a:rPr>
              <a:t>LIVE DEMO - 5 min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FF077F-CCCA-426C-AE19-8A5E7EE7FA17}"/>
              </a:ext>
            </a:extLst>
          </p:cNvPr>
          <p:cNvSpPr txBox="1"/>
          <p:nvPr/>
        </p:nvSpPr>
        <p:spPr>
          <a:xfrm>
            <a:off x="1016000" y="58166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Take the raw Prometheus table, rename by regex to short host names, hide the extra label columns, then filter to cpu &gt; 0.5.</a:t>
            </a:r>
          </a:p>
        </p:txBody>
      </p:sp>
    </p:spTree>
    <p:extLst>
      <p:ext uri="{BB962C8B-B14F-4D97-AF65-F5344CB8AC3E}">
        <p14:creationId xmlns:p14="http://schemas.microsoft.com/office/powerpoint/2010/main" val="2386825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E389D-9105-D6F7-C13E-64D479BF8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2600"/>
            <a:ext cx="10668000" cy="584200"/>
          </a:xfrm>
        </p:spPr>
        <p:txBody>
          <a:bodyPr>
            <a:normAutofit/>
          </a:bodyPr>
          <a:lstStyle/>
          <a:p>
            <a:r>
              <a:rPr lang="en-US" sz="3000" b="1"/>
              <a:t>Which Transformation Do I Need?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6E8676-2F0A-48B5-9FA3-D0FBBBB69630}"/>
              </a:ext>
            </a:extLst>
          </p:cNvPr>
          <p:cNvSpPr/>
          <p:nvPr/>
        </p:nvSpPr>
        <p:spPr>
          <a:xfrm>
            <a:off x="762000" y="1143000"/>
            <a:ext cx="889000" cy="381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1D9155-F025-41E2-943E-6016BF3DEA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064315"/>
              </p:ext>
            </p:extLst>
          </p:nvPr>
        </p:nvGraphicFramePr>
        <p:xfrm>
          <a:off x="762000" y="1422400"/>
          <a:ext cx="10668000" cy="345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10718183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291739731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1319677865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11217"/>
                          </a:solidFill>
                          <a:latin typeface="Segoe UI"/>
                          <a:cs typeface="Segoe UI"/>
                        </a:rPr>
                        <a:t>You want to…</a:t>
                      </a:r>
                    </a:p>
                  </a:txBody>
                  <a:tcPr anchor="ctr">
                    <a:solidFill>
                      <a:srgbClr val="FF8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11217"/>
                          </a:solidFill>
                          <a:latin typeface="Segoe UI"/>
                          <a:cs typeface="Segoe UI"/>
                        </a:rPr>
                        <a:t>Use this</a:t>
                      </a:r>
                    </a:p>
                  </a:txBody>
                  <a:tcPr anchor="ctr">
                    <a:solidFill>
                      <a:srgbClr val="FF88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11217"/>
                          </a:solidFill>
                          <a:latin typeface="Segoe UI"/>
                          <a:cs typeface="Segoe UI"/>
                        </a:rPr>
                        <a:t>Watch out for</a:t>
                      </a:r>
                    </a:p>
                  </a:txBody>
                  <a:tcPr anchor="ctr">
                    <a:solidFill>
                      <a:srgbClr val="FF88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8329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D2D6DB"/>
                          </a:solidFill>
                          <a:latin typeface="Segoe UI"/>
                          <a:cs typeface="Segoe UI"/>
                        </a:rPr>
                        <a:t>Two metrics side by side in one row</a:t>
                      </a:r>
                    </a:p>
                  </a:txBody>
                  <a:tcPr anchor="ctr">
                    <a:solidFill>
                      <a:srgbClr val="181B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FFB357"/>
                          </a:solidFill>
                          <a:latin typeface="Segoe UI"/>
                          <a:cs typeface="Segoe UI"/>
                        </a:rPr>
                        <a:t>Join by field (time)</a:t>
                      </a:r>
                    </a:p>
                  </a:txBody>
                  <a:tcPr anchor="ctr">
                    <a:solidFill>
                      <a:srgbClr val="181B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D2D6DB"/>
                          </a:solidFill>
                          <a:latin typeface="Segoe UI"/>
                          <a:cs typeface="Segoe UI"/>
                        </a:rPr>
                        <a:t>OUTER keeps gaps, INNER drops them</a:t>
                      </a:r>
                    </a:p>
                  </a:txBody>
                  <a:tcPr anchor="ctr">
                    <a:solidFill>
                      <a:srgbClr val="181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6714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D2D6DB"/>
                          </a:solidFill>
                          <a:latin typeface="Segoe UI"/>
                          <a:cs typeface="Segoe UI"/>
                        </a:rPr>
                        <a:t>One list built from several queries</a:t>
                      </a:r>
                    </a:p>
                  </a:txBody>
                  <a:tcPr anchor="ctr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FFB357"/>
                          </a:solidFill>
                          <a:latin typeface="Segoe UI"/>
                          <a:cs typeface="Segoe UI"/>
                        </a:rPr>
                        <a:t>Merge</a:t>
                      </a:r>
                    </a:p>
                  </a:txBody>
                  <a:tcPr anchor="ctr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D2D6DB"/>
                          </a:solidFill>
                          <a:latin typeface="Segoe UI"/>
                          <a:cs typeface="Segoe UI"/>
                        </a:rPr>
                        <a:t>Field names must match to collapse</a:t>
                      </a:r>
                    </a:p>
                  </a:txBody>
                  <a:tcPr anchor="ctr">
                    <a:solidFill>
                      <a:srgbClr val="1B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63103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D2D6DB"/>
                          </a:solidFill>
                          <a:latin typeface="Segoe UI"/>
                          <a:cs typeface="Segoe UI"/>
                        </a:rPr>
                        <a:t>Totals per region / per service</a:t>
                      </a:r>
                    </a:p>
                  </a:txBody>
                  <a:tcPr anchor="ctr">
                    <a:solidFill>
                      <a:srgbClr val="181B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FFB357"/>
                          </a:solidFill>
                          <a:latin typeface="Segoe UI"/>
                          <a:cs typeface="Segoe UI"/>
                        </a:rPr>
                        <a:t>Group by</a:t>
                      </a:r>
                    </a:p>
                  </a:txBody>
                  <a:tcPr anchor="ctr">
                    <a:solidFill>
                      <a:srgbClr val="181B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D2D6DB"/>
                          </a:solidFill>
                          <a:latin typeface="Segoe UI"/>
                          <a:cs typeface="Segoe UI"/>
                        </a:rPr>
                        <a:t>Set the calculation for every field</a:t>
                      </a:r>
                    </a:p>
                  </a:txBody>
                  <a:tcPr anchor="ctr">
                    <a:solidFill>
                      <a:srgbClr val="181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11963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D2D6DB"/>
                          </a:solidFill>
                          <a:latin typeface="Segoe UI"/>
                          <a:cs typeface="Segoe UI"/>
                        </a:rPr>
                        <a:t>A single number per series</a:t>
                      </a:r>
                    </a:p>
                  </a:txBody>
                  <a:tcPr anchor="ctr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FFB357"/>
                          </a:solidFill>
                          <a:latin typeface="Segoe UI"/>
                          <a:cs typeface="Segoe UI"/>
                        </a:rPr>
                        <a:t>Reduce</a:t>
                      </a:r>
                    </a:p>
                  </a:txBody>
                  <a:tcPr anchor="ctr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D2D6DB"/>
                          </a:solidFill>
                          <a:latin typeface="Segoe UI"/>
                          <a:cs typeface="Segoe UI"/>
                        </a:rPr>
                        <a:t>Stat and Gauge panels expect this</a:t>
                      </a:r>
                    </a:p>
                  </a:txBody>
                  <a:tcPr anchor="ctr">
                    <a:solidFill>
                      <a:srgbClr val="1B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15222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D2D6DB"/>
                          </a:solidFill>
                          <a:latin typeface="Segoe UI"/>
                          <a:cs typeface="Segoe UI"/>
                        </a:rPr>
                        <a:t>Readable series names</a:t>
                      </a:r>
                    </a:p>
                  </a:txBody>
                  <a:tcPr anchor="ctr">
                    <a:solidFill>
                      <a:srgbClr val="181B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FFB357"/>
                          </a:solidFill>
                          <a:latin typeface="Segoe UI"/>
                          <a:cs typeface="Segoe UI"/>
                        </a:rPr>
                        <a:t>Rename / Rename by regex</a:t>
                      </a:r>
                    </a:p>
                  </a:txBody>
                  <a:tcPr anchor="ctr">
                    <a:solidFill>
                      <a:srgbClr val="181B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D2D6DB"/>
                          </a:solidFill>
                          <a:latin typeface="Segoe UI"/>
                          <a:cs typeface="Segoe UI"/>
                        </a:rPr>
                        <a:t>Regex runs against the field name</a:t>
                      </a:r>
                    </a:p>
                  </a:txBody>
                  <a:tcPr anchor="ctr">
                    <a:solidFill>
                      <a:srgbClr val="181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19524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D2D6DB"/>
                          </a:solidFill>
                          <a:latin typeface="Segoe UI"/>
                          <a:cs typeface="Segoe UI"/>
                        </a:rPr>
                        <a:t>Tidy table columns</a:t>
                      </a:r>
                    </a:p>
                  </a:txBody>
                  <a:tcPr anchor="ctr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FFB357"/>
                          </a:solidFill>
                          <a:latin typeface="Segoe UI"/>
                          <a:cs typeface="Segoe UI"/>
                        </a:rPr>
                        <a:t>Organize fields</a:t>
                      </a:r>
                    </a:p>
                  </a:txBody>
                  <a:tcPr anchor="ctr"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D2D6DB"/>
                          </a:solidFill>
                          <a:latin typeface="Segoe UI"/>
                          <a:cs typeface="Segoe UI"/>
                        </a:rPr>
                        <a:t>Hide fields, do not delete queries</a:t>
                      </a:r>
                    </a:p>
                  </a:txBody>
                  <a:tcPr anchor="ctr">
                    <a:solidFill>
                      <a:srgbClr val="1B1E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83749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D2D6DB"/>
                          </a:solidFill>
                          <a:latin typeface="Segoe UI"/>
                          <a:cs typeface="Segoe UI"/>
                        </a:rPr>
                        <a:t>Only rows above a threshold</a:t>
                      </a:r>
                    </a:p>
                  </a:txBody>
                  <a:tcPr anchor="ctr">
                    <a:solidFill>
                      <a:srgbClr val="181B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FFB357"/>
                          </a:solidFill>
                          <a:latin typeface="Segoe UI"/>
                          <a:cs typeface="Segoe UI"/>
                        </a:rPr>
                        <a:t>Filter data by values</a:t>
                      </a:r>
                    </a:p>
                  </a:txBody>
                  <a:tcPr anchor="ctr">
                    <a:solidFill>
                      <a:srgbClr val="181B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D2D6DB"/>
                          </a:solidFill>
                          <a:latin typeface="Segoe UI"/>
                          <a:cs typeface="Segoe UI"/>
                        </a:rPr>
                        <a:t>Multiple conditions are ANDed</a:t>
                      </a:r>
                    </a:p>
                  </a:txBody>
                  <a:tcPr anchor="ctr">
                    <a:solidFill>
                      <a:srgbClr val="181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560744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C7F51C-9996-4690-946C-41898BA07191}"/>
              </a:ext>
            </a:extLst>
          </p:cNvPr>
          <p:cNvSpPr/>
          <p:nvPr/>
        </p:nvSpPr>
        <p:spPr>
          <a:xfrm>
            <a:off x="762000" y="5207000"/>
            <a:ext cx="10668000" cy="10160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6E9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E58A15-5671-4F76-A819-41A7FB946489}"/>
              </a:ext>
            </a:extLst>
          </p:cNvPr>
          <p:cNvSpPr txBox="1"/>
          <p:nvPr/>
        </p:nvSpPr>
        <p:spPr>
          <a:xfrm>
            <a:off x="1016000" y="53848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6E9FFF"/>
                </a:solidFill>
                <a:latin typeface="Segoe UI"/>
                <a:cs typeface="Segoe UI"/>
              </a:rPr>
              <a:t>Before you reach for a transformation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380590-CB15-47FD-9D32-4DC037B3D995}"/>
              </a:ext>
            </a:extLst>
          </p:cNvPr>
          <p:cNvSpPr txBox="1"/>
          <p:nvPr/>
        </p:nvSpPr>
        <p:spPr>
          <a:xfrm>
            <a:off x="1016000" y="57150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Ask whether the query can do it instead. sum by (region) in PromQL is faster and cheaper than Group by in the browser.</a:t>
            </a:r>
          </a:p>
        </p:txBody>
      </p:sp>
    </p:spTree>
    <p:extLst>
      <p:ext uri="{BB962C8B-B14F-4D97-AF65-F5344CB8AC3E}">
        <p14:creationId xmlns:p14="http://schemas.microsoft.com/office/powerpoint/2010/main" val="2670532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C08B6-D7D5-ECE8-FB06-864BA8A1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2600"/>
            <a:ext cx="10668000" cy="584200"/>
          </a:xfrm>
        </p:spPr>
        <p:txBody>
          <a:bodyPr>
            <a:normAutofit/>
          </a:bodyPr>
          <a:lstStyle/>
          <a:p>
            <a:r>
              <a:rPr lang="en-US" sz="3000" b="1" dirty="0"/>
              <a:t>Guided Practice 10 - Reshape a Table  (10 min)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130217-91A1-44F9-87B9-4E5F21EDE0F7}"/>
              </a:ext>
            </a:extLst>
          </p:cNvPr>
          <p:cNvSpPr/>
          <p:nvPr/>
        </p:nvSpPr>
        <p:spPr>
          <a:xfrm>
            <a:off x="762000" y="1143000"/>
            <a:ext cx="889000" cy="381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B2FA84-6C60-4E66-935B-8B4D8F942A96}"/>
              </a:ext>
            </a:extLst>
          </p:cNvPr>
          <p:cNvSpPr/>
          <p:nvPr/>
        </p:nvSpPr>
        <p:spPr>
          <a:xfrm>
            <a:off x="762000" y="1422400"/>
            <a:ext cx="6858000" cy="4800600"/>
          </a:xfrm>
          <a:prstGeom prst="roundRect">
            <a:avLst/>
          </a:prstGeom>
          <a:solidFill>
            <a:srgbClr val="181B1F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FEDA51-5CA6-4C69-B8E8-2416686A347E}"/>
              </a:ext>
            </a:extLst>
          </p:cNvPr>
          <p:cNvSpPr txBox="1"/>
          <p:nvPr/>
        </p:nvSpPr>
        <p:spPr>
          <a:xfrm>
            <a:off x="1066800" y="1625600"/>
            <a:ext cx="381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73BF69"/>
                </a:solidFill>
                <a:latin typeface="Segoe UI"/>
                <a:cs typeface="Segoe UI"/>
              </a:rPr>
              <a:t>Steps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5630209-9133-47A9-B075-68B8395DF552}"/>
              </a:ext>
            </a:extLst>
          </p:cNvPr>
          <p:cNvSpPr/>
          <p:nvPr/>
        </p:nvSpPr>
        <p:spPr>
          <a:xfrm>
            <a:off x="1066800" y="20574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21FD5-152D-4872-A8D0-FE6D152704E9}"/>
              </a:ext>
            </a:extLst>
          </p:cNvPr>
          <p:cNvSpPr txBox="1"/>
          <p:nvPr/>
        </p:nvSpPr>
        <p:spPr>
          <a:xfrm>
            <a:off x="1498600" y="2082800"/>
            <a:ext cx="5816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New panel, visualisation = Table, data source = Prometheus.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1813FEA-8538-44D4-B73B-CE1ED6699B5C}"/>
              </a:ext>
            </a:extLst>
          </p:cNvPr>
          <p:cNvSpPr/>
          <p:nvPr/>
        </p:nvSpPr>
        <p:spPr>
          <a:xfrm>
            <a:off x="1066800" y="26289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1A46B7-33FE-40BD-A36C-C69261FD9A4B}"/>
              </a:ext>
            </a:extLst>
          </p:cNvPr>
          <p:cNvSpPr txBox="1"/>
          <p:nvPr/>
        </p:nvSpPr>
        <p:spPr>
          <a:xfrm>
            <a:off x="1498600" y="2654300"/>
            <a:ext cx="5816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Query A: CPU per instance.  Query B: memory per instance.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36CC014-B0EC-41D8-8DE8-821661D2262D}"/>
              </a:ext>
            </a:extLst>
          </p:cNvPr>
          <p:cNvSpPr/>
          <p:nvPr/>
        </p:nvSpPr>
        <p:spPr>
          <a:xfrm>
            <a:off x="1066800" y="32004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184E12-84DD-4560-BEC6-47B62576D673}"/>
              </a:ext>
            </a:extLst>
          </p:cNvPr>
          <p:cNvSpPr txBox="1"/>
          <p:nvPr/>
        </p:nvSpPr>
        <p:spPr>
          <a:xfrm>
            <a:off x="1498600" y="3225800"/>
            <a:ext cx="5816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Add transformation → Join by field, field = time.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A035B8C-268A-477E-B019-2D46002D9A0D}"/>
              </a:ext>
            </a:extLst>
          </p:cNvPr>
          <p:cNvSpPr/>
          <p:nvPr/>
        </p:nvSpPr>
        <p:spPr>
          <a:xfrm>
            <a:off x="1066800" y="37719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924B67-BDD5-4F35-BE32-9F9D4BDF7541}"/>
              </a:ext>
            </a:extLst>
          </p:cNvPr>
          <p:cNvSpPr txBox="1"/>
          <p:nvPr/>
        </p:nvSpPr>
        <p:spPr>
          <a:xfrm>
            <a:off x="1498600" y="3797300"/>
            <a:ext cx="5816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Add Organize fields: hide label columns, rename to CPU / Memory.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4EB751B-4C32-4BF0-B89F-79040E3EED88}"/>
              </a:ext>
            </a:extLst>
          </p:cNvPr>
          <p:cNvSpPr/>
          <p:nvPr/>
        </p:nvSpPr>
        <p:spPr>
          <a:xfrm>
            <a:off x="1066800" y="43434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</a:rPr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559DA8-F8FC-4D0C-83D7-7F7C3CE3BFEE}"/>
              </a:ext>
            </a:extLst>
          </p:cNvPr>
          <p:cNvSpPr txBox="1"/>
          <p:nvPr/>
        </p:nvSpPr>
        <p:spPr>
          <a:xfrm>
            <a:off x="1498600" y="4368800"/>
            <a:ext cx="5816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Add Filter data by values: CPU greater than 0.5.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2229B13-544D-40E3-B8FB-59B17853C789}"/>
              </a:ext>
            </a:extLst>
          </p:cNvPr>
          <p:cNvSpPr/>
          <p:nvPr/>
        </p:nvSpPr>
        <p:spPr>
          <a:xfrm>
            <a:off x="1066800" y="49149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</a:rPr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F843B7-43E7-4745-9BEC-43C0C0AFEB53}"/>
              </a:ext>
            </a:extLst>
          </p:cNvPr>
          <p:cNvSpPr txBox="1"/>
          <p:nvPr/>
        </p:nvSpPr>
        <p:spPr>
          <a:xfrm>
            <a:off x="1498600" y="4940300"/>
            <a:ext cx="5816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dirty="0">
                <a:solidFill>
                  <a:srgbClr val="D2D6DB"/>
                </a:solidFill>
                <a:latin typeface="Segoe UI"/>
                <a:cs typeface="Segoe UI"/>
              </a:rPr>
              <a:t>Drag Filter above Join - see the result break, then undo.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23E005-4C96-48C6-93F5-C2AF92A07610}"/>
              </a:ext>
            </a:extLst>
          </p:cNvPr>
          <p:cNvSpPr/>
          <p:nvPr/>
        </p:nvSpPr>
        <p:spPr>
          <a:xfrm>
            <a:off x="1066800" y="54864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</a:rPr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0DA27F-16C3-418D-BFD1-927FBAC69623}"/>
              </a:ext>
            </a:extLst>
          </p:cNvPr>
          <p:cNvSpPr txBox="1"/>
          <p:nvPr/>
        </p:nvSpPr>
        <p:spPr>
          <a:xfrm>
            <a:off x="1498600" y="5511800"/>
            <a:ext cx="5816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Inspector → Data: toggle 'Apply panel transformations'.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9F3EE2D-BA80-4E2B-BA1D-D0E4B2461003}"/>
              </a:ext>
            </a:extLst>
          </p:cNvPr>
          <p:cNvSpPr/>
          <p:nvPr/>
        </p:nvSpPr>
        <p:spPr>
          <a:xfrm>
            <a:off x="7874000" y="1422400"/>
            <a:ext cx="3556000" cy="2362200"/>
          </a:xfrm>
          <a:prstGeom prst="roundRect">
            <a:avLst/>
          </a:prstGeom>
          <a:solidFill>
            <a:srgbClr val="0B0C0E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753D46-9ACA-420A-BA8C-8F59A569F722}"/>
              </a:ext>
            </a:extLst>
          </p:cNvPr>
          <p:cNvSpPr txBox="1"/>
          <p:nvPr/>
        </p:nvSpPr>
        <p:spPr>
          <a:xfrm>
            <a:off x="8128000" y="1625600"/>
            <a:ext cx="304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8800"/>
                </a:solidFill>
                <a:latin typeface="Segoe UI"/>
                <a:cs typeface="Segoe UI"/>
              </a:rPr>
              <a:t>You are done when…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AFE845-1567-4669-9377-C4D1005AF495}"/>
              </a:ext>
            </a:extLst>
          </p:cNvPr>
          <p:cNvSpPr txBox="1"/>
          <p:nvPr/>
        </p:nvSpPr>
        <p:spPr>
          <a:xfrm>
            <a:off x="8128000" y="2032000"/>
            <a:ext cx="3048000" cy="157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A8B0BA"/>
                </a:solidFill>
                <a:latin typeface="Segoe UI"/>
                <a:cs typeface="Segoe UI"/>
              </a:rPr>
              <a:t>One table shows time, host, CPU and Memory as clean columns, and only the hosts above 50% CPU are listed.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46A8F2F-39F9-41A3-8248-3D4FC0A1FDF5}"/>
              </a:ext>
            </a:extLst>
          </p:cNvPr>
          <p:cNvSpPr/>
          <p:nvPr/>
        </p:nvSpPr>
        <p:spPr>
          <a:xfrm>
            <a:off x="7874000" y="3962400"/>
            <a:ext cx="3556000" cy="22606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6E9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8FC0C9-4C3B-4730-9FE9-E734191925F6}"/>
              </a:ext>
            </a:extLst>
          </p:cNvPr>
          <p:cNvSpPr txBox="1"/>
          <p:nvPr/>
        </p:nvSpPr>
        <p:spPr>
          <a:xfrm>
            <a:off x="8128000" y="4165600"/>
            <a:ext cx="304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6E9FFF"/>
                </a:solidFill>
                <a:latin typeface="Segoe UI"/>
                <a:cs typeface="Segoe UI"/>
              </a:rPr>
              <a:t>Talking point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15F8DD-E48F-43ED-B4F4-99AAADB9DB51}"/>
              </a:ext>
            </a:extLst>
          </p:cNvPr>
          <p:cNvSpPr txBox="1"/>
          <p:nvPr/>
        </p:nvSpPr>
        <p:spPr>
          <a:xfrm>
            <a:off x="8128000" y="4546600"/>
            <a:ext cx="3048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A8B0BA"/>
                </a:solidFill>
                <a:latin typeface="Segoe UI"/>
                <a:cs typeface="Segoe UI"/>
              </a:rPr>
              <a:t>Which of these steps would be better done in the query itself?
Discuss the cost of client-side work on a wall dashboard refreshing every 10 seconds.</a:t>
            </a:r>
          </a:p>
        </p:txBody>
      </p:sp>
    </p:spTree>
    <p:extLst>
      <p:ext uri="{BB962C8B-B14F-4D97-AF65-F5344CB8AC3E}">
        <p14:creationId xmlns:p14="http://schemas.microsoft.com/office/powerpoint/2010/main" val="3578542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6F3DB-7820-5871-220F-B148D09DA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2489200"/>
            <a:ext cx="6604000" cy="711200"/>
          </a:xfrm>
        </p:spPr>
        <p:txBody>
          <a:bodyPr>
            <a:normAutofit/>
          </a:bodyPr>
          <a:lstStyle/>
          <a:p>
            <a:r>
              <a:rPr lang="en-US" b="1"/>
              <a:t>Alerting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502A782-C500-4BA3-804A-35B8D5CA9835}"/>
              </a:ext>
            </a:extLst>
          </p:cNvPr>
          <p:cNvSpPr/>
          <p:nvPr/>
        </p:nvSpPr>
        <p:spPr>
          <a:xfrm>
            <a:off x="1778000" y="1524000"/>
            <a:ext cx="1651000" cy="711200"/>
          </a:xfrm>
          <a:prstGeom prst="roundRect">
            <a:avLst/>
          </a:prstGeom>
          <a:solidFill>
            <a:srgbClr val="2A1C0B"/>
          </a:solidFill>
          <a:ln w="12700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8800"/>
                </a:solidFill>
              </a:rPr>
              <a:t>MODULE 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A2D0C8-4DC7-42EB-A4E8-912206B8B136}"/>
              </a:ext>
            </a:extLst>
          </p:cNvPr>
          <p:cNvSpPr txBox="1"/>
          <p:nvPr/>
        </p:nvSpPr>
        <p:spPr>
          <a:xfrm>
            <a:off x="1778000" y="3352800"/>
            <a:ext cx="6604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>
                <a:solidFill>
                  <a:srgbClr val="9BA3AE"/>
                </a:solidFill>
                <a:latin typeface="Segoe UI"/>
                <a:cs typeface="Segoe UI"/>
              </a:rPr>
              <a:t>Unified Alerting  ·  Alert Rules  ·  Evaluation  ·  Contact Points
Notification Policies  ·  Alert Groups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C787DF-A73A-4A0B-AE51-CFB9AFB13392}"/>
              </a:ext>
            </a:extLst>
          </p:cNvPr>
          <p:cNvSpPr/>
          <p:nvPr/>
        </p:nvSpPr>
        <p:spPr>
          <a:xfrm>
            <a:off x="1778000" y="4089400"/>
            <a:ext cx="1143000" cy="508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C2FAF7-0D3A-4ED8-8AE8-1EBAAF4E8744}"/>
              </a:ext>
            </a:extLst>
          </p:cNvPr>
          <p:cNvSpPr txBox="1"/>
          <p:nvPr/>
        </p:nvSpPr>
        <p:spPr>
          <a:xfrm>
            <a:off x="1778000" y="4394200"/>
            <a:ext cx="660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dirty="0">
                <a:solidFill>
                  <a:srgbClr val="6E9FFF"/>
                </a:solidFill>
                <a:latin typeface="Segoe UI"/>
                <a:cs typeface="Segoe UI"/>
              </a:rPr>
              <a:t> The heart of Day 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9A38A86-847E-4245-92B7-07885CE4B83E}"/>
              </a:ext>
            </a:extLst>
          </p:cNvPr>
          <p:cNvSpPr/>
          <p:nvPr/>
        </p:nvSpPr>
        <p:spPr>
          <a:xfrm>
            <a:off x="8890000" y="1651000"/>
            <a:ext cx="2540000" cy="2540000"/>
          </a:xfrm>
          <a:prstGeom prst="ellipse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6D7509DD-F3C9-46B1-8BEF-87BBF8E7762A}"/>
              </a:ext>
            </a:extLst>
          </p:cNvPr>
          <p:cNvSpPr/>
          <p:nvPr/>
        </p:nvSpPr>
        <p:spPr>
          <a:xfrm>
            <a:off x="9588500" y="2413000"/>
            <a:ext cx="1143000" cy="1016000"/>
          </a:xfrm>
          <a:prstGeom prst="triangle">
            <a:avLst/>
          </a:prstGeom>
          <a:solidFill>
            <a:srgbClr val="2A1214"/>
          </a:solidFill>
          <a:ln w="19050" cap="flat" cmpd="sng" algn="ctr">
            <a:solidFill>
              <a:srgbClr val="F249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96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98CF-D7DE-54C3-237A-86ECAC0EF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06400"/>
            <a:ext cx="10668000" cy="533400"/>
          </a:xfrm>
        </p:spPr>
        <p:txBody>
          <a:bodyPr>
            <a:normAutofit/>
          </a:bodyPr>
          <a:lstStyle/>
          <a:p>
            <a:r>
              <a:rPr lang="en-US" sz="3000" b="1" dirty="0"/>
              <a:t>Unified Alerting - End-to-End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709439-31E2-41D3-A5B0-7D1437DBF27C}"/>
              </a:ext>
            </a:extLst>
          </p:cNvPr>
          <p:cNvSpPr/>
          <p:nvPr/>
        </p:nvSpPr>
        <p:spPr>
          <a:xfrm>
            <a:off x="762000" y="1016000"/>
            <a:ext cx="889000" cy="381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FC17D1-ABC1-44C3-B759-0B7A8C1A7593}"/>
              </a:ext>
            </a:extLst>
          </p:cNvPr>
          <p:cNvSpPr txBox="1"/>
          <p:nvPr/>
        </p:nvSpPr>
        <p:spPr>
          <a:xfrm>
            <a:off x="762000" y="12192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F8800"/>
                </a:solidFill>
                <a:latin typeface="Segoe UI"/>
                <a:cs typeface="Segoe UI"/>
              </a:rPr>
              <a:t>1 - EVALUATION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2E8D0B3-6231-4EE6-8DF9-DCECC2A2ED7A}"/>
              </a:ext>
            </a:extLst>
          </p:cNvPr>
          <p:cNvSpPr/>
          <p:nvPr/>
        </p:nvSpPr>
        <p:spPr>
          <a:xfrm>
            <a:off x="762000" y="1524000"/>
            <a:ext cx="2286000" cy="1219200"/>
          </a:xfrm>
          <a:prstGeom prst="roundRect">
            <a:avLst/>
          </a:prstGeom>
          <a:solidFill>
            <a:srgbClr val="1B1E24"/>
          </a:solidFill>
          <a:ln w="15875" cap="flat" cmpd="sng" algn="ctr">
            <a:solidFill>
              <a:srgbClr val="6E9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3D8CD8-1B7B-458E-8C07-04968E36AABF}"/>
              </a:ext>
            </a:extLst>
          </p:cNvPr>
          <p:cNvSpPr/>
          <p:nvPr/>
        </p:nvSpPr>
        <p:spPr>
          <a:xfrm>
            <a:off x="762000" y="1524000"/>
            <a:ext cx="2286000" cy="50800"/>
          </a:xfrm>
          <a:prstGeom prst="rect">
            <a:avLst/>
          </a:prstGeom>
          <a:solidFill>
            <a:srgbClr val="6E9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098D5-78D5-4CFB-AD22-21142A3D337C}"/>
              </a:ext>
            </a:extLst>
          </p:cNvPr>
          <p:cNvSpPr txBox="1"/>
          <p:nvPr/>
        </p:nvSpPr>
        <p:spPr>
          <a:xfrm>
            <a:off x="914400" y="1701800"/>
            <a:ext cx="1981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  <a:cs typeface="Segoe UI"/>
              </a:rPr>
              <a:t>Data source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24F887-E1E2-4804-8C0B-EBC93E64C8E2}"/>
              </a:ext>
            </a:extLst>
          </p:cNvPr>
          <p:cNvSpPr txBox="1"/>
          <p:nvPr/>
        </p:nvSpPr>
        <p:spPr>
          <a:xfrm>
            <a:off x="889000" y="2133600"/>
            <a:ext cx="203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Prometheus, Loki,
MySQL, Elastic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B71686B-1B1B-4456-9B0C-B907F488577E}"/>
              </a:ext>
            </a:extLst>
          </p:cNvPr>
          <p:cNvSpPr/>
          <p:nvPr/>
        </p:nvSpPr>
        <p:spPr>
          <a:xfrm>
            <a:off x="3124200" y="1968500"/>
            <a:ext cx="304800" cy="304800"/>
          </a:xfrm>
          <a:prstGeom prst="rightArrow">
            <a:avLst/>
          </a:prstGeom>
          <a:solidFill>
            <a:srgbClr val="5A6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5EF670B-9C23-48B5-B0B8-46E85EBCF752}"/>
              </a:ext>
            </a:extLst>
          </p:cNvPr>
          <p:cNvSpPr/>
          <p:nvPr/>
        </p:nvSpPr>
        <p:spPr>
          <a:xfrm>
            <a:off x="3505200" y="1524000"/>
            <a:ext cx="2286000" cy="1219200"/>
          </a:xfrm>
          <a:prstGeom prst="roundRect">
            <a:avLst/>
          </a:prstGeom>
          <a:solidFill>
            <a:srgbClr val="1B1E24"/>
          </a:solidFill>
          <a:ln w="15875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F337DE-8025-430C-8D58-B0A6D5729C90}"/>
              </a:ext>
            </a:extLst>
          </p:cNvPr>
          <p:cNvSpPr/>
          <p:nvPr/>
        </p:nvSpPr>
        <p:spPr>
          <a:xfrm>
            <a:off x="3505200" y="1524000"/>
            <a:ext cx="2286000" cy="508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039D85-5B8B-4701-B809-4FF6EA7B90A3}"/>
              </a:ext>
            </a:extLst>
          </p:cNvPr>
          <p:cNvSpPr txBox="1"/>
          <p:nvPr/>
        </p:nvSpPr>
        <p:spPr>
          <a:xfrm>
            <a:off x="3657600" y="1701800"/>
            <a:ext cx="1981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  <a:cs typeface="Segoe UI"/>
              </a:rPr>
              <a:t>Alert rule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7845C-06F7-472B-A2A9-CC926BC2E578}"/>
              </a:ext>
            </a:extLst>
          </p:cNvPr>
          <p:cNvSpPr txBox="1"/>
          <p:nvPr/>
        </p:nvSpPr>
        <p:spPr>
          <a:xfrm>
            <a:off x="3632200" y="2133600"/>
            <a:ext cx="203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Query + reduce +
threshold condition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66ECC7E-F205-408C-B985-6D001AC677F8}"/>
              </a:ext>
            </a:extLst>
          </p:cNvPr>
          <p:cNvSpPr/>
          <p:nvPr/>
        </p:nvSpPr>
        <p:spPr>
          <a:xfrm>
            <a:off x="5867400" y="1968500"/>
            <a:ext cx="304800" cy="304800"/>
          </a:xfrm>
          <a:prstGeom prst="rightArrow">
            <a:avLst/>
          </a:prstGeom>
          <a:solidFill>
            <a:srgbClr val="5A6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76BA3E9-0911-4E01-A8B0-8363AD6D6E7F}"/>
              </a:ext>
            </a:extLst>
          </p:cNvPr>
          <p:cNvSpPr/>
          <p:nvPr/>
        </p:nvSpPr>
        <p:spPr>
          <a:xfrm>
            <a:off x="6248400" y="1524000"/>
            <a:ext cx="2286000" cy="1219200"/>
          </a:xfrm>
          <a:prstGeom prst="roundRect">
            <a:avLst/>
          </a:prstGeom>
          <a:solidFill>
            <a:srgbClr val="1B1E24"/>
          </a:solidFill>
          <a:ln w="15875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4F34D0-59D8-46E2-9600-42501D1B4A82}"/>
              </a:ext>
            </a:extLst>
          </p:cNvPr>
          <p:cNvSpPr/>
          <p:nvPr/>
        </p:nvSpPr>
        <p:spPr>
          <a:xfrm>
            <a:off x="6248400" y="1524000"/>
            <a:ext cx="2286000" cy="508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147065-D244-40CC-9CA8-BE67A0BD4463}"/>
              </a:ext>
            </a:extLst>
          </p:cNvPr>
          <p:cNvSpPr txBox="1"/>
          <p:nvPr/>
        </p:nvSpPr>
        <p:spPr>
          <a:xfrm>
            <a:off x="6400800" y="1701800"/>
            <a:ext cx="1981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  <a:cs typeface="Segoe UI"/>
              </a:rPr>
              <a:t>Evaluation engine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77E141-DDAC-4720-880F-0A3953CDC5A0}"/>
              </a:ext>
            </a:extLst>
          </p:cNvPr>
          <p:cNvSpPr txBox="1"/>
          <p:nvPr/>
        </p:nvSpPr>
        <p:spPr>
          <a:xfrm>
            <a:off x="6375400" y="2133600"/>
            <a:ext cx="203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Runs every interval,
applies pending period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A30E912B-07D7-409F-ABD5-B32632196AF7}"/>
              </a:ext>
            </a:extLst>
          </p:cNvPr>
          <p:cNvSpPr/>
          <p:nvPr/>
        </p:nvSpPr>
        <p:spPr>
          <a:xfrm>
            <a:off x="8610600" y="1968500"/>
            <a:ext cx="304800" cy="304800"/>
          </a:xfrm>
          <a:prstGeom prst="rightArrow">
            <a:avLst/>
          </a:prstGeom>
          <a:solidFill>
            <a:srgbClr val="5A6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FD2F79A-D2EB-4875-8585-69A83A3187AF}"/>
              </a:ext>
            </a:extLst>
          </p:cNvPr>
          <p:cNvSpPr/>
          <p:nvPr/>
        </p:nvSpPr>
        <p:spPr>
          <a:xfrm>
            <a:off x="8991600" y="1524000"/>
            <a:ext cx="2438400" cy="1219200"/>
          </a:xfrm>
          <a:prstGeom prst="roundRect">
            <a:avLst/>
          </a:prstGeom>
          <a:solidFill>
            <a:srgbClr val="1B1E24"/>
          </a:solidFill>
          <a:ln w="15875" cap="flat" cmpd="sng" algn="ctr">
            <a:solidFill>
              <a:srgbClr val="F249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4EBBD3-A9CF-442F-8749-B506864FAAA2}"/>
              </a:ext>
            </a:extLst>
          </p:cNvPr>
          <p:cNvSpPr/>
          <p:nvPr/>
        </p:nvSpPr>
        <p:spPr>
          <a:xfrm>
            <a:off x="8991600" y="1524000"/>
            <a:ext cx="2438400" cy="50800"/>
          </a:xfrm>
          <a:prstGeom prst="rect">
            <a:avLst/>
          </a:prstGeom>
          <a:solidFill>
            <a:srgbClr val="F249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8A1E79-98C4-46B0-A690-EF5CB6B7235B}"/>
              </a:ext>
            </a:extLst>
          </p:cNvPr>
          <p:cNvSpPr txBox="1"/>
          <p:nvPr/>
        </p:nvSpPr>
        <p:spPr>
          <a:xfrm>
            <a:off x="9144000" y="1701800"/>
            <a:ext cx="21336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  <a:cs typeface="Segoe UI"/>
              </a:rPr>
              <a:t>Alert instances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1B3089-89BE-424D-B7D9-DECE91E71E30}"/>
              </a:ext>
            </a:extLst>
          </p:cNvPr>
          <p:cNvSpPr txBox="1"/>
          <p:nvPr/>
        </p:nvSpPr>
        <p:spPr>
          <a:xfrm>
            <a:off x="9118600" y="2133600"/>
            <a:ext cx="2184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One per label set,
each with a state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17CF4141-E6DC-40EA-9DAC-172855E884C6}"/>
              </a:ext>
            </a:extLst>
          </p:cNvPr>
          <p:cNvSpPr/>
          <p:nvPr/>
        </p:nvSpPr>
        <p:spPr>
          <a:xfrm>
            <a:off x="10033000" y="2819400"/>
            <a:ext cx="330200" cy="330200"/>
          </a:xfrm>
          <a:prstGeom prst="downArrow">
            <a:avLst/>
          </a:prstGeom>
          <a:solidFill>
            <a:srgbClr val="5A6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89CD81-76CD-4B21-A7DB-86C8B4A335E8}"/>
              </a:ext>
            </a:extLst>
          </p:cNvPr>
          <p:cNvSpPr txBox="1"/>
          <p:nvPr/>
        </p:nvSpPr>
        <p:spPr>
          <a:xfrm>
            <a:off x="8128000" y="3175000"/>
            <a:ext cx="330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73BF69"/>
                </a:solidFill>
                <a:latin typeface="Segoe UI"/>
                <a:cs typeface="Segoe UI"/>
              </a:rPr>
              <a:t>2 - NOTIFICATION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D87A1C7-8A0F-48F1-97F7-EFA129A30359}"/>
              </a:ext>
            </a:extLst>
          </p:cNvPr>
          <p:cNvSpPr/>
          <p:nvPr/>
        </p:nvSpPr>
        <p:spPr>
          <a:xfrm>
            <a:off x="8128000" y="3530600"/>
            <a:ext cx="3302000" cy="1219200"/>
          </a:xfrm>
          <a:prstGeom prst="roundRect">
            <a:avLst/>
          </a:prstGeom>
          <a:solidFill>
            <a:srgbClr val="1B1E24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2945E42-1D4D-4BF9-A2B9-5E078044AFA7}"/>
              </a:ext>
            </a:extLst>
          </p:cNvPr>
          <p:cNvSpPr/>
          <p:nvPr/>
        </p:nvSpPr>
        <p:spPr>
          <a:xfrm>
            <a:off x="8128000" y="3530600"/>
            <a:ext cx="3302000" cy="508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8B8345-74E1-4FCC-941E-CBDF5867291A}"/>
              </a:ext>
            </a:extLst>
          </p:cNvPr>
          <p:cNvSpPr txBox="1"/>
          <p:nvPr/>
        </p:nvSpPr>
        <p:spPr>
          <a:xfrm>
            <a:off x="8280400" y="3708400"/>
            <a:ext cx="2997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  <a:cs typeface="Segoe UI"/>
              </a:rPr>
              <a:t>Grafana Alertmanager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A19DFF-99F7-4048-A26B-0058772A6502}"/>
              </a:ext>
            </a:extLst>
          </p:cNvPr>
          <p:cNvSpPr txBox="1"/>
          <p:nvPr/>
        </p:nvSpPr>
        <p:spPr>
          <a:xfrm>
            <a:off x="8255000" y="4140200"/>
            <a:ext cx="304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Group, deduplicate,
silence, mute timing</a:t>
            </a:r>
          </a:p>
        </p:txBody>
      </p:sp>
      <p:sp>
        <p:nvSpPr>
          <p:cNvPr id="30" name="Arrow: Left 29">
            <a:extLst>
              <a:ext uri="{FF2B5EF4-FFF2-40B4-BE49-F238E27FC236}">
                <a16:creationId xmlns:a16="http://schemas.microsoft.com/office/drawing/2014/main" id="{E9BBFA9A-4944-491C-946A-94EB22489B8B}"/>
              </a:ext>
            </a:extLst>
          </p:cNvPr>
          <p:cNvSpPr/>
          <p:nvPr/>
        </p:nvSpPr>
        <p:spPr>
          <a:xfrm>
            <a:off x="7620000" y="3987800"/>
            <a:ext cx="330200" cy="330200"/>
          </a:xfrm>
          <a:prstGeom prst="leftArrow">
            <a:avLst/>
          </a:prstGeom>
          <a:solidFill>
            <a:srgbClr val="5A6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72687C8-D961-4819-AD78-FBBF782ABAAE}"/>
              </a:ext>
            </a:extLst>
          </p:cNvPr>
          <p:cNvSpPr/>
          <p:nvPr/>
        </p:nvSpPr>
        <p:spPr>
          <a:xfrm>
            <a:off x="4445000" y="3530600"/>
            <a:ext cx="3048000" cy="1219200"/>
          </a:xfrm>
          <a:prstGeom prst="roundRect">
            <a:avLst/>
          </a:prstGeom>
          <a:solidFill>
            <a:srgbClr val="1B1E24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C07D413-C226-4184-8C9D-A4051DC6F52F}"/>
              </a:ext>
            </a:extLst>
          </p:cNvPr>
          <p:cNvSpPr/>
          <p:nvPr/>
        </p:nvSpPr>
        <p:spPr>
          <a:xfrm>
            <a:off x="4445000" y="3530600"/>
            <a:ext cx="3048000" cy="508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11EA3E-2FA2-46B8-B7B9-C4360E80FF1C}"/>
              </a:ext>
            </a:extLst>
          </p:cNvPr>
          <p:cNvSpPr txBox="1"/>
          <p:nvPr/>
        </p:nvSpPr>
        <p:spPr>
          <a:xfrm>
            <a:off x="4597400" y="3708400"/>
            <a:ext cx="2743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  <a:cs typeface="Segoe UI"/>
              </a:rPr>
              <a:t>Notification policies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FCB9B7-4B76-47C5-88B0-7C4E4AA7549E}"/>
              </a:ext>
            </a:extLst>
          </p:cNvPr>
          <p:cNvSpPr txBox="1"/>
          <p:nvPr/>
        </p:nvSpPr>
        <p:spPr>
          <a:xfrm>
            <a:off x="4572000" y="4140200"/>
            <a:ext cx="279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Label matchers route
each group to a target</a:t>
            </a:r>
          </a:p>
        </p:txBody>
      </p:sp>
      <p:sp>
        <p:nvSpPr>
          <p:cNvPr id="35" name="Arrow: Left 34">
            <a:extLst>
              <a:ext uri="{FF2B5EF4-FFF2-40B4-BE49-F238E27FC236}">
                <a16:creationId xmlns:a16="http://schemas.microsoft.com/office/drawing/2014/main" id="{B647E30E-925E-4001-851B-421DD3BD9CD5}"/>
              </a:ext>
            </a:extLst>
          </p:cNvPr>
          <p:cNvSpPr/>
          <p:nvPr/>
        </p:nvSpPr>
        <p:spPr>
          <a:xfrm>
            <a:off x="3937000" y="3987800"/>
            <a:ext cx="330200" cy="330200"/>
          </a:xfrm>
          <a:prstGeom prst="leftArrow">
            <a:avLst/>
          </a:prstGeom>
          <a:solidFill>
            <a:srgbClr val="5A61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8A9B06D-86E5-448E-9197-C1C22D2F3FBF}"/>
              </a:ext>
            </a:extLst>
          </p:cNvPr>
          <p:cNvSpPr/>
          <p:nvPr/>
        </p:nvSpPr>
        <p:spPr>
          <a:xfrm>
            <a:off x="762000" y="3530600"/>
            <a:ext cx="3048000" cy="1219200"/>
          </a:xfrm>
          <a:prstGeom prst="roundRect">
            <a:avLst/>
          </a:prstGeom>
          <a:solidFill>
            <a:srgbClr val="1B1E24"/>
          </a:solidFill>
          <a:ln w="15875" cap="flat" cmpd="sng" algn="ctr">
            <a:solidFill>
              <a:srgbClr val="B877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32125AB-8A08-41CC-98AB-4F4CE595B21F}"/>
              </a:ext>
            </a:extLst>
          </p:cNvPr>
          <p:cNvSpPr/>
          <p:nvPr/>
        </p:nvSpPr>
        <p:spPr>
          <a:xfrm>
            <a:off x="762000" y="3530600"/>
            <a:ext cx="3048000" cy="50800"/>
          </a:xfrm>
          <a:prstGeom prst="rect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C78806-6AB0-410D-8842-483C648DF069}"/>
              </a:ext>
            </a:extLst>
          </p:cNvPr>
          <p:cNvSpPr txBox="1"/>
          <p:nvPr/>
        </p:nvSpPr>
        <p:spPr>
          <a:xfrm>
            <a:off x="914400" y="3708400"/>
            <a:ext cx="27432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  <a:cs typeface="Segoe UI"/>
              </a:rPr>
              <a:t>Contact points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34F6E8-27A2-41E7-8731-28494E7E95F6}"/>
              </a:ext>
            </a:extLst>
          </p:cNvPr>
          <p:cNvSpPr txBox="1"/>
          <p:nvPr/>
        </p:nvSpPr>
        <p:spPr>
          <a:xfrm>
            <a:off x="889000" y="4140200"/>
            <a:ext cx="279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Email, Slack, Teams,
Webhook, PagerDuty…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1204500-9B8F-4BF3-BEC7-91CE03C671D5}"/>
              </a:ext>
            </a:extLst>
          </p:cNvPr>
          <p:cNvSpPr/>
          <p:nvPr/>
        </p:nvSpPr>
        <p:spPr>
          <a:xfrm>
            <a:off x="762000" y="4978400"/>
            <a:ext cx="10668000" cy="1244600"/>
          </a:xfrm>
          <a:prstGeom prst="roundRect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E3D9543-903C-4A47-BC7F-823DC685C8E5}"/>
              </a:ext>
            </a:extLst>
          </p:cNvPr>
          <p:cNvSpPr txBox="1"/>
          <p:nvPr/>
        </p:nvSpPr>
        <p:spPr>
          <a:xfrm>
            <a:off x="1016000" y="5130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Instance states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C6D7397-EE64-4E5A-87B3-DE1858CE8AC7}"/>
              </a:ext>
            </a:extLst>
          </p:cNvPr>
          <p:cNvSpPr/>
          <p:nvPr/>
        </p:nvSpPr>
        <p:spPr>
          <a:xfrm>
            <a:off x="1016000" y="5486400"/>
            <a:ext cx="1524000" cy="381000"/>
          </a:xfrm>
          <a:prstGeom prst="roundRect">
            <a:avLst/>
          </a:prstGeom>
          <a:solidFill>
            <a:srgbClr val="111217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73BF69"/>
                </a:solidFill>
                <a:latin typeface="Segoe UI"/>
                <a:cs typeface="Segoe UI"/>
              </a:rPr>
              <a:t>Normal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54592FB-C9EE-4D37-A1F5-656DE2638CB3}"/>
              </a:ext>
            </a:extLst>
          </p:cNvPr>
          <p:cNvSpPr/>
          <p:nvPr/>
        </p:nvSpPr>
        <p:spPr>
          <a:xfrm>
            <a:off x="2692400" y="5486400"/>
            <a:ext cx="1524000" cy="381000"/>
          </a:xfrm>
          <a:prstGeom prst="roundRect">
            <a:avLst/>
          </a:prstGeom>
          <a:solidFill>
            <a:srgbClr val="111217"/>
          </a:solidFill>
          <a:ln w="15875" cap="flat" cmpd="sng" algn="ctr">
            <a:solidFill>
              <a:srgbClr val="FADE2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ADE2A"/>
                </a:solidFill>
                <a:latin typeface="Segoe UI"/>
                <a:cs typeface="Segoe UI"/>
              </a:rPr>
              <a:t>Pending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0328C9C-F0B2-46FA-A0BF-9F5B780F54A7}"/>
              </a:ext>
            </a:extLst>
          </p:cNvPr>
          <p:cNvSpPr/>
          <p:nvPr/>
        </p:nvSpPr>
        <p:spPr>
          <a:xfrm>
            <a:off x="4368800" y="5486400"/>
            <a:ext cx="1524000" cy="381000"/>
          </a:xfrm>
          <a:prstGeom prst="roundRect">
            <a:avLst/>
          </a:prstGeom>
          <a:solidFill>
            <a:srgbClr val="111217"/>
          </a:solidFill>
          <a:ln w="15875" cap="flat" cmpd="sng" algn="ctr">
            <a:solidFill>
              <a:srgbClr val="F249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2495C"/>
                </a:solidFill>
                <a:latin typeface="Segoe UI"/>
                <a:cs typeface="Segoe UI"/>
              </a:rPr>
              <a:t>Alerting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15C841E-D00F-42A3-8EF5-E2E84FE14114}"/>
              </a:ext>
            </a:extLst>
          </p:cNvPr>
          <p:cNvSpPr/>
          <p:nvPr/>
        </p:nvSpPr>
        <p:spPr>
          <a:xfrm>
            <a:off x="6045200" y="5486400"/>
            <a:ext cx="1524000" cy="381000"/>
          </a:xfrm>
          <a:prstGeom prst="roundRect">
            <a:avLst/>
          </a:prstGeom>
          <a:solidFill>
            <a:srgbClr val="111217"/>
          </a:solidFill>
          <a:ln w="15875" cap="flat" cmpd="sng" algn="ctr">
            <a:solidFill>
              <a:srgbClr val="6E9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6E9FFF"/>
                </a:solidFill>
                <a:latin typeface="Segoe UI"/>
                <a:cs typeface="Segoe UI"/>
              </a:rPr>
              <a:t>No Data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86CA2607-56AC-4090-B44C-AFBDBD466488}"/>
              </a:ext>
            </a:extLst>
          </p:cNvPr>
          <p:cNvSpPr/>
          <p:nvPr/>
        </p:nvSpPr>
        <p:spPr>
          <a:xfrm>
            <a:off x="7721600" y="5486400"/>
            <a:ext cx="1524000" cy="381000"/>
          </a:xfrm>
          <a:prstGeom prst="roundRect">
            <a:avLst/>
          </a:prstGeom>
          <a:solidFill>
            <a:srgbClr val="111217"/>
          </a:solidFill>
          <a:ln w="15875" cap="flat" cmpd="sng" algn="ctr">
            <a:solidFill>
              <a:srgbClr val="B877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B877D9"/>
                </a:solidFill>
                <a:latin typeface="Segoe UI"/>
                <a:cs typeface="Segoe UI"/>
              </a:rPr>
              <a:t>Error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CC1152-17D2-4FA2-94CB-C455E485D02B}"/>
              </a:ext>
            </a:extLst>
          </p:cNvPr>
          <p:cNvSpPr txBox="1"/>
          <p:nvPr/>
        </p:nvSpPr>
        <p:spPr>
          <a:xfrm>
            <a:off x="1016000" y="5969000"/>
            <a:ext cx="990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A rule only notifies once an instance has been Alerting for the whole pending period.</a:t>
            </a:r>
          </a:p>
        </p:txBody>
      </p:sp>
    </p:spTree>
    <p:extLst>
      <p:ext uri="{BB962C8B-B14F-4D97-AF65-F5344CB8AC3E}">
        <p14:creationId xmlns:p14="http://schemas.microsoft.com/office/powerpoint/2010/main" val="2467762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327C1-F31B-5E01-7CF9-2E5A836BB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2600"/>
            <a:ext cx="10668000" cy="584200"/>
          </a:xfrm>
        </p:spPr>
        <p:txBody>
          <a:bodyPr>
            <a:normAutofit/>
          </a:bodyPr>
          <a:lstStyle/>
          <a:p>
            <a:r>
              <a:rPr lang="en-US" sz="3000" b="1"/>
              <a:t>Anatomy of an Alert Rule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AE0228-7395-4F54-BE9D-0C3AB76CCD30}"/>
              </a:ext>
            </a:extLst>
          </p:cNvPr>
          <p:cNvSpPr/>
          <p:nvPr/>
        </p:nvSpPr>
        <p:spPr>
          <a:xfrm>
            <a:off x="762000" y="1143000"/>
            <a:ext cx="889000" cy="381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C10DFA-10D4-47A4-81A8-A8D01931730D}"/>
              </a:ext>
            </a:extLst>
          </p:cNvPr>
          <p:cNvSpPr/>
          <p:nvPr/>
        </p:nvSpPr>
        <p:spPr>
          <a:xfrm>
            <a:off x="762000" y="1422400"/>
            <a:ext cx="5969000" cy="7366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BCD3647-221D-4A75-90ED-1FB20587127A}"/>
              </a:ext>
            </a:extLst>
          </p:cNvPr>
          <p:cNvSpPr/>
          <p:nvPr/>
        </p:nvSpPr>
        <p:spPr>
          <a:xfrm>
            <a:off x="965200" y="1625600"/>
            <a:ext cx="330200" cy="330200"/>
          </a:xfrm>
          <a:prstGeom prst="ellipse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31217F-0C5B-45E1-9B85-943734A3CBC7}"/>
              </a:ext>
            </a:extLst>
          </p:cNvPr>
          <p:cNvSpPr txBox="1"/>
          <p:nvPr/>
        </p:nvSpPr>
        <p:spPr>
          <a:xfrm>
            <a:off x="1447800" y="1524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Name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7439DF-119B-4D92-9CC6-8FE48FE3A3F8}"/>
              </a:ext>
            </a:extLst>
          </p:cNvPr>
          <p:cNvSpPr txBox="1"/>
          <p:nvPr/>
        </p:nvSpPr>
        <p:spPr>
          <a:xfrm>
            <a:off x="1447800" y="18034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What breaks, in plain words: "API p95 latency above 1s"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1F1E206-FE98-41F6-BB3E-F3BFD7E20E38}"/>
              </a:ext>
            </a:extLst>
          </p:cNvPr>
          <p:cNvSpPr/>
          <p:nvPr/>
        </p:nvSpPr>
        <p:spPr>
          <a:xfrm>
            <a:off x="762000" y="2235200"/>
            <a:ext cx="5969000" cy="7366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55C2015-A278-4AED-8BB0-49E2BF0A3C86}"/>
              </a:ext>
            </a:extLst>
          </p:cNvPr>
          <p:cNvSpPr/>
          <p:nvPr/>
        </p:nvSpPr>
        <p:spPr>
          <a:xfrm>
            <a:off x="965200" y="2438400"/>
            <a:ext cx="330200" cy="330200"/>
          </a:xfrm>
          <a:prstGeom prst="ellipse">
            <a:avLst/>
          </a:prstGeom>
          <a:solidFill>
            <a:srgbClr val="6E9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03873D-386E-4869-9F8C-DD8264DEC004}"/>
              </a:ext>
            </a:extLst>
          </p:cNvPr>
          <p:cNvSpPr txBox="1"/>
          <p:nvPr/>
        </p:nvSpPr>
        <p:spPr>
          <a:xfrm>
            <a:off x="1447800" y="23368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Query &amp; condition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83909D-91D8-43CA-BF69-23FF1D040528}"/>
              </a:ext>
            </a:extLst>
          </p:cNvPr>
          <p:cNvSpPr txBox="1"/>
          <p:nvPr/>
        </p:nvSpPr>
        <p:spPr>
          <a:xfrm>
            <a:off x="1447800" y="26162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B4BCC6"/>
                </a:solidFill>
                <a:latin typeface="Segoe UI"/>
                <a:cs typeface="Segoe UI"/>
              </a:rPr>
              <a:t>Query A, Reduce B, Threshold C - C is the alert condition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F9D66AD-E565-4B8F-8AA4-8F4183FE63D3}"/>
              </a:ext>
            </a:extLst>
          </p:cNvPr>
          <p:cNvSpPr/>
          <p:nvPr/>
        </p:nvSpPr>
        <p:spPr>
          <a:xfrm>
            <a:off x="762000" y="3048000"/>
            <a:ext cx="5969000" cy="7366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6328865-1C7D-4E36-BD55-6F17894E970A}"/>
              </a:ext>
            </a:extLst>
          </p:cNvPr>
          <p:cNvSpPr/>
          <p:nvPr/>
        </p:nvSpPr>
        <p:spPr>
          <a:xfrm>
            <a:off x="965200" y="3251200"/>
            <a:ext cx="330200" cy="330200"/>
          </a:xfrm>
          <a:prstGeom prst="ellipse">
            <a:avLst/>
          </a:prstGeom>
          <a:solidFill>
            <a:srgbClr val="6E9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069896-BEB3-4551-AE4C-B8EF7B5477BD}"/>
              </a:ext>
            </a:extLst>
          </p:cNvPr>
          <p:cNvSpPr txBox="1"/>
          <p:nvPr/>
        </p:nvSpPr>
        <p:spPr>
          <a:xfrm>
            <a:off x="1447800" y="3149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Folder &amp; evaluation group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BA0131-6F40-49DE-A4BC-502473D4FC3E}"/>
              </a:ext>
            </a:extLst>
          </p:cNvPr>
          <p:cNvSpPr txBox="1"/>
          <p:nvPr/>
        </p:nvSpPr>
        <p:spPr>
          <a:xfrm>
            <a:off x="1447800" y="3429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Rules in one group evaluate together, in order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3A2ACA0-A43F-4920-857D-BFCAEE2C5E2C}"/>
              </a:ext>
            </a:extLst>
          </p:cNvPr>
          <p:cNvSpPr/>
          <p:nvPr/>
        </p:nvSpPr>
        <p:spPr>
          <a:xfrm>
            <a:off x="762000" y="3860800"/>
            <a:ext cx="5969000" cy="7366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E6034E2-23CE-4F4B-8D07-F3668122CA53}"/>
              </a:ext>
            </a:extLst>
          </p:cNvPr>
          <p:cNvSpPr/>
          <p:nvPr/>
        </p:nvSpPr>
        <p:spPr>
          <a:xfrm>
            <a:off x="965200" y="4064000"/>
            <a:ext cx="330200" cy="330200"/>
          </a:xfrm>
          <a:prstGeom prst="ellipse">
            <a:avLst/>
          </a:prstGeom>
          <a:solidFill>
            <a:srgbClr val="FADE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48A946-68B0-4E37-943D-88D029D826A6}"/>
              </a:ext>
            </a:extLst>
          </p:cNvPr>
          <p:cNvSpPr txBox="1"/>
          <p:nvPr/>
        </p:nvSpPr>
        <p:spPr>
          <a:xfrm>
            <a:off x="1447800" y="39624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Evaluation behaviour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10D614-C989-4C37-84FF-804C0A4EF18F}"/>
              </a:ext>
            </a:extLst>
          </p:cNvPr>
          <p:cNvSpPr txBox="1"/>
          <p:nvPr/>
        </p:nvSpPr>
        <p:spPr>
          <a:xfrm>
            <a:off x="1447800" y="42418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Interval (how often) + pending period (how long before firing)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49AE94D-5D4A-4664-92F1-741A402659C0}"/>
              </a:ext>
            </a:extLst>
          </p:cNvPr>
          <p:cNvSpPr/>
          <p:nvPr/>
        </p:nvSpPr>
        <p:spPr>
          <a:xfrm>
            <a:off x="762000" y="4673600"/>
            <a:ext cx="5969000" cy="7366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2BDB860-38BF-40AF-A242-0B1EA11F4873}"/>
              </a:ext>
            </a:extLst>
          </p:cNvPr>
          <p:cNvSpPr/>
          <p:nvPr/>
        </p:nvSpPr>
        <p:spPr>
          <a:xfrm>
            <a:off x="965200" y="4876800"/>
            <a:ext cx="330200" cy="330200"/>
          </a:xfrm>
          <a:prstGeom prst="ellipse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E91EF4-6701-409B-BC7E-440B2E26A2FD}"/>
              </a:ext>
            </a:extLst>
          </p:cNvPr>
          <p:cNvSpPr txBox="1"/>
          <p:nvPr/>
        </p:nvSpPr>
        <p:spPr>
          <a:xfrm>
            <a:off x="1447800" y="47752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Labels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220E70-6AB3-4586-817F-19A40DAE0D68}"/>
              </a:ext>
            </a:extLst>
          </p:cNvPr>
          <p:cNvSpPr txBox="1"/>
          <p:nvPr/>
        </p:nvSpPr>
        <p:spPr>
          <a:xfrm>
            <a:off x="1447800" y="5054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B4BCC6"/>
                </a:solidFill>
                <a:latin typeface="Segoe UI"/>
                <a:cs typeface="Segoe UI"/>
              </a:rPr>
              <a:t>Route the alert: severity, team, env - matchers use these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5F72F94-BC21-4C19-9528-9019B0785F7C}"/>
              </a:ext>
            </a:extLst>
          </p:cNvPr>
          <p:cNvSpPr/>
          <p:nvPr/>
        </p:nvSpPr>
        <p:spPr>
          <a:xfrm>
            <a:off x="762000" y="5486400"/>
            <a:ext cx="5969000" cy="7366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0A69DDD-72FD-4EA8-BABC-4F81FA07E799}"/>
              </a:ext>
            </a:extLst>
          </p:cNvPr>
          <p:cNvSpPr/>
          <p:nvPr/>
        </p:nvSpPr>
        <p:spPr>
          <a:xfrm>
            <a:off x="965200" y="5689600"/>
            <a:ext cx="330200" cy="3302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78AAED-51FB-4C2E-AC7C-18EC0FB839B0}"/>
              </a:ext>
            </a:extLst>
          </p:cNvPr>
          <p:cNvSpPr txBox="1"/>
          <p:nvPr/>
        </p:nvSpPr>
        <p:spPr>
          <a:xfrm>
            <a:off x="1447800" y="5588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Annotations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AEC57E-50B0-43F4-AB5B-1F59E46EC734}"/>
              </a:ext>
            </a:extLst>
          </p:cNvPr>
          <p:cNvSpPr txBox="1"/>
          <p:nvPr/>
        </p:nvSpPr>
        <p:spPr>
          <a:xfrm>
            <a:off x="1447800" y="58674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Human context: summary, description, runbook_url, dashboardUId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E904E3A-3B81-45DA-ABBE-B46EA43C9A58}"/>
              </a:ext>
            </a:extLst>
          </p:cNvPr>
          <p:cNvSpPr/>
          <p:nvPr/>
        </p:nvSpPr>
        <p:spPr>
          <a:xfrm>
            <a:off x="6985000" y="1422400"/>
            <a:ext cx="4445000" cy="4800600"/>
          </a:xfrm>
          <a:prstGeom prst="roundRect">
            <a:avLst/>
          </a:prstGeom>
          <a:solidFill>
            <a:srgbClr val="0B0C0E"/>
          </a:solidFill>
          <a:ln w="15875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5254D6-37F5-47C0-9997-6791BA0B076E}"/>
              </a:ext>
            </a:extLst>
          </p:cNvPr>
          <p:cNvSpPr txBox="1"/>
          <p:nvPr/>
        </p:nvSpPr>
        <p:spPr>
          <a:xfrm>
            <a:off x="7239000" y="1600200"/>
            <a:ext cx="393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8800"/>
                </a:solidFill>
                <a:latin typeface="Segoe UI"/>
                <a:cs typeface="Segoe UI"/>
              </a:rPr>
              <a:t>Example rule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A93550-211E-409C-8A07-0F53A8233599}"/>
              </a:ext>
            </a:extLst>
          </p:cNvPr>
          <p:cNvSpPr txBox="1"/>
          <p:nvPr/>
        </p:nvSpPr>
        <p:spPr>
          <a:xfrm>
            <a:off x="7239000" y="2006600"/>
            <a:ext cx="3937000" cy="406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FD48A"/>
                </a:solidFill>
                <a:latin typeface="Consolas"/>
              </a:rPr>
              <a:t>A  histogram_quantile(0.95,
     sum by (le) (rate(
     http_duration_bucket[5m])))
B  Reduce  -&gt;  Last
C  Threshold  -&gt;  B &gt; 1
Evaluate every 1m for 5m
Labels
  severity = critical
  team = platform
Annotations
  summary = API p95 over 1s
  runbook_url = wiki/api-slow</a:t>
            </a:r>
          </a:p>
        </p:txBody>
      </p:sp>
    </p:spTree>
    <p:extLst>
      <p:ext uri="{BB962C8B-B14F-4D97-AF65-F5344CB8AC3E}">
        <p14:creationId xmlns:p14="http://schemas.microsoft.com/office/powerpoint/2010/main" val="3001248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DF53C-E1D8-F1BA-30DD-6ED82B1AB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06400"/>
            <a:ext cx="10668000" cy="533400"/>
          </a:xfrm>
        </p:spPr>
        <p:txBody>
          <a:bodyPr>
            <a:normAutofit/>
          </a:bodyPr>
          <a:lstStyle/>
          <a:p>
            <a:r>
              <a:rPr lang="en-US" sz="3000" b="1" dirty="0"/>
              <a:t>Alert Evaluation - Interval and Pending Period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EB739F-CF56-4F47-9FEB-496A8745B224}"/>
              </a:ext>
            </a:extLst>
          </p:cNvPr>
          <p:cNvSpPr/>
          <p:nvPr/>
        </p:nvSpPr>
        <p:spPr>
          <a:xfrm>
            <a:off x="762000" y="1016000"/>
            <a:ext cx="889000" cy="381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3505D6-C4ED-4BE6-9528-B4553B75105E}"/>
              </a:ext>
            </a:extLst>
          </p:cNvPr>
          <p:cNvSpPr txBox="1"/>
          <p:nvPr/>
        </p:nvSpPr>
        <p:spPr>
          <a:xfrm>
            <a:off x="762000" y="12192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4BCC6"/>
                </a:solidFill>
                <a:latin typeface="Segoe UI"/>
                <a:cs typeface="Segoe UI"/>
              </a:rPr>
              <a:t>Rule: evaluate every 1m, pending period 3m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8AE2153-99A5-4E80-9FD0-883BC8652DCE}"/>
              </a:ext>
            </a:extLst>
          </p:cNvPr>
          <p:cNvSpPr/>
          <p:nvPr/>
        </p:nvSpPr>
        <p:spPr>
          <a:xfrm>
            <a:off x="762000" y="1600200"/>
            <a:ext cx="838200" cy="558800"/>
          </a:xfrm>
          <a:prstGeom prst="roundRect">
            <a:avLst/>
          </a:prstGeom>
          <a:solidFill>
            <a:srgbClr val="111217"/>
          </a:solidFill>
          <a:ln w="19050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73BF69"/>
                </a:solidFill>
                <a:latin typeface="Segoe UI"/>
                <a:cs typeface="Segoe UI"/>
              </a:rPr>
              <a:t>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89847A-4163-48F3-89AB-A87D2FEF03B6}"/>
              </a:ext>
            </a:extLst>
          </p:cNvPr>
          <p:cNvSpPr txBox="1"/>
          <p:nvPr/>
        </p:nvSpPr>
        <p:spPr>
          <a:xfrm>
            <a:off x="762000" y="2209800"/>
            <a:ext cx="838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t+0m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2F20F0-8DDF-4B2D-A48D-F27C23D69219}"/>
              </a:ext>
            </a:extLst>
          </p:cNvPr>
          <p:cNvSpPr/>
          <p:nvPr/>
        </p:nvSpPr>
        <p:spPr>
          <a:xfrm>
            <a:off x="1651000" y="1600200"/>
            <a:ext cx="838200" cy="558800"/>
          </a:xfrm>
          <a:prstGeom prst="roundRect">
            <a:avLst/>
          </a:prstGeom>
          <a:solidFill>
            <a:srgbClr val="111217"/>
          </a:solidFill>
          <a:ln w="19050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73BF69"/>
                </a:solidFill>
                <a:latin typeface="Segoe UI"/>
                <a:cs typeface="Segoe UI"/>
              </a:rPr>
              <a:t>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30D704-F299-41ED-A31F-2D94167F88DD}"/>
              </a:ext>
            </a:extLst>
          </p:cNvPr>
          <p:cNvSpPr txBox="1"/>
          <p:nvPr/>
        </p:nvSpPr>
        <p:spPr>
          <a:xfrm>
            <a:off x="1651000" y="2209800"/>
            <a:ext cx="838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t+1m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0A837B-07E8-442A-A1D9-D8DAFAD983BD}"/>
              </a:ext>
            </a:extLst>
          </p:cNvPr>
          <p:cNvSpPr/>
          <p:nvPr/>
        </p:nvSpPr>
        <p:spPr>
          <a:xfrm>
            <a:off x="2540000" y="1600200"/>
            <a:ext cx="838200" cy="558800"/>
          </a:xfrm>
          <a:prstGeom prst="roundRect">
            <a:avLst/>
          </a:prstGeom>
          <a:solidFill>
            <a:srgbClr val="111217"/>
          </a:solidFill>
          <a:ln w="19050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73BF69"/>
                </a:solidFill>
                <a:latin typeface="Segoe UI"/>
                <a:cs typeface="Segoe UI"/>
              </a:rPr>
              <a:t>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29CFE6-C96E-4BB5-BA05-CD3171E1A971}"/>
              </a:ext>
            </a:extLst>
          </p:cNvPr>
          <p:cNvSpPr txBox="1"/>
          <p:nvPr/>
        </p:nvSpPr>
        <p:spPr>
          <a:xfrm>
            <a:off x="2540000" y="2209800"/>
            <a:ext cx="838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t+2m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E84246-3F77-44B7-9296-88F172D5E37D}"/>
              </a:ext>
            </a:extLst>
          </p:cNvPr>
          <p:cNvSpPr/>
          <p:nvPr/>
        </p:nvSpPr>
        <p:spPr>
          <a:xfrm>
            <a:off x="3429000" y="1600200"/>
            <a:ext cx="838200" cy="558800"/>
          </a:xfrm>
          <a:prstGeom prst="roundRect">
            <a:avLst/>
          </a:prstGeom>
          <a:solidFill>
            <a:srgbClr val="111217"/>
          </a:solidFill>
          <a:ln w="19050" cap="flat" cmpd="sng" algn="ctr">
            <a:solidFill>
              <a:srgbClr val="FADE2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ADE2A"/>
                </a:solidFill>
                <a:latin typeface="Segoe UI"/>
                <a:cs typeface="Segoe UI"/>
              </a:rPr>
              <a:t>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106441-5312-40C9-8492-A58560F97A4A}"/>
              </a:ext>
            </a:extLst>
          </p:cNvPr>
          <p:cNvSpPr txBox="1"/>
          <p:nvPr/>
        </p:nvSpPr>
        <p:spPr>
          <a:xfrm>
            <a:off x="3429000" y="2209800"/>
            <a:ext cx="838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t+3m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1A5B52-657F-445C-B9C3-207DE9EC6F6E}"/>
              </a:ext>
            </a:extLst>
          </p:cNvPr>
          <p:cNvSpPr/>
          <p:nvPr/>
        </p:nvSpPr>
        <p:spPr>
          <a:xfrm>
            <a:off x="4318000" y="1600200"/>
            <a:ext cx="838200" cy="558800"/>
          </a:xfrm>
          <a:prstGeom prst="roundRect">
            <a:avLst/>
          </a:prstGeom>
          <a:solidFill>
            <a:srgbClr val="111217"/>
          </a:solidFill>
          <a:ln w="19050" cap="flat" cmpd="sng" algn="ctr">
            <a:solidFill>
              <a:srgbClr val="FADE2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ADE2A"/>
                </a:solidFill>
                <a:latin typeface="Segoe UI"/>
                <a:cs typeface="Segoe UI"/>
              </a:rPr>
              <a:t>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EA854F-4F0C-4AA9-9A0D-3E1FC810D7EB}"/>
              </a:ext>
            </a:extLst>
          </p:cNvPr>
          <p:cNvSpPr txBox="1"/>
          <p:nvPr/>
        </p:nvSpPr>
        <p:spPr>
          <a:xfrm>
            <a:off x="4318000" y="2209800"/>
            <a:ext cx="838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t+4m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548D22C-6A64-4632-8D75-0D79AC306CC2}"/>
              </a:ext>
            </a:extLst>
          </p:cNvPr>
          <p:cNvSpPr/>
          <p:nvPr/>
        </p:nvSpPr>
        <p:spPr>
          <a:xfrm>
            <a:off x="5207000" y="1600200"/>
            <a:ext cx="838200" cy="558800"/>
          </a:xfrm>
          <a:prstGeom prst="roundRect">
            <a:avLst/>
          </a:prstGeom>
          <a:solidFill>
            <a:srgbClr val="111217"/>
          </a:solidFill>
          <a:ln w="19050" cap="flat" cmpd="sng" algn="ctr">
            <a:solidFill>
              <a:srgbClr val="FADE2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ADE2A"/>
                </a:solidFill>
                <a:latin typeface="Segoe UI"/>
                <a:cs typeface="Segoe UI"/>
              </a:rPr>
              <a:t>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62AF65-4B9C-4473-B14B-7492940A2002}"/>
              </a:ext>
            </a:extLst>
          </p:cNvPr>
          <p:cNvSpPr txBox="1"/>
          <p:nvPr/>
        </p:nvSpPr>
        <p:spPr>
          <a:xfrm>
            <a:off x="5207000" y="2209800"/>
            <a:ext cx="838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t+5m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A4A1594-59DA-4BA8-AC16-ADA3C965F40A}"/>
              </a:ext>
            </a:extLst>
          </p:cNvPr>
          <p:cNvSpPr/>
          <p:nvPr/>
        </p:nvSpPr>
        <p:spPr>
          <a:xfrm>
            <a:off x="6096000" y="1600200"/>
            <a:ext cx="838200" cy="558800"/>
          </a:xfrm>
          <a:prstGeom prst="roundRect">
            <a:avLst/>
          </a:prstGeom>
          <a:solidFill>
            <a:srgbClr val="111217"/>
          </a:solidFill>
          <a:ln w="19050" cap="flat" cmpd="sng" algn="ctr">
            <a:solidFill>
              <a:srgbClr val="F249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2495C"/>
                </a:solidFill>
                <a:latin typeface="Segoe UI"/>
                <a:cs typeface="Segoe UI"/>
              </a:rPr>
              <a:t>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F5FBAD-6DE6-49B9-8589-548D65732484}"/>
              </a:ext>
            </a:extLst>
          </p:cNvPr>
          <p:cNvSpPr txBox="1"/>
          <p:nvPr/>
        </p:nvSpPr>
        <p:spPr>
          <a:xfrm>
            <a:off x="6096000" y="2209800"/>
            <a:ext cx="838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t+6m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DEAA7BE-DCCD-44FD-A247-2B09FA19D49B}"/>
              </a:ext>
            </a:extLst>
          </p:cNvPr>
          <p:cNvSpPr/>
          <p:nvPr/>
        </p:nvSpPr>
        <p:spPr>
          <a:xfrm>
            <a:off x="6985000" y="1600200"/>
            <a:ext cx="838200" cy="558800"/>
          </a:xfrm>
          <a:prstGeom prst="roundRect">
            <a:avLst/>
          </a:prstGeom>
          <a:solidFill>
            <a:srgbClr val="111217"/>
          </a:solidFill>
          <a:ln w="19050" cap="flat" cmpd="sng" algn="ctr">
            <a:solidFill>
              <a:srgbClr val="F249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2495C"/>
                </a:solidFill>
                <a:latin typeface="Segoe UI"/>
                <a:cs typeface="Segoe UI"/>
              </a:rPr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C1DEFF-A4B4-4E69-AAD8-154D2F18456A}"/>
              </a:ext>
            </a:extLst>
          </p:cNvPr>
          <p:cNvSpPr txBox="1"/>
          <p:nvPr/>
        </p:nvSpPr>
        <p:spPr>
          <a:xfrm>
            <a:off x="6985000" y="2209800"/>
            <a:ext cx="838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t+7m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2528ADE-A9E7-433A-B5F7-ADF4A468E25F}"/>
              </a:ext>
            </a:extLst>
          </p:cNvPr>
          <p:cNvSpPr/>
          <p:nvPr/>
        </p:nvSpPr>
        <p:spPr>
          <a:xfrm>
            <a:off x="7874000" y="1600200"/>
            <a:ext cx="838200" cy="558800"/>
          </a:xfrm>
          <a:prstGeom prst="roundRect">
            <a:avLst/>
          </a:prstGeom>
          <a:solidFill>
            <a:srgbClr val="111217"/>
          </a:solidFill>
          <a:ln w="19050" cap="flat" cmpd="sng" algn="ctr">
            <a:solidFill>
              <a:srgbClr val="F249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2495C"/>
                </a:solidFill>
                <a:latin typeface="Segoe UI"/>
                <a:cs typeface="Segoe UI"/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785F1D-878E-4058-9CE0-B25DA2407A31}"/>
              </a:ext>
            </a:extLst>
          </p:cNvPr>
          <p:cNvSpPr txBox="1"/>
          <p:nvPr/>
        </p:nvSpPr>
        <p:spPr>
          <a:xfrm>
            <a:off x="7874000" y="2209800"/>
            <a:ext cx="838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t+8m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E37D1CD-41FE-4D4D-943D-AE96829AC125}"/>
              </a:ext>
            </a:extLst>
          </p:cNvPr>
          <p:cNvSpPr/>
          <p:nvPr/>
        </p:nvSpPr>
        <p:spPr>
          <a:xfrm>
            <a:off x="8763000" y="1600200"/>
            <a:ext cx="838200" cy="558800"/>
          </a:xfrm>
          <a:prstGeom prst="roundRect">
            <a:avLst/>
          </a:prstGeom>
          <a:solidFill>
            <a:srgbClr val="111217"/>
          </a:solidFill>
          <a:ln w="19050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73BF69"/>
                </a:solidFill>
                <a:latin typeface="Segoe UI"/>
                <a:cs typeface="Segoe UI"/>
              </a:rPr>
              <a:t>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101C03-7FF4-4CB1-A940-D20020FE2FBB}"/>
              </a:ext>
            </a:extLst>
          </p:cNvPr>
          <p:cNvSpPr txBox="1"/>
          <p:nvPr/>
        </p:nvSpPr>
        <p:spPr>
          <a:xfrm>
            <a:off x="8763000" y="2209800"/>
            <a:ext cx="838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t+9m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5AB56C3-8D10-4495-BEE3-6173BAD488D5}"/>
              </a:ext>
            </a:extLst>
          </p:cNvPr>
          <p:cNvSpPr/>
          <p:nvPr/>
        </p:nvSpPr>
        <p:spPr>
          <a:xfrm>
            <a:off x="9652000" y="1600200"/>
            <a:ext cx="838200" cy="558800"/>
          </a:xfrm>
          <a:prstGeom prst="roundRect">
            <a:avLst/>
          </a:prstGeom>
          <a:solidFill>
            <a:srgbClr val="111217"/>
          </a:solidFill>
          <a:ln w="19050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73BF69"/>
                </a:solidFill>
                <a:latin typeface="Segoe UI"/>
                <a:cs typeface="Segoe UI"/>
              </a:rPr>
              <a:t>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58453F-89C2-4F4E-BC9A-9767439D7425}"/>
              </a:ext>
            </a:extLst>
          </p:cNvPr>
          <p:cNvSpPr txBox="1"/>
          <p:nvPr/>
        </p:nvSpPr>
        <p:spPr>
          <a:xfrm>
            <a:off x="9652000" y="2209800"/>
            <a:ext cx="838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t+10m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C3FEF0F-761A-4EAE-BF1C-1F8D31792C3A}"/>
              </a:ext>
            </a:extLst>
          </p:cNvPr>
          <p:cNvSpPr/>
          <p:nvPr/>
        </p:nvSpPr>
        <p:spPr>
          <a:xfrm>
            <a:off x="10541000" y="1600200"/>
            <a:ext cx="838200" cy="558800"/>
          </a:xfrm>
          <a:prstGeom prst="roundRect">
            <a:avLst/>
          </a:prstGeom>
          <a:solidFill>
            <a:srgbClr val="111217"/>
          </a:solidFill>
          <a:ln w="19050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73BF69"/>
                </a:solidFill>
                <a:latin typeface="Segoe UI"/>
                <a:cs typeface="Segoe UI"/>
              </a:rPr>
              <a:t>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A0B2CA-47C0-44DD-A0D7-78A7EAC93D2B}"/>
              </a:ext>
            </a:extLst>
          </p:cNvPr>
          <p:cNvSpPr txBox="1"/>
          <p:nvPr/>
        </p:nvSpPr>
        <p:spPr>
          <a:xfrm>
            <a:off x="10541000" y="2209800"/>
            <a:ext cx="838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8B0BA"/>
                </a:solidFill>
                <a:latin typeface="Segoe UI"/>
                <a:cs typeface="Segoe UI"/>
              </a:rPr>
              <a:t>t+11m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26DB92-D8CA-4016-A3EF-0C9A8182401C}"/>
              </a:ext>
            </a:extLst>
          </p:cNvPr>
          <p:cNvSpPr/>
          <p:nvPr/>
        </p:nvSpPr>
        <p:spPr>
          <a:xfrm>
            <a:off x="3429000" y="2489200"/>
            <a:ext cx="2616200" cy="38100"/>
          </a:xfrm>
          <a:prstGeom prst="rect">
            <a:avLst/>
          </a:prstGeom>
          <a:solidFill>
            <a:srgbClr val="FADE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F04F42-A17D-4775-AF04-A1BFF01EF12D}"/>
              </a:ext>
            </a:extLst>
          </p:cNvPr>
          <p:cNvSpPr txBox="1"/>
          <p:nvPr/>
        </p:nvSpPr>
        <p:spPr>
          <a:xfrm>
            <a:off x="3429000" y="2565400"/>
            <a:ext cx="2616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ADE2A"/>
                </a:solidFill>
                <a:latin typeface="Segoe UI"/>
                <a:cs typeface="Segoe UI"/>
              </a:rPr>
              <a:t>Pending - not firing yet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000332E-071A-499E-B7A8-F98FC5A5E332}"/>
              </a:ext>
            </a:extLst>
          </p:cNvPr>
          <p:cNvSpPr/>
          <p:nvPr/>
        </p:nvSpPr>
        <p:spPr>
          <a:xfrm>
            <a:off x="6096000" y="2489200"/>
            <a:ext cx="2616200" cy="38100"/>
          </a:xfrm>
          <a:prstGeom prst="rect">
            <a:avLst/>
          </a:prstGeom>
          <a:solidFill>
            <a:srgbClr val="F249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2A1E53-0C0D-4942-86BF-A108AC213583}"/>
              </a:ext>
            </a:extLst>
          </p:cNvPr>
          <p:cNvSpPr txBox="1"/>
          <p:nvPr/>
        </p:nvSpPr>
        <p:spPr>
          <a:xfrm>
            <a:off x="6096000" y="2565400"/>
            <a:ext cx="2616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2495C"/>
                </a:solidFill>
                <a:latin typeface="Segoe UI"/>
                <a:cs typeface="Segoe UI"/>
              </a:rPr>
              <a:t>Alerting - notifying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43B4B7E-0F49-4799-A886-4CA4852B6F2C}"/>
              </a:ext>
            </a:extLst>
          </p:cNvPr>
          <p:cNvSpPr/>
          <p:nvPr/>
        </p:nvSpPr>
        <p:spPr>
          <a:xfrm>
            <a:off x="762000" y="2997200"/>
            <a:ext cx="2565400" cy="2032000"/>
          </a:xfrm>
          <a:prstGeom prst="roundRect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3BF9BB0-3E6B-4895-9985-A67D2ED9F660}"/>
              </a:ext>
            </a:extLst>
          </p:cNvPr>
          <p:cNvSpPr/>
          <p:nvPr/>
        </p:nvSpPr>
        <p:spPr>
          <a:xfrm>
            <a:off x="762000" y="2997200"/>
            <a:ext cx="2565400" cy="50800"/>
          </a:xfrm>
          <a:prstGeom prst="rect">
            <a:avLst/>
          </a:prstGeom>
          <a:solidFill>
            <a:srgbClr val="6E9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F43E9C3-7908-4237-8A8F-35BC7532765C}"/>
              </a:ext>
            </a:extLst>
          </p:cNvPr>
          <p:cNvSpPr txBox="1"/>
          <p:nvPr/>
        </p:nvSpPr>
        <p:spPr>
          <a:xfrm>
            <a:off x="990600" y="3251200"/>
            <a:ext cx="2108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Segoe UI"/>
                <a:cs typeface="Segoe UI"/>
              </a:rPr>
              <a:t>Evaluation interval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D8B650-BED9-4B56-BAC1-D7E770B86099}"/>
              </a:ext>
            </a:extLst>
          </p:cNvPr>
          <p:cNvSpPr txBox="1"/>
          <p:nvPr/>
        </p:nvSpPr>
        <p:spPr>
          <a:xfrm>
            <a:off x="990600" y="3860800"/>
            <a:ext cx="2108200" cy="109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How often the rule runs. Set per evaluation group, not per rule.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23F5E09-4050-4AF2-9121-492C55AED7E2}"/>
              </a:ext>
            </a:extLst>
          </p:cNvPr>
          <p:cNvSpPr/>
          <p:nvPr/>
        </p:nvSpPr>
        <p:spPr>
          <a:xfrm>
            <a:off x="3454400" y="2997200"/>
            <a:ext cx="2565400" cy="2032000"/>
          </a:xfrm>
          <a:prstGeom prst="roundRect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DE661CB-82C9-4E4F-82A4-70BE869A70E1}"/>
              </a:ext>
            </a:extLst>
          </p:cNvPr>
          <p:cNvSpPr/>
          <p:nvPr/>
        </p:nvSpPr>
        <p:spPr>
          <a:xfrm>
            <a:off x="3454400" y="2997200"/>
            <a:ext cx="2565400" cy="50800"/>
          </a:xfrm>
          <a:prstGeom prst="rect">
            <a:avLst/>
          </a:prstGeom>
          <a:solidFill>
            <a:srgbClr val="FADE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8E4D15B-9463-4CFC-BC7C-0CA7F6CEDB8B}"/>
              </a:ext>
            </a:extLst>
          </p:cNvPr>
          <p:cNvSpPr txBox="1"/>
          <p:nvPr/>
        </p:nvSpPr>
        <p:spPr>
          <a:xfrm>
            <a:off x="3683000" y="3251200"/>
            <a:ext cx="2108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Segoe UI"/>
                <a:cs typeface="Segoe UI"/>
              </a:rPr>
              <a:t>Pending period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2FA028-D731-421C-98F5-F3E9EFAFA7AA}"/>
              </a:ext>
            </a:extLst>
          </p:cNvPr>
          <p:cNvSpPr txBox="1"/>
          <p:nvPr/>
        </p:nvSpPr>
        <p:spPr>
          <a:xfrm>
            <a:off x="3683000" y="3860800"/>
            <a:ext cx="2108200" cy="109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How long the condition must stay true before firing. Kills flapping.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B2D59EC-E872-42A2-9438-18CD1E4520ED}"/>
              </a:ext>
            </a:extLst>
          </p:cNvPr>
          <p:cNvSpPr/>
          <p:nvPr/>
        </p:nvSpPr>
        <p:spPr>
          <a:xfrm>
            <a:off x="6146800" y="2997200"/>
            <a:ext cx="2565400" cy="2032000"/>
          </a:xfrm>
          <a:prstGeom prst="roundRect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6E91F9C-AB52-4EF0-8873-B51BE8B9A1F4}"/>
              </a:ext>
            </a:extLst>
          </p:cNvPr>
          <p:cNvSpPr/>
          <p:nvPr/>
        </p:nvSpPr>
        <p:spPr>
          <a:xfrm>
            <a:off x="6146800" y="2997200"/>
            <a:ext cx="2565400" cy="50800"/>
          </a:xfrm>
          <a:prstGeom prst="rect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EE33CC-12DF-4841-A22B-2D572A9CAE36}"/>
              </a:ext>
            </a:extLst>
          </p:cNvPr>
          <p:cNvSpPr txBox="1"/>
          <p:nvPr/>
        </p:nvSpPr>
        <p:spPr>
          <a:xfrm>
            <a:off x="6375400" y="3251200"/>
            <a:ext cx="2108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Segoe UI"/>
                <a:cs typeface="Segoe UI"/>
              </a:rPr>
              <a:t>No data handling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7E859B-AEBB-434E-ADE5-6CC3040C2AB2}"/>
              </a:ext>
            </a:extLst>
          </p:cNvPr>
          <p:cNvSpPr txBox="1"/>
          <p:nvPr/>
        </p:nvSpPr>
        <p:spPr>
          <a:xfrm>
            <a:off x="6375400" y="3860800"/>
            <a:ext cx="2108200" cy="109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Choose No Data, Alerting, Normal or Keep Last State when the query returns nothing.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7432AAF-78CC-43B4-B83D-2972848074AD}"/>
              </a:ext>
            </a:extLst>
          </p:cNvPr>
          <p:cNvSpPr/>
          <p:nvPr/>
        </p:nvSpPr>
        <p:spPr>
          <a:xfrm>
            <a:off x="8839200" y="2997200"/>
            <a:ext cx="2565400" cy="2032000"/>
          </a:xfrm>
          <a:prstGeom prst="roundRect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99D2784-2F4C-428B-8A12-4B306DD42282}"/>
              </a:ext>
            </a:extLst>
          </p:cNvPr>
          <p:cNvSpPr/>
          <p:nvPr/>
        </p:nvSpPr>
        <p:spPr>
          <a:xfrm>
            <a:off x="8839200" y="2997200"/>
            <a:ext cx="2565400" cy="50800"/>
          </a:xfrm>
          <a:prstGeom prst="rect">
            <a:avLst/>
          </a:prstGeom>
          <a:solidFill>
            <a:srgbClr val="F249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C2B3FB5-4E74-48ED-AE4E-77BF71C0317B}"/>
              </a:ext>
            </a:extLst>
          </p:cNvPr>
          <p:cNvSpPr txBox="1"/>
          <p:nvPr/>
        </p:nvSpPr>
        <p:spPr>
          <a:xfrm>
            <a:off x="9067800" y="3251200"/>
            <a:ext cx="2108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Segoe UI"/>
                <a:cs typeface="Segoe UI"/>
              </a:rPr>
              <a:t>Error handling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61E6F90-57F1-4561-8653-BB9E19C074C6}"/>
              </a:ext>
            </a:extLst>
          </p:cNvPr>
          <p:cNvSpPr txBox="1"/>
          <p:nvPr/>
        </p:nvSpPr>
        <p:spPr>
          <a:xfrm>
            <a:off x="9067800" y="3860800"/>
            <a:ext cx="2108200" cy="109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Same choices when the data source errors or times out.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26CCE92-8453-477E-BC14-5AAA1F04CF12}"/>
              </a:ext>
            </a:extLst>
          </p:cNvPr>
          <p:cNvSpPr/>
          <p:nvPr/>
        </p:nvSpPr>
        <p:spPr>
          <a:xfrm>
            <a:off x="762000" y="5232400"/>
            <a:ext cx="10668000" cy="9906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9A7EDBA-1221-41F4-9CCB-E3D9989CA42D}"/>
              </a:ext>
            </a:extLst>
          </p:cNvPr>
          <p:cNvSpPr txBox="1"/>
          <p:nvPr/>
        </p:nvSpPr>
        <p:spPr>
          <a:xfrm>
            <a:off x="1016000" y="54102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73BF69"/>
                </a:solidFill>
                <a:latin typeface="Segoe UI"/>
                <a:cs typeface="Segoe UI"/>
              </a:rPr>
              <a:t>Sizing guidance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F9B611D-610A-429C-BA12-4C461F536814}"/>
              </a:ext>
            </a:extLst>
          </p:cNvPr>
          <p:cNvSpPr txBox="1"/>
          <p:nvPr/>
        </p:nvSpPr>
        <p:spPr>
          <a:xfrm>
            <a:off x="1016000" y="56642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D2D6DB"/>
                </a:solidFill>
                <a:latin typeface="Segoe UI"/>
                <a:cs typeface="Segoe UI"/>
              </a:rPr>
              <a:t>Pending period should be a small multiple of the evaluation interval - 1m interval with 5m pending is a good default. Too short and you page on noise; too long and you find out after your users do.</a:t>
            </a:r>
          </a:p>
        </p:txBody>
      </p:sp>
    </p:spTree>
    <p:extLst>
      <p:ext uri="{BB962C8B-B14F-4D97-AF65-F5344CB8AC3E}">
        <p14:creationId xmlns:p14="http://schemas.microsoft.com/office/powerpoint/2010/main" val="130405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B4ADF-4778-73C9-89CD-E7C5C7357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2600"/>
            <a:ext cx="10668000" cy="584200"/>
          </a:xfrm>
        </p:spPr>
        <p:txBody>
          <a:bodyPr>
            <a:normAutofit/>
          </a:bodyPr>
          <a:lstStyle/>
          <a:p>
            <a:r>
              <a:rPr lang="en-US" sz="3000" b="1" dirty="0"/>
              <a:t>Contact Points - Where Notifications Go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E763FE-F34C-4869-A5CB-AF4D687D92A4}"/>
              </a:ext>
            </a:extLst>
          </p:cNvPr>
          <p:cNvSpPr/>
          <p:nvPr/>
        </p:nvSpPr>
        <p:spPr>
          <a:xfrm>
            <a:off x="762000" y="1143000"/>
            <a:ext cx="889000" cy="381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DA14E71-1413-4F4D-829E-ACB97B83F5F7}"/>
              </a:ext>
            </a:extLst>
          </p:cNvPr>
          <p:cNvSpPr/>
          <p:nvPr/>
        </p:nvSpPr>
        <p:spPr>
          <a:xfrm>
            <a:off x="762000" y="1422400"/>
            <a:ext cx="5461000" cy="11430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651B81-D9D3-4460-8703-F24EA756DAA8}"/>
              </a:ext>
            </a:extLst>
          </p:cNvPr>
          <p:cNvSpPr/>
          <p:nvPr/>
        </p:nvSpPr>
        <p:spPr>
          <a:xfrm>
            <a:off x="762000" y="1422400"/>
            <a:ext cx="50800" cy="11430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A9D3DB-6CA4-45A5-8F1C-25D4FCC7E335}"/>
              </a:ext>
            </a:extLst>
          </p:cNvPr>
          <p:cNvSpPr txBox="1"/>
          <p:nvPr/>
        </p:nvSpPr>
        <p:spPr>
          <a:xfrm>
            <a:off x="1041400" y="1574800"/>
            <a:ext cx="495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Segoe UI"/>
                <a:cs typeface="Segoe UI"/>
              </a:rPr>
              <a:t>What it 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DEE449-8C10-4DCA-9E1A-B722694B23D5}"/>
              </a:ext>
            </a:extLst>
          </p:cNvPr>
          <p:cNvSpPr txBox="1"/>
          <p:nvPr/>
        </p:nvSpPr>
        <p:spPr>
          <a:xfrm>
            <a:off x="1041400" y="1930400"/>
            <a:ext cx="4953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A named destination with one or more integrations. One contact point can email a list and post to Slack at the same time.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3836532-1273-4B61-A1A1-69EE87C70E76}"/>
              </a:ext>
            </a:extLst>
          </p:cNvPr>
          <p:cNvSpPr/>
          <p:nvPr/>
        </p:nvSpPr>
        <p:spPr>
          <a:xfrm>
            <a:off x="762000" y="2667000"/>
            <a:ext cx="5461000" cy="11430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E83391-494E-442A-A744-1DEC6688C6D5}"/>
              </a:ext>
            </a:extLst>
          </p:cNvPr>
          <p:cNvSpPr/>
          <p:nvPr/>
        </p:nvSpPr>
        <p:spPr>
          <a:xfrm>
            <a:off x="762000" y="2667000"/>
            <a:ext cx="50800" cy="1143000"/>
          </a:xfrm>
          <a:prstGeom prst="rect">
            <a:avLst/>
          </a:prstGeom>
          <a:solidFill>
            <a:srgbClr val="6E9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D5F1FD-3F8D-4E7F-9CE5-444617013E5F}"/>
              </a:ext>
            </a:extLst>
          </p:cNvPr>
          <p:cNvSpPr txBox="1"/>
          <p:nvPr/>
        </p:nvSpPr>
        <p:spPr>
          <a:xfrm>
            <a:off x="1041400" y="2819400"/>
            <a:ext cx="495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Segoe UI"/>
                <a:cs typeface="Segoe UI"/>
              </a:rPr>
              <a:t>Templating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95D8BF-359A-4E45-BC96-AAF0D5165F20}"/>
              </a:ext>
            </a:extLst>
          </p:cNvPr>
          <p:cNvSpPr txBox="1"/>
          <p:nvPr/>
        </p:nvSpPr>
        <p:spPr>
          <a:xfrm>
            <a:off x="1041400" y="3175000"/>
            <a:ext cx="4953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B4BCC6"/>
                </a:solidFill>
                <a:latin typeface="Segoe UI"/>
                <a:cs typeface="Segoe UI"/>
              </a:rPr>
              <a:t>Message title and body are Go templates over the alert data - {{ .</a:t>
            </a:r>
            <a:r>
              <a:rPr lang="en-US" sz="1400" dirty="0" err="1">
                <a:solidFill>
                  <a:srgbClr val="B4BCC6"/>
                </a:solidFill>
                <a:latin typeface="Segoe UI"/>
                <a:cs typeface="Segoe UI"/>
              </a:rPr>
              <a:t>CommonLabels.severity</a:t>
            </a:r>
            <a:r>
              <a:rPr lang="en-US" sz="1400" dirty="0">
                <a:solidFill>
                  <a:srgbClr val="B4BCC6"/>
                </a:solidFill>
                <a:latin typeface="Segoe UI"/>
                <a:cs typeface="Segoe UI"/>
              </a:rPr>
              <a:t> }}, {{ .Alerts }}.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7A4B483-CC4E-4BD8-AF80-32F14CC22478}"/>
              </a:ext>
            </a:extLst>
          </p:cNvPr>
          <p:cNvSpPr/>
          <p:nvPr/>
        </p:nvSpPr>
        <p:spPr>
          <a:xfrm>
            <a:off x="762000" y="3911600"/>
            <a:ext cx="5461000" cy="11430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109AA2-265E-4B50-A78E-3FD03542E198}"/>
              </a:ext>
            </a:extLst>
          </p:cNvPr>
          <p:cNvSpPr/>
          <p:nvPr/>
        </p:nvSpPr>
        <p:spPr>
          <a:xfrm>
            <a:off x="762000" y="3911600"/>
            <a:ext cx="50800" cy="11430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A05069-E8B2-4A20-A04F-9307BC6CCB63}"/>
              </a:ext>
            </a:extLst>
          </p:cNvPr>
          <p:cNvSpPr txBox="1"/>
          <p:nvPr/>
        </p:nvSpPr>
        <p:spPr>
          <a:xfrm>
            <a:off x="1041400" y="4064000"/>
            <a:ext cx="495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Segoe UI"/>
                <a:cs typeface="Segoe UI"/>
              </a:rPr>
              <a:t>Test before you trust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FE6247-CF0A-40B4-8D9A-3C88D72B6484}"/>
              </a:ext>
            </a:extLst>
          </p:cNvPr>
          <p:cNvSpPr txBox="1"/>
          <p:nvPr/>
        </p:nvSpPr>
        <p:spPr>
          <a:xfrm>
            <a:off x="1041400" y="4419600"/>
            <a:ext cx="4953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Every contact point has a Test button that sends a synthetic alert. Use it before the pager matters.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F109C3D-EEBE-434C-9D0B-D52F788370C2}"/>
              </a:ext>
            </a:extLst>
          </p:cNvPr>
          <p:cNvSpPr/>
          <p:nvPr/>
        </p:nvSpPr>
        <p:spPr>
          <a:xfrm>
            <a:off x="762000" y="5156200"/>
            <a:ext cx="5461000" cy="11430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D2C675-7CE8-4CD3-BC2C-268E6D583AD6}"/>
              </a:ext>
            </a:extLst>
          </p:cNvPr>
          <p:cNvSpPr/>
          <p:nvPr/>
        </p:nvSpPr>
        <p:spPr>
          <a:xfrm>
            <a:off x="762000" y="5156200"/>
            <a:ext cx="50800" cy="1143000"/>
          </a:xfrm>
          <a:prstGeom prst="rect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0240B5-4B23-43B2-B0D5-C3DDF427A8F5}"/>
              </a:ext>
            </a:extLst>
          </p:cNvPr>
          <p:cNvSpPr txBox="1"/>
          <p:nvPr/>
        </p:nvSpPr>
        <p:spPr>
          <a:xfrm>
            <a:off x="1041400" y="5308600"/>
            <a:ext cx="495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Segoe UI"/>
                <a:cs typeface="Segoe UI"/>
              </a:rPr>
              <a:t>Optional settings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0B5BC1-5807-4951-8FFC-016C2B53A799}"/>
              </a:ext>
            </a:extLst>
          </p:cNvPr>
          <p:cNvSpPr txBox="1"/>
          <p:nvPr/>
        </p:nvSpPr>
        <p:spPr>
          <a:xfrm>
            <a:off x="1041400" y="5664200"/>
            <a:ext cx="4953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Disable resolved messages, override the title, or attach a custom message per integration.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FF5A2EC-5C2D-402A-8230-5C3E3C1139FD}"/>
              </a:ext>
            </a:extLst>
          </p:cNvPr>
          <p:cNvSpPr/>
          <p:nvPr/>
        </p:nvSpPr>
        <p:spPr>
          <a:xfrm>
            <a:off x="6502400" y="1422400"/>
            <a:ext cx="4927600" cy="4800600"/>
          </a:xfrm>
          <a:prstGeom prst="roundRect">
            <a:avLst/>
          </a:prstGeom>
          <a:solidFill>
            <a:srgbClr val="181B1F"/>
          </a:solidFill>
          <a:ln w="15875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159C15-721A-4686-A1B5-BEF95239D8C0}"/>
              </a:ext>
            </a:extLst>
          </p:cNvPr>
          <p:cNvSpPr txBox="1"/>
          <p:nvPr/>
        </p:nvSpPr>
        <p:spPr>
          <a:xfrm>
            <a:off x="6756400" y="1625600"/>
            <a:ext cx="431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8800"/>
                </a:solidFill>
                <a:latin typeface="Segoe UI"/>
                <a:cs typeface="Segoe UI"/>
              </a:rPr>
              <a:t>Integrations you will meet today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02CCD36-C08E-45E9-9BAF-C2EE3CBDF189}"/>
              </a:ext>
            </a:extLst>
          </p:cNvPr>
          <p:cNvSpPr/>
          <p:nvPr/>
        </p:nvSpPr>
        <p:spPr>
          <a:xfrm>
            <a:off x="6756400" y="2057400"/>
            <a:ext cx="4419600" cy="711200"/>
          </a:xfrm>
          <a:prstGeom prst="roundRect">
            <a:avLst/>
          </a:prstGeom>
          <a:solidFill>
            <a:srgbClr val="111217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C750AA3-FA9F-4C06-916B-81FAD8C53FD4}"/>
              </a:ext>
            </a:extLst>
          </p:cNvPr>
          <p:cNvSpPr/>
          <p:nvPr/>
        </p:nvSpPr>
        <p:spPr>
          <a:xfrm>
            <a:off x="6959600" y="2324100"/>
            <a:ext cx="177800" cy="177800"/>
          </a:xfrm>
          <a:prstGeom prst="ellipse">
            <a:avLst/>
          </a:prstGeom>
          <a:solidFill>
            <a:srgbClr val="6E9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D8E515-56FF-403F-B9AC-FC94CB92FA50}"/>
              </a:ext>
            </a:extLst>
          </p:cNvPr>
          <p:cNvSpPr txBox="1"/>
          <p:nvPr/>
        </p:nvSpPr>
        <p:spPr>
          <a:xfrm>
            <a:off x="7289800" y="2159000"/>
            <a:ext cx="368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Email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3051E8-6F4E-4D84-A918-EB12D0A32F9F}"/>
              </a:ext>
            </a:extLst>
          </p:cNvPr>
          <p:cNvSpPr txBox="1"/>
          <p:nvPr/>
        </p:nvSpPr>
        <p:spPr>
          <a:xfrm>
            <a:off x="7289800" y="2438400"/>
            <a:ext cx="368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SMTP configured in grafana.ini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626B1DF-B323-40D5-83E8-E0A7D9E31DA2}"/>
              </a:ext>
            </a:extLst>
          </p:cNvPr>
          <p:cNvSpPr/>
          <p:nvPr/>
        </p:nvSpPr>
        <p:spPr>
          <a:xfrm>
            <a:off x="6756400" y="2870200"/>
            <a:ext cx="4419600" cy="711200"/>
          </a:xfrm>
          <a:prstGeom prst="roundRect">
            <a:avLst/>
          </a:prstGeom>
          <a:solidFill>
            <a:srgbClr val="111217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F5A0422-69B5-4C9A-B3BA-0FB54F1E9380}"/>
              </a:ext>
            </a:extLst>
          </p:cNvPr>
          <p:cNvSpPr/>
          <p:nvPr/>
        </p:nvSpPr>
        <p:spPr>
          <a:xfrm>
            <a:off x="6959600" y="3136900"/>
            <a:ext cx="177800" cy="177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5B0414-B8C5-46F8-8C85-61B703C4C6C8}"/>
              </a:ext>
            </a:extLst>
          </p:cNvPr>
          <p:cNvSpPr txBox="1"/>
          <p:nvPr/>
        </p:nvSpPr>
        <p:spPr>
          <a:xfrm>
            <a:off x="7289800" y="2971800"/>
            <a:ext cx="368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Slack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3CDE86-D6EC-4321-8618-2F15137B0959}"/>
              </a:ext>
            </a:extLst>
          </p:cNvPr>
          <p:cNvSpPr txBox="1"/>
          <p:nvPr/>
        </p:nvSpPr>
        <p:spPr>
          <a:xfrm>
            <a:off x="7289800" y="3251200"/>
            <a:ext cx="368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Incoming webhook or bot token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88ABC93-E003-40E0-A233-37A946890DE6}"/>
              </a:ext>
            </a:extLst>
          </p:cNvPr>
          <p:cNvSpPr/>
          <p:nvPr/>
        </p:nvSpPr>
        <p:spPr>
          <a:xfrm>
            <a:off x="6756400" y="3683000"/>
            <a:ext cx="4419600" cy="711200"/>
          </a:xfrm>
          <a:prstGeom prst="roundRect">
            <a:avLst/>
          </a:prstGeom>
          <a:solidFill>
            <a:srgbClr val="111217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6A51F21-CFEE-4380-91C5-7E3DD91DBF81}"/>
              </a:ext>
            </a:extLst>
          </p:cNvPr>
          <p:cNvSpPr/>
          <p:nvPr/>
        </p:nvSpPr>
        <p:spPr>
          <a:xfrm>
            <a:off x="6959600" y="3949700"/>
            <a:ext cx="177800" cy="177800"/>
          </a:xfrm>
          <a:prstGeom prst="ellipse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041984-9E58-48A5-8624-AAF68AE614DF}"/>
              </a:ext>
            </a:extLst>
          </p:cNvPr>
          <p:cNvSpPr txBox="1"/>
          <p:nvPr/>
        </p:nvSpPr>
        <p:spPr>
          <a:xfrm>
            <a:off x="7289800" y="3784600"/>
            <a:ext cx="368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Microsoft Teams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6FCDCA-5036-4978-B14D-D22CEDFDF3B3}"/>
              </a:ext>
            </a:extLst>
          </p:cNvPr>
          <p:cNvSpPr txBox="1"/>
          <p:nvPr/>
        </p:nvSpPr>
        <p:spPr>
          <a:xfrm>
            <a:off x="7289800" y="4064000"/>
            <a:ext cx="368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Channel webhook URL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06FE298-1A72-446D-A791-6351864D291A}"/>
              </a:ext>
            </a:extLst>
          </p:cNvPr>
          <p:cNvSpPr/>
          <p:nvPr/>
        </p:nvSpPr>
        <p:spPr>
          <a:xfrm>
            <a:off x="6756400" y="4495800"/>
            <a:ext cx="4419600" cy="711200"/>
          </a:xfrm>
          <a:prstGeom prst="roundRect">
            <a:avLst/>
          </a:prstGeom>
          <a:solidFill>
            <a:srgbClr val="111217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EB52678-7863-4D33-86F5-D641C0C74C34}"/>
              </a:ext>
            </a:extLst>
          </p:cNvPr>
          <p:cNvSpPr/>
          <p:nvPr/>
        </p:nvSpPr>
        <p:spPr>
          <a:xfrm>
            <a:off x="6959600" y="4762500"/>
            <a:ext cx="177800" cy="177800"/>
          </a:xfrm>
          <a:prstGeom prst="ellipse">
            <a:avLst/>
          </a:prstGeom>
          <a:solidFill>
            <a:srgbClr val="FADE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A3356D-2575-4A22-86C8-E19FA46075B1}"/>
              </a:ext>
            </a:extLst>
          </p:cNvPr>
          <p:cNvSpPr txBox="1"/>
          <p:nvPr/>
        </p:nvSpPr>
        <p:spPr>
          <a:xfrm>
            <a:off x="7289800" y="4597400"/>
            <a:ext cx="368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Webhook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872118-4D93-418B-87FE-9F0F96629BCF}"/>
              </a:ext>
            </a:extLst>
          </p:cNvPr>
          <p:cNvSpPr txBox="1"/>
          <p:nvPr/>
        </p:nvSpPr>
        <p:spPr>
          <a:xfrm>
            <a:off x="7289800" y="4876800"/>
            <a:ext cx="368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Any HTTP endpoint, JSON payload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172E102-ADB4-431B-BA87-34DF3B09A8BD}"/>
              </a:ext>
            </a:extLst>
          </p:cNvPr>
          <p:cNvSpPr/>
          <p:nvPr/>
        </p:nvSpPr>
        <p:spPr>
          <a:xfrm>
            <a:off x="6756400" y="5308600"/>
            <a:ext cx="4419600" cy="711200"/>
          </a:xfrm>
          <a:prstGeom prst="roundRect">
            <a:avLst/>
          </a:prstGeom>
          <a:solidFill>
            <a:srgbClr val="111217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F01600E-20FA-455E-93A0-9F7FB3490B55}"/>
              </a:ext>
            </a:extLst>
          </p:cNvPr>
          <p:cNvSpPr/>
          <p:nvPr/>
        </p:nvSpPr>
        <p:spPr>
          <a:xfrm>
            <a:off x="6959600" y="5575300"/>
            <a:ext cx="177800" cy="177800"/>
          </a:xfrm>
          <a:prstGeom prst="ellipse">
            <a:avLst/>
          </a:prstGeom>
          <a:solidFill>
            <a:srgbClr val="9BA3A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B57BBC-F330-4810-9D2C-52C71854830C}"/>
              </a:ext>
            </a:extLst>
          </p:cNvPr>
          <p:cNvSpPr txBox="1"/>
          <p:nvPr/>
        </p:nvSpPr>
        <p:spPr>
          <a:xfrm>
            <a:off x="7289800" y="5410200"/>
            <a:ext cx="368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Others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06BFCC-F475-4649-BBB1-082E3A50A0E5}"/>
              </a:ext>
            </a:extLst>
          </p:cNvPr>
          <p:cNvSpPr txBox="1"/>
          <p:nvPr/>
        </p:nvSpPr>
        <p:spPr>
          <a:xfrm>
            <a:off x="7289800" y="5689600"/>
            <a:ext cx="368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PagerDuty, Opsgenie, Telegram, SNS…</a:t>
            </a:r>
          </a:p>
        </p:txBody>
      </p:sp>
    </p:spTree>
    <p:extLst>
      <p:ext uri="{BB962C8B-B14F-4D97-AF65-F5344CB8AC3E}">
        <p14:creationId xmlns:p14="http://schemas.microsoft.com/office/powerpoint/2010/main" val="466028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375F9-0A71-E9B2-ECCD-7236642A0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06400"/>
            <a:ext cx="10668000" cy="533400"/>
          </a:xfrm>
        </p:spPr>
        <p:txBody>
          <a:bodyPr>
            <a:normAutofit/>
          </a:bodyPr>
          <a:lstStyle/>
          <a:p>
            <a:r>
              <a:rPr lang="en-US" sz="3000" b="1" dirty="0"/>
              <a:t>Notification Policies - The Routing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E5CD8C-1EFE-45D4-8DAB-2417918E55FA}"/>
              </a:ext>
            </a:extLst>
          </p:cNvPr>
          <p:cNvSpPr/>
          <p:nvPr/>
        </p:nvSpPr>
        <p:spPr>
          <a:xfrm>
            <a:off x="762000" y="1016000"/>
            <a:ext cx="889000" cy="381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37BBB9B-8FE4-412C-8C4C-106FDF176FA3}"/>
              </a:ext>
            </a:extLst>
          </p:cNvPr>
          <p:cNvSpPr/>
          <p:nvPr/>
        </p:nvSpPr>
        <p:spPr>
          <a:xfrm>
            <a:off x="762000" y="1244600"/>
            <a:ext cx="6096000" cy="736600"/>
          </a:xfrm>
          <a:prstGeom prst="roundRect">
            <a:avLst/>
          </a:prstGeom>
          <a:solidFill>
            <a:srgbClr val="1B1E24"/>
          </a:solidFill>
          <a:ln w="15875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BF37FB-38E0-46F4-BF87-EF26162BD197}"/>
              </a:ext>
            </a:extLst>
          </p:cNvPr>
          <p:cNvSpPr txBox="1"/>
          <p:nvPr/>
        </p:nvSpPr>
        <p:spPr>
          <a:xfrm>
            <a:off x="965200" y="1346200"/>
            <a:ext cx="568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8800"/>
                </a:solidFill>
                <a:latin typeface="Consolas"/>
              </a:rPr>
              <a:t>DEFAULT POLICY  (root)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713BB6-A788-4602-B71D-79185EEFF2DB}"/>
              </a:ext>
            </a:extLst>
          </p:cNvPr>
          <p:cNvSpPr txBox="1"/>
          <p:nvPr/>
        </p:nvSpPr>
        <p:spPr>
          <a:xfrm>
            <a:off x="965200" y="1625600"/>
            <a:ext cx="5689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D2D6DB"/>
                </a:solidFill>
                <a:latin typeface="Segoe UI"/>
                <a:cs typeface="Segoe UI"/>
              </a:rPr>
              <a:t>Group by alertname, grafana_folder  →  Ops Email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228670-CEAA-4328-BC27-564D2FC90E0E}"/>
              </a:ext>
            </a:extLst>
          </p:cNvPr>
          <p:cNvSpPr/>
          <p:nvPr/>
        </p:nvSpPr>
        <p:spPr>
          <a:xfrm>
            <a:off x="1193800" y="1981200"/>
            <a:ext cx="25400" cy="3403600"/>
          </a:xfrm>
          <a:prstGeom prst="rect">
            <a:avLst/>
          </a:prstGeom>
          <a:solidFill>
            <a:srgbClr val="3E444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35FA95-1365-4365-A4E1-02B60737B0A6}"/>
              </a:ext>
            </a:extLst>
          </p:cNvPr>
          <p:cNvSpPr/>
          <p:nvPr/>
        </p:nvSpPr>
        <p:spPr>
          <a:xfrm>
            <a:off x="1219200" y="2527300"/>
            <a:ext cx="355600" cy="25400"/>
          </a:xfrm>
          <a:prstGeom prst="rect">
            <a:avLst/>
          </a:prstGeom>
          <a:solidFill>
            <a:srgbClr val="3E444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A53DC8B-0155-4B97-B1EB-5B740B8BE5B3}"/>
              </a:ext>
            </a:extLst>
          </p:cNvPr>
          <p:cNvSpPr/>
          <p:nvPr/>
        </p:nvSpPr>
        <p:spPr>
          <a:xfrm>
            <a:off x="1574800" y="2159000"/>
            <a:ext cx="5283200" cy="736600"/>
          </a:xfrm>
          <a:prstGeom prst="roundRect">
            <a:avLst/>
          </a:prstGeom>
          <a:solidFill>
            <a:srgbClr val="1B1E24"/>
          </a:solidFill>
          <a:ln w="15875" cap="flat" cmpd="sng" algn="ctr">
            <a:solidFill>
              <a:srgbClr val="F249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8A53F4-1DED-430D-BD5B-751248342254}"/>
              </a:ext>
            </a:extLst>
          </p:cNvPr>
          <p:cNvSpPr txBox="1"/>
          <p:nvPr/>
        </p:nvSpPr>
        <p:spPr>
          <a:xfrm>
            <a:off x="1778000" y="2260600"/>
            <a:ext cx="4876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2495C"/>
                </a:solidFill>
                <a:latin typeface="Consolas"/>
              </a:rPr>
              <a:t>severity = critical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59C8C0-1294-4454-848B-743AEFBE0FAD}"/>
              </a:ext>
            </a:extLst>
          </p:cNvPr>
          <p:cNvSpPr txBox="1"/>
          <p:nvPr/>
        </p:nvSpPr>
        <p:spPr>
          <a:xfrm>
            <a:off x="1778000" y="2540000"/>
            <a:ext cx="4876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D2D6DB"/>
                </a:solidFill>
                <a:latin typeface="Segoe UI"/>
                <a:cs typeface="Segoe UI"/>
              </a:rPr>
              <a:t>PagerDuty  +  Slack #oncall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350CBD-2F03-4B53-A8D5-BD687A576BBB}"/>
              </a:ext>
            </a:extLst>
          </p:cNvPr>
          <p:cNvSpPr/>
          <p:nvPr/>
        </p:nvSpPr>
        <p:spPr>
          <a:xfrm>
            <a:off x="1219200" y="3492500"/>
            <a:ext cx="355600" cy="25400"/>
          </a:xfrm>
          <a:prstGeom prst="rect">
            <a:avLst/>
          </a:prstGeom>
          <a:solidFill>
            <a:srgbClr val="3E444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4C90215-72C3-4D54-9F99-BED3AE49658F}"/>
              </a:ext>
            </a:extLst>
          </p:cNvPr>
          <p:cNvSpPr/>
          <p:nvPr/>
        </p:nvSpPr>
        <p:spPr>
          <a:xfrm>
            <a:off x="1574800" y="3124200"/>
            <a:ext cx="5283200" cy="736600"/>
          </a:xfrm>
          <a:prstGeom prst="roundRect">
            <a:avLst/>
          </a:prstGeom>
          <a:solidFill>
            <a:srgbClr val="1B1E24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2B3A67-FAA4-449B-A4C8-B62A9A9040B9}"/>
              </a:ext>
            </a:extLst>
          </p:cNvPr>
          <p:cNvSpPr txBox="1"/>
          <p:nvPr/>
        </p:nvSpPr>
        <p:spPr>
          <a:xfrm>
            <a:off x="1778000" y="3225800"/>
            <a:ext cx="4876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73BF69"/>
                </a:solidFill>
                <a:latin typeface="Consolas"/>
              </a:rPr>
              <a:t>team = platform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9D8DC0-3F21-420B-868B-2B8C323D8581}"/>
              </a:ext>
            </a:extLst>
          </p:cNvPr>
          <p:cNvSpPr txBox="1"/>
          <p:nvPr/>
        </p:nvSpPr>
        <p:spPr>
          <a:xfrm>
            <a:off x="1778000" y="3505200"/>
            <a:ext cx="4876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D2D6DB"/>
                </a:solidFill>
                <a:latin typeface="Segoe UI"/>
                <a:cs typeface="Segoe UI"/>
              </a:rPr>
              <a:t>Slack #platform-alerts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A8E782-1981-417E-9DC2-D8108145F2AE}"/>
              </a:ext>
            </a:extLst>
          </p:cNvPr>
          <p:cNvSpPr/>
          <p:nvPr/>
        </p:nvSpPr>
        <p:spPr>
          <a:xfrm>
            <a:off x="1219200" y="5295900"/>
            <a:ext cx="355600" cy="25400"/>
          </a:xfrm>
          <a:prstGeom prst="rect">
            <a:avLst/>
          </a:prstGeom>
          <a:solidFill>
            <a:srgbClr val="3E444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256B3BB-B74F-40AD-B83F-FC4B91F38D5F}"/>
              </a:ext>
            </a:extLst>
          </p:cNvPr>
          <p:cNvSpPr/>
          <p:nvPr/>
        </p:nvSpPr>
        <p:spPr>
          <a:xfrm>
            <a:off x="1574800" y="4927600"/>
            <a:ext cx="5283200" cy="736600"/>
          </a:xfrm>
          <a:prstGeom prst="roundRect">
            <a:avLst/>
          </a:prstGeom>
          <a:solidFill>
            <a:srgbClr val="1B1E24"/>
          </a:solidFill>
          <a:ln w="15875" cap="flat" cmpd="sng" algn="ctr">
            <a:solidFill>
              <a:srgbClr val="9BA3A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EC3785-8A75-4CCB-B4DA-2C77CB6129DC}"/>
              </a:ext>
            </a:extLst>
          </p:cNvPr>
          <p:cNvSpPr txBox="1"/>
          <p:nvPr/>
        </p:nvSpPr>
        <p:spPr>
          <a:xfrm>
            <a:off x="1778000" y="5029200"/>
            <a:ext cx="4876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9BA3AE"/>
                </a:solidFill>
                <a:latin typeface="Consolas"/>
              </a:rPr>
              <a:t>no matcher hits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53145C-E01A-440B-B140-57E8FF82B8D3}"/>
              </a:ext>
            </a:extLst>
          </p:cNvPr>
          <p:cNvSpPr txBox="1"/>
          <p:nvPr/>
        </p:nvSpPr>
        <p:spPr>
          <a:xfrm>
            <a:off x="1778000" y="5308600"/>
            <a:ext cx="4876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D2D6DB"/>
                </a:solidFill>
                <a:latin typeface="Segoe UI"/>
                <a:cs typeface="Segoe UI"/>
              </a:rPr>
              <a:t>Falls back to the default policy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2A42FF-B561-4E81-BDDF-6E3D5557AB3E}"/>
              </a:ext>
            </a:extLst>
          </p:cNvPr>
          <p:cNvSpPr/>
          <p:nvPr/>
        </p:nvSpPr>
        <p:spPr>
          <a:xfrm>
            <a:off x="2006600" y="3860800"/>
            <a:ext cx="25400" cy="533400"/>
          </a:xfrm>
          <a:prstGeom prst="rect">
            <a:avLst/>
          </a:prstGeom>
          <a:solidFill>
            <a:srgbClr val="3E444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0B60EF-D2FF-49DF-825C-FCAE54428D0A}"/>
              </a:ext>
            </a:extLst>
          </p:cNvPr>
          <p:cNvSpPr/>
          <p:nvPr/>
        </p:nvSpPr>
        <p:spPr>
          <a:xfrm>
            <a:off x="2032000" y="4368800"/>
            <a:ext cx="355600" cy="25400"/>
          </a:xfrm>
          <a:prstGeom prst="rect">
            <a:avLst/>
          </a:prstGeom>
          <a:solidFill>
            <a:srgbClr val="3E444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065C467-102F-4F5C-AC95-3D4AAABE3607}"/>
              </a:ext>
            </a:extLst>
          </p:cNvPr>
          <p:cNvSpPr/>
          <p:nvPr/>
        </p:nvSpPr>
        <p:spPr>
          <a:xfrm>
            <a:off x="2387600" y="4013200"/>
            <a:ext cx="4470400" cy="736600"/>
          </a:xfrm>
          <a:prstGeom prst="roundRect">
            <a:avLst/>
          </a:prstGeom>
          <a:solidFill>
            <a:srgbClr val="1B1E24"/>
          </a:solidFill>
          <a:ln w="15875" cap="flat" cmpd="sng" algn="ctr">
            <a:solidFill>
              <a:srgbClr val="B877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69061F-6044-49CB-8356-A5C8243AC045}"/>
              </a:ext>
            </a:extLst>
          </p:cNvPr>
          <p:cNvSpPr txBox="1"/>
          <p:nvPr/>
        </p:nvSpPr>
        <p:spPr>
          <a:xfrm>
            <a:off x="2590800" y="4114800"/>
            <a:ext cx="406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B877D9"/>
                </a:solidFill>
                <a:latin typeface="Consolas"/>
              </a:rPr>
              <a:t>nested: env = prod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2CF926-A2DF-4C08-BBD3-03DF33313069}"/>
              </a:ext>
            </a:extLst>
          </p:cNvPr>
          <p:cNvSpPr txBox="1"/>
          <p:nvPr/>
        </p:nvSpPr>
        <p:spPr>
          <a:xfrm>
            <a:off x="2590800" y="4394200"/>
            <a:ext cx="406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D2D6DB"/>
                </a:solidFill>
                <a:latin typeface="Segoe UI"/>
                <a:cs typeface="Segoe UI"/>
              </a:rPr>
              <a:t>Microsoft Teams - Platform Prod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572236-80FE-48DD-8720-6E6368A3A822}"/>
              </a:ext>
            </a:extLst>
          </p:cNvPr>
          <p:cNvSpPr txBox="1"/>
          <p:nvPr/>
        </p:nvSpPr>
        <p:spPr>
          <a:xfrm>
            <a:off x="1574800" y="5740400"/>
            <a:ext cx="5283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9BA3AE"/>
                </a:solidFill>
                <a:latin typeface="Segoe UI"/>
                <a:cs typeface="Segoe UI"/>
              </a:rPr>
              <a:t>Nested policies inherit parent timings unless overridden.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42E155C-70BA-4622-B444-F7E9B59B4A13}"/>
              </a:ext>
            </a:extLst>
          </p:cNvPr>
          <p:cNvSpPr/>
          <p:nvPr/>
        </p:nvSpPr>
        <p:spPr>
          <a:xfrm>
            <a:off x="7112000" y="1244600"/>
            <a:ext cx="4318000" cy="4978400"/>
          </a:xfrm>
          <a:prstGeom prst="roundRect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5D3C65-5175-46C8-BF5F-93828940E5F5}"/>
              </a:ext>
            </a:extLst>
          </p:cNvPr>
          <p:cNvSpPr txBox="1"/>
          <p:nvPr/>
        </p:nvSpPr>
        <p:spPr>
          <a:xfrm>
            <a:off x="7366000" y="14224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8800"/>
                </a:solidFill>
                <a:latin typeface="Segoe UI"/>
                <a:cs typeface="Segoe UI"/>
              </a:rPr>
              <a:t>Timing options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D189BE2-9EBD-4F6C-AD5C-307A21952AD2}"/>
              </a:ext>
            </a:extLst>
          </p:cNvPr>
          <p:cNvSpPr/>
          <p:nvPr/>
        </p:nvSpPr>
        <p:spPr>
          <a:xfrm>
            <a:off x="7366000" y="1828800"/>
            <a:ext cx="3810000" cy="660400"/>
          </a:xfrm>
          <a:prstGeom prst="roundRect">
            <a:avLst/>
          </a:prstGeom>
          <a:solidFill>
            <a:srgbClr val="111217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19398A-2FEC-4CE5-B893-85DA6F3AF2BC}"/>
              </a:ext>
            </a:extLst>
          </p:cNvPr>
          <p:cNvSpPr txBox="1"/>
          <p:nvPr/>
        </p:nvSpPr>
        <p:spPr>
          <a:xfrm>
            <a:off x="7569200" y="1917700"/>
            <a:ext cx="342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6E9FFF"/>
                </a:solidFill>
                <a:latin typeface="Segoe UI"/>
                <a:cs typeface="Segoe UI"/>
              </a:rPr>
              <a:t>Group by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C12C9B-B5D0-4957-A665-10BB0B55517D}"/>
              </a:ext>
            </a:extLst>
          </p:cNvPr>
          <p:cNvSpPr txBox="1"/>
          <p:nvPr/>
        </p:nvSpPr>
        <p:spPr>
          <a:xfrm>
            <a:off x="7569200" y="21717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Which labels form a group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D27F8F4-1F9F-4B90-A395-DF59F42C9568}"/>
              </a:ext>
            </a:extLst>
          </p:cNvPr>
          <p:cNvSpPr/>
          <p:nvPr/>
        </p:nvSpPr>
        <p:spPr>
          <a:xfrm>
            <a:off x="7366000" y="2565400"/>
            <a:ext cx="3810000" cy="660400"/>
          </a:xfrm>
          <a:prstGeom prst="roundRect">
            <a:avLst/>
          </a:prstGeom>
          <a:solidFill>
            <a:srgbClr val="111217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BA03F3-7741-4255-B9F7-F51FFF5A46F1}"/>
              </a:ext>
            </a:extLst>
          </p:cNvPr>
          <p:cNvSpPr txBox="1"/>
          <p:nvPr/>
        </p:nvSpPr>
        <p:spPr>
          <a:xfrm>
            <a:off x="7569200" y="2654300"/>
            <a:ext cx="342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6E9FFF"/>
                </a:solidFill>
                <a:latin typeface="Segoe UI"/>
                <a:cs typeface="Segoe UI"/>
              </a:rPr>
              <a:t>Group wait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676062-223A-4806-8D51-45397D3BA178}"/>
              </a:ext>
            </a:extLst>
          </p:cNvPr>
          <p:cNvSpPr txBox="1"/>
          <p:nvPr/>
        </p:nvSpPr>
        <p:spPr>
          <a:xfrm>
            <a:off x="7569200" y="29083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Delay before first send (30s)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56F4DBB-33C9-40BF-BF06-A2846AFC0A4E}"/>
              </a:ext>
            </a:extLst>
          </p:cNvPr>
          <p:cNvSpPr/>
          <p:nvPr/>
        </p:nvSpPr>
        <p:spPr>
          <a:xfrm>
            <a:off x="7366000" y="3302000"/>
            <a:ext cx="3810000" cy="660400"/>
          </a:xfrm>
          <a:prstGeom prst="roundRect">
            <a:avLst/>
          </a:prstGeom>
          <a:solidFill>
            <a:srgbClr val="111217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AC8825-DC0E-4F60-8D60-15B92C2352D8}"/>
              </a:ext>
            </a:extLst>
          </p:cNvPr>
          <p:cNvSpPr txBox="1"/>
          <p:nvPr/>
        </p:nvSpPr>
        <p:spPr>
          <a:xfrm>
            <a:off x="7569200" y="3390900"/>
            <a:ext cx="342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73BF69"/>
                </a:solidFill>
                <a:latin typeface="Segoe UI"/>
                <a:cs typeface="Segoe UI"/>
              </a:rPr>
              <a:t>Group interval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9E6077-61CF-4846-B51B-3AA0AE55115B}"/>
              </a:ext>
            </a:extLst>
          </p:cNvPr>
          <p:cNvSpPr txBox="1"/>
          <p:nvPr/>
        </p:nvSpPr>
        <p:spPr>
          <a:xfrm>
            <a:off x="7569200" y="36449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Delay before updates (5m)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08433A6-B100-4A2B-AFC0-D48934C9C66F}"/>
              </a:ext>
            </a:extLst>
          </p:cNvPr>
          <p:cNvSpPr/>
          <p:nvPr/>
        </p:nvSpPr>
        <p:spPr>
          <a:xfrm>
            <a:off x="7366000" y="4038600"/>
            <a:ext cx="3810000" cy="660400"/>
          </a:xfrm>
          <a:prstGeom prst="roundRect">
            <a:avLst/>
          </a:prstGeom>
          <a:solidFill>
            <a:srgbClr val="111217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E98DDB-1262-4052-9A91-8CA7697EB4BA}"/>
              </a:ext>
            </a:extLst>
          </p:cNvPr>
          <p:cNvSpPr txBox="1"/>
          <p:nvPr/>
        </p:nvSpPr>
        <p:spPr>
          <a:xfrm>
            <a:off x="7569200" y="4127500"/>
            <a:ext cx="342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73BF69"/>
                </a:solidFill>
                <a:latin typeface="Segoe UI"/>
                <a:cs typeface="Segoe UI"/>
              </a:rPr>
              <a:t>Repeat interval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91020A-1AB7-49DB-B764-D9353301723D}"/>
              </a:ext>
            </a:extLst>
          </p:cNvPr>
          <p:cNvSpPr txBox="1"/>
          <p:nvPr/>
        </p:nvSpPr>
        <p:spPr>
          <a:xfrm>
            <a:off x="7569200" y="43815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Re-send while firing (4h)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C10D365-4951-43C8-BD60-C4E9EE0B4C1F}"/>
              </a:ext>
            </a:extLst>
          </p:cNvPr>
          <p:cNvSpPr/>
          <p:nvPr/>
        </p:nvSpPr>
        <p:spPr>
          <a:xfrm>
            <a:off x="7366000" y="4775200"/>
            <a:ext cx="3810000" cy="660400"/>
          </a:xfrm>
          <a:prstGeom prst="roundRect">
            <a:avLst/>
          </a:prstGeom>
          <a:solidFill>
            <a:srgbClr val="111217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F5261E-4896-4AE1-B00E-E15E502C8A13}"/>
              </a:ext>
            </a:extLst>
          </p:cNvPr>
          <p:cNvSpPr txBox="1"/>
          <p:nvPr/>
        </p:nvSpPr>
        <p:spPr>
          <a:xfrm>
            <a:off x="7569200" y="4864100"/>
            <a:ext cx="342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B877D9"/>
                </a:solidFill>
                <a:latin typeface="Segoe UI"/>
                <a:cs typeface="Segoe UI"/>
              </a:rPr>
              <a:t>Continue matching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DB1F4E-8BAE-4E90-9CC0-D7C6EDCC06DE}"/>
              </a:ext>
            </a:extLst>
          </p:cNvPr>
          <p:cNvSpPr txBox="1"/>
          <p:nvPr/>
        </p:nvSpPr>
        <p:spPr>
          <a:xfrm>
            <a:off x="7569200" y="51181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Also try sibling policies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B83071C-ED28-4C49-A7C5-23FBE86ED268}"/>
              </a:ext>
            </a:extLst>
          </p:cNvPr>
          <p:cNvSpPr/>
          <p:nvPr/>
        </p:nvSpPr>
        <p:spPr>
          <a:xfrm>
            <a:off x="7366000" y="5511800"/>
            <a:ext cx="3810000" cy="660400"/>
          </a:xfrm>
          <a:prstGeom prst="roundRect">
            <a:avLst/>
          </a:prstGeom>
          <a:solidFill>
            <a:srgbClr val="111217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23407B-CB4F-48B1-AC52-39E3782FEED0}"/>
              </a:ext>
            </a:extLst>
          </p:cNvPr>
          <p:cNvSpPr txBox="1"/>
          <p:nvPr/>
        </p:nvSpPr>
        <p:spPr>
          <a:xfrm>
            <a:off x="7569200" y="5600700"/>
            <a:ext cx="342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ADE2A"/>
                </a:solidFill>
                <a:latin typeface="Segoe UI"/>
                <a:cs typeface="Segoe UI"/>
              </a:rPr>
              <a:t>Mute timings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6B453D2-DC19-4196-BB61-BA873FA00B68}"/>
              </a:ext>
            </a:extLst>
          </p:cNvPr>
          <p:cNvSpPr txBox="1"/>
          <p:nvPr/>
        </p:nvSpPr>
        <p:spPr>
          <a:xfrm>
            <a:off x="7569200" y="58547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Silence windows (maintenance)</a:t>
            </a:r>
          </a:p>
        </p:txBody>
      </p:sp>
    </p:spTree>
    <p:extLst>
      <p:ext uri="{BB962C8B-B14F-4D97-AF65-F5344CB8AC3E}">
        <p14:creationId xmlns:p14="http://schemas.microsoft.com/office/powerpoint/2010/main" val="32607443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0FB63-9B21-BB2C-BD84-0D7CBE2CF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2600"/>
            <a:ext cx="10668000" cy="584200"/>
          </a:xfrm>
        </p:spPr>
        <p:txBody>
          <a:bodyPr>
            <a:normAutofit/>
          </a:bodyPr>
          <a:lstStyle/>
          <a:p>
            <a:r>
              <a:rPr lang="en-US" sz="3000" b="1"/>
              <a:t>Alert Groups, Silences &amp; Mute Timings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8A7416-29E6-4175-9981-0D42360056A7}"/>
              </a:ext>
            </a:extLst>
          </p:cNvPr>
          <p:cNvSpPr/>
          <p:nvPr/>
        </p:nvSpPr>
        <p:spPr>
          <a:xfrm>
            <a:off x="762000" y="1143000"/>
            <a:ext cx="889000" cy="381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1150D3A-B4AF-4FB2-8F86-9CEB30383B7E}"/>
              </a:ext>
            </a:extLst>
          </p:cNvPr>
          <p:cNvSpPr/>
          <p:nvPr/>
        </p:nvSpPr>
        <p:spPr>
          <a:xfrm>
            <a:off x="762000" y="1422400"/>
            <a:ext cx="5461000" cy="15240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88A3A0-80DC-43F9-8439-63288CBDE94E}"/>
              </a:ext>
            </a:extLst>
          </p:cNvPr>
          <p:cNvSpPr/>
          <p:nvPr/>
        </p:nvSpPr>
        <p:spPr>
          <a:xfrm>
            <a:off x="762000" y="1422400"/>
            <a:ext cx="50800" cy="15240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24BE0-92D8-4D66-B407-7C20105826AE}"/>
              </a:ext>
            </a:extLst>
          </p:cNvPr>
          <p:cNvSpPr txBox="1"/>
          <p:nvPr/>
        </p:nvSpPr>
        <p:spPr>
          <a:xfrm>
            <a:off x="1041400" y="1600200"/>
            <a:ext cx="4953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Segoe UI"/>
                <a:cs typeface="Segoe UI"/>
              </a:rPr>
              <a:t>Grouping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EB2F41-FB40-4325-97CA-CE52D2421B17}"/>
              </a:ext>
            </a:extLst>
          </p:cNvPr>
          <p:cNvSpPr txBox="1"/>
          <p:nvPr/>
        </p:nvSpPr>
        <p:spPr>
          <a:xfrm>
            <a:off x="1041400" y="2006600"/>
            <a:ext cx="4953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4BCC6"/>
                </a:solidFill>
                <a:latin typeface="Segoe UI"/>
                <a:cs typeface="Segoe UI"/>
              </a:rPr>
              <a:t>Instances that share the group-by labels are bundled into one notification instead of ten. Alerting → Alert groups shows the live bundles.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E75510F-14F6-4265-B7B9-09FE119968D1}"/>
              </a:ext>
            </a:extLst>
          </p:cNvPr>
          <p:cNvSpPr/>
          <p:nvPr/>
        </p:nvSpPr>
        <p:spPr>
          <a:xfrm>
            <a:off x="762000" y="3048000"/>
            <a:ext cx="5461000" cy="15240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621227-EDD7-41C2-A7E9-4F9A6172F0BA}"/>
              </a:ext>
            </a:extLst>
          </p:cNvPr>
          <p:cNvSpPr/>
          <p:nvPr/>
        </p:nvSpPr>
        <p:spPr>
          <a:xfrm>
            <a:off x="762000" y="3048000"/>
            <a:ext cx="50800" cy="1524000"/>
          </a:xfrm>
          <a:prstGeom prst="rect">
            <a:avLst/>
          </a:prstGeom>
          <a:solidFill>
            <a:srgbClr val="6E9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AC2FCC-85B0-4859-BD5E-42313FD184A7}"/>
              </a:ext>
            </a:extLst>
          </p:cNvPr>
          <p:cNvSpPr txBox="1"/>
          <p:nvPr/>
        </p:nvSpPr>
        <p:spPr>
          <a:xfrm>
            <a:off x="1041400" y="3225800"/>
            <a:ext cx="4953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Segoe UI"/>
                <a:cs typeface="Segoe UI"/>
              </a:rPr>
              <a:t>Silence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2F65D5-3794-4A1B-A501-BA08EFB7D05C}"/>
              </a:ext>
            </a:extLst>
          </p:cNvPr>
          <p:cNvSpPr txBox="1"/>
          <p:nvPr/>
        </p:nvSpPr>
        <p:spPr>
          <a:xfrm>
            <a:off x="1041400" y="3632200"/>
            <a:ext cx="4953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4BCC6"/>
                </a:solidFill>
                <a:latin typeface="Segoe UI"/>
                <a:cs typeface="Segoe UI"/>
              </a:rPr>
              <a:t>Ad-hoc and time-boxed. Matchers pick the alerts, notifications stop, the rule keeps evaluating. Use it during an incident.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80EBD54-A6C2-4BFB-9371-87BAF533F437}"/>
              </a:ext>
            </a:extLst>
          </p:cNvPr>
          <p:cNvSpPr/>
          <p:nvPr/>
        </p:nvSpPr>
        <p:spPr>
          <a:xfrm>
            <a:off x="762000" y="4673600"/>
            <a:ext cx="5461000" cy="15240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1C2ED8-9A2C-480D-A206-F8F096D64BE1}"/>
              </a:ext>
            </a:extLst>
          </p:cNvPr>
          <p:cNvSpPr/>
          <p:nvPr/>
        </p:nvSpPr>
        <p:spPr>
          <a:xfrm>
            <a:off x="762000" y="4673600"/>
            <a:ext cx="50800" cy="1524000"/>
          </a:xfrm>
          <a:prstGeom prst="rect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8B7538-EBC6-4037-A63F-4EAC33A7CB77}"/>
              </a:ext>
            </a:extLst>
          </p:cNvPr>
          <p:cNvSpPr txBox="1"/>
          <p:nvPr/>
        </p:nvSpPr>
        <p:spPr>
          <a:xfrm>
            <a:off x="1041400" y="4851400"/>
            <a:ext cx="4953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Segoe UI"/>
                <a:cs typeface="Segoe UI"/>
              </a:rPr>
              <a:t>Mute timing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611FAC-4813-45CE-A474-D2217A67D796}"/>
              </a:ext>
            </a:extLst>
          </p:cNvPr>
          <p:cNvSpPr txBox="1"/>
          <p:nvPr/>
        </p:nvSpPr>
        <p:spPr>
          <a:xfrm>
            <a:off x="1041400" y="5257800"/>
            <a:ext cx="4953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dirty="0">
                <a:solidFill>
                  <a:srgbClr val="B4BCC6"/>
                </a:solidFill>
                <a:latin typeface="Segoe UI"/>
                <a:cs typeface="Segoe UI"/>
              </a:rPr>
              <a:t>Recurring schedule attached to a notification policy - for example weekends or a nightly batch window.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3A80AA5-0FA6-4670-B4FE-0C2DC0823BFC}"/>
              </a:ext>
            </a:extLst>
          </p:cNvPr>
          <p:cNvSpPr/>
          <p:nvPr/>
        </p:nvSpPr>
        <p:spPr>
          <a:xfrm>
            <a:off x="6502400" y="1422400"/>
            <a:ext cx="4927600" cy="4775200"/>
          </a:xfrm>
          <a:prstGeom prst="roundRect">
            <a:avLst/>
          </a:prstGeom>
          <a:solidFill>
            <a:srgbClr val="0B0C0E"/>
          </a:solidFill>
          <a:ln w="15875" cap="flat" cmpd="sng" algn="ctr">
            <a:solidFill>
              <a:srgbClr val="F249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7D5A71-E28C-4994-A25D-A91834386BA4}"/>
              </a:ext>
            </a:extLst>
          </p:cNvPr>
          <p:cNvSpPr txBox="1"/>
          <p:nvPr/>
        </p:nvSpPr>
        <p:spPr>
          <a:xfrm>
            <a:off x="6756400" y="1600200"/>
            <a:ext cx="431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2495C"/>
                </a:solidFill>
                <a:latin typeface="Segoe UI"/>
                <a:cs typeface="Segoe UI"/>
              </a:rPr>
              <a:t>One grouped notification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D1C80A-9634-45CA-AF82-3E6CD9F10AB5}"/>
              </a:ext>
            </a:extLst>
          </p:cNvPr>
          <p:cNvSpPr txBox="1"/>
          <p:nvPr/>
        </p:nvSpPr>
        <p:spPr>
          <a:xfrm>
            <a:off x="6756400" y="2032000"/>
            <a:ext cx="4318000" cy="381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FD48A"/>
                </a:solidFill>
                <a:latin typeface="Consolas"/>
              </a:rPr>
              <a:t>[FIRING:3]  HighCpuUsage  (platform / prod)
Grouped by: alertname, cluster
  web-01   cpu 0.94   since 10:32
  web-04   cpu 0.91   since 10:33
  web-07   cpu 0.88   since 10:35
summary   CPU above 85% for 5m
runbook   wiki/runbooks/high-cpu
Silenced by: maint-window-eu
until 2026-08-03 02:00 UTC</a:t>
            </a:r>
          </a:p>
        </p:txBody>
      </p:sp>
    </p:spTree>
    <p:extLst>
      <p:ext uri="{BB962C8B-B14F-4D97-AF65-F5344CB8AC3E}">
        <p14:creationId xmlns:p14="http://schemas.microsoft.com/office/powerpoint/2010/main" val="2427979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9D9E0-FF7E-DBBD-6B04-31E16A35C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2489200"/>
            <a:ext cx="6604000" cy="711200"/>
          </a:xfrm>
        </p:spPr>
        <p:txBody>
          <a:bodyPr>
            <a:normAutofit/>
          </a:bodyPr>
          <a:lstStyle/>
          <a:p>
            <a:r>
              <a:rPr lang="en-US" b="1"/>
              <a:t>Notification Channels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095D7F-D296-43E5-AEC8-7E9A0C3C81F3}"/>
              </a:ext>
            </a:extLst>
          </p:cNvPr>
          <p:cNvSpPr/>
          <p:nvPr/>
        </p:nvSpPr>
        <p:spPr>
          <a:xfrm>
            <a:off x="1778000" y="1524000"/>
            <a:ext cx="1651000" cy="711200"/>
          </a:xfrm>
          <a:prstGeom prst="roundRect">
            <a:avLst/>
          </a:prstGeom>
          <a:solidFill>
            <a:srgbClr val="2A1C0B"/>
          </a:solidFill>
          <a:ln w="12700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8800"/>
                </a:solidFill>
              </a:rPr>
              <a:t>MODULE 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70898D-02AD-4DAB-89DB-C69AF91C68C2}"/>
              </a:ext>
            </a:extLst>
          </p:cNvPr>
          <p:cNvSpPr txBox="1"/>
          <p:nvPr/>
        </p:nvSpPr>
        <p:spPr>
          <a:xfrm>
            <a:off x="1778000" y="3352800"/>
            <a:ext cx="660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>
                <a:solidFill>
                  <a:srgbClr val="9BA3AE"/>
                </a:solidFill>
                <a:latin typeface="Segoe UI"/>
                <a:cs typeface="Segoe UI"/>
              </a:rPr>
              <a:t>Email  ·  Slack  ·  Microsoft Teams  ·  Webhooks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519E4F-6F34-4AF6-8FE1-AC2C3B2D048F}"/>
              </a:ext>
            </a:extLst>
          </p:cNvPr>
          <p:cNvSpPr/>
          <p:nvPr/>
        </p:nvSpPr>
        <p:spPr>
          <a:xfrm>
            <a:off x="1778000" y="3886200"/>
            <a:ext cx="1143000" cy="508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368352-C4C6-498F-A0D2-AD41EEB02A23}"/>
              </a:ext>
            </a:extLst>
          </p:cNvPr>
          <p:cNvSpPr txBox="1"/>
          <p:nvPr/>
        </p:nvSpPr>
        <p:spPr>
          <a:xfrm>
            <a:off x="1778000" y="4191000"/>
            <a:ext cx="660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dirty="0">
                <a:solidFill>
                  <a:srgbClr val="6E9FFF"/>
                </a:solidFill>
                <a:latin typeface="Segoe UI"/>
                <a:cs typeface="Segoe UI"/>
              </a:rPr>
              <a:t>  Configuration you will repeat in Lab 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4EFFC11-5916-42E8-8B06-A2D92E1C1DE8}"/>
              </a:ext>
            </a:extLst>
          </p:cNvPr>
          <p:cNvSpPr/>
          <p:nvPr/>
        </p:nvSpPr>
        <p:spPr>
          <a:xfrm>
            <a:off x="8890000" y="1651000"/>
            <a:ext cx="2540000" cy="2540000"/>
          </a:xfrm>
          <a:prstGeom prst="roundRect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50D4CEED-2596-4BA8-B6C5-68E92D3FD7B4}"/>
              </a:ext>
            </a:extLst>
          </p:cNvPr>
          <p:cNvSpPr/>
          <p:nvPr/>
        </p:nvSpPr>
        <p:spPr>
          <a:xfrm>
            <a:off x="9525000" y="2540000"/>
            <a:ext cx="1270000" cy="762000"/>
          </a:xfrm>
          <a:prstGeom prst="chevron">
            <a:avLst/>
          </a:prstGeom>
          <a:solidFill>
            <a:srgbClr val="1F1608"/>
          </a:solidFill>
          <a:ln w="19050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275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74D20-6325-71B8-AE54-42A355C94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06400"/>
            <a:ext cx="10668000" cy="533400"/>
          </a:xfrm>
        </p:spPr>
        <p:txBody>
          <a:bodyPr>
            <a:normAutofit/>
          </a:bodyPr>
          <a:lstStyle/>
          <a:p>
            <a:r>
              <a:rPr lang="en-US" sz="3000" b="1"/>
              <a:t>Email and Slack Notifications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CFA50C-B5B8-42D0-93D5-A169BE084158}"/>
              </a:ext>
            </a:extLst>
          </p:cNvPr>
          <p:cNvSpPr/>
          <p:nvPr/>
        </p:nvSpPr>
        <p:spPr>
          <a:xfrm>
            <a:off x="762000" y="1016000"/>
            <a:ext cx="889000" cy="381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E4F794-FD3C-4565-AE7A-14E04166D7A0}"/>
              </a:ext>
            </a:extLst>
          </p:cNvPr>
          <p:cNvSpPr/>
          <p:nvPr/>
        </p:nvSpPr>
        <p:spPr>
          <a:xfrm>
            <a:off x="762000" y="1244600"/>
            <a:ext cx="5207000" cy="4241800"/>
          </a:xfrm>
          <a:prstGeom prst="roundRect">
            <a:avLst/>
          </a:prstGeom>
          <a:solidFill>
            <a:srgbClr val="0B0C0E"/>
          </a:solidFill>
          <a:ln w="15875" cap="flat" cmpd="sng" algn="ctr">
            <a:solidFill>
              <a:srgbClr val="6E9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249015-59CA-4934-895D-36B5371A0E87}"/>
              </a:ext>
            </a:extLst>
          </p:cNvPr>
          <p:cNvSpPr txBox="1"/>
          <p:nvPr/>
        </p:nvSpPr>
        <p:spPr>
          <a:xfrm>
            <a:off x="1016000" y="1422400"/>
            <a:ext cx="4699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6E9FFF"/>
                </a:solidFill>
                <a:latin typeface="Segoe UI"/>
                <a:cs typeface="Segoe UI"/>
              </a:rPr>
              <a:t>Email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C7581D-A704-46A5-B128-FCE7B98E0495}"/>
              </a:ext>
            </a:extLst>
          </p:cNvPr>
          <p:cNvSpPr txBox="1"/>
          <p:nvPr/>
        </p:nvSpPr>
        <p:spPr>
          <a:xfrm>
            <a:off x="1016000" y="1803400"/>
            <a:ext cx="469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B4BCC6"/>
                </a:solidFill>
                <a:latin typeface="Segoe UI"/>
                <a:cs typeface="Segoe UI"/>
              </a:rPr>
              <a:t>SMTP lives in grafana.ini - server side, once.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C0F09B-D021-4E3F-ACBB-092D751474BF}"/>
              </a:ext>
            </a:extLst>
          </p:cNvPr>
          <p:cNvSpPr txBox="1"/>
          <p:nvPr/>
        </p:nvSpPr>
        <p:spPr>
          <a:xfrm>
            <a:off x="1016000" y="2184400"/>
            <a:ext cx="4699000" cy="312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FD48A"/>
                </a:solidFill>
                <a:latin typeface="Consolas"/>
              </a:rPr>
              <a:t>[smtp]
enabled = true
host = smtp.company.com:587
user = grafana@company.com
password = ********
from_address = grafana@company.com
startTLS_policy = MandatoryStartTLS
Contact point
  addresses  oncall@company.com;
             sre@company.com
  single email  off
  subject  [{{ .Status }}]
           {{ .CommonLabels.alertname }}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3C6A25-002D-4DD8-BB59-A2B67A6BB561}"/>
              </a:ext>
            </a:extLst>
          </p:cNvPr>
          <p:cNvSpPr/>
          <p:nvPr/>
        </p:nvSpPr>
        <p:spPr>
          <a:xfrm>
            <a:off x="6223000" y="1244600"/>
            <a:ext cx="5207000" cy="4241800"/>
          </a:xfrm>
          <a:prstGeom prst="roundRect">
            <a:avLst/>
          </a:prstGeom>
          <a:solidFill>
            <a:srgbClr val="0B0C0E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CB4A29-0494-4E0D-8430-388EED3E21DD}"/>
              </a:ext>
            </a:extLst>
          </p:cNvPr>
          <p:cNvSpPr txBox="1"/>
          <p:nvPr/>
        </p:nvSpPr>
        <p:spPr>
          <a:xfrm>
            <a:off x="6477000" y="1422400"/>
            <a:ext cx="4699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73BF69"/>
                </a:solidFill>
                <a:latin typeface="Segoe UI"/>
                <a:cs typeface="Segoe UI"/>
              </a:rPr>
              <a:t>Slack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85C9E4-DE86-4033-9702-484DB2729C6A}"/>
              </a:ext>
            </a:extLst>
          </p:cNvPr>
          <p:cNvSpPr txBox="1"/>
          <p:nvPr/>
        </p:nvSpPr>
        <p:spPr>
          <a:xfrm>
            <a:off x="6477000" y="1803400"/>
            <a:ext cx="469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B4BCC6"/>
                </a:solidFill>
                <a:latin typeface="Segoe UI"/>
                <a:cs typeface="Segoe UI"/>
              </a:rPr>
              <a:t>Two ways in - webhook is fastest, bot token is richer.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287378-2F82-43B3-949D-1A688EC6A55F}"/>
              </a:ext>
            </a:extLst>
          </p:cNvPr>
          <p:cNvSpPr txBox="1"/>
          <p:nvPr/>
        </p:nvSpPr>
        <p:spPr>
          <a:xfrm>
            <a:off x="6477000" y="2184400"/>
            <a:ext cx="4699000" cy="312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FD48A"/>
                </a:solidFill>
                <a:latin typeface="Consolas"/>
              </a:rPr>
              <a:t>Option A - Incoming webhook
  URL  https://hooks.slack.com/
       services/T000/B000/xxxxx
  Recipient  #alerts-prod
Option B - Bot token (OAuth)
  Token  xoxb-...
  Recipient  #alerts-prod or @user
  Mention  @here, user groups
Title  [{{ .Status }}]
       {{ .CommonLabels.alertname }}
Text   {{ len .Alerts.Firing }} firing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783CF49-7496-4C90-BE5C-9AFDAAA6DFC9}"/>
              </a:ext>
            </a:extLst>
          </p:cNvPr>
          <p:cNvSpPr/>
          <p:nvPr/>
        </p:nvSpPr>
        <p:spPr>
          <a:xfrm>
            <a:off x="762000" y="5638800"/>
            <a:ext cx="10668000" cy="584200"/>
          </a:xfrm>
          <a:prstGeom prst="roundRect">
            <a:avLst/>
          </a:prstGeom>
          <a:solidFill>
            <a:srgbClr val="2A1214"/>
          </a:solidFill>
          <a:ln w="12700" cap="flat" cmpd="sng" algn="ctr">
            <a:solidFill>
              <a:srgbClr val="F249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13112B-ACC0-440A-BB3B-696B79345DAD}"/>
              </a:ext>
            </a:extLst>
          </p:cNvPr>
          <p:cNvSpPr txBox="1"/>
          <p:nvPr/>
        </p:nvSpPr>
        <p:spPr>
          <a:xfrm>
            <a:off x="1016000" y="57912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D2D6DB"/>
                </a:solidFill>
                <a:latin typeface="Segoe UI"/>
                <a:cs typeface="Segoe UI"/>
              </a:rPr>
              <a:t>Restart Grafana after editing grafana.ini - contact point changes take effect immediately, SMTP changes do not. Never commit a webhook URL or bot token to Git.</a:t>
            </a:r>
          </a:p>
        </p:txBody>
      </p:sp>
    </p:spTree>
    <p:extLst>
      <p:ext uri="{BB962C8B-B14F-4D97-AF65-F5344CB8AC3E}">
        <p14:creationId xmlns:p14="http://schemas.microsoft.com/office/powerpoint/2010/main" val="431578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EF63D-0BC6-473D-213F-3117E49C1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06400"/>
            <a:ext cx="10668000" cy="533400"/>
          </a:xfrm>
        </p:spPr>
        <p:txBody>
          <a:bodyPr>
            <a:normAutofit/>
          </a:bodyPr>
          <a:lstStyle/>
          <a:p>
            <a:r>
              <a:rPr lang="en-US" sz="3000" b="1"/>
              <a:t>Microsoft Teams and Webhooks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EA272F-7DA7-4CF1-BA07-D2EA28D8196C}"/>
              </a:ext>
            </a:extLst>
          </p:cNvPr>
          <p:cNvSpPr/>
          <p:nvPr/>
        </p:nvSpPr>
        <p:spPr>
          <a:xfrm>
            <a:off x="762000" y="1016000"/>
            <a:ext cx="889000" cy="381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8EC8D3-C61C-4814-BF62-9F0C02A06E2E}"/>
              </a:ext>
            </a:extLst>
          </p:cNvPr>
          <p:cNvSpPr/>
          <p:nvPr/>
        </p:nvSpPr>
        <p:spPr>
          <a:xfrm>
            <a:off x="762000" y="1244600"/>
            <a:ext cx="5207000" cy="4241800"/>
          </a:xfrm>
          <a:prstGeom prst="roundRect">
            <a:avLst/>
          </a:prstGeom>
          <a:solidFill>
            <a:srgbClr val="0B0C0E"/>
          </a:solidFill>
          <a:ln w="15875" cap="flat" cmpd="sng" algn="ctr">
            <a:solidFill>
              <a:srgbClr val="B877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BC712-D4CF-4FA8-9981-876CD4C9AFC2}"/>
              </a:ext>
            </a:extLst>
          </p:cNvPr>
          <p:cNvSpPr txBox="1"/>
          <p:nvPr/>
        </p:nvSpPr>
        <p:spPr>
          <a:xfrm>
            <a:off x="1016000" y="1422400"/>
            <a:ext cx="4699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B877D9"/>
                </a:solidFill>
                <a:latin typeface="Segoe UI"/>
                <a:cs typeface="Segoe UI"/>
              </a:rPr>
              <a:t>Microsoft Teams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8F3A93-458E-4447-A104-352BE62EF1D9}"/>
              </a:ext>
            </a:extLst>
          </p:cNvPr>
          <p:cNvSpPr txBox="1"/>
          <p:nvPr/>
        </p:nvSpPr>
        <p:spPr>
          <a:xfrm>
            <a:off x="1016000" y="1803400"/>
            <a:ext cx="469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Channel → Connectors → Incoming Webhook.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CBA22D-EF9C-48C3-8B5F-31AE99E54C28}"/>
              </a:ext>
            </a:extLst>
          </p:cNvPr>
          <p:cNvSpPr txBox="1"/>
          <p:nvPr/>
        </p:nvSpPr>
        <p:spPr>
          <a:xfrm>
            <a:off x="1016000" y="2184400"/>
            <a:ext cx="4699000" cy="312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FD48A"/>
                </a:solidFill>
                <a:latin typeface="Consolas"/>
              </a:rPr>
              <a:t>Contact point  Microsoft Teams
  URL  https://company.webhook
       .office.com/webhookb2/...
  Title    {{ .CommonLabels.alertname }}
  Section  {{ .CommonAnnotations
            .summary }}
  Message  {{ len .Alerts.Firing }}
           firing / {{ len
           .Alerts.Resolved }} resolved
Teams renders an Adaptive Card,
so keep the message short and put
the detail behind the runbook link.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F4D05D7-234A-4780-B1FF-0D3F3EA422AC}"/>
              </a:ext>
            </a:extLst>
          </p:cNvPr>
          <p:cNvSpPr/>
          <p:nvPr/>
        </p:nvSpPr>
        <p:spPr>
          <a:xfrm>
            <a:off x="6223000" y="1244600"/>
            <a:ext cx="5207000" cy="4241800"/>
          </a:xfrm>
          <a:prstGeom prst="roundRect">
            <a:avLst/>
          </a:prstGeom>
          <a:solidFill>
            <a:srgbClr val="0B0C0E"/>
          </a:solidFill>
          <a:ln w="15875" cap="flat" cmpd="sng" algn="ctr">
            <a:solidFill>
              <a:srgbClr val="FADE2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453BAB-DBF7-4935-BE90-CCE6CCCD83A8}"/>
              </a:ext>
            </a:extLst>
          </p:cNvPr>
          <p:cNvSpPr txBox="1"/>
          <p:nvPr/>
        </p:nvSpPr>
        <p:spPr>
          <a:xfrm>
            <a:off x="6477000" y="1422400"/>
            <a:ext cx="4699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900" b="1">
                <a:solidFill>
                  <a:srgbClr val="FADE2A"/>
                </a:solidFill>
                <a:latin typeface="Segoe UI"/>
                <a:cs typeface="Segoe UI"/>
              </a:rPr>
              <a:t>Webhook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13E711-B177-4BF2-8072-09CC5ECABB5C}"/>
              </a:ext>
            </a:extLst>
          </p:cNvPr>
          <p:cNvSpPr txBox="1"/>
          <p:nvPr/>
        </p:nvSpPr>
        <p:spPr>
          <a:xfrm>
            <a:off x="6477000" y="1803400"/>
            <a:ext cx="469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B4BCC6"/>
                </a:solidFill>
                <a:latin typeface="Segoe UI"/>
                <a:cs typeface="Segoe UI"/>
              </a:rPr>
              <a:t>Your escape hatch - POST JSON anywhere.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7F3F46-45C1-4D2F-8DC2-00605A3EA7F5}"/>
              </a:ext>
            </a:extLst>
          </p:cNvPr>
          <p:cNvSpPr txBox="1"/>
          <p:nvPr/>
        </p:nvSpPr>
        <p:spPr>
          <a:xfrm>
            <a:off x="6477000" y="2184400"/>
            <a:ext cx="4699000" cy="312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FD48A"/>
                </a:solidFill>
                <a:latin typeface="Consolas"/>
              </a:rPr>
              <a:t>POST /alerts  Content-Type: json
{
  "status": "firing",
  "groupLabels": {
    "alertname": "HighCpuUsage"
  },
  "commonLabels": {
    "severity": "critical",
    "team": "platform"
  },
  "alerts": [ { ... } ]
}
Auth: basic auth or a custom
header. Use it for ticketing,
chatops bots and auto-remediation.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9B6AA63-7A22-421B-8026-EFAA8749F96F}"/>
              </a:ext>
            </a:extLst>
          </p:cNvPr>
          <p:cNvSpPr/>
          <p:nvPr/>
        </p:nvSpPr>
        <p:spPr>
          <a:xfrm>
            <a:off x="762000" y="5638800"/>
            <a:ext cx="10668000" cy="584200"/>
          </a:xfrm>
          <a:prstGeom prst="roundRect">
            <a:avLst/>
          </a:prstGeom>
          <a:solidFill>
            <a:srgbClr val="12211A"/>
          </a:solidFill>
          <a:ln w="12700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3C2FAA-8916-4E42-A274-37E4703A6D4E}"/>
              </a:ext>
            </a:extLst>
          </p:cNvPr>
          <p:cNvSpPr txBox="1"/>
          <p:nvPr/>
        </p:nvSpPr>
        <p:spPr>
          <a:xfrm>
            <a:off x="1016000" y="57912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D2D6DB"/>
                </a:solidFill>
                <a:latin typeface="Segoe UI"/>
                <a:cs typeface="Segoe UI"/>
              </a:rPr>
              <a:t>Rule of thumb - Slack or Teams for awareness, email for the record, webhook for automation, PagerDuty or </a:t>
            </a:r>
            <a:r>
              <a:rPr lang="en-US" sz="1400" dirty="0" err="1">
                <a:solidFill>
                  <a:srgbClr val="D2D6DB"/>
                </a:solidFill>
                <a:latin typeface="Segoe UI"/>
                <a:cs typeface="Segoe UI"/>
              </a:rPr>
              <a:t>Opsgenie</a:t>
            </a:r>
            <a:r>
              <a:rPr lang="en-US" sz="1400" dirty="0">
                <a:solidFill>
                  <a:srgbClr val="D2D6DB"/>
                </a:solidFill>
                <a:latin typeface="Segoe UI"/>
                <a:cs typeface="Segoe UI"/>
              </a:rPr>
              <a:t> for anything that must wake someone up.</a:t>
            </a:r>
          </a:p>
        </p:txBody>
      </p:sp>
    </p:spTree>
    <p:extLst>
      <p:ext uri="{BB962C8B-B14F-4D97-AF65-F5344CB8AC3E}">
        <p14:creationId xmlns:p14="http://schemas.microsoft.com/office/powerpoint/2010/main" val="17180138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CD7F7-023F-608F-61A2-58F131827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97000"/>
            <a:ext cx="6604000" cy="660400"/>
          </a:xfrm>
        </p:spPr>
        <p:txBody>
          <a:bodyPr>
            <a:normAutofit/>
          </a:bodyPr>
          <a:lstStyle/>
          <a:p>
            <a:r>
              <a:rPr lang="en-US" sz="3600" b="1" dirty="0"/>
              <a:t>Lab 3 - Alerting End to End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A92019-F361-4194-9048-381EBAB333ED}"/>
              </a:ext>
            </a:extLst>
          </p:cNvPr>
          <p:cNvSpPr/>
          <p:nvPr/>
        </p:nvSpPr>
        <p:spPr>
          <a:xfrm>
            <a:off x="762000" y="558800"/>
            <a:ext cx="1905000" cy="635000"/>
          </a:xfrm>
          <a:prstGeom prst="roundRect">
            <a:avLst/>
          </a:prstGeom>
          <a:solidFill>
            <a:srgbClr val="12211A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73BF69"/>
                </a:solidFill>
              </a:rPr>
              <a:t>HANDS-ON LAB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8C33C4-9F0F-4A15-A038-A8AFBD6AB764}"/>
              </a:ext>
            </a:extLst>
          </p:cNvPr>
          <p:cNvSpPr txBox="1"/>
          <p:nvPr/>
        </p:nvSpPr>
        <p:spPr>
          <a:xfrm>
            <a:off x="762000" y="2133600"/>
            <a:ext cx="660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>
                <a:solidFill>
                  <a:srgbClr val="B4BCC6"/>
                </a:solidFill>
                <a:latin typeface="Segoe UI"/>
                <a:cs typeface="Segoe UI"/>
              </a:rPr>
              <a:t>45 minutes  ·  Work in pairs  ·  Everything you built today, wired together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9A6A780-A40D-4940-94A8-0DAA2CB929BE}"/>
              </a:ext>
            </a:extLst>
          </p:cNvPr>
          <p:cNvSpPr/>
          <p:nvPr/>
        </p:nvSpPr>
        <p:spPr>
          <a:xfrm>
            <a:off x="762000" y="2946400"/>
            <a:ext cx="6604000" cy="7112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6A575F-28FE-466F-A0E9-7105E07D0730}"/>
              </a:ext>
            </a:extLst>
          </p:cNvPr>
          <p:cNvSpPr/>
          <p:nvPr/>
        </p:nvSpPr>
        <p:spPr>
          <a:xfrm>
            <a:off x="762000" y="2946400"/>
            <a:ext cx="50800" cy="7112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C9B290-023D-4A6F-8424-9D227679D2A2}"/>
              </a:ext>
            </a:extLst>
          </p:cNvPr>
          <p:cNvSpPr txBox="1"/>
          <p:nvPr/>
        </p:nvSpPr>
        <p:spPr>
          <a:xfrm>
            <a:off x="1041400" y="31496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8800"/>
                </a:solidFill>
                <a:latin typeface="Segoe UI"/>
                <a:cs typeface="Segoe UI"/>
              </a:rPr>
              <a:t>3.1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0C1DFD-2BF6-4156-9FEC-BA87E006B40F}"/>
              </a:ext>
            </a:extLst>
          </p:cNvPr>
          <p:cNvSpPr txBox="1"/>
          <p:nvPr/>
        </p:nvSpPr>
        <p:spPr>
          <a:xfrm>
            <a:off x="1727200" y="31496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Segoe UI"/>
                <a:cs typeface="Segoe UI"/>
              </a:rPr>
              <a:t>Create alert rules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315167-CC0B-4257-BD89-DE76E19543B8}"/>
              </a:ext>
            </a:extLst>
          </p:cNvPr>
          <p:cNvSpPr txBox="1"/>
          <p:nvPr/>
        </p:nvSpPr>
        <p:spPr>
          <a:xfrm>
            <a:off x="5588000" y="31623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9BA3AE"/>
                </a:solidFill>
                <a:latin typeface="Segoe UI"/>
                <a:cs typeface="Segoe UI"/>
              </a:rPr>
              <a:t>10 min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12CFF7C-2D84-47E0-8EBF-68167C666BC6}"/>
              </a:ext>
            </a:extLst>
          </p:cNvPr>
          <p:cNvSpPr/>
          <p:nvPr/>
        </p:nvSpPr>
        <p:spPr>
          <a:xfrm>
            <a:off x="762000" y="3733800"/>
            <a:ext cx="6604000" cy="7112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FDA9CE-86CC-49F4-BD40-618B7136D837}"/>
              </a:ext>
            </a:extLst>
          </p:cNvPr>
          <p:cNvSpPr/>
          <p:nvPr/>
        </p:nvSpPr>
        <p:spPr>
          <a:xfrm>
            <a:off x="762000" y="3733800"/>
            <a:ext cx="50800" cy="711200"/>
          </a:xfrm>
          <a:prstGeom prst="rect">
            <a:avLst/>
          </a:prstGeom>
          <a:solidFill>
            <a:srgbClr val="6E9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0042A9-F895-4FC9-98AA-24B471A49581}"/>
              </a:ext>
            </a:extLst>
          </p:cNvPr>
          <p:cNvSpPr txBox="1"/>
          <p:nvPr/>
        </p:nvSpPr>
        <p:spPr>
          <a:xfrm>
            <a:off x="1041400" y="39370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6E9FFF"/>
                </a:solidFill>
                <a:latin typeface="Segoe UI"/>
                <a:cs typeface="Segoe UI"/>
              </a:rPr>
              <a:t>3.2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CC5214-58BB-4568-9B9B-6A61975A0A59}"/>
              </a:ext>
            </a:extLst>
          </p:cNvPr>
          <p:cNvSpPr txBox="1"/>
          <p:nvPr/>
        </p:nvSpPr>
        <p:spPr>
          <a:xfrm>
            <a:off x="1727200" y="39370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Segoe UI"/>
                <a:cs typeface="Segoe UI"/>
              </a:rPr>
              <a:t>Configure email alerts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61E3D3-2E09-4B1F-8FA2-728F6BBA7A63}"/>
              </a:ext>
            </a:extLst>
          </p:cNvPr>
          <p:cNvSpPr txBox="1"/>
          <p:nvPr/>
        </p:nvSpPr>
        <p:spPr>
          <a:xfrm>
            <a:off x="5588000" y="39497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9BA3AE"/>
                </a:solidFill>
                <a:latin typeface="Segoe UI"/>
                <a:cs typeface="Segoe UI"/>
              </a:rPr>
              <a:t>10 min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2B50F16-E8D5-41A8-A01D-E256AE059CB1}"/>
              </a:ext>
            </a:extLst>
          </p:cNvPr>
          <p:cNvSpPr/>
          <p:nvPr/>
        </p:nvSpPr>
        <p:spPr>
          <a:xfrm>
            <a:off x="762000" y="4521200"/>
            <a:ext cx="6604000" cy="7112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3BC21B-CB91-4DFC-BA5D-BB628A5D0BE2}"/>
              </a:ext>
            </a:extLst>
          </p:cNvPr>
          <p:cNvSpPr/>
          <p:nvPr/>
        </p:nvSpPr>
        <p:spPr>
          <a:xfrm>
            <a:off x="762000" y="4521200"/>
            <a:ext cx="50800" cy="7112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CE022B-D5E9-4CBB-A545-BDEE6FD5B95D}"/>
              </a:ext>
            </a:extLst>
          </p:cNvPr>
          <p:cNvSpPr txBox="1"/>
          <p:nvPr/>
        </p:nvSpPr>
        <p:spPr>
          <a:xfrm>
            <a:off x="1041400" y="47244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73BF69"/>
                </a:solidFill>
                <a:latin typeface="Segoe UI"/>
                <a:cs typeface="Segoe UI"/>
              </a:rPr>
              <a:t>3.3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B3E253-B5B7-461B-B7BB-0723D767131B}"/>
              </a:ext>
            </a:extLst>
          </p:cNvPr>
          <p:cNvSpPr txBox="1"/>
          <p:nvPr/>
        </p:nvSpPr>
        <p:spPr>
          <a:xfrm>
            <a:off x="1727200" y="47244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Segoe UI"/>
                <a:cs typeface="Segoe UI"/>
              </a:rPr>
              <a:t>Configure Slack alerts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AB41AD-1BB6-4ED0-A250-BF22B4CBE145}"/>
              </a:ext>
            </a:extLst>
          </p:cNvPr>
          <p:cNvSpPr txBox="1"/>
          <p:nvPr/>
        </p:nvSpPr>
        <p:spPr>
          <a:xfrm>
            <a:off x="5588000" y="47371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9BA3AE"/>
                </a:solidFill>
                <a:latin typeface="Segoe UI"/>
                <a:cs typeface="Segoe UI"/>
              </a:rPr>
              <a:t>10 min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B670425-CEB1-49C3-ADAA-70E6197E2A0F}"/>
              </a:ext>
            </a:extLst>
          </p:cNvPr>
          <p:cNvSpPr/>
          <p:nvPr/>
        </p:nvSpPr>
        <p:spPr>
          <a:xfrm>
            <a:off x="762000" y="5308600"/>
            <a:ext cx="6604000" cy="7112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AB1DA1-E268-457E-BF54-4317FD637C27}"/>
              </a:ext>
            </a:extLst>
          </p:cNvPr>
          <p:cNvSpPr/>
          <p:nvPr/>
        </p:nvSpPr>
        <p:spPr>
          <a:xfrm>
            <a:off x="762000" y="5308600"/>
            <a:ext cx="50800" cy="711200"/>
          </a:xfrm>
          <a:prstGeom prst="rect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91C952-471C-4AED-AD20-EE625BAEB887}"/>
              </a:ext>
            </a:extLst>
          </p:cNvPr>
          <p:cNvSpPr txBox="1"/>
          <p:nvPr/>
        </p:nvSpPr>
        <p:spPr>
          <a:xfrm>
            <a:off x="1041400" y="55118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B877D9"/>
                </a:solidFill>
                <a:latin typeface="Segoe UI"/>
                <a:cs typeface="Segoe UI"/>
              </a:rPr>
              <a:t>3.4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F70D6E-6C94-4D80-AD27-57F3873D75CB}"/>
              </a:ext>
            </a:extLst>
          </p:cNvPr>
          <p:cNvSpPr txBox="1"/>
          <p:nvPr/>
        </p:nvSpPr>
        <p:spPr>
          <a:xfrm>
            <a:off x="1727200" y="55118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Segoe UI"/>
                <a:cs typeface="Segoe UI"/>
              </a:rPr>
              <a:t>Test notifications end to end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7DB653-1434-4AE5-961E-B4EB00AB32E2}"/>
              </a:ext>
            </a:extLst>
          </p:cNvPr>
          <p:cNvSpPr txBox="1"/>
          <p:nvPr/>
        </p:nvSpPr>
        <p:spPr>
          <a:xfrm>
            <a:off x="5588000" y="55245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9BA3AE"/>
                </a:solidFill>
                <a:latin typeface="Segoe UI"/>
                <a:cs typeface="Segoe UI"/>
              </a:rPr>
              <a:t>15 min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4ECAFF7-D35E-4864-826F-7A69C3362D7E}"/>
              </a:ext>
            </a:extLst>
          </p:cNvPr>
          <p:cNvSpPr/>
          <p:nvPr/>
        </p:nvSpPr>
        <p:spPr>
          <a:xfrm>
            <a:off x="7747000" y="1397000"/>
            <a:ext cx="3683000" cy="4318000"/>
          </a:xfrm>
          <a:prstGeom prst="roundRect">
            <a:avLst/>
          </a:prstGeom>
          <a:solidFill>
            <a:srgbClr val="181B1F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298072-CEF1-4159-BAFA-038462ABB630}"/>
              </a:ext>
            </a:extLst>
          </p:cNvPr>
          <p:cNvSpPr txBox="1"/>
          <p:nvPr/>
        </p:nvSpPr>
        <p:spPr>
          <a:xfrm>
            <a:off x="8026400" y="1600200"/>
            <a:ext cx="317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73BF69"/>
                </a:solidFill>
                <a:latin typeface="Segoe UI"/>
                <a:cs typeface="Segoe UI"/>
              </a:rPr>
              <a:t>Before you start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6CD23F-DCF0-4FFA-9019-DE560A46326C}"/>
              </a:ext>
            </a:extLst>
          </p:cNvPr>
          <p:cNvSpPr txBox="1"/>
          <p:nvPr/>
        </p:nvSpPr>
        <p:spPr>
          <a:xfrm>
            <a:off x="8026400" y="2006600"/>
            <a:ext cx="3175000" cy="3530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4BCC6"/>
                </a:solidFill>
                <a:latin typeface="Segoe UI"/>
                <a:cs typeface="Segoe UI"/>
              </a:rPr>
              <a:t>Grafana 10 or newer with Unified Alerting enabled.
Prometheus data source already provisioned from Day 2.
An SMTP host you can reach (or MailHog on localhost:1025).
A Slack workspace where you may add an incoming webhook.
Editor or Admin role in your Grafana org.</a:t>
            </a:r>
          </a:p>
        </p:txBody>
      </p:sp>
    </p:spTree>
    <p:extLst>
      <p:ext uri="{BB962C8B-B14F-4D97-AF65-F5344CB8AC3E}">
        <p14:creationId xmlns:p14="http://schemas.microsoft.com/office/powerpoint/2010/main" val="3057309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C723F-CACB-EDF6-CD77-04A61B4DC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06400"/>
            <a:ext cx="10668000" cy="533400"/>
          </a:xfrm>
        </p:spPr>
        <p:txBody>
          <a:bodyPr>
            <a:normAutofit/>
          </a:bodyPr>
          <a:lstStyle/>
          <a:p>
            <a:r>
              <a:rPr lang="en-US" sz="3000" b="1" dirty="0"/>
              <a:t>Lab 3.1 - Create an Alert Rule  (10 min)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2416F5-10B6-4F0F-ABE2-D9BF8D4C5D3C}"/>
              </a:ext>
            </a:extLst>
          </p:cNvPr>
          <p:cNvSpPr/>
          <p:nvPr/>
        </p:nvSpPr>
        <p:spPr>
          <a:xfrm>
            <a:off x="762000" y="1016000"/>
            <a:ext cx="889000" cy="381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04C8720-616B-411E-A765-8B14BC297394}"/>
              </a:ext>
            </a:extLst>
          </p:cNvPr>
          <p:cNvSpPr/>
          <p:nvPr/>
        </p:nvSpPr>
        <p:spPr>
          <a:xfrm>
            <a:off x="762000" y="1244600"/>
            <a:ext cx="6350000" cy="4978400"/>
          </a:xfrm>
          <a:prstGeom prst="roundRect">
            <a:avLst/>
          </a:prstGeom>
          <a:solidFill>
            <a:srgbClr val="181B1F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52367D-EAD8-48FA-A381-9F0B822C0D38}"/>
              </a:ext>
            </a:extLst>
          </p:cNvPr>
          <p:cNvSpPr txBox="1"/>
          <p:nvPr/>
        </p:nvSpPr>
        <p:spPr>
          <a:xfrm>
            <a:off x="1041400" y="14224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73BF69"/>
                </a:solidFill>
                <a:latin typeface="Segoe UI"/>
                <a:cs typeface="Segoe UI"/>
              </a:rPr>
              <a:t>Steps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356E785-08C5-461A-99FC-5B9FBA5F547F}"/>
              </a:ext>
            </a:extLst>
          </p:cNvPr>
          <p:cNvSpPr/>
          <p:nvPr/>
        </p:nvSpPr>
        <p:spPr>
          <a:xfrm>
            <a:off x="1041400" y="18034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857BAB-DBAA-4A02-8272-FB670DDDA4CD}"/>
              </a:ext>
            </a:extLst>
          </p:cNvPr>
          <p:cNvSpPr txBox="1"/>
          <p:nvPr/>
        </p:nvSpPr>
        <p:spPr>
          <a:xfrm>
            <a:off x="1473200" y="18288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Alerting → Alert rules → New alert rule.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F1E36F4-20C9-4167-8F92-003B80E2D640}"/>
              </a:ext>
            </a:extLst>
          </p:cNvPr>
          <p:cNvSpPr/>
          <p:nvPr/>
        </p:nvSpPr>
        <p:spPr>
          <a:xfrm>
            <a:off x="1041400" y="22860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FE2768-6347-4E4B-925C-A01F127D27AB}"/>
              </a:ext>
            </a:extLst>
          </p:cNvPr>
          <p:cNvSpPr txBox="1"/>
          <p:nvPr/>
        </p:nvSpPr>
        <p:spPr>
          <a:xfrm>
            <a:off x="1473200" y="23114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Name it HighCpuUsage.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2D5995D-7939-446E-A664-0E8068442552}"/>
              </a:ext>
            </a:extLst>
          </p:cNvPr>
          <p:cNvSpPr/>
          <p:nvPr/>
        </p:nvSpPr>
        <p:spPr>
          <a:xfrm>
            <a:off x="1041400" y="27686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D980E4-9377-43B8-9075-EEA9A8655E63}"/>
              </a:ext>
            </a:extLst>
          </p:cNvPr>
          <p:cNvSpPr txBox="1"/>
          <p:nvPr/>
        </p:nvSpPr>
        <p:spPr>
          <a:xfrm>
            <a:off x="1473200" y="27940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Query A: Prometheus, CPU busy percentage per instance.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227EFA3-CF90-489F-B5AC-E88A28219B58}"/>
              </a:ext>
            </a:extLst>
          </p:cNvPr>
          <p:cNvSpPr/>
          <p:nvPr/>
        </p:nvSpPr>
        <p:spPr>
          <a:xfrm>
            <a:off x="1041400" y="32512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E84428-8549-43E5-B32E-D2869951B1F9}"/>
              </a:ext>
            </a:extLst>
          </p:cNvPr>
          <p:cNvSpPr txBox="1"/>
          <p:nvPr/>
        </p:nvSpPr>
        <p:spPr>
          <a:xfrm>
            <a:off x="1473200" y="32766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Expression B: Reduce → Last, then C: Threshold B &gt; 80.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C067FDA-DFB4-4478-A6B8-8E72C2CD74A9}"/>
              </a:ext>
            </a:extLst>
          </p:cNvPr>
          <p:cNvSpPr/>
          <p:nvPr/>
        </p:nvSpPr>
        <p:spPr>
          <a:xfrm>
            <a:off x="1041400" y="37338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B85386-D2D3-4610-9704-FF4305EC4512}"/>
              </a:ext>
            </a:extLst>
          </p:cNvPr>
          <p:cNvSpPr txBox="1"/>
          <p:nvPr/>
        </p:nvSpPr>
        <p:spPr>
          <a:xfrm>
            <a:off x="1473200" y="37592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Mark C as the alert condition and click Preview.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90CFFEE-3802-4CB9-97A0-A48DF343E812}"/>
              </a:ext>
            </a:extLst>
          </p:cNvPr>
          <p:cNvSpPr/>
          <p:nvPr/>
        </p:nvSpPr>
        <p:spPr>
          <a:xfrm>
            <a:off x="1041400" y="42164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52D8D5-D809-4132-A2D7-E0B515CE1F2B}"/>
              </a:ext>
            </a:extLst>
          </p:cNvPr>
          <p:cNvSpPr txBox="1"/>
          <p:nvPr/>
        </p:nvSpPr>
        <p:spPr>
          <a:xfrm>
            <a:off x="1473200" y="42418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Folder Training, evaluation group day3, interval 1m.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5BFCE30-4DAE-4852-903E-4FA780FC6FFE}"/>
              </a:ext>
            </a:extLst>
          </p:cNvPr>
          <p:cNvSpPr/>
          <p:nvPr/>
        </p:nvSpPr>
        <p:spPr>
          <a:xfrm>
            <a:off x="1041400" y="46990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C054EF-4F0E-46C1-833F-9421CED99AFC}"/>
              </a:ext>
            </a:extLst>
          </p:cNvPr>
          <p:cNvSpPr txBox="1"/>
          <p:nvPr/>
        </p:nvSpPr>
        <p:spPr>
          <a:xfrm>
            <a:off x="1473200" y="47244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Pending period 2m so the demo fires quickly.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6558AB8-6900-4C2D-9EFA-A32F0AA0ED5A}"/>
              </a:ext>
            </a:extLst>
          </p:cNvPr>
          <p:cNvSpPr/>
          <p:nvPr/>
        </p:nvSpPr>
        <p:spPr>
          <a:xfrm>
            <a:off x="1041400" y="51816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1DD88B-48F7-4DFD-916E-9BF82581BD93}"/>
              </a:ext>
            </a:extLst>
          </p:cNvPr>
          <p:cNvSpPr txBox="1"/>
          <p:nvPr/>
        </p:nvSpPr>
        <p:spPr>
          <a:xfrm>
            <a:off x="1473200" y="52070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Labels: severity=critical, team=platform.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CFAC7CF-5E2E-4ECA-B643-6AE94864DA21}"/>
              </a:ext>
            </a:extLst>
          </p:cNvPr>
          <p:cNvSpPr/>
          <p:nvPr/>
        </p:nvSpPr>
        <p:spPr>
          <a:xfrm>
            <a:off x="1041400" y="56642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710D0B-41E4-4237-B637-527B72012428}"/>
              </a:ext>
            </a:extLst>
          </p:cNvPr>
          <p:cNvSpPr txBox="1"/>
          <p:nvPr/>
        </p:nvSpPr>
        <p:spPr>
          <a:xfrm>
            <a:off x="1473200" y="56896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Annotations: summary and runbook_url. Save rule and exit.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8DE147F-8C4B-4FC5-A890-91557E15F40D}"/>
              </a:ext>
            </a:extLst>
          </p:cNvPr>
          <p:cNvSpPr/>
          <p:nvPr/>
        </p:nvSpPr>
        <p:spPr>
          <a:xfrm>
            <a:off x="7366000" y="1244600"/>
            <a:ext cx="4064000" cy="2844800"/>
          </a:xfrm>
          <a:prstGeom prst="roundRect">
            <a:avLst/>
          </a:prstGeom>
          <a:solidFill>
            <a:srgbClr val="0B0C0E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355FB8-5AC2-459D-8FFD-E14B7C5E7681}"/>
              </a:ext>
            </a:extLst>
          </p:cNvPr>
          <p:cNvSpPr txBox="1"/>
          <p:nvPr/>
        </p:nvSpPr>
        <p:spPr>
          <a:xfrm>
            <a:off x="7620000" y="13970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FF8800"/>
                </a:solidFill>
                <a:latin typeface="Segoe UI"/>
                <a:cs typeface="Segoe UI"/>
              </a:rPr>
              <a:t>Query A - copy this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DEC9D9-1714-44CE-AE35-79F4279A86FF}"/>
              </a:ext>
            </a:extLst>
          </p:cNvPr>
          <p:cNvSpPr txBox="1"/>
          <p:nvPr/>
        </p:nvSpPr>
        <p:spPr>
          <a:xfrm>
            <a:off x="7620000" y="1752600"/>
            <a:ext cx="3556000" cy="220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FD48A"/>
                </a:solidFill>
                <a:latin typeface="Consolas"/>
              </a:rPr>
              <a:t>100 - avg by (instance) (
  rate(
   node_cpu_seconds_total{
     mode="idle"}[5m])
) * 100
B  Reduce  Last
C  Threshold  B &gt; 80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B6D63CE-8487-486C-905C-D9A00A5C4A5D}"/>
              </a:ext>
            </a:extLst>
          </p:cNvPr>
          <p:cNvSpPr/>
          <p:nvPr/>
        </p:nvSpPr>
        <p:spPr>
          <a:xfrm>
            <a:off x="7366000" y="4241800"/>
            <a:ext cx="4064000" cy="1981200"/>
          </a:xfrm>
          <a:prstGeom prst="roundRect">
            <a:avLst/>
          </a:prstGeom>
          <a:solidFill>
            <a:srgbClr val="12211A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12A33F-D422-4E48-AAB9-4071317C2964}"/>
              </a:ext>
            </a:extLst>
          </p:cNvPr>
          <p:cNvSpPr txBox="1"/>
          <p:nvPr/>
        </p:nvSpPr>
        <p:spPr>
          <a:xfrm>
            <a:off x="7620000" y="43942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73BF69"/>
                </a:solidFill>
                <a:latin typeface="Segoe UI"/>
                <a:cs typeface="Segoe UI"/>
              </a:rPr>
              <a:t>Checkpoint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775426-5A08-4D0D-8C42-EA8A20C553C5}"/>
              </a:ext>
            </a:extLst>
          </p:cNvPr>
          <p:cNvSpPr txBox="1"/>
          <p:nvPr/>
        </p:nvSpPr>
        <p:spPr>
          <a:xfrm>
            <a:off x="7620000" y="4749800"/>
            <a:ext cx="35560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D2D6DB"/>
                </a:solidFill>
                <a:latin typeface="Segoe UI"/>
                <a:cs typeface="Segoe UI"/>
              </a:rPr>
              <a:t>The rule appears under Alerting → Alert rules with state Normal, and Preview showed one row per instance.
Can't reach 80%? Lower the threshold to 5 so it fires during the lab.</a:t>
            </a:r>
          </a:p>
        </p:txBody>
      </p:sp>
    </p:spTree>
    <p:extLst>
      <p:ext uri="{BB962C8B-B14F-4D97-AF65-F5344CB8AC3E}">
        <p14:creationId xmlns:p14="http://schemas.microsoft.com/office/powerpoint/2010/main" val="1605865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B38B-D40D-5645-6B3B-A7965177A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06400"/>
            <a:ext cx="10668000" cy="533400"/>
          </a:xfrm>
        </p:spPr>
        <p:txBody>
          <a:bodyPr>
            <a:normAutofit/>
          </a:bodyPr>
          <a:lstStyle/>
          <a:p>
            <a:r>
              <a:rPr lang="fr-FR" sz="3000" b="1" dirty="0" err="1"/>
              <a:t>Lab</a:t>
            </a:r>
            <a:r>
              <a:rPr lang="fr-FR" sz="3000" b="1" dirty="0"/>
              <a:t> 3.2 - Configure Email </a:t>
            </a:r>
            <a:r>
              <a:rPr lang="fr-FR" sz="3000" b="1" dirty="0" err="1"/>
              <a:t>Alerts</a:t>
            </a:r>
            <a:r>
              <a:rPr lang="fr-FR" sz="3000" b="1" dirty="0"/>
              <a:t>  (10 min)</a:t>
            </a:r>
            <a:endParaRPr lang="en-US" sz="30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4B3B7E-F90B-4024-8D21-5C8055C8CE07}"/>
              </a:ext>
            </a:extLst>
          </p:cNvPr>
          <p:cNvSpPr/>
          <p:nvPr/>
        </p:nvSpPr>
        <p:spPr>
          <a:xfrm>
            <a:off x="762000" y="1016000"/>
            <a:ext cx="889000" cy="381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9048F4-6B95-4879-B7DD-871EFB68C6C5}"/>
              </a:ext>
            </a:extLst>
          </p:cNvPr>
          <p:cNvSpPr/>
          <p:nvPr/>
        </p:nvSpPr>
        <p:spPr>
          <a:xfrm>
            <a:off x="762000" y="1244600"/>
            <a:ext cx="6350000" cy="4978400"/>
          </a:xfrm>
          <a:prstGeom prst="roundRect">
            <a:avLst/>
          </a:prstGeom>
          <a:solidFill>
            <a:srgbClr val="181B1F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CB9808-8F0A-406B-8775-B7B134A02AD8}"/>
              </a:ext>
            </a:extLst>
          </p:cNvPr>
          <p:cNvSpPr txBox="1"/>
          <p:nvPr/>
        </p:nvSpPr>
        <p:spPr>
          <a:xfrm>
            <a:off x="1041400" y="14224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73BF69"/>
                </a:solidFill>
                <a:latin typeface="Segoe UI"/>
                <a:cs typeface="Segoe UI"/>
              </a:rPr>
              <a:t>Steps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1E21864-E0DE-4426-B207-D93A7274E328}"/>
              </a:ext>
            </a:extLst>
          </p:cNvPr>
          <p:cNvSpPr/>
          <p:nvPr/>
        </p:nvSpPr>
        <p:spPr>
          <a:xfrm>
            <a:off x="1041400" y="18034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583869-493F-4FE7-856C-8DDC6C5DAC38}"/>
              </a:ext>
            </a:extLst>
          </p:cNvPr>
          <p:cNvSpPr txBox="1"/>
          <p:nvPr/>
        </p:nvSpPr>
        <p:spPr>
          <a:xfrm>
            <a:off x="1473200" y="18288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Check the [smtp] block in grafana.ini, then restart.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E0F4D7A-8D6F-44D7-9BD0-BA49AE295358}"/>
              </a:ext>
            </a:extLst>
          </p:cNvPr>
          <p:cNvSpPr/>
          <p:nvPr/>
        </p:nvSpPr>
        <p:spPr>
          <a:xfrm>
            <a:off x="1041400" y="22860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B4FD4E-5EF3-4CA3-A8C6-BE2CAA09C63C}"/>
              </a:ext>
            </a:extLst>
          </p:cNvPr>
          <p:cNvSpPr txBox="1"/>
          <p:nvPr/>
        </p:nvSpPr>
        <p:spPr>
          <a:xfrm>
            <a:off x="1473200" y="23114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Alerting → Contact points → Add contact point.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AE1C869-8554-4F0A-9E24-4836C7EF34EF}"/>
              </a:ext>
            </a:extLst>
          </p:cNvPr>
          <p:cNvSpPr/>
          <p:nvPr/>
        </p:nvSpPr>
        <p:spPr>
          <a:xfrm>
            <a:off x="1041400" y="27686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4680C0-E09F-4870-A658-2804B03DED76}"/>
              </a:ext>
            </a:extLst>
          </p:cNvPr>
          <p:cNvSpPr txBox="1"/>
          <p:nvPr/>
        </p:nvSpPr>
        <p:spPr>
          <a:xfrm>
            <a:off x="1473200" y="27940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Name it ops-email, integration Email.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E86FC74-3A2B-4219-A397-DA847815161F}"/>
              </a:ext>
            </a:extLst>
          </p:cNvPr>
          <p:cNvSpPr/>
          <p:nvPr/>
        </p:nvSpPr>
        <p:spPr>
          <a:xfrm>
            <a:off x="1041400" y="32512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F3BFE7-4685-4DCA-A399-2A82E9105499}"/>
              </a:ext>
            </a:extLst>
          </p:cNvPr>
          <p:cNvSpPr txBox="1"/>
          <p:nvPr/>
        </p:nvSpPr>
        <p:spPr>
          <a:xfrm>
            <a:off x="1473200" y="32766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Addresses: your own address, one per line.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4068D09-1259-44C0-8BDE-36BC996CC78C}"/>
              </a:ext>
            </a:extLst>
          </p:cNvPr>
          <p:cNvSpPr/>
          <p:nvPr/>
        </p:nvSpPr>
        <p:spPr>
          <a:xfrm>
            <a:off x="1041400" y="37338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557493-E7AD-4A6C-93D0-0A96FC000CBA}"/>
              </a:ext>
            </a:extLst>
          </p:cNvPr>
          <p:cNvSpPr txBox="1"/>
          <p:nvPr/>
        </p:nvSpPr>
        <p:spPr>
          <a:xfrm>
            <a:off x="1473200" y="37592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dirty="0">
                <a:solidFill>
                  <a:srgbClr val="D2D6DB"/>
                </a:solidFill>
                <a:latin typeface="Segoe UI"/>
                <a:cs typeface="Segoe UI"/>
              </a:rPr>
              <a:t>Leave single email off - one mail per alert.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F8752B2-55E7-45BA-B1B7-D379A556033A}"/>
              </a:ext>
            </a:extLst>
          </p:cNvPr>
          <p:cNvSpPr/>
          <p:nvPr/>
        </p:nvSpPr>
        <p:spPr>
          <a:xfrm>
            <a:off x="1041400" y="42164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B18887-F9A2-4504-9F19-A13D8D94B3A1}"/>
              </a:ext>
            </a:extLst>
          </p:cNvPr>
          <p:cNvSpPr txBox="1"/>
          <p:nvPr/>
        </p:nvSpPr>
        <p:spPr>
          <a:xfrm>
            <a:off x="1473200" y="42418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Optional: override the subject with a template.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D5F194A-0A56-4A98-9EC4-DD0DCD0EFDFC}"/>
              </a:ext>
            </a:extLst>
          </p:cNvPr>
          <p:cNvSpPr/>
          <p:nvPr/>
        </p:nvSpPr>
        <p:spPr>
          <a:xfrm>
            <a:off x="1041400" y="46990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A54D2F-D8A7-4152-BDB4-EEFC3B19D3D8}"/>
              </a:ext>
            </a:extLst>
          </p:cNvPr>
          <p:cNvSpPr txBox="1"/>
          <p:nvPr/>
        </p:nvSpPr>
        <p:spPr>
          <a:xfrm>
            <a:off x="1473200" y="47244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Click Test → Send test notification.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46B6EA5-17E5-431B-9D50-28258E5E0AC4}"/>
              </a:ext>
            </a:extLst>
          </p:cNvPr>
          <p:cNvSpPr/>
          <p:nvPr/>
        </p:nvSpPr>
        <p:spPr>
          <a:xfrm>
            <a:off x="1041400" y="51816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E1F9C3-A4B0-483D-A5AE-FCD7AC64FD33}"/>
              </a:ext>
            </a:extLst>
          </p:cNvPr>
          <p:cNvSpPr txBox="1"/>
          <p:nvPr/>
        </p:nvSpPr>
        <p:spPr>
          <a:xfrm>
            <a:off x="1473200" y="52070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Notification policies → edit the default policy.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4026B21-F81B-4D2E-B514-4782A2A57810}"/>
              </a:ext>
            </a:extLst>
          </p:cNvPr>
          <p:cNvSpPr/>
          <p:nvPr/>
        </p:nvSpPr>
        <p:spPr>
          <a:xfrm>
            <a:off x="1041400" y="56642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508EF4-5121-448C-BA98-C21E70691C80}"/>
              </a:ext>
            </a:extLst>
          </p:cNvPr>
          <p:cNvSpPr txBox="1"/>
          <p:nvPr/>
        </p:nvSpPr>
        <p:spPr>
          <a:xfrm>
            <a:off x="1473200" y="56896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Point the default at ops-email and save.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8EB272E-16EE-44FD-9E28-8A58B7941641}"/>
              </a:ext>
            </a:extLst>
          </p:cNvPr>
          <p:cNvSpPr/>
          <p:nvPr/>
        </p:nvSpPr>
        <p:spPr>
          <a:xfrm>
            <a:off x="7366000" y="1244600"/>
            <a:ext cx="4064000" cy="2844800"/>
          </a:xfrm>
          <a:prstGeom prst="roundRect">
            <a:avLst/>
          </a:prstGeom>
          <a:solidFill>
            <a:srgbClr val="0B0C0E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EF13E1-698E-457A-8606-6191F2F0BF75}"/>
              </a:ext>
            </a:extLst>
          </p:cNvPr>
          <p:cNvSpPr txBox="1"/>
          <p:nvPr/>
        </p:nvSpPr>
        <p:spPr>
          <a:xfrm>
            <a:off x="7620000" y="13970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8800"/>
                </a:solidFill>
                <a:latin typeface="Segoe UI"/>
                <a:cs typeface="Segoe UI"/>
              </a:rPr>
              <a:t>grafana.ini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C1C0BB-E16C-4433-8E85-0E0CDE1F1C85}"/>
              </a:ext>
            </a:extLst>
          </p:cNvPr>
          <p:cNvSpPr txBox="1"/>
          <p:nvPr/>
        </p:nvSpPr>
        <p:spPr>
          <a:xfrm>
            <a:off x="7620000" y="1752600"/>
            <a:ext cx="3556000" cy="220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FD48A"/>
                </a:solidFill>
                <a:latin typeface="Consolas"/>
              </a:rPr>
              <a:t>[smtp]
enabled = true
host = localhost:1025
from_address =
  grafana@lab.local
from_name = Grafana Lab
skip_verify = true
# MailHog UI: :8025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4C55A7D-5480-4745-98BD-D27CF17C2858}"/>
              </a:ext>
            </a:extLst>
          </p:cNvPr>
          <p:cNvSpPr/>
          <p:nvPr/>
        </p:nvSpPr>
        <p:spPr>
          <a:xfrm>
            <a:off x="7366000" y="4241800"/>
            <a:ext cx="4064000" cy="1981200"/>
          </a:xfrm>
          <a:prstGeom prst="roundRect">
            <a:avLst/>
          </a:prstGeom>
          <a:solidFill>
            <a:srgbClr val="12211A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D14A7B-4436-4B34-A6C4-E994C6BBBC18}"/>
              </a:ext>
            </a:extLst>
          </p:cNvPr>
          <p:cNvSpPr txBox="1"/>
          <p:nvPr/>
        </p:nvSpPr>
        <p:spPr>
          <a:xfrm>
            <a:off x="7620000" y="43942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73BF69"/>
                </a:solidFill>
                <a:latin typeface="Segoe UI"/>
                <a:cs typeface="Segoe UI"/>
              </a:rPr>
              <a:t>Checkpoint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D2319B-4C8B-4768-8D83-B5A47F48A667}"/>
              </a:ext>
            </a:extLst>
          </p:cNvPr>
          <p:cNvSpPr txBox="1"/>
          <p:nvPr/>
        </p:nvSpPr>
        <p:spPr>
          <a:xfrm>
            <a:off x="7620000" y="4749800"/>
            <a:ext cx="3556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D2D6DB"/>
                </a:solidFill>
                <a:latin typeface="Segoe UI"/>
                <a:cs typeface="Segoe UI"/>
              </a:rPr>
              <a:t>A test email lands in your inbox (or MailHog) with the alert name in the subject.
Nothing arrives? Check Server admin → Settings for the SMTP values Grafana actually loaded.</a:t>
            </a:r>
          </a:p>
        </p:txBody>
      </p:sp>
    </p:spTree>
    <p:extLst>
      <p:ext uri="{BB962C8B-B14F-4D97-AF65-F5344CB8AC3E}">
        <p14:creationId xmlns:p14="http://schemas.microsoft.com/office/powerpoint/2010/main" val="5059284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EC319-6AE3-DC11-D69A-D588D55FC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06400"/>
            <a:ext cx="10668000" cy="533400"/>
          </a:xfrm>
        </p:spPr>
        <p:txBody>
          <a:bodyPr>
            <a:normAutofit/>
          </a:bodyPr>
          <a:lstStyle/>
          <a:p>
            <a:r>
              <a:rPr lang="en-US" sz="3000" b="1" dirty="0"/>
              <a:t>Lab 3.3 - Configure Slack Alerts  (10 min)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AFA285-D6A4-4920-980D-E6FF3DE22D0D}"/>
              </a:ext>
            </a:extLst>
          </p:cNvPr>
          <p:cNvSpPr/>
          <p:nvPr/>
        </p:nvSpPr>
        <p:spPr>
          <a:xfrm>
            <a:off x="762000" y="1016000"/>
            <a:ext cx="889000" cy="381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0AB5F9E-C2FC-4ED5-81CF-1B85DA866CD2}"/>
              </a:ext>
            </a:extLst>
          </p:cNvPr>
          <p:cNvSpPr/>
          <p:nvPr/>
        </p:nvSpPr>
        <p:spPr>
          <a:xfrm>
            <a:off x="762000" y="1244600"/>
            <a:ext cx="6350000" cy="4978400"/>
          </a:xfrm>
          <a:prstGeom prst="roundRect">
            <a:avLst/>
          </a:prstGeom>
          <a:solidFill>
            <a:srgbClr val="181B1F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784205-57BF-4359-AEE0-CA2ABCBDFC38}"/>
              </a:ext>
            </a:extLst>
          </p:cNvPr>
          <p:cNvSpPr txBox="1"/>
          <p:nvPr/>
        </p:nvSpPr>
        <p:spPr>
          <a:xfrm>
            <a:off x="1041400" y="14224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73BF69"/>
                </a:solidFill>
                <a:latin typeface="Segoe UI"/>
                <a:cs typeface="Segoe UI"/>
              </a:rPr>
              <a:t>Steps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6DDC084-C1EC-4A60-AE19-C394FB9F9131}"/>
              </a:ext>
            </a:extLst>
          </p:cNvPr>
          <p:cNvSpPr/>
          <p:nvPr/>
        </p:nvSpPr>
        <p:spPr>
          <a:xfrm>
            <a:off x="1041400" y="18034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F7A727-48D8-475F-AE50-7E291ACF98A3}"/>
              </a:ext>
            </a:extLst>
          </p:cNvPr>
          <p:cNvSpPr txBox="1"/>
          <p:nvPr/>
        </p:nvSpPr>
        <p:spPr>
          <a:xfrm>
            <a:off x="1473200" y="18288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In Slack: create an app → Incoming Webhooks → On.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3963FF0-C299-4E91-AC10-EB601DD96B32}"/>
              </a:ext>
            </a:extLst>
          </p:cNvPr>
          <p:cNvSpPr/>
          <p:nvPr/>
        </p:nvSpPr>
        <p:spPr>
          <a:xfrm>
            <a:off x="1041400" y="22860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B7DA5A-8372-4888-9DE9-6BAA3A3E5DB7}"/>
              </a:ext>
            </a:extLst>
          </p:cNvPr>
          <p:cNvSpPr txBox="1"/>
          <p:nvPr/>
        </p:nvSpPr>
        <p:spPr>
          <a:xfrm>
            <a:off x="1473200" y="23114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Add a webhook to #grafana-alerts and copy the URL.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7E741B2-AD13-43CB-AC3A-F5182287B710}"/>
              </a:ext>
            </a:extLst>
          </p:cNvPr>
          <p:cNvSpPr/>
          <p:nvPr/>
        </p:nvSpPr>
        <p:spPr>
          <a:xfrm>
            <a:off x="1041400" y="27686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3D7588-A92D-4623-A688-15BFCBA18670}"/>
              </a:ext>
            </a:extLst>
          </p:cNvPr>
          <p:cNvSpPr txBox="1"/>
          <p:nvPr/>
        </p:nvSpPr>
        <p:spPr>
          <a:xfrm>
            <a:off x="1473200" y="27940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Grafana: Contact points → Add contact point.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04EDBE-592E-4B5A-B3DA-4269FF1DCF29}"/>
              </a:ext>
            </a:extLst>
          </p:cNvPr>
          <p:cNvSpPr/>
          <p:nvPr/>
        </p:nvSpPr>
        <p:spPr>
          <a:xfrm>
            <a:off x="1041400" y="32512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8398C9-006B-4E9A-86A5-3482C4B25545}"/>
              </a:ext>
            </a:extLst>
          </p:cNvPr>
          <p:cNvSpPr txBox="1"/>
          <p:nvPr/>
        </p:nvSpPr>
        <p:spPr>
          <a:xfrm>
            <a:off x="1473200" y="32766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Name it slack-oncall, integration Slack.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9EDB2E2-2E41-4031-9D62-5866E05D35CC}"/>
              </a:ext>
            </a:extLst>
          </p:cNvPr>
          <p:cNvSpPr/>
          <p:nvPr/>
        </p:nvSpPr>
        <p:spPr>
          <a:xfrm>
            <a:off x="1041400" y="37338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5E6386-9B32-47B0-8D46-97E7D3F77B00}"/>
              </a:ext>
            </a:extLst>
          </p:cNvPr>
          <p:cNvSpPr txBox="1"/>
          <p:nvPr/>
        </p:nvSpPr>
        <p:spPr>
          <a:xfrm>
            <a:off x="1473200" y="37592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Paste the webhook URL, recipient #grafana-alerts.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8BA6531-7AC0-49DF-9A59-FDC714EBA4E6}"/>
              </a:ext>
            </a:extLst>
          </p:cNvPr>
          <p:cNvSpPr/>
          <p:nvPr/>
        </p:nvSpPr>
        <p:spPr>
          <a:xfrm>
            <a:off x="1041400" y="42164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31099A-0D14-4360-9ED5-51FB070A068A}"/>
              </a:ext>
            </a:extLst>
          </p:cNvPr>
          <p:cNvSpPr txBox="1"/>
          <p:nvPr/>
        </p:nvSpPr>
        <p:spPr>
          <a:xfrm>
            <a:off x="1473200" y="42418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Set the title template to include status and name.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AF6CE4E-B304-456D-B387-921FF0E1CC51}"/>
              </a:ext>
            </a:extLst>
          </p:cNvPr>
          <p:cNvSpPr/>
          <p:nvPr/>
        </p:nvSpPr>
        <p:spPr>
          <a:xfrm>
            <a:off x="1041400" y="46990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58FECB-E35B-4E2E-ABD1-2FA33E579026}"/>
              </a:ext>
            </a:extLst>
          </p:cNvPr>
          <p:cNvSpPr txBox="1"/>
          <p:nvPr/>
        </p:nvSpPr>
        <p:spPr>
          <a:xfrm>
            <a:off x="1473200" y="47244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Send a test notification and check the channel.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9F3D5F7-60A6-4073-B0DC-CE817CD76BCC}"/>
              </a:ext>
            </a:extLst>
          </p:cNvPr>
          <p:cNvSpPr/>
          <p:nvPr/>
        </p:nvSpPr>
        <p:spPr>
          <a:xfrm>
            <a:off x="1041400" y="51816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6676F9-CBAB-444D-A211-0EA5277EB39F}"/>
              </a:ext>
            </a:extLst>
          </p:cNvPr>
          <p:cNvSpPr txBox="1"/>
          <p:nvPr/>
        </p:nvSpPr>
        <p:spPr>
          <a:xfrm>
            <a:off x="1473200" y="52070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Notification policies → New child policy.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0026CCF-D73A-4B9A-A27C-BAD8A30A87AD}"/>
              </a:ext>
            </a:extLst>
          </p:cNvPr>
          <p:cNvSpPr/>
          <p:nvPr/>
        </p:nvSpPr>
        <p:spPr>
          <a:xfrm>
            <a:off x="1041400" y="5664200"/>
            <a:ext cx="304800" cy="3048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D3745A-E5C4-49AF-ABEA-71E9D377541E}"/>
              </a:ext>
            </a:extLst>
          </p:cNvPr>
          <p:cNvSpPr txBox="1"/>
          <p:nvPr/>
        </p:nvSpPr>
        <p:spPr>
          <a:xfrm>
            <a:off x="1473200" y="5689600"/>
            <a:ext cx="538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Matcher severity = critical → slack-oncall. Save.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E07AC92-AFBE-40CC-834E-E7F5E3635A3F}"/>
              </a:ext>
            </a:extLst>
          </p:cNvPr>
          <p:cNvSpPr/>
          <p:nvPr/>
        </p:nvSpPr>
        <p:spPr>
          <a:xfrm>
            <a:off x="7366000" y="1244600"/>
            <a:ext cx="4064000" cy="2844800"/>
          </a:xfrm>
          <a:prstGeom prst="roundRect">
            <a:avLst/>
          </a:prstGeom>
          <a:solidFill>
            <a:srgbClr val="0B0C0E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A8DEF4-DB27-40C7-A539-DAC640526867}"/>
              </a:ext>
            </a:extLst>
          </p:cNvPr>
          <p:cNvSpPr txBox="1"/>
          <p:nvPr/>
        </p:nvSpPr>
        <p:spPr>
          <a:xfrm>
            <a:off x="7620000" y="13970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8800"/>
                </a:solidFill>
                <a:latin typeface="Segoe UI"/>
                <a:cs typeface="Segoe UI"/>
              </a:rPr>
              <a:t>Templates to paste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AEFF0A-81EE-44D2-8727-5BCABF134BEA}"/>
              </a:ext>
            </a:extLst>
          </p:cNvPr>
          <p:cNvSpPr txBox="1"/>
          <p:nvPr/>
        </p:nvSpPr>
        <p:spPr>
          <a:xfrm>
            <a:off x="7620000" y="1752600"/>
            <a:ext cx="3556000" cy="220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FD48A"/>
                </a:solidFill>
                <a:latin typeface="Consolas"/>
              </a:rPr>
              <a:t>Title
[{{ .Status | toUpper }}]
{{ .CommonLabels.alertname }}
Text
{{ len .Alerts.Firing }} firing
{{ .CommonAnnotations.summary }}
Mention  @here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1B8404F-D823-4930-85E7-F937F8AC3764}"/>
              </a:ext>
            </a:extLst>
          </p:cNvPr>
          <p:cNvSpPr/>
          <p:nvPr/>
        </p:nvSpPr>
        <p:spPr>
          <a:xfrm>
            <a:off x="7366000" y="4241800"/>
            <a:ext cx="4064000" cy="1981200"/>
          </a:xfrm>
          <a:prstGeom prst="roundRect">
            <a:avLst/>
          </a:prstGeom>
          <a:solidFill>
            <a:srgbClr val="12211A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12C628-87AC-4BDD-87DB-43FEC79D6251}"/>
              </a:ext>
            </a:extLst>
          </p:cNvPr>
          <p:cNvSpPr txBox="1"/>
          <p:nvPr/>
        </p:nvSpPr>
        <p:spPr>
          <a:xfrm>
            <a:off x="7620000" y="43942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73BF69"/>
                </a:solidFill>
                <a:latin typeface="Segoe UI"/>
                <a:cs typeface="Segoe UI"/>
              </a:rPr>
              <a:t>Checkpoint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B04B59-7D89-461C-A598-1D242C309E2B}"/>
              </a:ext>
            </a:extLst>
          </p:cNvPr>
          <p:cNvSpPr txBox="1"/>
          <p:nvPr/>
        </p:nvSpPr>
        <p:spPr>
          <a:xfrm>
            <a:off x="7620000" y="4749800"/>
            <a:ext cx="3556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D2D6DB"/>
                </a:solidFill>
                <a:latin typeface="Segoe UI"/>
                <a:cs typeface="Segoe UI"/>
              </a:rPr>
              <a:t>A test message appears in #grafana-alerts, and the routing tree shows a child policy under the default.
404 from Slack? The webhook URL was truncated on paste.</a:t>
            </a:r>
          </a:p>
        </p:txBody>
      </p:sp>
    </p:spTree>
    <p:extLst>
      <p:ext uri="{BB962C8B-B14F-4D97-AF65-F5344CB8AC3E}">
        <p14:creationId xmlns:p14="http://schemas.microsoft.com/office/powerpoint/2010/main" val="10916152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08363-546D-E329-A7B2-043E82A18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55600"/>
            <a:ext cx="10668000" cy="508000"/>
          </a:xfrm>
        </p:spPr>
        <p:txBody>
          <a:bodyPr>
            <a:normAutofit/>
          </a:bodyPr>
          <a:lstStyle/>
          <a:p>
            <a:r>
              <a:rPr lang="en-US" sz="2800" b="1" dirty="0"/>
              <a:t>Lab 3.4 - Test Notifications End to End  (15 min)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56999E-9BF0-48DE-8D4D-6FC3AFEC6FB8}"/>
              </a:ext>
            </a:extLst>
          </p:cNvPr>
          <p:cNvSpPr/>
          <p:nvPr/>
        </p:nvSpPr>
        <p:spPr>
          <a:xfrm>
            <a:off x="762000" y="914400"/>
            <a:ext cx="889000" cy="381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FB38BF51-C3EE-40ED-AF5F-B24061E78637}"/>
              </a:ext>
            </a:extLst>
          </p:cNvPr>
          <p:cNvSpPr/>
          <p:nvPr/>
        </p:nvSpPr>
        <p:spPr>
          <a:xfrm>
            <a:off x="762000" y="1117600"/>
            <a:ext cx="2184400" cy="660400"/>
          </a:xfrm>
          <a:prstGeom prst="homePlate">
            <a:avLst/>
          </a:prstGeom>
          <a:solidFill>
            <a:srgbClr val="1B1E24"/>
          </a:solidFill>
          <a:ln w="15875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8173A7C-6348-419A-A14F-31482FE1671A}"/>
              </a:ext>
            </a:extLst>
          </p:cNvPr>
          <p:cNvSpPr/>
          <p:nvPr/>
        </p:nvSpPr>
        <p:spPr>
          <a:xfrm>
            <a:off x="939800" y="1282700"/>
            <a:ext cx="330200" cy="330200"/>
          </a:xfrm>
          <a:prstGeom prst="ellipse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E9497E-3947-418E-BC6B-89752BFB5585}"/>
              </a:ext>
            </a:extLst>
          </p:cNvPr>
          <p:cNvSpPr txBox="1"/>
          <p:nvPr/>
        </p:nvSpPr>
        <p:spPr>
          <a:xfrm>
            <a:off x="1371600" y="13335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  <a:cs typeface="Segoe UI"/>
              </a:rPr>
              <a:t>Force load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168F5A0F-229D-4A56-A328-60676C095874}"/>
              </a:ext>
            </a:extLst>
          </p:cNvPr>
          <p:cNvSpPr/>
          <p:nvPr/>
        </p:nvSpPr>
        <p:spPr>
          <a:xfrm>
            <a:off x="2895600" y="1117600"/>
            <a:ext cx="2184400" cy="660400"/>
          </a:xfrm>
          <a:prstGeom prst="homePlate">
            <a:avLst/>
          </a:prstGeom>
          <a:solidFill>
            <a:srgbClr val="1B1E24"/>
          </a:solidFill>
          <a:ln w="15875" cap="flat" cmpd="sng" algn="ctr">
            <a:solidFill>
              <a:srgbClr val="FADE2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9B9B642-3DF4-4B37-BF44-732B3441C34F}"/>
              </a:ext>
            </a:extLst>
          </p:cNvPr>
          <p:cNvSpPr/>
          <p:nvPr/>
        </p:nvSpPr>
        <p:spPr>
          <a:xfrm>
            <a:off x="3073400" y="1282700"/>
            <a:ext cx="330200" cy="330200"/>
          </a:xfrm>
          <a:prstGeom prst="ellipse">
            <a:avLst/>
          </a:prstGeom>
          <a:solidFill>
            <a:srgbClr val="FADE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A48AD6-A8D7-4640-80BC-CE94900E6771}"/>
              </a:ext>
            </a:extLst>
          </p:cNvPr>
          <p:cNvSpPr txBox="1"/>
          <p:nvPr/>
        </p:nvSpPr>
        <p:spPr>
          <a:xfrm>
            <a:off x="3505200" y="13335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  <a:cs typeface="Segoe UI"/>
              </a:rPr>
              <a:t>Watch states</a:t>
            </a: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A183A8AE-B285-48A7-9334-5A5D434375B7}"/>
              </a:ext>
            </a:extLst>
          </p:cNvPr>
          <p:cNvSpPr/>
          <p:nvPr/>
        </p:nvSpPr>
        <p:spPr>
          <a:xfrm>
            <a:off x="5029200" y="1117600"/>
            <a:ext cx="2184400" cy="660400"/>
          </a:xfrm>
          <a:prstGeom prst="homePlate">
            <a:avLst/>
          </a:prstGeom>
          <a:solidFill>
            <a:srgbClr val="1B1E24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9D60601-746F-4777-95E1-E9B61AD53684}"/>
              </a:ext>
            </a:extLst>
          </p:cNvPr>
          <p:cNvSpPr/>
          <p:nvPr/>
        </p:nvSpPr>
        <p:spPr>
          <a:xfrm>
            <a:off x="5207000" y="1282700"/>
            <a:ext cx="330200" cy="330200"/>
          </a:xfrm>
          <a:prstGeom prst="ellipse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FC1C0F-57E7-4CD4-8374-3D4F26E0797D}"/>
              </a:ext>
            </a:extLst>
          </p:cNvPr>
          <p:cNvSpPr txBox="1"/>
          <p:nvPr/>
        </p:nvSpPr>
        <p:spPr>
          <a:xfrm>
            <a:off x="5638800" y="13335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  <a:cs typeface="Segoe UI"/>
              </a:rPr>
              <a:t>Check channels</a:t>
            </a: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1FF7F5C7-678C-40D1-B5B1-F7838ADAB7FA}"/>
              </a:ext>
            </a:extLst>
          </p:cNvPr>
          <p:cNvSpPr/>
          <p:nvPr/>
        </p:nvSpPr>
        <p:spPr>
          <a:xfrm>
            <a:off x="7162800" y="1117600"/>
            <a:ext cx="2184400" cy="660400"/>
          </a:xfrm>
          <a:prstGeom prst="homePlate">
            <a:avLst/>
          </a:prstGeom>
          <a:solidFill>
            <a:srgbClr val="1B1E24"/>
          </a:solidFill>
          <a:ln w="15875" cap="flat" cmpd="sng" algn="ctr">
            <a:solidFill>
              <a:srgbClr val="6E9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0AEDA71-0F9C-415B-A761-D2985E3175E0}"/>
              </a:ext>
            </a:extLst>
          </p:cNvPr>
          <p:cNvSpPr/>
          <p:nvPr/>
        </p:nvSpPr>
        <p:spPr>
          <a:xfrm>
            <a:off x="7340600" y="1282700"/>
            <a:ext cx="330200" cy="330200"/>
          </a:xfrm>
          <a:prstGeom prst="ellipse">
            <a:avLst/>
          </a:prstGeom>
          <a:solidFill>
            <a:srgbClr val="6E9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C4F99B-72F3-4950-8935-7A06FBB5AA37}"/>
              </a:ext>
            </a:extLst>
          </p:cNvPr>
          <p:cNvSpPr txBox="1"/>
          <p:nvPr/>
        </p:nvSpPr>
        <p:spPr>
          <a:xfrm>
            <a:off x="7772400" y="13335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  <a:cs typeface="Segoe UI"/>
              </a:rPr>
              <a:t>Silence it</a:t>
            </a: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86A741B5-0D7E-409A-8332-284782C73D0D}"/>
              </a:ext>
            </a:extLst>
          </p:cNvPr>
          <p:cNvSpPr/>
          <p:nvPr/>
        </p:nvSpPr>
        <p:spPr>
          <a:xfrm>
            <a:off x="9296400" y="1117600"/>
            <a:ext cx="2184400" cy="660400"/>
          </a:xfrm>
          <a:prstGeom prst="homePlate">
            <a:avLst/>
          </a:prstGeom>
          <a:solidFill>
            <a:srgbClr val="1B1E24"/>
          </a:solidFill>
          <a:ln w="15875" cap="flat" cmpd="sng" algn="ctr">
            <a:solidFill>
              <a:srgbClr val="B877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478FE7C-A84A-4256-B42B-9F00D8CF0332}"/>
              </a:ext>
            </a:extLst>
          </p:cNvPr>
          <p:cNvSpPr/>
          <p:nvPr/>
        </p:nvSpPr>
        <p:spPr>
          <a:xfrm>
            <a:off x="9474200" y="1282700"/>
            <a:ext cx="330200" cy="330200"/>
          </a:xfrm>
          <a:prstGeom prst="ellipse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11217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90BEE4-5EE2-4109-8B2E-A89955CAF6EB}"/>
              </a:ext>
            </a:extLst>
          </p:cNvPr>
          <p:cNvSpPr txBox="1"/>
          <p:nvPr/>
        </p:nvSpPr>
        <p:spPr>
          <a:xfrm>
            <a:off x="9906000" y="13335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  <a:cs typeface="Segoe UI"/>
              </a:rPr>
              <a:t>Let it resolve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84718CD-CAA5-4D4E-914D-83091EE9DE7B}"/>
              </a:ext>
            </a:extLst>
          </p:cNvPr>
          <p:cNvSpPr/>
          <p:nvPr/>
        </p:nvSpPr>
        <p:spPr>
          <a:xfrm>
            <a:off x="762000" y="2032000"/>
            <a:ext cx="5334000" cy="4191000"/>
          </a:xfrm>
          <a:prstGeom prst="roundRect">
            <a:avLst/>
          </a:prstGeom>
          <a:solidFill>
            <a:srgbClr val="0B0C0E"/>
          </a:solidFill>
          <a:ln w="15875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BB9447-12A3-4A0C-9243-4B7C77F46956}"/>
              </a:ext>
            </a:extLst>
          </p:cNvPr>
          <p:cNvSpPr txBox="1"/>
          <p:nvPr/>
        </p:nvSpPr>
        <p:spPr>
          <a:xfrm>
            <a:off x="1016000" y="22098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8800"/>
                </a:solidFill>
                <a:latin typeface="Segoe UI"/>
                <a:cs typeface="Segoe UI"/>
              </a:rPr>
              <a:t>Make it fire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C110CA-3B67-48DE-8EB1-65C6FFDE4141}"/>
              </a:ext>
            </a:extLst>
          </p:cNvPr>
          <p:cNvSpPr txBox="1"/>
          <p:nvPr/>
        </p:nvSpPr>
        <p:spPr>
          <a:xfrm>
            <a:off x="1016000" y="2616200"/>
            <a:ext cx="4826000" cy="345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8FD48A"/>
                </a:solidFill>
                <a:latin typeface="Consolas"/>
              </a:rPr>
              <a:t># option 1 - stress the CPU
stress-ng --cpu 4 --timeout 300s
# option 2 - no tools needed
for i in 1 2 3 4; do yes &gt; /dev/null &amp; done
# stop it later
kill %1 %2 %3 %4
# then watch the rule
Alerting -&gt; Alert rules -&gt; HighCpuUsage
Normal -&gt; Pending (2m) -&gt; Alerting
# silence it during the incident
Alerting -&gt; Silences -&gt; Add silence
matcher: alertname=HighCpuUsage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CF3E3B4-85A6-4032-B561-CD17F2DE5B56}"/>
              </a:ext>
            </a:extLst>
          </p:cNvPr>
          <p:cNvSpPr/>
          <p:nvPr/>
        </p:nvSpPr>
        <p:spPr>
          <a:xfrm>
            <a:off x="6350000" y="2032000"/>
            <a:ext cx="5080000" cy="4191000"/>
          </a:xfrm>
          <a:prstGeom prst="roundRect">
            <a:avLst/>
          </a:prstGeom>
          <a:solidFill>
            <a:srgbClr val="181B1F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AEB2FB-D12A-425C-8EE5-C904C3C2A78F}"/>
              </a:ext>
            </a:extLst>
          </p:cNvPr>
          <p:cNvSpPr txBox="1"/>
          <p:nvPr/>
        </p:nvSpPr>
        <p:spPr>
          <a:xfrm>
            <a:off x="6604000" y="22098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73BF69"/>
                </a:solidFill>
                <a:latin typeface="Segoe UI"/>
                <a:cs typeface="Segoe UI"/>
              </a:rPr>
              <a:t>Verification checklist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62ADAFD-9A33-4174-938D-37BFF077C919}"/>
              </a:ext>
            </a:extLst>
          </p:cNvPr>
          <p:cNvSpPr/>
          <p:nvPr/>
        </p:nvSpPr>
        <p:spPr>
          <a:xfrm>
            <a:off x="6604000" y="2641600"/>
            <a:ext cx="254000" cy="254000"/>
          </a:xfrm>
          <a:prstGeom prst="roundRect">
            <a:avLst/>
          </a:prstGeom>
          <a:solidFill>
            <a:srgbClr val="111217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7FA757-3F6A-4BC9-BC83-ABF438F9E7DF}"/>
              </a:ext>
            </a:extLst>
          </p:cNvPr>
          <p:cNvSpPr txBox="1"/>
          <p:nvPr/>
        </p:nvSpPr>
        <p:spPr>
          <a:xfrm>
            <a:off x="6985000" y="2641600"/>
            <a:ext cx="4216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Rule moved to Pending within one interval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C14C872-4BFC-494C-94E7-4AA3DECFDC88}"/>
              </a:ext>
            </a:extLst>
          </p:cNvPr>
          <p:cNvSpPr/>
          <p:nvPr/>
        </p:nvSpPr>
        <p:spPr>
          <a:xfrm>
            <a:off x="6604000" y="3136900"/>
            <a:ext cx="254000" cy="254000"/>
          </a:xfrm>
          <a:prstGeom prst="roundRect">
            <a:avLst/>
          </a:prstGeom>
          <a:solidFill>
            <a:srgbClr val="111217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C7A8D8-96E7-4A01-AAFA-150339FB92DA}"/>
              </a:ext>
            </a:extLst>
          </p:cNvPr>
          <p:cNvSpPr txBox="1"/>
          <p:nvPr/>
        </p:nvSpPr>
        <p:spPr>
          <a:xfrm>
            <a:off x="6985000" y="3136900"/>
            <a:ext cx="4216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Rule moved to Alerting after 2 minutes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0F1BEC9-5549-4294-BF7A-E4C3EC53EC96}"/>
              </a:ext>
            </a:extLst>
          </p:cNvPr>
          <p:cNvSpPr/>
          <p:nvPr/>
        </p:nvSpPr>
        <p:spPr>
          <a:xfrm>
            <a:off x="6604000" y="3632200"/>
            <a:ext cx="254000" cy="254000"/>
          </a:xfrm>
          <a:prstGeom prst="roundRect">
            <a:avLst/>
          </a:prstGeom>
          <a:solidFill>
            <a:srgbClr val="111217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5DC787-BF84-4445-9573-4C34A5403735}"/>
              </a:ext>
            </a:extLst>
          </p:cNvPr>
          <p:cNvSpPr txBox="1"/>
          <p:nvPr/>
        </p:nvSpPr>
        <p:spPr>
          <a:xfrm>
            <a:off x="6985000" y="3632200"/>
            <a:ext cx="4216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Email arrived with the alert name in the subject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7E356C7-B0DD-43F6-8716-13B13046A45E}"/>
              </a:ext>
            </a:extLst>
          </p:cNvPr>
          <p:cNvSpPr/>
          <p:nvPr/>
        </p:nvSpPr>
        <p:spPr>
          <a:xfrm>
            <a:off x="6604000" y="4127500"/>
            <a:ext cx="254000" cy="254000"/>
          </a:xfrm>
          <a:prstGeom prst="roundRect">
            <a:avLst/>
          </a:prstGeom>
          <a:solidFill>
            <a:srgbClr val="111217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1F2F7F-A64C-4CD4-BA9F-E052040BB748}"/>
              </a:ext>
            </a:extLst>
          </p:cNvPr>
          <p:cNvSpPr txBox="1"/>
          <p:nvPr/>
        </p:nvSpPr>
        <p:spPr>
          <a:xfrm>
            <a:off x="6985000" y="4127500"/>
            <a:ext cx="4216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Slack message posted in #grafana-alerts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A71EA72-3517-418E-9AA6-34DC5938D03F}"/>
              </a:ext>
            </a:extLst>
          </p:cNvPr>
          <p:cNvSpPr/>
          <p:nvPr/>
        </p:nvSpPr>
        <p:spPr>
          <a:xfrm>
            <a:off x="6604000" y="4622800"/>
            <a:ext cx="254000" cy="254000"/>
          </a:xfrm>
          <a:prstGeom prst="roundRect">
            <a:avLst/>
          </a:prstGeom>
          <a:solidFill>
            <a:srgbClr val="111217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268EB1-448F-4B7D-A285-0EEE2EF9575D}"/>
              </a:ext>
            </a:extLst>
          </p:cNvPr>
          <p:cNvSpPr txBox="1"/>
          <p:nvPr/>
        </p:nvSpPr>
        <p:spPr>
          <a:xfrm>
            <a:off x="6985000" y="4622800"/>
            <a:ext cx="4216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Alert groups page shows one bundled group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59C11D2-2EE0-4CA6-80FA-9641B52577B8}"/>
              </a:ext>
            </a:extLst>
          </p:cNvPr>
          <p:cNvSpPr/>
          <p:nvPr/>
        </p:nvSpPr>
        <p:spPr>
          <a:xfrm>
            <a:off x="6604000" y="5118100"/>
            <a:ext cx="254000" cy="254000"/>
          </a:xfrm>
          <a:prstGeom prst="roundRect">
            <a:avLst/>
          </a:prstGeom>
          <a:solidFill>
            <a:srgbClr val="111217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A079DD-F01D-4CE4-BAE8-087FE163DF6B}"/>
              </a:ext>
            </a:extLst>
          </p:cNvPr>
          <p:cNvSpPr txBox="1"/>
          <p:nvPr/>
        </p:nvSpPr>
        <p:spPr>
          <a:xfrm>
            <a:off x="6985000" y="5118100"/>
            <a:ext cx="4216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Silence stopped further notifications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00F5B72-5497-4EE1-8D2D-5B19489BA668}"/>
              </a:ext>
            </a:extLst>
          </p:cNvPr>
          <p:cNvSpPr/>
          <p:nvPr/>
        </p:nvSpPr>
        <p:spPr>
          <a:xfrm>
            <a:off x="6604000" y="5613400"/>
            <a:ext cx="254000" cy="254000"/>
          </a:xfrm>
          <a:prstGeom prst="roundRect">
            <a:avLst/>
          </a:prstGeom>
          <a:solidFill>
            <a:srgbClr val="111217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6699D7-B57B-48D5-8755-28C6B3501728}"/>
              </a:ext>
            </a:extLst>
          </p:cNvPr>
          <p:cNvSpPr txBox="1"/>
          <p:nvPr/>
        </p:nvSpPr>
        <p:spPr>
          <a:xfrm>
            <a:off x="6985000" y="5613400"/>
            <a:ext cx="4216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Resolved message arrived once load dropped</a:t>
            </a:r>
          </a:p>
        </p:txBody>
      </p:sp>
    </p:spTree>
    <p:extLst>
      <p:ext uri="{BB962C8B-B14F-4D97-AF65-F5344CB8AC3E}">
        <p14:creationId xmlns:p14="http://schemas.microsoft.com/office/powerpoint/2010/main" val="32089891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4AC26-AFF3-70F4-C709-59CDEB076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06400"/>
            <a:ext cx="10668000" cy="533400"/>
          </a:xfrm>
        </p:spPr>
        <p:txBody>
          <a:bodyPr>
            <a:normAutofit/>
          </a:bodyPr>
          <a:lstStyle/>
          <a:p>
            <a:r>
              <a:rPr lang="en-US" sz="3000" b="1"/>
              <a:t>Troubleshooting &amp; Alerting Hygiene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A16C08-0A6D-4CE2-ACEE-1819107F7418}"/>
              </a:ext>
            </a:extLst>
          </p:cNvPr>
          <p:cNvSpPr/>
          <p:nvPr/>
        </p:nvSpPr>
        <p:spPr>
          <a:xfrm>
            <a:off x="762000" y="1016000"/>
            <a:ext cx="889000" cy="381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333378C-E225-4E61-8AE7-76A7B81D7495}"/>
              </a:ext>
            </a:extLst>
          </p:cNvPr>
          <p:cNvSpPr/>
          <p:nvPr/>
        </p:nvSpPr>
        <p:spPr>
          <a:xfrm>
            <a:off x="762000" y="1422400"/>
            <a:ext cx="3429000" cy="2286000"/>
          </a:xfrm>
          <a:prstGeom prst="roundRect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54DD82-609A-4DF6-A609-20725FC2FE8F}"/>
              </a:ext>
            </a:extLst>
          </p:cNvPr>
          <p:cNvSpPr/>
          <p:nvPr/>
        </p:nvSpPr>
        <p:spPr>
          <a:xfrm>
            <a:off x="762000" y="1422400"/>
            <a:ext cx="3429000" cy="50800"/>
          </a:xfrm>
          <a:prstGeom prst="rect">
            <a:avLst/>
          </a:prstGeom>
          <a:solidFill>
            <a:srgbClr val="F249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895AE3-6325-43BD-A221-274ABBADC15C}"/>
              </a:ext>
            </a:extLst>
          </p:cNvPr>
          <p:cNvSpPr txBox="1"/>
          <p:nvPr/>
        </p:nvSpPr>
        <p:spPr>
          <a:xfrm>
            <a:off x="1016000" y="17018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Segoe UI"/>
                <a:cs typeface="Segoe UI"/>
              </a:rPr>
              <a:t>Nothing arrives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AD79B2-43A7-4559-845A-94E87E959A8C}"/>
              </a:ext>
            </a:extLst>
          </p:cNvPr>
          <p:cNvSpPr txBox="1"/>
          <p:nvPr/>
        </p:nvSpPr>
        <p:spPr>
          <a:xfrm>
            <a:off x="1016000" y="2387600"/>
            <a:ext cx="29210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dirty="0">
                <a:solidFill>
                  <a:srgbClr val="B4BCC6"/>
                </a:solidFill>
                <a:latin typeface="Segoe UI"/>
                <a:cs typeface="Segoe UI"/>
              </a:rPr>
              <a:t>Test the contact point first. Then check the policy matchers - a typo in a label value silently routes to the default.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11E94E0-B779-4CC0-A87A-5FA8C3C24B5C}"/>
              </a:ext>
            </a:extLst>
          </p:cNvPr>
          <p:cNvSpPr/>
          <p:nvPr/>
        </p:nvSpPr>
        <p:spPr>
          <a:xfrm>
            <a:off x="4381500" y="1422400"/>
            <a:ext cx="3429000" cy="2286000"/>
          </a:xfrm>
          <a:prstGeom prst="roundRect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3D5218-2E3A-4AC1-8BA2-96BEE258951D}"/>
              </a:ext>
            </a:extLst>
          </p:cNvPr>
          <p:cNvSpPr/>
          <p:nvPr/>
        </p:nvSpPr>
        <p:spPr>
          <a:xfrm>
            <a:off x="4381500" y="1422400"/>
            <a:ext cx="3429000" cy="508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0A6495-9563-4F42-993A-CCE4A6C7D9A7}"/>
              </a:ext>
            </a:extLst>
          </p:cNvPr>
          <p:cNvSpPr txBox="1"/>
          <p:nvPr/>
        </p:nvSpPr>
        <p:spPr>
          <a:xfrm>
            <a:off x="4635500" y="17018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Segoe UI"/>
                <a:cs typeface="Segoe UI"/>
              </a:rPr>
              <a:t>Too many messages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4ACF6E-FFB0-4E8C-A3CC-5D4EB9F123B3}"/>
              </a:ext>
            </a:extLst>
          </p:cNvPr>
          <p:cNvSpPr txBox="1"/>
          <p:nvPr/>
        </p:nvSpPr>
        <p:spPr>
          <a:xfrm>
            <a:off x="4635500" y="2387600"/>
            <a:ext cx="29210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4BCC6"/>
                </a:solidFill>
                <a:latin typeface="Segoe UI"/>
                <a:cs typeface="Segoe UI"/>
              </a:rPr>
              <a:t>Raise the pending period, group by fewer labels, and lengthen the repeat interval before you blame the rule.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2645B54-955C-41FE-9D99-4F2C4689B727}"/>
              </a:ext>
            </a:extLst>
          </p:cNvPr>
          <p:cNvSpPr/>
          <p:nvPr/>
        </p:nvSpPr>
        <p:spPr>
          <a:xfrm>
            <a:off x="8001000" y="1422400"/>
            <a:ext cx="3429000" cy="2286000"/>
          </a:xfrm>
          <a:prstGeom prst="roundRect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0B3AEC-8B69-465E-9D95-1F1D5F88840C}"/>
              </a:ext>
            </a:extLst>
          </p:cNvPr>
          <p:cNvSpPr/>
          <p:nvPr/>
        </p:nvSpPr>
        <p:spPr>
          <a:xfrm>
            <a:off x="8001000" y="1422400"/>
            <a:ext cx="3429000" cy="50800"/>
          </a:xfrm>
          <a:prstGeom prst="rect">
            <a:avLst/>
          </a:prstGeom>
          <a:solidFill>
            <a:srgbClr val="FADE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5813D9-7291-4CDC-B367-7AD69DE65DA9}"/>
              </a:ext>
            </a:extLst>
          </p:cNvPr>
          <p:cNvSpPr txBox="1"/>
          <p:nvPr/>
        </p:nvSpPr>
        <p:spPr>
          <a:xfrm>
            <a:off x="8255000" y="17018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Segoe UI"/>
                <a:cs typeface="Segoe UI"/>
              </a:rPr>
              <a:t>Alert is flapping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3E9B41-3A83-48D2-A17A-2496F0093340}"/>
              </a:ext>
            </a:extLst>
          </p:cNvPr>
          <p:cNvSpPr txBox="1"/>
          <p:nvPr/>
        </p:nvSpPr>
        <p:spPr>
          <a:xfrm>
            <a:off x="8255000" y="2387600"/>
            <a:ext cx="29210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4BCC6"/>
                </a:solidFill>
                <a:latin typeface="Segoe UI"/>
                <a:cs typeface="Segoe UI"/>
              </a:rPr>
              <a:t>Smooth the signal in the query with avg_over_time, and give the rule a pending period of several intervals.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16CE334-B737-4947-A910-706BED76858D}"/>
              </a:ext>
            </a:extLst>
          </p:cNvPr>
          <p:cNvSpPr/>
          <p:nvPr/>
        </p:nvSpPr>
        <p:spPr>
          <a:xfrm>
            <a:off x="762000" y="3860800"/>
            <a:ext cx="3429000" cy="2286000"/>
          </a:xfrm>
          <a:prstGeom prst="roundRect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2FB3AE-41E6-4828-AEDC-2E7217113441}"/>
              </a:ext>
            </a:extLst>
          </p:cNvPr>
          <p:cNvSpPr/>
          <p:nvPr/>
        </p:nvSpPr>
        <p:spPr>
          <a:xfrm>
            <a:off x="762000" y="3860800"/>
            <a:ext cx="3429000" cy="50800"/>
          </a:xfrm>
          <a:prstGeom prst="rect">
            <a:avLst/>
          </a:prstGeom>
          <a:solidFill>
            <a:srgbClr val="6E9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0E52EA-F026-46D2-AF48-EAC856543F42}"/>
              </a:ext>
            </a:extLst>
          </p:cNvPr>
          <p:cNvSpPr txBox="1"/>
          <p:nvPr/>
        </p:nvSpPr>
        <p:spPr>
          <a:xfrm>
            <a:off x="1016000" y="41402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Segoe UI"/>
                <a:cs typeface="Segoe UI"/>
              </a:rPr>
              <a:t>No Data storms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8A1850-EB98-4C40-A649-10E24602A8E5}"/>
              </a:ext>
            </a:extLst>
          </p:cNvPr>
          <p:cNvSpPr txBox="1"/>
          <p:nvPr/>
        </p:nvSpPr>
        <p:spPr>
          <a:xfrm>
            <a:off x="1016000" y="4826000"/>
            <a:ext cx="29210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4BCC6"/>
                </a:solidFill>
                <a:latin typeface="Segoe UI"/>
                <a:cs typeface="Segoe UI"/>
              </a:rPr>
              <a:t>Decide deliberately: Normal for batch jobs, Alerting for anything that must always report.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5A636AF-1CCA-465E-8B78-990D00AD5434}"/>
              </a:ext>
            </a:extLst>
          </p:cNvPr>
          <p:cNvSpPr/>
          <p:nvPr/>
        </p:nvSpPr>
        <p:spPr>
          <a:xfrm>
            <a:off x="4381500" y="3860800"/>
            <a:ext cx="3429000" cy="2286000"/>
          </a:xfrm>
          <a:prstGeom prst="roundRect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2FF925-B0B5-40D4-9A43-AB8CC2B84CB7}"/>
              </a:ext>
            </a:extLst>
          </p:cNvPr>
          <p:cNvSpPr/>
          <p:nvPr/>
        </p:nvSpPr>
        <p:spPr>
          <a:xfrm>
            <a:off x="4381500" y="3860800"/>
            <a:ext cx="3429000" cy="50800"/>
          </a:xfrm>
          <a:prstGeom prst="rect">
            <a:avLst/>
          </a:prstGeom>
          <a:solidFill>
            <a:srgbClr val="73BF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BECD9C-4664-4465-9E59-139EDFF90011}"/>
              </a:ext>
            </a:extLst>
          </p:cNvPr>
          <p:cNvSpPr txBox="1"/>
          <p:nvPr/>
        </p:nvSpPr>
        <p:spPr>
          <a:xfrm>
            <a:off x="4635500" y="41402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Segoe UI"/>
                <a:cs typeface="Segoe UI"/>
              </a:rPr>
              <a:t>Label discipline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8948EF-AB9B-4B4A-8A9D-AD7B629B0E76}"/>
              </a:ext>
            </a:extLst>
          </p:cNvPr>
          <p:cNvSpPr txBox="1"/>
          <p:nvPr/>
        </p:nvSpPr>
        <p:spPr>
          <a:xfrm>
            <a:off x="4635500" y="4826000"/>
            <a:ext cx="29210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dirty="0">
                <a:solidFill>
                  <a:srgbClr val="B4BCC6"/>
                </a:solidFill>
                <a:latin typeface="Segoe UI"/>
                <a:cs typeface="Segoe UI"/>
              </a:rPr>
              <a:t>Labels are for routing - severity, team, env. Detail belongs in annotations, not in label values.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95D3529-E55C-49D3-A148-E073432EDBAD}"/>
              </a:ext>
            </a:extLst>
          </p:cNvPr>
          <p:cNvSpPr/>
          <p:nvPr/>
        </p:nvSpPr>
        <p:spPr>
          <a:xfrm>
            <a:off x="8001000" y="3860800"/>
            <a:ext cx="3429000" cy="2286000"/>
          </a:xfrm>
          <a:prstGeom prst="roundRect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34D0AD8-0B11-4323-B7B5-47D6EDA23A67}"/>
              </a:ext>
            </a:extLst>
          </p:cNvPr>
          <p:cNvSpPr/>
          <p:nvPr/>
        </p:nvSpPr>
        <p:spPr>
          <a:xfrm>
            <a:off x="8001000" y="3860800"/>
            <a:ext cx="3429000" cy="50800"/>
          </a:xfrm>
          <a:prstGeom prst="rect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C6CA0A-DF20-41C1-B6C6-94A066E51446}"/>
              </a:ext>
            </a:extLst>
          </p:cNvPr>
          <p:cNvSpPr txBox="1"/>
          <p:nvPr/>
        </p:nvSpPr>
        <p:spPr>
          <a:xfrm>
            <a:off x="8255000" y="41402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Segoe UI"/>
                <a:cs typeface="Segoe UI"/>
              </a:rPr>
              <a:t>Every alert has an owner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F57367-177E-41B3-AF09-B3403EAC93C1}"/>
              </a:ext>
            </a:extLst>
          </p:cNvPr>
          <p:cNvSpPr txBox="1"/>
          <p:nvPr/>
        </p:nvSpPr>
        <p:spPr>
          <a:xfrm>
            <a:off x="8255000" y="4826000"/>
            <a:ext cx="29210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B4BCC6"/>
                </a:solidFill>
                <a:latin typeface="Segoe UI"/>
                <a:cs typeface="Segoe UI"/>
              </a:rPr>
              <a:t>If no one knows what to do when it fires, delete it or give it a runbook_url. Silence is not a fix.</a:t>
            </a:r>
          </a:p>
        </p:txBody>
      </p:sp>
    </p:spTree>
    <p:extLst>
      <p:ext uri="{BB962C8B-B14F-4D97-AF65-F5344CB8AC3E}">
        <p14:creationId xmlns:p14="http://schemas.microsoft.com/office/powerpoint/2010/main" val="41860995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DE0BC-24CC-3F9B-90CB-C5771D653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2600"/>
            <a:ext cx="10668000" cy="584200"/>
          </a:xfrm>
        </p:spPr>
        <p:txBody>
          <a:bodyPr>
            <a:normAutofit/>
          </a:bodyPr>
          <a:lstStyle/>
          <a:p>
            <a:r>
              <a:rPr lang="en-US" sz="3000" b="1"/>
              <a:t>Day 3 Wrap-Up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AA269C-878B-4579-9950-B7FDFC5754F3}"/>
              </a:ext>
            </a:extLst>
          </p:cNvPr>
          <p:cNvSpPr/>
          <p:nvPr/>
        </p:nvSpPr>
        <p:spPr>
          <a:xfrm>
            <a:off x="762000" y="1143000"/>
            <a:ext cx="889000" cy="381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08840E2-332A-449E-AA0A-A0728FE719CF}"/>
              </a:ext>
            </a:extLst>
          </p:cNvPr>
          <p:cNvSpPr/>
          <p:nvPr/>
        </p:nvSpPr>
        <p:spPr>
          <a:xfrm>
            <a:off x="762000" y="1422400"/>
            <a:ext cx="6858000" cy="8128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464E34-7C20-4C36-A51C-BE678C043B5F}"/>
              </a:ext>
            </a:extLst>
          </p:cNvPr>
          <p:cNvSpPr/>
          <p:nvPr/>
        </p:nvSpPr>
        <p:spPr>
          <a:xfrm>
            <a:off x="762000" y="1422400"/>
            <a:ext cx="50800" cy="812800"/>
          </a:xfrm>
          <a:prstGeom prst="rect">
            <a:avLst/>
          </a:prstGeom>
          <a:solidFill>
            <a:srgbClr val="FF88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BFEB164-7E95-4B8C-A96B-F0723C35061A}"/>
              </a:ext>
            </a:extLst>
          </p:cNvPr>
          <p:cNvSpPr/>
          <p:nvPr/>
        </p:nvSpPr>
        <p:spPr>
          <a:xfrm>
            <a:off x="990600" y="1651000"/>
            <a:ext cx="508000" cy="355600"/>
          </a:xfrm>
          <a:prstGeom prst="roundRect">
            <a:avLst/>
          </a:prstGeom>
          <a:solidFill>
            <a:srgbClr val="111217"/>
          </a:solidFill>
          <a:ln w="12700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8800"/>
                </a:solidFill>
                <a:latin typeface="Segoe UI"/>
                <a:cs typeface="Segoe UI"/>
              </a:rPr>
              <a:t>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7A4875-DD96-44CB-85D3-B966EFCD20AC}"/>
              </a:ext>
            </a:extLst>
          </p:cNvPr>
          <p:cNvSpPr txBox="1"/>
          <p:nvPr/>
        </p:nvSpPr>
        <p:spPr>
          <a:xfrm>
            <a:off x="1651000" y="15240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Querying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5ADBD7-F446-43AB-80CF-682D53478275}"/>
              </a:ext>
            </a:extLst>
          </p:cNvPr>
          <p:cNvSpPr txBox="1"/>
          <p:nvPr/>
        </p:nvSpPr>
        <p:spPr>
          <a:xfrm>
            <a:off x="1651000" y="1828800"/>
            <a:ext cx="571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PromQL and SQL, builder vs code, Explore, Inspector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45CBF7D-5608-471E-B1C5-B1704AAAE649}"/>
              </a:ext>
            </a:extLst>
          </p:cNvPr>
          <p:cNvSpPr/>
          <p:nvPr/>
        </p:nvSpPr>
        <p:spPr>
          <a:xfrm>
            <a:off x="762000" y="2311400"/>
            <a:ext cx="6858000" cy="8128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5300EB-BA21-48D2-9D4B-CFB90DEEB66B}"/>
              </a:ext>
            </a:extLst>
          </p:cNvPr>
          <p:cNvSpPr/>
          <p:nvPr/>
        </p:nvSpPr>
        <p:spPr>
          <a:xfrm>
            <a:off x="762000" y="2311400"/>
            <a:ext cx="50800" cy="812800"/>
          </a:xfrm>
          <a:prstGeom prst="rect">
            <a:avLst/>
          </a:prstGeom>
          <a:solidFill>
            <a:srgbClr val="6E9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894E5FF-502F-4B3F-BB5A-ADEB7F2DAFFB}"/>
              </a:ext>
            </a:extLst>
          </p:cNvPr>
          <p:cNvSpPr/>
          <p:nvPr/>
        </p:nvSpPr>
        <p:spPr>
          <a:xfrm>
            <a:off x="990600" y="2540000"/>
            <a:ext cx="508000" cy="355600"/>
          </a:xfrm>
          <a:prstGeom prst="roundRect">
            <a:avLst/>
          </a:prstGeom>
          <a:solidFill>
            <a:srgbClr val="111217"/>
          </a:solidFill>
          <a:ln w="12700" cap="flat" cmpd="sng" algn="ctr">
            <a:solidFill>
              <a:srgbClr val="6E9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6E9FFF"/>
                </a:solidFill>
                <a:latin typeface="Segoe UI"/>
                <a:cs typeface="Segoe UI"/>
              </a:rPr>
              <a:t>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80B39-53F0-4240-B893-6A411D37D2DB}"/>
              </a:ext>
            </a:extLst>
          </p:cNvPr>
          <p:cNvSpPr txBox="1"/>
          <p:nvPr/>
        </p:nvSpPr>
        <p:spPr>
          <a:xfrm>
            <a:off x="1651000" y="24130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Transformations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B3387F-114C-44F9-A909-E0B33F45ABD7}"/>
              </a:ext>
            </a:extLst>
          </p:cNvPr>
          <p:cNvSpPr txBox="1"/>
          <p:nvPr/>
        </p:nvSpPr>
        <p:spPr>
          <a:xfrm>
            <a:off x="1651000" y="2717800"/>
            <a:ext cx="571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Merge, join, group by, reduce, rename, organize, filter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532DACB-DABC-4B34-87D8-0C911170B19C}"/>
              </a:ext>
            </a:extLst>
          </p:cNvPr>
          <p:cNvSpPr/>
          <p:nvPr/>
        </p:nvSpPr>
        <p:spPr>
          <a:xfrm>
            <a:off x="762000" y="3200400"/>
            <a:ext cx="6858000" cy="8128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E36D39-A90C-4625-9571-AA835D35910E}"/>
              </a:ext>
            </a:extLst>
          </p:cNvPr>
          <p:cNvSpPr/>
          <p:nvPr/>
        </p:nvSpPr>
        <p:spPr>
          <a:xfrm>
            <a:off x="762000" y="3200400"/>
            <a:ext cx="50800" cy="812800"/>
          </a:xfrm>
          <a:prstGeom prst="rect">
            <a:avLst/>
          </a:prstGeom>
          <a:solidFill>
            <a:srgbClr val="F249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7DDC46A-486C-446E-9430-5FEC679CA65C}"/>
              </a:ext>
            </a:extLst>
          </p:cNvPr>
          <p:cNvSpPr/>
          <p:nvPr/>
        </p:nvSpPr>
        <p:spPr>
          <a:xfrm>
            <a:off x="990600" y="3429000"/>
            <a:ext cx="508000" cy="355600"/>
          </a:xfrm>
          <a:prstGeom prst="roundRect">
            <a:avLst/>
          </a:prstGeom>
          <a:solidFill>
            <a:srgbClr val="111217"/>
          </a:solidFill>
          <a:ln w="12700" cap="flat" cmpd="sng" algn="ctr">
            <a:solidFill>
              <a:srgbClr val="F2495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2495C"/>
                </a:solidFill>
                <a:latin typeface="Segoe UI"/>
                <a:cs typeface="Segoe UI"/>
              </a:rPr>
              <a:t>11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7736AF-7F95-4F40-A0CF-11864E7A7A88}"/>
              </a:ext>
            </a:extLst>
          </p:cNvPr>
          <p:cNvSpPr txBox="1"/>
          <p:nvPr/>
        </p:nvSpPr>
        <p:spPr>
          <a:xfrm>
            <a:off x="1651000" y="33020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Alerting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58A0D8-A14B-4E6C-A707-7B23F605BCD4}"/>
              </a:ext>
            </a:extLst>
          </p:cNvPr>
          <p:cNvSpPr txBox="1"/>
          <p:nvPr/>
        </p:nvSpPr>
        <p:spPr>
          <a:xfrm>
            <a:off x="1651000" y="3606800"/>
            <a:ext cx="571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Rules, evaluation, contact points, policy routing, groups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197E4BC-9B86-41E8-81CD-55292C682AED}"/>
              </a:ext>
            </a:extLst>
          </p:cNvPr>
          <p:cNvSpPr/>
          <p:nvPr/>
        </p:nvSpPr>
        <p:spPr>
          <a:xfrm>
            <a:off x="762000" y="4089400"/>
            <a:ext cx="6858000" cy="812800"/>
          </a:xfrm>
          <a:prstGeom prst="roundRect">
            <a:avLst/>
          </a:prstGeom>
          <a:solidFill>
            <a:srgbClr val="1B1E24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ADC3CD-C471-4AFB-ADAE-438633C5FEEB}"/>
              </a:ext>
            </a:extLst>
          </p:cNvPr>
          <p:cNvSpPr/>
          <p:nvPr/>
        </p:nvSpPr>
        <p:spPr>
          <a:xfrm>
            <a:off x="762000" y="4089400"/>
            <a:ext cx="50800" cy="812800"/>
          </a:xfrm>
          <a:prstGeom prst="rect">
            <a:avLst/>
          </a:prstGeom>
          <a:solidFill>
            <a:srgbClr val="B877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375308C-CF1D-49A2-A08F-18ABCD3C5FDA}"/>
              </a:ext>
            </a:extLst>
          </p:cNvPr>
          <p:cNvSpPr/>
          <p:nvPr/>
        </p:nvSpPr>
        <p:spPr>
          <a:xfrm>
            <a:off x="990600" y="4318000"/>
            <a:ext cx="508000" cy="355600"/>
          </a:xfrm>
          <a:prstGeom prst="roundRect">
            <a:avLst/>
          </a:prstGeom>
          <a:solidFill>
            <a:srgbClr val="111217"/>
          </a:solidFill>
          <a:ln w="12700" cap="flat" cmpd="sng" algn="ctr">
            <a:solidFill>
              <a:srgbClr val="B877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B877D9"/>
                </a:solidFill>
                <a:latin typeface="Segoe UI"/>
                <a:cs typeface="Segoe UI"/>
              </a:rPr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28DBFE-3A5B-433A-B54D-294CAC7CF839}"/>
              </a:ext>
            </a:extLst>
          </p:cNvPr>
          <p:cNvSpPr txBox="1"/>
          <p:nvPr/>
        </p:nvSpPr>
        <p:spPr>
          <a:xfrm>
            <a:off x="1651000" y="41910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Channels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E49639-0EF2-4F67-9AAE-E87603831F8A}"/>
              </a:ext>
            </a:extLst>
          </p:cNvPr>
          <p:cNvSpPr txBox="1"/>
          <p:nvPr/>
        </p:nvSpPr>
        <p:spPr>
          <a:xfrm>
            <a:off x="1651000" y="4495800"/>
            <a:ext cx="571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B4BCC6"/>
                </a:solidFill>
                <a:latin typeface="Segoe UI"/>
                <a:cs typeface="Segoe UI"/>
              </a:rPr>
              <a:t>Email, Slack, Teams and webhooks - and how to test each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90088E5-79E3-49BE-8346-04B6C4DB4ECF}"/>
              </a:ext>
            </a:extLst>
          </p:cNvPr>
          <p:cNvSpPr/>
          <p:nvPr/>
        </p:nvSpPr>
        <p:spPr>
          <a:xfrm>
            <a:off x="7874000" y="1422400"/>
            <a:ext cx="3556000" cy="2286000"/>
          </a:xfrm>
          <a:prstGeom prst="roundRect">
            <a:avLst/>
          </a:prstGeom>
          <a:solidFill>
            <a:srgbClr val="0B0C0E"/>
          </a:solidFill>
          <a:ln w="15875" cap="flat" cmpd="sng" algn="ctr">
            <a:solidFill>
              <a:srgbClr val="73BF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7B7E17-C073-4924-A4C1-81E1676CD1F5}"/>
              </a:ext>
            </a:extLst>
          </p:cNvPr>
          <p:cNvSpPr txBox="1"/>
          <p:nvPr/>
        </p:nvSpPr>
        <p:spPr>
          <a:xfrm>
            <a:off x="8128000" y="1625600"/>
            <a:ext cx="304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73BF69"/>
                </a:solidFill>
                <a:latin typeface="Segoe UI"/>
                <a:cs typeface="Segoe UI"/>
              </a:rPr>
              <a:t>Homework before Day 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C7DC6A-793B-42FC-820D-A155229E1615}"/>
              </a:ext>
            </a:extLst>
          </p:cNvPr>
          <p:cNvSpPr txBox="1"/>
          <p:nvPr/>
        </p:nvSpPr>
        <p:spPr>
          <a:xfrm>
            <a:off x="8128000" y="2006600"/>
            <a:ext cx="3048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B4BCC6"/>
                </a:solidFill>
                <a:latin typeface="Segoe UI"/>
                <a:cs typeface="Segoe UI"/>
              </a:rPr>
              <a:t>Add one alert rule for a service you own - with a severity label, a runbook link and a contact point that reaches you.
Bring it to Day 4.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9479A78-BB8A-466E-830A-A996CC0ABBC8}"/>
              </a:ext>
            </a:extLst>
          </p:cNvPr>
          <p:cNvSpPr/>
          <p:nvPr/>
        </p:nvSpPr>
        <p:spPr>
          <a:xfrm>
            <a:off x="7874000" y="3860800"/>
            <a:ext cx="3556000" cy="1473200"/>
          </a:xfrm>
          <a:prstGeom prst="roundRect">
            <a:avLst/>
          </a:prstGeom>
          <a:solidFill>
            <a:srgbClr val="1B1E24"/>
          </a:solidFill>
          <a:ln w="15875" cap="flat" cmpd="sng" algn="ctr">
            <a:solidFill>
              <a:srgbClr val="6E9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DF0E5B-BF76-4F33-AE7E-23F1E14ACD88}"/>
              </a:ext>
            </a:extLst>
          </p:cNvPr>
          <p:cNvSpPr txBox="1"/>
          <p:nvPr/>
        </p:nvSpPr>
        <p:spPr>
          <a:xfrm>
            <a:off x="8128000" y="4064000"/>
            <a:ext cx="304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6E9FFF"/>
                </a:solidFill>
                <a:latin typeface="Segoe UI"/>
                <a:cs typeface="Segoe UI"/>
              </a:rPr>
              <a:t>Coming up on Day 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15F2FA-06D7-41ED-AD55-E023DA07D31A}"/>
              </a:ext>
            </a:extLst>
          </p:cNvPr>
          <p:cNvSpPr txBox="1"/>
          <p:nvPr/>
        </p:nvSpPr>
        <p:spPr>
          <a:xfrm>
            <a:off x="8128000" y="4445000"/>
            <a:ext cx="3048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B4BCC6"/>
                </a:solidFill>
                <a:latin typeface="Segoe UI"/>
                <a:cs typeface="Segoe UI"/>
              </a:rPr>
              <a:t>Provisioning as code, dashboard variables at scale, permissions and teams, plus performance tuning.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BE35A5F-12C8-4126-8120-13B940310094}"/>
              </a:ext>
            </a:extLst>
          </p:cNvPr>
          <p:cNvSpPr/>
          <p:nvPr/>
        </p:nvSpPr>
        <p:spPr>
          <a:xfrm>
            <a:off x="762000" y="5080000"/>
            <a:ext cx="6858000" cy="1143000"/>
          </a:xfrm>
          <a:prstGeom prst="roundRect">
            <a:avLst/>
          </a:prstGeom>
          <a:solidFill>
            <a:srgbClr val="181B1F"/>
          </a:solidFill>
          <a:ln w="12700" cap="flat" cmpd="sng" algn="ctr">
            <a:solidFill>
              <a:srgbClr val="2C303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71476B-F490-4B48-AC27-387577ABD7C4}"/>
              </a:ext>
            </a:extLst>
          </p:cNvPr>
          <p:cNvSpPr txBox="1"/>
          <p:nvPr/>
        </p:nvSpPr>
        <p:spPr>
          <a:xfrm>
            <a:off x="1016000" y="52578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8800"/>
                </a:solidFill>
                <a:latin typeface="Segoe UI"/>
                <a:cs typeface="Segoe UI"/>
              </a:rPr>
              <a:t>The one thing to remember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1BA079-AA7C-4D14-8357-1FFC00591AF0}"/>
              </a:ext>
            </a:extLst>
          </p:cNvPr>
          <p:cNvSpPr txBox="1"/>
          <p:nvPr/>
        </p:nvSpPr>
        <p:spPr>
          <a:xfrm>
            <a:off x="1016000" y="5588000"/>
            <a:ext cx="635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D2D6DB"/>
                </a:solidFill>
                <a:latin typeface="Segoe UI"/>
                <a:cs typeface="Segoe UI"/>
              </a:rPr>
              <a:t>Query as close to the data as you can, transform only what you must, and make every alert something a human can act on within five minutes.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3BD3C31-813B-4BE5-9D32-33878977820A}"/>
              </a:ext>
            </a:extLst>
          </p:cNvPr>
          <p:cNvSpPr/>
          <p:nvPr/>
        </p:nvSpPr>
        <p:spPr>
          <a:xfrm>
            <a:off x="7874000" y="5486400"/>
            <a:ext cx="3556000" cy="736600"/>
          </a:xfrm>
          <a:prstGeom prst="roundRect">
            <a:avLst/>
          </a:prstGeom>
          <a:solidFill>
            <a:srgbClr val="2A1C0B"/>
          </a:solidFill>
          <a:ln w="15875" cap="flat" cmpd="sng" algn="ctr">
            <a:solidFill>
              <a:srgbClr val="FF88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8800"/>
                </a:solidFill>
                <a:latin typeface="Segoe UI"/>
                <a:cs typeface="Segoe UI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566698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5695997580]">
  <a:themeElements>
    <a:clrScheme name="Office">
      <a:dk1>
        <a:srgbClr val="E7E9EA"/>
      </a:dk1>
      <a:lt1>
        <a:srgbClr val="111217"/>
      </a:lt1>
      <a:dk2>
        <a:srgbClr val="C0C6CC"/>
      </a:dk2>
      <a:lt2>
        <a:srgbClr val="1B1E24"/>
      </a:lt2>
      <a:accent1>
        <a:srgbClr val="FF8800"/>
      </a:accent1>
      <a:accent2>
        <a:srgbClr val="6E9FFF"/>
      </a:accent2>
      <a:accent3>
        <a:srgbClr val="73BF69"/>
      </a:accent3>
      <a:accent4>
        <a:srgbClr val="F2495C"/>
      </a:accent4>
      <a:accent5>
        <a:srgbClr val="B877D9"/>
      </a:accent5>
      <a:accent6>
        <a:srgbClr val="FADE2A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0C4E65C-F2CA-4B9E-9B52-C12FBE1EB24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65354298-f564-4abd-9264-a9a7fa4f372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4796</Words>
  <Application>Microsoft Office PowerPoint</Application>
  <PresentationFormat>Widescreen</PresentationFormat>
  <Paragraphs>527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Consolas</vt:lpstr>
      <vt:lpstr>Segoe UI</vt:lpstr>
      <vt:lpstr>Segoe UI Semibold</vt:lpstr>
      <vt:lpstr>Office Theme [1785695997580]</vt:lpstr>
      <vt:lpstr>Querying, Transformations &amp; Alerting</vt:lpstr>
      <vt:lpstr>Querying Data</vt:lpstr>
      <vt:lpstr>Query Architecture - How a Panel Gets Its Data</vt:lpstr>
      <vt:lpstr>PromQL Basics - The Four Building Blocks</vt:lpstr>
      <vt:lpstr>SQL Queries - Relational Data Sources</vt:lpstr>
      <vt:lpstr>Query Builder vs. Code Mode</vt:lpstr>
      <vt:lpstr>Explore Mode - The Query Workbench</vt:lpstr>
      <vt:lpstr>Query Inspector - Your Debugging Window</vt:lpstr>
      <vt:lpstr>Guided Practice 9 - Query It Yourself  (10 min)</vt:lpstr>
      <vt:lpstr>Transformations</vt:lpstr>
      <vt:lpstr>The Transformation Pipeline</vt:lpstr>
      <vt:lpstr>Merge vs. Join by Field</vt:lpstr>
      <vt:lpstr>Group By and Reduce</vt:lpstr>
      <vt:lpstr>Rename · Organize Fields · Filter Data</vt:lpstr>
      <vt:lpstr>Which Transformation Do I Need?</vt:lpstr>
      <vt:lpstr>Guided Practice 10 - Reshape a Table  (10 min)</vt:lpstr>
      <vt:lpstr>Alerting</vt:lpstr>
      <vt:lpstr>Unified Alerting - End-to-End Architecture</vt:lpstr>
      <vt:lpstr>Anatomy of an Alert Rule</vt:lpstr>
      <vt:lpstr>Alert Evaluation - Interval and Pending Period</vt:lpstr>
      <vt:lpstr>Contact Points - Where Notifications Go</vt:lpstr>
      <vt:lpstr>Notification Policies - The Routing Tree</vt:lpstr>
      <vt:lpstr>Alert Groups, Silences &amp; Mute Timings</vt:lpstr>
      <vt:lpstr>Notification Channels</vt:lpstr>
      <vt:lpstr>Email and Slack Notifications</vt:lpstr>
      <vt:lpstr>Microsoft Teams and Webhooks</vt:lpstr>
      <vt:lpstr>Lab 3 - Alerting End to End</vt:lpstr>
      <vt:lpstr>Lab 3.1 - Create an Alert Rule  (10 min)</vt:lpstr>
      <vt:lpstr>Lab 3.2 - Configure Email Alerts  (10 min)</vt:lpstr>
      <vt:lpstr>Lab 3.3 - Configure Slack Alerts  (10 min)</vt:lpstr>
      <vt:lpstr>Lab 3.4 - Test Notifications End to End  (15 min)</vt:lpstr>
      <vt:lpstr>Troubleshooting &amp; Alerting Hygiene</vt:lpstr>
      <vt:lpstr>Day 3 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Vikash Verma</dc:creator>
  <cp:lastModifiedBy>Vikash Verma</cp:lastModifiedBy>
  <cp:revision>4</cp:revision>
  <dcterms:created xsi:type="dcterms:W3CDTF">2026-08-02T18:37:24Z</dcterms:created>
  <dcterms:modified xsi:type="dcterms:W3CDTF">2026-08-03T00:02:51Z</dcterms:modified>
</cp:coreProperties>
</file>