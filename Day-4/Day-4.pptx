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321" r:id="rId9"/>
    <p:sldId id="317" r:id="rId10"/>
    <p:sldId id="308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22" r:id="rId20"/>
    <p:sldId id="315" r:id="rId21"/>
    <p:sldId id="304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323" r:id="rId31"/>
    <p:sldId id="324" r:id="rId32"/>
    <p:sldId id="309" r:id="rId33"/>
    <p:sldId id="281" r:id="rId34"/>
    <p:sldId id="282" r:id="rId35"/>
    <p:sldId id="283" r:id="rId36"/>
    <p:sldId id="284" r:id="rId37"/>
    <p:sldId id="285" r:id="rId38"/>
    <p:sldId id="286" r:id="rId39"/>
    <p:sldId id="320" r:id="rId40"/>
    <p:sldId id="325" r:id="rId41"/>
    <p:sldId id="296" r:id="rId42"/>
    <p:sldId id="287" r:id="rId43"/>
    <p:sldId id="288" r:id="rId44"/>
    <p:sldId id="289" r:id="rId45"/>
    <p:sldId id="290" r:id="rId46"/>
    <p:sldId id="29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417F9-3BE3-457D-8502-D612E38B297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AB2FD-1F9B-49A1-AB24-824B11D4E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41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- Q1: B (grant folder permissions to a team, never per user; org role stays Viewer). Q2: C (server admins and the instance config are global - everything else is per organization). Q3: B (service account plus token; personal API keys die with the person who owns them).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- Q1: B (the authorization code is POSTed to /token together with the client secret). Q2: A (always keep a local admin account with basic auth enabled as the break-glass fallback). Q3: B (map IdP groups or claims with role_attribute_path / group mappings in the auth config).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- Q1: C (uid is the stable identifier; changing it breaks links and history). Q2: C (provisioned dashboards are read-only in the UI - Grafana shows "Cannot save"). Q3: B (data source UIDs are replaced with __inputs variables so the dashboard is portable).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- Q1: B (fewer panels and collapsed rows mean fewer queries on load). Q2: D (min_refresh_interval enforces a floor; it does not force refreshes or cache). Q3: C (push aggregation and the time filter down to the data source).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BD4DC-4128-408C-8F8B-57BDCB6F6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E5E97-551E-C5E3-24B8-2A87D24B9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B04AB-5923-9D7E-48A7-BA16E60E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9E01-5236-4149-A970-C8A24484B18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B9BB2-3E8F-8482-B9B9-1888013CF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31389-42E1-63CB-BCF6-4A7B33C6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95FDB-8692-4794-8733-52868E3F6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67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7A48F-4A69-0E34-96DA-5BE84E1C0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29D52-AA73-A44C-96B4-8FAD12767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34B74-F9C2-594E-E750-810CA1D19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9E01-5236-4149-A970-C8A24484B18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93269-3424-3306-1950-FD4FB81D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DDA72-040E-F75F-E6B6-E8CBBF7F1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95FDB-8692-4794-8733-52868E3F6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22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455EF-24C2-E777-1A5C-3AF0EA805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01507-9001-D6C6-224B-29BD1A079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531D7-1616-90CF-B7DA-FB823F85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9E01-5236-4149-A970-C8A24484B18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48421-4845-C44F-E363-816AC1985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2DB2D-D358-45B7-DBEA-591E76254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95FDB-8692-4794-8733-52868E3F6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7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FEEE5-7004-FB0B-62B6-BC8BCA58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4B727-9517-1676-DEA4-DDB917179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752CB-754E-B3FF-E1C9-EB95BF0F1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7BA81-2707-6D00-3646-98176B80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9E01-5236-4149-A970-C8A24484B18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13070-654C-5BAA-369C-8E19BF39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70400-2482-7803-1D3F-0D251B5A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95FDB-8692-4794-8733-52868E3F6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0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7F67-9813-8C0D-1C0E-F53A22C04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2B3A1-7A1C-EA3E-E20E-7B8CBA1D8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15B22-0AC0-873B-59A6-18C117041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5AEA69-7E83-5E3F-522C-B52B9CE83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B6413B-B0FE-AB24-EFF1-524E0330C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60B154-77B7-5C36-A74B-AD8F1DE2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9E01-5236-4149-A970-C8A24484B18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2652CE-ED14-EC13-DFB2-0539C16A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8D3C8F-FA39-CC32-C0E0-90374B02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95FDB-8692-4794-8733-52868E3F6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6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F19A-0343-30AB-93C3-3990DA8E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B3C9D-650C-8397-F11F-07D568BBC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9E01-5236-4149-A970-C8A24484B18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31664-937C-A342-2381-B03B888C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28692-323A-E6AC-3317-6A9CAFA4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95FDB-8692-4794-8733-52868E3F6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17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90F4E-9F45-8D44-D096-F0C2B443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9E01-5236-4149-A970-C8A24484B18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017C3-D841-330B-1494-155391736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C9416-A662-6DBC-C6CB-240F3647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95FDB-8692-4794-8733-52868E3F6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05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CCA21-867D-3AC0-6BE7-F84925B5C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0BE9C-E4A8-8ABD-1836-8E4E443D7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EE17E-7689-CC80-2438-4B04F9140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0A803-EFAE-268C-C7B4-1732C8FF9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9E01-5236-4149-A970-C8A24484B18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FC22F-C9B8-AAE3-2587-3721E6A21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BA9F9-D16C-63FB-6DB9-C516001CD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95FDB-8692-4794-8733-52868E3F6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3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FD0C-10F7-FF2B-7751-9004D5EC2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6560E-0DD0-D737-C26B-B7BE571AC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A3AD5-4423-9C88-6635-20326CBC8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7811B-7701-6368-9FB5-4AAEE57B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9E01-5236-4149-A970-C8A24484B18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CFD44-EDA9-3482-82D9-9DA73FA53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D8668-E30F-34A6-5D1D-11C2C721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95FDB-8692-4794-8733-52868E3F6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3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09FA6-A058-F784-04B2-445E3F74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1B3FA-25DF-1234-94B2-17C3CF28F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2A46C-F8F9-607D-F05E-F9588B0D4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9E01-5236-4149-A970-C8A24484B18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01E05-B50C-D185-1ED6-8E185CE9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CA70E-F7C8-BEFB-7D75-EAEEAC797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95FDB-8692-4794-8733-52868E3F6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07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63D0C2-F2B9-7B35-96EF-F7C347919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D4171-6F82-5386-DE4D-B19A44E5C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EDD61-C29A-8E6D-A9DC-FC4EC45B2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9E01-5236-4149-A970-C8A24484B18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F955C-EDB4-B375-6F60-B6360929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435DD-F0EB-2BB7-2179-7BCF15AF8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95FDB-8692-4794-8733-52868E3F6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8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9E4A49-34A4-4B97-0CC5-10A1F6158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0E4F0-1319-972D-2A77-AE67FCECC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A82CA-C764-053C-7F11-36C934E9D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09E01-5236-4149-A970-C8A24484B18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8A857-33AD-8090-80B2-CAE40E73B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E09AB-6F7B-5813-4BA0-88FF4C289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95FDB-8692-4794-8733-52868E3F6C23}" type="slidenum">
              <a:rPr lang="en-US" smtClean="0"/>
              <a:t>‹#›</a:t>
            </a:fld>
            <a:endParaRPr lang="en-US"/>
          </a:p>
        </p:txBody>
      </p:sp>
      <p:grpSp>
        <p:nvGrpSpPr>
          <p:cNvPr id="90" name="Deco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1" name="AccentBar"/>
            <p:cNvSpPr/>
            <p:nvPr/>
          </p:nvSpPr>
          <p:spPr>
            <a:xfrm>
              <a:off x="0" y="0"/>
              <a:ext cx="106680" cy="6858000"/>
            </a:xfrm>
            <a:prstGeom prst="rect">
              <a:avLst/>
            </a:prstGeom>
            <a:gradFill>
              <a:gsLst>
                <a:gs pos="0">
                  <a:srgbClr val="F46800"/>
                </a:gs>
                <a:gs pos="100000">
                  <a:srgbClr val="7B5EA7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ooterRule"/>
            <p:cNvSpPr/>
            <p:nvPr/>
          </p:nvSpPr>
          <p:spPr>
            <a:xfrm>
              <a:off x="106680" y="6629400"/>
              <a:ext cx="12085320" cy="12700"/>
            </a:xfrm>
            <a:prstGeom prst="rect">
              <a:avLst/>
            </a:prstGeom>
            <a:solidFill>
              <a:srgbClr val="E2E5E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359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6191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F354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70849D-DCF7-4A79-98F9-EF03263585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0E2181-BC3F-4CF4-9044-CB7D49B57FDF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B6B91CC-CBB3-475D-AF4D-1C0FD100B919}"/>
              </a:ext>
            </a:extLst>
          </p:cNvPr>
          <p:cNvSpPr/>
          <p:nvPr/>
        </p:nvSpPr>
        <p:spPr>
          <a:xfrm>
            <a:off x="8128000" y="3175000"/>
            <a:ext cx="5842000" cy="5842000"/>
          </a:xfrm>
          <a:prstGeom prst="ellipse">
            <a:avLst/>
          </a:prstGeom>
          <a:solidFill>
            <a:srgbClr val="2226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57124-540C-4989-93C1-D9F8C967AA2D}"/>
              </a:ext>
            </a:extLst>
          </p:cNvPr>
          <p:cNvSpPr txBox="1"/>
          <p:nvPr/>
        </p:nvSpPr>
        <p:spPr>
          <a:xfrm>
            <a:off x="914400" y="11430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GRAFANA TRAINING PROGRAM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291D6-F7EB-4F8F-86C4-5E6AB745B36B}"/>
              </a:ext>
            </a:extLst>
          </p:cNvPr>
          <p:cNvSpPr txBox="1"/>
          <p:nvPr/>
        </p:nvSpPr>
        <p:spPr>
          <a:xfrm>
            <a:off x="914400" y="1600200"/>
            <a:ext cx="9144000" cy="165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Montserrat"/>
              </a:rPr>
              <a:t>Day 4 - Security, Administration
&amp; Best Practices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E3ADD9-6691-4D6D-8BCC-EB9CF27759F4}"/>
              </a:ext>
            </a:extLst>
          </p:cNvPr>
          <p:cNvSpPr/>
          <p:nvPr/>
        </p:nvSpPr>
        <p:spPr>
          <a:xfrm>
            <a:off x="914400" y="3454400"/>
            <a:ext cx="1397000" cy="635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BEC9A8-599E-4969-8684-69417C54CE25}"/>
              </a:ext>
            </a:extLst>
          </p:cNvPr>
          <p:cNvSpPr txBox="1"/>
          <p:nvPr/>
        </p:nvSpPr>
        <p:spPr>
          <a:xfrm>
            <a:off x="914400" y="3733800"/>
            <a:ext cx="8890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Users &amp; permissions · Authentication &amp; SSO · Dashboard lifecycle · Performance tuning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AC90EF-E0CF-442E-B0DC-5AD47822FCED}"/>
              </a:ext>
            </a:extLst>
          </p:cNvPr>
          <p:cNvSpPr/>
          <p:nvPr/>
        </p:nvSpPr>
        <p:spPr>
          <a:xfrm>
            <a:off x="914400" y="4546600"/>
            <a:ext cx="4699000" cy="508000"/>
          </a:xfrm>
          <a:prstGeom prst="roundRect">
            <a:avLst/>
          </a:prstGeom>
          <a:solidFill>
            <a:srgbClr val="22262F"/>
          </a:solidFill>
          <a:ln w="15875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Module 13  User Management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01A0DF-0E89-4ACF-87B0-0AC458E0E153}"/>
              </a:ext>
            </a:extLst>
          </p:cNvPr>
          <p:cNvSpPr/>
          <p:nvPr/>
        </p:nvSpPr>
        <p:spPr>
          <a:xfrm>
            <a:off x="5867400" y="4546600"/>
            <a:ext cx="4699000" cy="508000"/>
          </a:xfrm>
          <a:prstGeom prst="roundRect">
            <a:avLst/>
          </a:prstGeom>
          <a:solidFill>
            <a:srgbClr val="22262F"/>
          </a:solidFill>
          <a:ln w="15875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Module 14  Authentication &amp; Authorization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A9F4829-EF3C-4E4E-921B-F6A4FA45C421}"/>
              </a:ext>
            </a:extLst>
          </p:cNvPr>
          <p:cNvSpPr/>
          <p:nvPr/>
        </p:nvSpPr>
        <p:spPr>
          <a:xfrm>
            <a:off x="914400" y="5207000"/>
            <a:ext cx="4699000" cy="508000"/>
          </a:xfrm>
          <a:prstGeom prst="roundRect">
            <a:avLst/>
          </a:prstGeom>
          <a:solidFill>
            <a:srgbClr val="22262F"/>
          </a:solidFill>
          <a:ln w="15875" cap="flat" cmpd="sng" algn="ctr">
            <a:solidFill>
              <a:srgbClr val="1E9E6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Module 15  Dashboard Management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4EFA3E-AF5D-4670-BE16-770B2E855B3A}"/>
              </a:ext>
            </a:extLst>
          </p:cNvPr>
          <p:cNvSpPr/>
          <p:nvPr/>
        </p:nvSpPr>
        <p:spPr>
          <a:xfrm>
            <a:off x="5867400" y="5207000"/>
            <a:ext cx="4699000" cy="508000"/>
          </a:xfrm>
          <a:prstGeom prst="roundRect">
            <a:avLst/>
          </a:prstGeom>
          <a:solidFill>
            <a:srgbClr val="22262F"/>
          </a:solidFill>
          <a:ln w="15875" cap="flat" cmpd="sng" algn="ctr">
            <a:solidFill>
              <a:srgbClr val="7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Module 16  Performance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258114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634169-80A9-4AB3-BD0C-54ED12B4C0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96321-0863-404F-A145-2069A9D2CCFA}"/>
              </a:ext>
            </a:extLst>
          </p:cNvPr>
          <p:cNvSpPr/>
          <p:nvPr/>
        </p:nvSpPr>
        <p:spPr>
          <a:xfrm>
            <a:off x="0" y="0"/>
            <a:ext cx="4318000" cy="6858000"/>
          </a:xfrm>
          <a:prstGeom prst="rect">
            <a:avLst/>
          </a:prstGeom>
          <a:solidFill>
            <a:srgbClr val="1D21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ACEF99-37ED-46C8-A08E-2E805B881348}"/>
              </a:ext>
            </a:extLst>
          </p:cNvPr>
          <p:cNvSpPr/>
          <p:nvPr/>
        </p:nvSpPr>
        <p:spPr>
          <a:xfrm>
            <a:off x="4318000" y="0"/>
            <a:ext cx="76200" cy="68580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E236D-C24E-4E1A-9525-4F9015EE42AA}"/>
              </a:ext>
            </a:extLst>
          </p:cNvPr>
          <p:cNvSpPr txBox="1"/>
          <p:nvPr/>
        </p:nvSpPr>
        <p:spPr>
          <a:xfrm>
            <a:off x="889000" y="20828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MODULE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9EF7F2-C9E7-46BA-878A-21DEEFFC08A3}"/>
              </a:ext>
            </a:extLst>
          </p:cNvPr>
          <p:cNvSpPr txBox="1"/>
          <p:nvPr/>
        </p:nvSpPr>
        <p:spPr>
          <a:xfrm>
            <a:off x="889000" y="2540000"/>
            <a:ext cx="3048000" cy="152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600" b="1">
                <a:solidFill>
                  <a:srgbClr val="FFFFFF"/>
                </a:solidFill>
                <a:latin typeface="Montserrat"/>
              </a:rPr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08B83-D3AC-4775-8289-DF79C234DFBF}"/>
              </a:ext>
            </a:extLst>
          </p:cNvPr>
          <p:cNvSpPr txBox="1"/>
          <p:nvPr/>
        </p:nvSpPr>
        <p:spPr>
          <a:xfrm>
            <a:off x="5080000" y="1524000"/>
            <a:ext cx="6604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Montserrat"/>
              </a:rPr>
              <a:t>User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07D892-FD42-41AC-9275-02DBE3BE3C4B}"/>
              </a:ext>
            </a:extLst>
          </p:cNvPr>
          <p:cNvSpPr txBox="1"/>
          <p:nvPr/>
        </p:nvSpPr>
        <p:spPr>
          <a:xfrm>
            <a:off x="5080000" y="2184400"/>
            <a:ext cx="6604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Who can see what, and who can change it.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7DDE24-4473-4191-8046-1C99DBD59289}"/>
              </a:ext>
            </a:extLst>
          </p:cNvPr>
          <p:cNvSpPr/>
          <p:nvPr/>
        </p:nvSpPr>
        <p:spPr>
          <a:xfrm>
            <a:off x="5080000" y="2921000"/>
            <a:ext cx="3149600" cy="609600"/>
          </a:xfrm>
          <a:prstGeom prst="roundRect">
            <a:avLst/>
          </a:prstGeom>
          <a:solidFill>
            <a:srgbClr val="22262F"/>
          </a:solidFill>
          <a:ln w="12700" cap="flat" cmpd="sng" algn="ctr">
            <a:solidFill>
              <a:srgbClr val="3A40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Organizations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0C8383-4AC3-42CD-9ECE-25EACE0B6056}"/>
              </a:ext>
            </a:extLst>
          </p:cNvPr>
          <p:cNvSpPr/>
          <p:nvPr/>
        </p:nvSpPr>
        <p:spPr>
          <a:xfrm>
            <a:off x="8483600" y="2921000"/>
            <a:ext cx="3149600" cy="609600"/>
          </a:xfrm>
          <a:prstGeom prst="roundRect">
            <a:avLst/>
          </a:prstGeom>
          <a:solidFill>
            <a:srgbClr val="22262F"/>
          </a:solidFill>
          <a:ln w="12700" cap="flat" cmpd="sng" algn="ctr">
            <a:solidFill>
              <a:srgbClr val="3A40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Teams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F5DA37-8100-4DC6-9A9C-465EAB468F3E}"/>
              </a:ext>
            </a:extLst>
          </p:cNvPr>
          <p:cNvSpPr/>
          <p:nvPr/>
        </p:nvSpPr>
        <p:spPr>
          <a:xfrm>
            <a:off x="5080000" y="3708400"/>
            <a:ext cx="3149600" cy="609600"/>
          </a:xfrm>
          <a:prstGeom prst="roundRect">
            <a:avLst/>
          </a:prstGeom>
          <a:solidFill>
            <a:srgbClr val="22262F"/>
          </a:solidFill>
          <a:ln w="12700" cap="flat" cmpd="sng" algn="ctr">
            <a:solidFill>
              <a:srgbClr val="3A40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Users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7957FA-D230-44BC-B0E8-E95B341A9854}"/>
              </a:ext>
            </a:extLst>
          </p:cNvPr>
          <p:cNvSpPr/>
          <p:nvPr/>
        </p:nvSpPr>
        <p:spPr>
          <a:xfrm>
            <a:off x="8483600" y="3708400"/>
            <a:ext cx="3149600" cy="609600"/>
          </a:xfrm>
          <a:prstGeom prst="roundRect">
            <a:avLst/>
          </a:prstGeom>
          <a:solidFill>
            <a:srgbClr val="22262F"/>
          </a:solidFill>
          <a:ln w="12700" cap="flat" cmpd="sng" algn="ctr">
            <a:solidFill>
              <a:srgbClr val="3A40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Roles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DB26CBF-E1CB-46A4-B03D-B73A2312E6B9}"/>
              </a:ext>
            </a:extLst>
          </p:cNvPr>
          <p:cNvSpPr/>
          <p:nvPr/>
        </p:nvSpPr>
        <p:spPr>
          <a:xfrm>
            <a:off x="5080000" y="4495800"/>
            <a:ext cx="3149600" cy="609600"/>
          </a:xfrm>
          <a:prstGeom prst="roundRect">
            <a:avLst/>
          </a:prstGeom>
          <a:solidFill>
            <a:srgbClr val="22262F"/>
          </a:solidFill>
          <a:ln w="12700" cap="flat" cmpd="sng" algn="ctr">
            <a:solidFill>
              <a:srgbClr val="3A40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Permissions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E7C51C0-31EC-4324-8A26-1EFFED8D4538}"/>
              </a:ext>
            </a:extLst>
          </p:cNvPr>
          <p:cNvSpPr/>
          <p:nvPr/>
        </p:nvSpPr>
        <p:spPr>
          <a:xfrm>
            <a:off x="8483600" y="4495800"/>
            <a:ext cx="3149600" cy="609600"/>
          </a:xfrm>
          <a:prstGeom prst="roundRect">
            <a:avLst/>
          </a:prstGeom>
          <a:solidFill>
            <a:srgbClr val="22262F"/>
          </a:solidFill>
          <a:ln w="12700" cap="flat" cmpd="sng" algn="ctr">
            <a:solidFill>
              <a:srgbClr val="3A40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Folder Permissions</a:t>
            </a:r>
          </a:p>
        </p:txBody>
      </p:sp>
    </p:spTree>
    <p:extLst>
      <p:ext uri="{BB962C8B-B14F-4D97-AF65-F5344CB8AC3E}">
        <p14:creationId xmlns:p14="http://schemas.microsoft.com/office/powerpoint/2010/main" val="4127388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4A43F1-2CAB-4366-84CC-87FF7490709A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MODULE 13 ·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E14B5-E10A-4958-9068-198555E9948B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Grafana Identity &amp; Access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B50AC2-25CC-4FC3-A3D8-A88ADAD4F383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E1F135-42D5-4494-B4C5-BFF3016D4629}"/>
              </a:ext>
            </a:extLst>
          </p:cNvPr>
          <p:cNvSpPr/>
          <p:nvPr/>
        </p:nvSpPr>
        <p:spPr>
          <a:xfrm>
            <a:off x="3175000" y="1524000"/>
            <a:ext cx="5842000" cy="584200"/>
          </a:xfrm>
          <a:prstGeom prst="roundRect">
            <a:avLst/>
          </a:prstGeom>
          <a:solidFill>
            <a:srgbClr val="16191F"/>
          </a:solidFill>
          <a:ln w="15875" cap="flat" cmpd="sng" algn="ctr">
            <a:solidFill>
              <a:srgbClr val="16191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GRAFANA INSTANCE  ·  Server Admin (all orgs)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5A34E7-191C-4709-914F-5A623A7EF4C1}"/>
              </a:ext>
            </a:extLst>
          </p:cNvPr>
          <p:cNvSpPr/>
          <p:nvPr/>
        </p:nvSpPr>
        <p:spPr>
          <a:xfrm>
            <a:off x="6083300" y="2108200"/>
            <a:ext cx="25400" cy="330200"/>
          </a:xfrm>
          <a:prstGeom prst="rect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BAFD75-346F-49D3-9D55-543F93A109C6}"/>
              </a:ext>
            </a:extLst>
          </p:cNvPr>
          <p:cNvSpPr/>
          <p:nvPr/>
        </p:nvSpPr>
        <p:spPr>
          <a:xfrm>
            <a:off x="2286000" y="2438400"/>
            <a:ext cx="7620000" cy="584200"/>
          </a:xfrm>
          <a:prstGeom prst="roundRect">
            <a:avLst/>
          </a:prstGeom>
          <a:solidFill>
            <a:srgbClr val="F46800"/>
          </a:solidFill>
          <a:ln w="15875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ORGANIZATION (tenant)  ·  Admin / Editor / Viewer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82C909-C5C3-491F-BD65-F904E0280EA6}"/>
              </a:ext>
            </a:extLst>
          </p:cNvPr>
          <p:cNvSpPr/>
          <p:nvPr/>
        </p:nvSpPr>
        <p:spPr>
          <a:xfrm>
            <a:off x="6083300" y="3022600"/>
            <a:ext cx="25400" cy="254000"/>
          </a:xfrm>
          <a:prstGeom prst="rect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004CED-3472-430B-A227-6B30B627F344}"/>
              </a:ext>
            </a:extLst>
          </p:cNvPr>
          <p:cNvSpPr/>
          <p:nvPr/>
        </p:nvSpPr>
        <p:spPr>
          <a:xfrm>
            <a:off x="2540000" y="3276600"/>
            <a:ext cx="7112000" cy="25400"/>
          </a:xfrm>
          <a:prstGeom prst="rect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B404BE-53E3-4D6F-8CD7-5BEF2C1D4F1D}"/>
              </a:ext>
            </a:extLst>
          </p:cNvPr>
          <p:cNvSpPr/>
          <p:nvPr/>
        </p:nvSpPr>
        <p:spPr>
          <a:xfrm>
            <a:off x="2540000" y="3276600"/>
            <a:ext cx="25400" cy="279400"/>
          </a:xfrm>
          <a:prstGeom prst="rect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E73621-6D36-4417-92AC-90EF74384F20}"/>
              </a:ext>
            </a:extLst>
          </p:cNvPr>
          <p:cNvSpPr/>
          <p:nvPr/>
        </p:nvSpPr>
        <p:spPr>
          <a:xfrm>
            <a:off x="6083300" y="3276600"/>
            <a:ext cx="25400" cy="279400"/>
          </a:xfrm>
          <a:prstGeom prst="rect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5DCC8A-D299-4848-A08A-ADD7BED80649}"/>
              </a:ext>
            </a:extLst>
          </p:cNvPr>
          <p:cNvSpPr/>
          <p:nvPr/>
        </p:nvSpPr>
        <p:spPr>
          <a:xfrm>
            <a:off x="9652000" y="3276600"/>
            <a:ext cx="25400" cy="279400"/>
          </a:xfrm>
          <a:prstGeom prst="rect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FEA70F-0B9F-4BC2-8E6C-F542A5098DF4}"/>
              </a:ext>
            </a:extLst>
          </p:cNvPr>
          <p:cNvSpPr/>
          <p:nvPr/>
        </p:nvSpPr>
        <p:spPr>
          <a:xfrm>
            <a:off x="1397000" y="3556000"/>
            <a:ext cx="2286000" cy="558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USERS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795A09-A8D5-496C-A1D6-AA9E1BB02562}"/>
              </a:ext>
            </a:extLst>
          </p:cNvPr>
          <p:cNvSpPr/>
          <p:nvPr/>
        </p:nvSpPr>
        <p:spPr>
          <a:xfrm>
            <a:off x="4940300" y="3556000"/>
            <a:ext cx="2286000" cy="558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7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TEAMS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81B208-2C68-47D0-BDFF-F8646EAB2BC9}"/>
              </a:ext>
            </a:extLst>
          </p:cNvPr>
          <p:cNvSpPr/>
          <p:nvPr/>
        </p:nvSpPr>
        <p:spPr>
          <a:xfrm>
            <a:off x="8509000" y="3556000"/>
            <a:ext cx="2286000" cy="558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E9E6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E9E6A"/>
                </a:solidFill>
                <a:latin typeface="Open Sans"/>
                <a:ea typeface="Open Sans"/>
                <a:cs typeface="Open Sans"/>
              </a:rPr>
              <a:t>SERVICE ACCOUNTS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B851FB-190D-44C3-86A0-8F3880180020}"/>
              </a:ext>
            </a:extLst>
          </p:cNvPr>
          <p:cNvSpPr txBox="1"/>
          <p:nvPr/>
        </p:nvSpPr>
        <p:spPr>
          <a:xfrm>
            <a:off x="1397000" y="4165600"/>
            <a:ext cx="22860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Individual logins,
assigned an org role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B14527-6655-4D62-8F9B-C664B8FB925A}"/>
              </a:ext>
            </a:extLst>
          </p:cNvPr>
          <p:cNvSpPr txBox="1"/>
          <p:nvPr/>
        </p:nvSpPr>
        <p:spPr>
          <a:xfrm>
            <a:off x="4940300" y="4165600"/>
            <a:ext cx="22860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Groups of users,
role &amp; folder grants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BD2A8-575F-4C75-9DB2-37EE1128FA17}"/>
              </a:ext>
            </a:extLst>
          </p:cNvPr>
          <p:cNvSpPr txBox="1"/>
          <p:nvPr/>
        </p:nvSpPr>
        <p:spPr>
          <a:xfrm>
            <a:off x="8509000" y="4165600"/>
            <a:ext cx="22860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Tokens for API
&amp; automation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5E9334D-2A52-42D9-8DFE-52CACD6309CA}"/>
              </a:ext>
            </a:extLst>
          </p:cNvPr>
          <p:cNvSpPr/>
          <p:nvPr/>
        </p:nvSpPr>
        <p:spPr>
          <a:xfrm>
            <a:off x="1397000" y="5105400"/>
            <a:ext cx="2667000" cy="584200"/>
          </a:xfrm>
          <a:prstGeom prst="roundRect">
            <a:avLst/>
          </a:prstGeom>
          <a:solidFill>
            <a:srgbClr val="F2F4F8"/>
          </a:solidFill>
          <a:ln w="15875" cap="flat" cmpd="sng" algn="ctr">
            <a:solidFill>
              <a:srgbClr val="B9C0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FOLDER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B9540C6-2E4E-4FDD-8302-0576C73EA53D}"/>
              </a:ext>
            </a:extLst>
          </p:cNvPr>
          <p:cNvSpPr/>
          <p:nvPr/>
        </p:nvSpPr>
        <p:spPr>
          <a:xfrm>
            <a:off x="4762500" y="5105400"/>
            <a:ext cx="2667000" cy="584200"/>
          </a:xfrm>
          <a:prstGeom prst="roundRect">
            <a:avLst/>
          </a:prstGeom>
          <a:solidFill>
            <a:srgbClr val="F2F4F8"/>
          </a:solidFill>
          <a:ln w="15875" cap="flat" cmpd="sng" algn="ctr">
            <a:solidFill>
              <a:srgbClr val="B9C0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DASHBOARD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F4A6A2E-DE24-416E-A1D0-FF1028299BE7}"/>
              </a:ext>
            </a:extLst>
          </p:cNvPr>
          <p:cNvSpPr/>
          <p:nvPr/>
        </p:nvSpPr>
        <p:spPr>
          <a:xfrm>
            <a:off x="8128000" y="5105400"/>
            <a:ext cx="2667000" cy="584200"/>
          </a:xfrm>
          <a:prstGeom prst="roundRect">
            <a:avLst/>
          </a:prstGeom>
          <a:solidFill>
            <a:srgbClr val="F2F4F8"/>
          </a:solidFill>
          <a:ln w="15875" cap="flat" cmpd="sng" algn="ctr">
            <a:solidFill>
              <a:srgbClr val="B9C0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DATA SOURCE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F2DE8FF0-408E-4F03-B0DD-F0AF1CF96458}"/>
              </a:ext>
            </a:extLst>
          </p:cNvPr>
          <p:cNvSpPr/>
          <p:nvPr/>
        </p:nvSpPr>
        <p:spPr>
          <a:xfrm>
            <a:off x="4191000" y="5270500"/>
            <a:ext cx="381000" cy="2540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086BBEA-0C16-41D6-A87A-488F4115D4FD}"/>
              </a:ext>
            </a:extLst>
          </p:cNvPr>
          <p:cNvSpPr/>
          <p:nvPr/>
        </p:nvSpPr>
        <p:spPr>
          <a:xfrm>
            <a:off x="7556500" y="5270500"/>
            <a:ext cx="381000" cy="2540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97F301F-F1D7-43AB-863E-8F995DE7F141}"/>
              </a:ext>
            </a:extLst>
          </p:cNvPr>
          <p:cNvSpPr/>
          <p:nvPr/>
        </p:nvSpPr>
        <p:spPr>
          <a:xfrm>
            <a:off x="609600" y="5918200"/>
            <a:ext cx="10972800" cy="5842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dirty="0">
                <a:solidFill>
                  <a:srgbClr val="7A3A00"/>
                </a:solidFill>
                <a:latin typeface="Open Sans"/>
                <a:ea typeface="Open Sans"/>
                <a:cs typeface="Open Sans"/>
              </a:rPr>
              <a:t>Rule of thumb: permissions flow downward - Org role sets the baseline, folder permissions refine it, dashboard permissions are the exception. Grant to Teams, not to individual users.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F34399A3-D87D-42B2-B494-4F19C0911FF1}"/>
              </a:ext>
            </a:extLst>
          </p:cNvPr>
          <p:cNvSpPr/>
          <p:nvPr/>
        </p:nvSpPr>
        <p:spPr>
          <a:xfrm>
            <a:off x="5918200" y="4724400"/>
            <a:ext cx="330200" cy="330200"/>
          </a:xfrm>
          <a:prstGeom prst="down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5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ACDC15-834C-47E1-A21A-4DED73C0C961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MODULE 13 · 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F00D1-26CA-4510-A486-3DE1E11EE36C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  <a:ea typeface="Open Sans"/>
                <a:cs typeface="Open Sans"/>
              </a:rPr>
              <a:t>Organizations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0BB995-2DE6-497D-895B-FAA1AA3B918A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57948-97FF-4E5D-AD10-8A31B3CB739C}"/>
              </a:ext>
            </a:extLst>
          </p:cNvPr>
          <p:cNvSpPr txBox="1"/>
          <p:nvPr/>
        </p:nvSpPr>
        <p:spPr>
          <a:xfrm>
            <a:off x="609600" y="1422400"/>
            <a:ext cx="10972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A fully isolated tenant inside one Grafana instance - its own users, dashboards, data sources and preferences.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F0264E-4251-4F8B-B2EF-88A0EBA95D09}"/>
              </a:ext>
            </a:extLst>
          </p:cNvPr>
          <p:cNvSpPr/>
          <p:nvPr/>
        </p:nvSpPr>
        <p:spPr>
          <a:xfrm>
            <a:off x="609600" y="1905000"/>
            <a:ext cx="35052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F22AC1-E32F-4F03-88B1-650026FB8661}"/>
              </a:ext>
            </a:extLst>
          </p:cNvPr>
          <p:cNvSpPr/>
          <p:nvPr/>
        </p:nvSpPr>
        <p:spPr>
          <a:xfrm>
            <a:off x="609600" y="1905000"/>
            <a:ext cx="3505200" cy="635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C7499-717C-4E52-9C65-3D53B9142179}"/>
              </a:ext>
            </a:extLst>
          </p:cNvPr>
          <p:cNvSpPr txBox="1"/>
          <p:nvPr/>
        </p:nvSpPr>
        <p:spPr>
          <a:xfrm>
            <a:off x="863600" y="21844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What it isolates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5CDEB-1847-490B-99D1-2CFC40533A1F}"/>
              </a:ext>
            </a:extLst>
          </p:cNvPr>
          <p:cNvSpPr txBox="1"/>
          <p:nvPr/>
        </p:nvSpPr>
        <p:spPr>
          <a:xfrm>
            <a:off x="863600" y="2590800"/>
            <a:ext cx="30480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Users &amp; their org roles
• Dashboards and folders
• Data sources &amp; API keys
• Preferences (theme, home dashboard)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774F0E-ABF5-4764-9F35-8C0F9F6CAE09}"/>
              </a:ext>
            </a:extLst>
          </p:cNvPr>
          <p:cNvSpPr/>
          <p:nvPr/>
        </p:nvSpPr>
        <p:spPr>
          <a:xfrm>
            <a:off x="4318000" y="1905000"/>
            <a:ext cx="35052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947FF-E67E-4690-8749-EBA1B8B5772F}"/>
              </a:ext>
            </a:extLst>
          </p:cNvPr>
          <p:cNvSpPr/>
          <p:nvPr/>
        </p:nvSpPr>
        <p:spPr>
          <a:xfrm>
            <a:off x="4318000" y="1905000"/>
            <a:ext cx="3505200" cy="635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CFB069-2481-4742-86EC-C870EC7A9F46}"/>
              </a:ext>
            </a:extLst>
          </p:cNvPr>
          <p:cNvSpPr txBox="1"/>
          <p:nvPr/>
        </p:nvSpPr>
        <p:spPr>
          <a:xfrm>
            <a:off x="4572000" y="21844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When to use 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35F969-FE9F-412D-9131-60A3841D9731}"/>
              </a:ext>
            </a:extLst>
          </p:cNvPr>
          <p:cNvSpPr txBox="1"/>
          <p:nvPr/>
        </p:nvSpPr>
        <p:spPr>
          <a:xfrm>
            <a:off x="4572000" y="2590800"/>
            <a:ext cx="30480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Separate business units / customers
• Hard data-source isolation required
• Different admin teams per tenant
• Multi-tenant SaaS style hosting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E24527-B4D0-405F-9B4E-7387EB81E513}"/>
              </a:ext>
            </a:extLst>
          </p:cNvPr>
          <p:cNvSpPr/>
          <p:nvPr/>
        </p:nvSpPr>
        <p:spPr>
          <a:xfrm>
            <a:off x="8026400" y="1905000"/>
            <a:ext cx="35052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A9E0C9-D2CF-42B4-B49E-12336B323123}"/>
              </a:ext>
            </a:extLst>
          </p:cNvPr>
          <p:cNvSpPr/>
          <p:nvPr/>
        </p:nvSpPr>
        <p:spPr>
          <a:xfrm>
            <a:off x="8026400" y="1905000"/>
            <a:ext cx="3505200" cy="63500"/>
          </a:xfrm>
          <a:prstGeom prst="rect">
            <a:avLst/>
          </a:prstGeom>
          <a:solidFill>
            <a:srgbClr val="D045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E6E436-4F1B-44FD-A3B1-6AEE35F01968}"/>
              </a:ext>
            </a:extLst>
          </p:cNvPr>
          <p:cNvSpPr txBox="1"/>
          <p:nvPr/>
        </p:nvSpPr>
        <p:spPr>
          <a:xfrm>
            <a:off x="8280400" y="21844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When NOT to use 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D1303D-3050-4B6A-9481-0A39AF0A3349}"/>
              </a:ext>
            </a:extLst>
          </p:cNvPr>
          <p:cNvSpPr txBox="1"/>
          <p:nvPr/>
        </p:nvSpPr>
        <p:spPr>
          <a:xfrm>
            <a:off x="8280400" y="2590800"/>
            <a:ext cx="30480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Just to group dashboards → use Folders
• You need cross-team sharing
• Central dashboards must be reused
• Adds admin overhead per org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F75409F-3761-4E62-A5B9-9A20DD7F9D63}"/>
              </a:ext>
            </a:extLst>
          </p:cNvPr>
          <p:cNvSpPr/>
          <p:nvPr/>
        </p:nvSpPr>
        <p:spPr>
          <a:xfrm>
            <a:off x="609600" y="4826000"/>
            <a:ext cx="10972800" cy="16510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44AB97-C147-4587-A998-BFDC63EA2EE6}"/>
              </a:ext>
            </a:extLst>
          </p:cNvPr>
          <p:cNvSpPr txBox="1"/>
          <p:nvPr/>
        </p:nvSpPr>
        <p:spPr>
          <a:xfrm>
            <a:off x="965200" y="50546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In practice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8E849F-FF77-40BE-8018-D6E1D9EB0F49}"/>
              </a:ext>
            </a:extLst>
          </p:cNvPr>
          <p:cNvSpPr txBox="1"/>
          <p:nvPr/>
        </p:nvSpPr>
        <p:spPr>
          <a:xfrm>
            <a:off x="965200" y="5410200"/>
            <a:ext cx="63500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Create:  Server Admin → Organizations → + New org
Switch:  Profile menu → Switch organization
Add user:  Server Admin → Users → select user → add to org with a role
API:  POST /api/orgs   ·   POST /api/orgs/{orgId}/users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DE0C8B-5F28-492C-BBB6-D799511C5B2C}"/>
              </a:ext>
            </a:extLst>
          </p:cNvPr>
          <p:cNvSpPr txBox="1"/>
          <p:nvPr/>
        </p:nvSpPr>
        <p:spPr>
          <a:xfrm>
            <a:off x="7874000" y="5207000"/>
            <a:ext cx="34290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Server Admin is the only
role that can create orgs
and see across all of them.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2B9981-CBD1-435E-8208-DDA363EE5926}"/>
              </a:ext>
            </a:extLst>
          </p:cNvPr>
          <p:cNvSpPr/>
          <p:nvPr/>
        </p:nvSpPr>
        <p:spPr>
          <a:xfrm>
            <a:off x="7620000" y="5207000"/>
            <a:ext cx="38100" cy="10160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6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E820F1-5F8F-47D0-8FA3-E00DAECA89FD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MODULE 13 · 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F9726-386F-459E-A549-523B4C8BB767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Users &amp; Teams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4B8053-33DD-47E8-8D91-DEEC0A001CBE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AF0946-A6D4-4F00-BB5E-EFDC6C8EA979}"/>
              </a:ext>
            </a:extLst>
          </p:cNvPr>
          <p:cNvSpPr/>
          <p:nvPr/>
        </p:nvSpPr>
        <p:spPr>
          <a:xfrm>
            <a:off x="609600" y="1574800"/>
            <a:ext cx="5334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C4D627-FCCB-430B-A3FB-523D8A3AB3B6}"/>
              </a:ext>
            </a:extLst>
          </p:cNvPr>
          <p:cNvSpPr/>
          <p:nvPr/>
        </p:nvSpPr>
        <p:spPr>
          <a:xfrm>
            <a:off x="609600" y="1574800"/>
            <a:ext cx="5334000" cy="5588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B3E95-2511-4A07-BFB9-EEC9F9F1F89A}"/>
              </a:ext>
            </a:extLst>
          </p:cNvPr>
          <p:cNvSpPr txBox="1"/>
          <p:nvPr/>
        </p:nvSpPr>
        <p:spPr>
          <a:xfrm>
            <a:off x="863600" y="1574800"/>
            <a:ext cx="4826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USERS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A4029-2940-433F-9B86-025546F79AB6}"/>
              </a:ext>
            </a:extLst>
          </p:cNvPr>
          <p:cNvSpPr txBox="1"/>
          <p:nvPr/>
        </p:nvSpPr>
        <p:spPr>
          <a:xfrm>
            <a:off x="863600" y="23114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An individual identity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880550-0A57-4A25-8FC7-11BB783EFD07}"/>
              </a:ext>
            </a:extLst>
          </p:cNvPr>
          <p:cNvSpPr txBox="1"/>
          <p:nvPr/>
        </p:nvSpPr>
        <p:spPr>
          <a:xfrm>
            <a:off x="863600" y="2641600"/>
            <a:ext cx="4826000" cy="215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Created locally or auto-provisioned by LDAP / OAuth / SAML
• Belongs to one or more organizations
• Holds exactly one role per organization
• Can be granted per-folder / per-dashboard access
• Server Admin flag is instance-wide, not per org
• Can be disabled instead of deleted (keeps audit trail)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87B8A-9CD6-4FA1-9211-DEE2E6851483}"/>
              </a:ext>
            </a:extLst>
          </p:cNvPr>
          <p:cNvSpPr txBox="1"/>
          <p:nvPr/>
        </p:nvSpPr>
        <p:spPr>
          <a:xfrm>
            <a:off x="863600" y="4876800"/>
            <a:ext cx="4826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Admin → Users  ·  API: POST /api/admin/users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59C189-AD66-4606-BF37-2D3745577B5F}"/>
              </a:ext>
            </a:extLst>
          </p:cNvPr>
          <p:cNvSpPr/>
          <p:nvPr/>
        </p:nvSpPr>
        <p:spPr>
          <a:xfrm>
            <a:off x="6248400" y="1574800"/>
            <a:ext cx="53340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0FC35-5E3D-48CC-B4E7-79C7D27AD4E5}"/>
              </a:ext>
            </a:extLst>
          </p:cNvPr>
          <p:cNvSpPr/>
          <p:nvPr/>
        </p:nvSpPr>
        <p:spPr>
          <a:xfrm>
            <a:off x="6248400" y="1574800"/>
            <a:ext cx="5334000" cy="5588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9130D-40E1-4734-8E6F-BA397F65279C}"/>
              </a:ext>
            </a:extLst>
          </p:cNvPr>
          <p:cNvSpPr txBox="1"/>
          <p:nvPr/>
        </p:nvSpPr>
        <p:spPr>
          <a:xfrm>
            <a:off x="6502400" y="1574800"/>
            <a:ext cx="4826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TEAMS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E3434C-71B7-4B4A-9BE2-ED78753FB7A4}"/>
              </a:ext>
            </a:extLst>
          </p:cNvPr>
          <p:cNvSpPr txBox="1"/>
          <p:nvPr/>
        </p:nvSpPr>
        <p:spPr>
          <a:xfrm>
            <a:off x="6502400" y="23114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A named group of users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D5D1B9-16DB-46E6-A602-8C308FCD9D14}"/>
              </a:ext>
            </a:extLst>
          </p:cNvPr>
          <p:cNvSpPr txBox="1"/>
          <p:nvPr/>
        </p:nvSpPr>
        <p:spPr>
          <a:xfrm>
            <a:off x="6502400" y="2641600"/>
            <a:ext cx="4826000" cy="215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Lives inside a single organization
• Members added manually or synced (Team Sync, Enterprise)
• Used as the subject of folder / dashboard permissions
• Can carry its own preferences (home dashboard, theme)
• Team Admin can manage members without org admin rights
• Scales access: change the team, not 50 dashboards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1E6491-8917-4230-8915-4A773AD67F23}"/>
              </a:ext>
            </a:extLst>
          </p:cNvPr>
          <p:cNvSpPr txBox="1"/>
          <p:nvPr/>
        </p:nvSpPr>
        <p:spPr>
          <a:xfrm>
            <a:off x="6502400" y="4876800"/>
            <a:ext cx="4826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Admin → Teams  ·  API: POST /api/teams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D023799-F343-4348-9EA4-75043C5C1CD9}"/>
              </a:ext>
            </a:extLst>
          </p:cNvPr>
          <p:cNvSpPr/>
          <p:nvPr/>
        </p:nvSpPr>
        <p:spPr>
          <a:xfrm>
            <a:off x="609600" y="5588000"/>
            <a:ext cx="10972800" cy="8890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3F9670-055A-479A-89CD-E7CDAD0CE258}"/>
              </a:ext>
            </a:extLst>
          </p:cNvPr>
          <p:cNvSpPr txBox="1"/>
          <p:nvPr/>
        </p:nvSpPr>
        <p:spPr>
          <a:xfrm>
            <a:off x="965200" y="57404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Best practice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1B492-DB7C-4C2A-8256-2D4C7AED4921}"/>
              </a:ext>
            </a:extLst>
          </p:cNvPr>
          <p:cNvSpPr txBox="1"/>
          <p:nvPr/>
        </p:nvSpPr>
        <p:spPr>
          <a:xfrm>
            <a:off x="965200" y="5994400"/>
            <a:ext cx="10287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7A3A00"/>
                </a:solidFill>
                <a:latin typeface="Open Sans"/>
                <a:ea typeface="Open Sans"/>
                <a:cs typeface="Open Sans"/>
              </a:rPr>
              <a:t>Grant permissions to Teams only. Users join and leave teams; dashboards and folders never need to be touched again. Mirror your identity-provider groups 1:1 with Grafana teams so onboarding/offboarding is automatic.</a:t>
            </a:r>
          </a:p>
        </p:txBody>
      </p:sp>
    </p:spTree>
    <p:extLst>
      <p:ext uri="{BB962C8B-B14F-4D97-AF65-F5344CB8AC3E}">
        <p14:creationId xmlns:p14="http://schemas.microsoft.com/office/powerpoint/2010/main" val="141348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8AB95-1E95-4848-916C-387F0A0424F4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MODULE 13 · 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D4A23-896D-4409-83A7-5558624C0EB8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Roles &amp; Permissions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89312B-2978-40EE-9A6F-95CD5B892447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07810-B3A3-4F21-9095-31CAF0C1A3CA}"/>
              </a:ext>
            </a:extLst>
          </p:cNvPr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Four built-in roles. Everything else is layered on top with folder, dashboard or fine-grained RBAC permissions.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B1C10D0-76FD-46B0-8395-E905F51AD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020489"/>
              </p:ext>
            </p:extLst>
          </p:nvPr>
        </p:nvGraphicFramePr>
        <p:xfrm>
          <a:off x="609600" y="1803400"/>
          <a:ext cx="109728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0">
                  <a:extLst>
                    <a:ext uri="{9D8B030D-6E8A-4147-A177-3AD203B41FA5}">
                      <a16:colId xmlns:a16="http://schemas.microsoft.com/office/drawing/2014/main" val="134114623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98209296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10409413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73697915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7190483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 anchor="ctr">
                    <a:solidFill>
                      <a:srgbClr val="2F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Viewer</a:t>
                      </a:r>
                    </a:p>
                  </a:txBody>
                  <a:tcPr anchor="ctr"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Editor</a:t>
                      </a:r>
                    </a:p>
                  </a:txBody>
                  <a:tcPr anchor="ctr"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Admin</a:t>
                      </a:r>
                    </a:p>
                  </a:txBody>
                  <a:tcPr anchor="ctr">
                    <a:solidFill>
                      <a:srgbClr val="F46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Server Admin</a:t>
                      </a:r>
                    </a:p>
                  </a:txBody>
                  <a:tcPr anchor="ctr">
                    <a:solidFill>
                      <a:srgbClr val="161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9528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16191F"/>
                          </a:solidFill>
                        </a:rPr>
                        <a:t>View dashboards &amp; panels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75315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16191F"/>
                          </a:solidFill>
                        </a:rPr>
                        <a:t>Create / edit / delete dashboards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35662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16191F"/>
                          </a:solidFill>
                        </a:rPr>
                        <a:t>Create folders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4921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16191F"/>
                          </a:solidFill>
                        </a:rPr>
                        <a:t>Set folder / dashboard permissions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26794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16191F"/>
                          </a:solidFill>
                        </a:rPr>
                        <a:t>Add &amp; edit data sources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53552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16191F"/>
                          </a:solidFill>
                        </a:rPr>
                        <a:t>Create / manage alert rules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51638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16191F"/>
                          </a:solidFill>
                        </a:rPr>
                        <a:t>Invite &amp; manage org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38099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16191F"/>
                          </a:solidFill>
                        </a:rPr>
                        <a:t>Service accounts &amp; API tokens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67136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16191F"/>
                          </a:solidFill>
                        </a:rPr>
                        <a:t>Create organizations, global users, settings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A6ACB8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1E9E6A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147052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DE2892-8CE6-4F46-96BF-454DC6E19DC4}"/>
              </a:ext>
            </a:extLst>
          </p:cNvPr>
          <p:cNvSpPr/>
          <p:nvPr/>
        </p:nvSpPr>
        <p:spPr>
          <a:xfrm>
            <a:off x="609600" y="5867400"/>
            <a:ext cx="10972800" cy="6350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B9C0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757E7-FB9C-4D42-B109-4B6309AB19BE}"/>
              </a:ext>
            </a:extLst>
          </p:cNvPr>
          <p:cNvSpPr txBox="1"/>
          <p:nvPr/>
        </p:nvSpPr>
        <p:spPr>
          <a:xfrm>
            <a:off x="914400" y="5867400"/>
            <a:ext cx="103632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dirty="0">
                <a:solidFill>
                  <a:srgbClr val="2F3542"/>
                </a:solidFill>
                <a:latin typeface="Open Sans"/>
                <a:ea typeface="Open Sans"/>
                <a:cs typeface="Open Sans"/>
              </a:rPr>
              <a:t>Enterprise RBAC adds fine-grained roles (e.g. "Data source writer", "Reports creator") assignable to users, teams or service accounts - use it when built-in roles are too coarse.</a:t>
            </a:r>
          </a:p>
        </p:txBody>
      </p:sp>
    </p:spTree>
    <p:extLst>
      <p:ext uri="{BB962C8B-B14F-4D97-AF65-F5344CB8AC3E}">
        <p14:creationId xmlns:p14="http://schemas.microsoft.com/office/powerpoint/2010/main" val="3619213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634B77-ED16-4354-853F-37C3DFF73705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MODULE 13 · 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AAB3E-B855-4596-A929-786D00CBEFC0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Folder Permissions &amp; Inheritance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253570-5C3F-4E24-ADDA-304EF70038EB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E3ABA3-86CA-4AD4-A907-C2772BE1B88C}"/>
              </a:ext>
            </a:extLst>
          </p:cNvPr>
          <p:cNvSpPr/>
          <p:nvPr/>
        </p:nvSpPr>
        <p:spPr>
          <a:xfrm>
            <a:off x="609600" y="1600200"/>
            <a:ext cx="5588000" cy="4318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CC2F6F-EC5E-4394-AD90-972928C1CADC}"/>
              </a:ext>
            </a:extLst>
          </p:cNvPr>
          <p:cNvSpPr txBox="1"/>
          <p:nvPr/>
        </p:nvSpPr>
        <p:spPr>
          <a:xfrm>
            <a:off x="863600" y="1752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ORGANIZATION  ·  baseline role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74423-37FE-461A-9BB9-6A618E57B77F}"/>
              </a:ext>
            </a:extLst>
          </p:cNvPr>
          <p:cNvSpPr txBox="1"/>
          <p:nvPr/>
        </p:nvSpPr>
        <p:spPr>
          <a:xfrm>
            <a:off x="863600" y="2032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Viewer  ·  Editor  ·  Admin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5F7D23-FD1C-4DA3-94F9-B6AAA410460A}"/>
              </a:ext>
            </a:extLst>
          </p:cNvPr>
          <p:cNvSpPr/>
          <p:nvPr/>
        </p:nvSpPr>
        <p:spPr>
          <a:xfrm>
            <a:off x="914400" y="2413000"/>
            <a:ext cx="4978400" cy="3175000"/>
          </a:xfrm>
          <a:prstGeom prst="roundRect">
            <a:avLst/>
          </a:prstGeom>
          <a:solidFill>
            <a:srgbClr val="F2F4F8"/>
          </a:solidFill>
          <a:ln w="19050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F461E-9940-4425-B03E-60923E670B2A}"/>
              </a:ext>
            </a:extLst>
          </p:cNvPr>
          <p:cNvSpPr txBox="1"/>
          <p:nvPr/>
        </p:nvSpPr>
        <p:spPr>
          <a:xfrm>
            <a:off x="1168400" y="25654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FOLDER  “Production”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C6CF7B-E1C8-4B40-B0AE-EB803B533A14}"/>
              </a:ext>
            </a:extLst>
          </p:cNvPr>
          <p:cNvSpPr txBox="1"/>
          <p:nvPr/>
        </p:nvSpPr>
        <p:spPr>
          <a:xfrm>
            <a:off x="1168400" y="28448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Team SRE = Admin   ·   Team Dev = 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C83C9F-C38E-445D-B962-F941E8BDC9DB}"/>
              </a:ext>
            </a:extLst>
          </p:cNvPr>
          <p:cNvSpPr/>
          <p:nvPr/>
        </p:nvSpPr>
        <p:spPr>
          <a:xfrm>
            <a:off x="1219200" y="3225800"/>
            <a:ext cx="43688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9C0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CEE3D4-7758-4AA2-890B-9EB6FDDA9B10}"/>
              </a:ext>
            </a:extLst>
          </p:cNvPr>
          <p:cNvSpPr txBox="1"/>
          <p:nvPr/>
        </p:nvSpPr>
        <p:spPr>
          <a:xfrm>
            <a:off x="1473200" y="33528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DASHBOARD  “API Latency”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08EAE8-5EF6-4A23-9D5B-FB7342ABBE99}"/>
              </a:ext>
            </a:extLst>
          </p:cNvPr>
          <p:cNvSpPr txBox="1"/>
          <p:nvPr/>
        </p:nvSpPr>
        <p:spPr>
          <a:xfrm>
            <a:off x="1473200" y="3632200"/>
            <a:ext cx="38862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1E9E6A"/>
                </a:solidFill>
                <a:latin typeface="Open Sans"/>
                <a:ea typeface="Open Sans"/>
                <a:cs typeface="Open Sans"/>
              </a:rPr>
              <a:t>No explicit ACL → inherits folder permissions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2CE3EE-24C7-4E47-A37D-37F02F68D0A8}"/>
              </a:ext>
            </a:extLst>
          </p:cNvPr>
          <p:cNvSpPr/>
          <p:nvPr/>
        </p:nvSpPr>
        <p:spPr>
          <a:xfrm>
            <a:off x="1219200" y="4343400"/>
            <a:ext cx="4368800" cy="1066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045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857326-1A95-40ED-9935-2B22772F7C8C}"/>
              </a:ext>
            </a:extLst>
          </p:cNvPr>
          <p:cNvSpPr txBox="1"/>
          <p:nvPr/>
        </p:nvSpPr>
        <p:spPr>
          <a:xfrm>
            <a:off x="1473200" y="4470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DASHBOARD  “Cost &amp; Billing”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F06CAE-5A6C-4212-B430-601382559AB1}"/>
              </a:ext>
            </a:extLst>
          </p:cNvPr>
          <p:cNvSpPr txBox="1"/>
          <p:nvPr/>
        </p:nvSpPr>
        <p:spPr>
          <a:xfrm>
            <a:off x="1473200" y="4749800"/>
            <a:ext cx="38862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D0453B"/>
                </a:solidFill>
                <a:latin typeface="Open Sans"/>
                <a:ea typeface="Open Sans"/>
                <a:cs typeface="Open Sans"/>
              </a:rPr>
              <a:t>Explicit ACL: Finance = View only
→ overrides inherited folder access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511574-47DE-4772-BE94-F4F19D6E99EE}"/>
              </a:ext>
            </a:extLst>
          </p:cNvPr>
          <p:cNvSpPr txBox="1"/>
          <p:nvPr/>
        </p:nvSpPr>
        <p:spPr>
          <a:xfrm>
            <a:off x="609600" y="5994400"/>
            <a:ext cx="5588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Permissions are additive - a user gets the most permissive result of all matching rules.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517DEB-1021-420A-814F-063DA0E7FEE1}"/>
              </a:ext>
            </a:extLst>
          </p:cNvPr>
          <p:cNvSpPr txBox="1"/>
          <p:nvPr/>
        </p:nvSpPr>
        <p:spPr>
          <a:xfrm>
            <a:off x="6502400" y="1651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Three permission levels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6CBA8D7-A772-47E9-91D6-CCBD0EFC49C2}"/>
              </a:ext>
            </a:extLst>
          </p:cNvPr>
          <p:cNvSpPr/>
          <p:nvPr/>
        </p:nvSpPr>
        <p:spPr>
          <a:xfrm>
            <a:off x="6502400" y="2057400"/>
            <a:ext cx="5080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25DEF4-8371-4B1E-9BC3-95B7D2AD7419}"/>
              </a:ext>
            </a:extLst>
          </p:cNvPr>
          <p:cNvSpPr/>
          <p:nvPr/>
        </p:nvSpPr>
        <p:spPr>
          <a:xfrm>
            <a:off x="6502400" y="2057400"/>
            <a:ext cx="63500" cy="8636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0DE947-2E88-4C3F-8795-1D5D46A81D66}"/>
              </a:ext>
            </a:extLst>
          </p:cNvPr>
          <p:cNvSpPr txBox="1"/>
          <p:nvPr/>
        </p:nvSpPr>
        <p:spPr>
          <a:xfrm>
            <a:off x="6781800" y="21844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View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344AA2-6396-41AA-8891-550A647EFAF4}"/>
              </a:ext>
            </a:extLst>
          </p:cNvPr>
          <p:cNvSpPr txBox="1"/>
          <p:nvPr/>
        </p:nvSpPr>
        <p:spPr>
          <a:xfrm>
            <a:off x="6781800" y="2463800"/>
            <a:ext cx="4572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Read dashboards in the folder. Cannot save changes.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37F3873-7CE4-415F-BE69-1AA1AE136366}"/>
              </a:ext>
            </a:extLst>
          </p:cNvPr>
          <p:cNvSpPr/>
          <p:nvPr/>
        </p:nvSpPr>
        <p:spPr>
          <a:xfrm>
            <a:off x="6502400" y="3022600"/>
            <a:ext cx="5080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358F35-B7CC-471B-A8A4-B723AE0E87B4}"/>
              </a:ext>
            </a:extLst>
          </p:cNvPr>
          <p:cNvSpPr/>
          <p:nvPr/>
        </p:nvSpPr>
        <p:spPr>
          <a:xfrm>
            <a:off x="6502400" y="3022600"/>
            <a:ext cx="63500" cy="8636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131D5-65D2-4F10-8BDC-ADF948AC91E3}"/>
              </a:ext>
            </a:extLst>
          </p:cNvPr>
          <p:cNvSpPr txBox="1"/>
          <p:nvPr/>
        </p:nvSpPr>
        <p:spPr>
          <a:xfrm>
            <a:off x="6781800" y="31496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E9E6A"/>
                </a:solidFill>
                <a:latin typeface="Open Sans"/>
                <a:ea typeface="Open Sans"/>
                <a:cs typeface="Open Sans"/>
              </a:rPr>
              <a:t>Edit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03C9F9-62E1-46EE-BD8D-F1184E46E784}"/>
              </a:ext>
            </a:extLst>
          </p:cNvPr>
          <p:cNvSpPr txBox="1"/>
          <p:nvPr/>
        </p:nvSpPr>
        <p:spPr>
          <a:xfrm>
            <a:off x="6781800" y="3429000"/>
            <a:ext cx="4572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Create, edit and delete dashboards inside the folder. Cannot change permissions.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49B5272-C5DA-4A3C-ADB1-5746F31EC55D}"/>
              </a:ext>
            </a:extLst>
          </p:cNvPr>
          <p:cNvSpPr/>
          <p:nvPr/>
        </p:nvSpPr>
        <p:spPr>
          <a:xfrm>
            <a:off x="6502400" y="3987800"/>
            <a:ext cx="5080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F5559F-B08E-4D7B-87CB-2F36FF171C92}"/>
              </a:ext>
            </a:extLst>
          </p:cNvPr>
          <p:cNvSpPr/>
          <p:nvPr/>
        </p:nvSpPr>
        <p:spPr>
          <a:xfrm>
            <a:off x="6502400" y="3987800"/>
            <a:ext cx="63500" cy="8636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35263D-08C1-4E69-8BB9-705069FD7C58}"/>
              </a:ext>
            </a:extLst>
          </p:cNvPr>
          <p:cNvSpPr txBox="1"/>
          <p:nvPr/>
        </p:nvSpPr>
        <p:spPr>
          <a:xfrm>
            <a:off x="6781800" y="41148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Admin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43E3DA-5420-4411-BD77-FCA9687E60E2}"/>
              </a:ext>
            </a:extLst>
          </p:cNvPr>
          <p:cNvSpPr txBox="1"/>
          <p:nvPr/>
        </p:nvSpPr>
        <p:spPr>
          <a:xfrm>
            <a:off x="6781800" y="4394200"/>
            <a:ext cx="4572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Everything in Edit, plus manage the folder's permission list.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A905394-B554-4369-BE4A-FE1EB919B134}"/>
              </a:ext>
            </a:extLst>
          </p:cNvPr>
          <p:cNvSpPr/>
          <p:nvPr/>
        </p:nvSpPr>
        <p:spPr>
          <a:xfrm>
            <a:off x="6502400" y="5029200"/>
            <a:ext cx="5080000" cy="14732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C77DB8-D73A-4F95-BBF7-5F1CF2102D64}"/>
              </a:ext>
            </a:extLst>
          </p:cNvPr>
          <p:cNvSpPr txBox="1"/>
          <p:nvPr/>
        </p:nvSpPr>
        <p:spPr>
          <a:xfrm>
            <a:off x="6807200" y="51816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Design rules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60F1C2-B685-4CC4-91E8-06D324D8B7F9}"/>
              </a:ext>
            </a:extLst>
          </p:cNvPr>
          <p:cNvSpPr txBox="1"/>
          <p:nvPr/>
        </p:nvSpPr>
        <p:spPr>
          <a:xfrm>
            <a:off x="6807200" y="5486400"/>
            <a:ext cx="45720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• Set permissions on folders, not dashboards
• Remove the default Viewer/Editor entries on
   sensitive folders
• Name folders by team or environment
• Audit with GET /api/folders/{uid}/permissions</a:t>
            </a:r>
          </a:p>
        </p:txBody>
      </p:sp>
    </p:spTree>
    <p:extLst>
      <p:ext uri="{BB962C8B-B14F-4D97-AF65-F5344CB8AC3E}">
        <p14:creationId xmlns:p14="http://schemas.microsoft.com/office/powerpoint/2010/main" val="3225884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101"/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6800"/>
                </a:solidFill>
                <a:latin typeface="Open Sans"/>
              </a:rPr>
              <a:t>MODULE 13 · CHECKPOINT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16191F"/>
                </a:solidFill>
                <a:latin typeface="Montserrat"/>
              </a:rPr>
              <a:t>Quick Quiz: User Management</a:t>
            </a:r>
          </a:p>
        </p:txBody>
      </p:sp>
      <p:sp>
        <p:nvSpPr>
          <p:cNvPr id="103" name="SH103"/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Three questions before the lab. Say your answer before we reveal it.</a:t>
            </a:r>
          </a:p>
        </p:txBody>
      </p:sp>
      <p:sp>
        <p:nvSpPr>
          <p:cNvPr id="105" name="SH105"/>
          <p:cNvSpPr/>
          <p:nvPr/>
        </p:nvSpPr>
        <p:spPr>
          <a:xfrm>
            <a:off x="609600" y="18034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B106"/>
          <p:cNvSpPr txBox="1"/>
          <p:nvPr/>
        </p:nvSpPr>
        <p:spPr>
          <a:xfrm>
            <a:off x="914400" y="20066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Q1 · A user must edit dashboards in the Production folder only. Cleanest grant?</a:t>
            </a:r>
          </a:p>
        </p:txBody>
      </p:sp>
      <p:sp>
        <p:nvSpPr>
          <p:cNvPr id="107" name="TB107"/>
          <p:cNvSpPr txBox="1"/>
          <p:nvPr/>
        </p:nvSpPr>
        <p:spPr>
          <a:xfrm>
            <a:off x="914400" y="24130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A) Make them an Org Editor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B) Team with Editor on that folder</a:t>
            </a:r>
          </a:p>
        </p:txBody>
      </p:sp>
      <p:sp>
        <p:nvSpPr>
          <p:cNvPr id="108" name="TB108"/>
          <p:cNvSpPr txBox="1"/>
          <p:nvPr/>
        </p:nvSpPr>
        <p:spPr>
          <a:xfrm>
            <a:off x="6248400" y="24130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C) Give them Server Admin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D) Send them the dashboard URL</a:t>
            </a:r>
          </a:p>
        </p:txBody>
      </p:sp>
      <p:sp>
        <p:nvSpPr>
          <p:cNvPr id="109" name="SH109"/>
          <p:cNvSpPr/>
          <p:nvPr/>
        </p:nvSpPr>
        <p:spPr>
          <a:xfrm>
            <a:off x="609600" y="32258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B110"/>
          <p:cNvSpPr txBox="1"/>
          <p:nvPr/>
        </p:nvSpPr>
        <p:spPr>
          <a:xfrm>
            <a:off x="914400" y="34290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Q2 · Which of these is NOT isolated between organizations?</a:t>
            </a:r>
          </a:p>
        </p:txBody>
      </p:sp>
      <p:sp>
        <p:nvSpPr>
          <p:cNvPr id="111" name="TB111"/>
          <p:cNvSpPr txBox="1"/>
          <p:nvPr/>
        </p:nvSpPr>
        <p:spPr>
          <a:xfrm>
            <a:off x="914400" y="38354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A) Dashboards and folders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B) Data sources and API keys</a:t>
            </a:r>
          </a:p>
        </p:txBody>
      </p:sp>
      <p:sp>
        <p:nvSpPr>
          <p:cNvPr id="112" name="TB112"/>
          <p:cNvSpPr txBox="1"/>
          <p:nvPr/>
        </p:nvSpPr>
        <p:spPr>
          <a:xfrm>
            <a:off x="6248400" y="38354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C) Server admins and grafana.ini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D) Org preferences and theme</a:t>
            </a:r>
          </a:p>
        </p:txBody>
      </p:sp>
      <p:sp>
        <p:nvSpPr>
          <p:cNvPr id="113" name="SH113"/>
          <p:cNvSpPr/>
          <p:nvPr/>
        </p:nvSpPr>
        <p:spPr>
          <a:xfrm>
            <a:off x="609600" y="46482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TB114"/>
          <p:cNvSpPr txBox="1"/>
          <p:nvPr/>
        </p:nvSpPr>
        <p:spPr>
          <a:xfrm>
            <a:off x="914400" y="48514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Q3 · A CI pipeline needs to push dashboards. What do you create?</a:t>
            </a:r>
          </a:p>
        </p:txBody>
      </p:sp>
      <p:sp>
        <p:nvSpPr>
          <p:cNvPr id="115" name="TB115"/>
          <p:cNvSpPr txBox="1"/>
          <p:nvPr/>
        </p:nvSpPr>
        <p:spPr>
          <a:xfrm>
            <a:off x="914400" y="52578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A) A personal API key on your account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B) A service account with a token</a:t>
            </a:r>
          </a:p>
        </p:txBody>
      </p:sp>
      <p:sp>
        <p:nvSpPr>
          <p:cNvPr id="116" name="TB116"/>
          <p:cNvSpPr txBox="1"/>
          <p:nvPr/>
        </p:nvSpPr>
        <p:spPr>
          <a:xfrm>
            <a:off x="6248400" y="52578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C) A shared “ci” local user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D) A Viewer with the admin password</a:t>
            </a:r>
          </a:p>
        </p:txBody>
      </p:sp>
    </p:spTree>
    <p:extLst>
      <p:ext uri="{BB962C8B-B14F-4D97-AF65-F5344CB8AC3E}">
        <p14:creationId xmlns:p14="http://schemas.microsoft.com/office/powerpoint/2010/main" val="1307261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101"/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1E9E6A"/>
                </a:solidFill>
                <a:latin typeface="Open Sans"/>
              </a:rPr>
              <a:t>MODULE 13 · ANSWERS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16191F"/>
                </a:solidFill>
                <a:latin typeface="Montserrat"/>
              </a:rPr>
              <a:t>Quiz Answers: User Management</a:t>
            </a:r>
          </a:p>
        </p:txBody>
      </p:sp>
      <p:sp>
        <p:nvSpPr>
          <p:cNvPr id="103" name="SH103"/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1E9E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How did the room do?</a:t>
            </a:r>
          </a:p>
        </p:txBody>
      </p:sp>
      <p:sp>
        <p:nvSpPr>
          <p:cNvPr id="105" name="SH105"/>
          <p:cNvSpPr/>
          <p:nvPr/>
        </p:nvSpPr>
        <p:spPr>
          <a:xfrm>
            <a:off x="609600" y="18034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BG106"/>
          <p:cNvSpPr/>
          <p:nvPr/>
        </p:nvSpPr>
        <p:spPr>
          <a:xfrm>
            <a:off x="939800" y="2171700"/>
            <a:ext cx="558800" cy="5588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/>
              </a:rPr>
              <a:t>B</a:t>
            </a:r>
          </a:p>
        </p:txBody>
      </p:sp>
      <p:sp>
        <p:nvSpPr>
          <p:cNvPr id="107" name="TB107"/>
          <p:cNvSpPr txBox="1"/>
          <p:nvPr/>
        </p:nvSpPr>
        <p:spPr>
          <a:xfrm>
            <a:off x="1778000" y="2082800"/>
            <a:ext cx="9499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Q1 - A team with Editor on that folder</a:t>
            </a:r>
          </a:p>
        </p:txBody>
      </p:sp>
      <p:sp>
        <p:nvSpPr>
          <p:cNvPr id="108" name="TB108"/>
          <p:cNvSpPr txBox="1"/>
          <p:nvPr/>
        </p:nvSpPr>
        <p:spPr>
          <a:xfrm>
            <a:off x="1778000" y="2489200"/>
            <a:ext cx="949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Grant permissions to teams, never to individuals. Leave the org role at Viewer and let the folder ACL do the work.</a:t>
            </a:r>
          </a:p>
        </p:txBody>
      </p:sp>
      <p:sp>
        <p:nvSpPr>
          <p:cNvPr id="109" name="SH109"/>
          <p:cNvSpPr/>
          <p:nvPr/>
        </p:nvSpPr>
        <p:spPr>
          <a:xfrm>
            <a:off x="609600" y="32258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BG110"/>
          <p:cNvSpPr/>
          <p:nvPr/>
        </p:nvSpPr>
        <p:spPr>
          <a:xfrm>
            <a:off x="939800" y="3594100"/>
            <a:ext cx="558800" cy="5588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/>
              </a:rPr>
              <a:t>C</a:t>
            </a:r>
          </a:p>
        </p:txBody>
      </p:sp>
      <p:sp>
        <p:nvSpPr>
          <p:cNvPr id="111" name="TB111"/>
          <p:cNvSpPr txBox="1"/>
          <p:nvPr/>
        </p:nvSpPr>
        <p:spPr>
          <a:xfrm>
            <a:off x="1778000" y="3505200"/>
            <a:ext cx="9499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Q2 - Server admins and the instance config</a:t>
            </a:r>
          </a:p>
        </p:txBody>
      </p:sp>
      <p:sp>
        <p:nvSpPr>
          <p:cNvPr id="112" name="TB112"/>
          <p:cNvSpPr txBox="1"/>
          <p:nvPr/>
        </p:nvSpPr>
        <p:spPr>
          <a:xfrm>
            <a:off x="1778000" y="3911600"/>
            <a:ext cx="949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Those are global. Dashboards, folders, data sources, API keys and preferences are all per organization.</a:t>
            </a:r>
          </a:p>
        </p:txBody>
      </p:sp>
      <p:sp>
        <p:nvSpPr>
          <p:cNvPr id="113" name="SH113"/>
          <p:cNvSpPr/>
          <p:nvPr/>
        </p:nvSpPr>
        <p:spPr>
          <a:xfrm>
            <a:off x="609600" y="46482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BG114"/>
          <p:cNvSpPr/>
          <p:nvPr/>
        </p:nvSpPr>
        <p:spPr>
          <a:xfrm>
            <a:off x="939800" y="5016500"/>
            <a:ext cx="558800" cy="5588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/>
              </a:rPr>
              <a:t>B</a:t>
            </a:r>
          </a:p>
        </p:txBody>
      </p:sp>
      <p:sp>
        <p:nvSpPr>
          <p:cNvPr id="115" name="TB115"/>
          <p:cNvSpPr txBox="1"/>
          <p:nvPr/>
        </p:nvSpPr>
        <p:spPr>
          <a:xfrm>
            <a:off x="1778000" y="4927600"/>
            <a:ext cx="9499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Q3 - A service account with a token</a:t>
            </a:r>
          </a:p>
        </p:txBody>
      </p:sp>
      <p:sp>
        <p:nvSpPr>
          <p:cNvPr id="116" name="TB116"/>
          <p:cNvSpPr txBox="1"/>
          <p:nvPr/>
        </p:nvSpPr>
        <p:spPr>
          <a:xfrm>
            <a:off x="1778000" y="5334000"/>
            <a:ext cx="949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Service accounts survive people leaving and can be scoped and revoked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2589193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B201"/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E5FA3"/>
                </a:solidFill>
                <a:latin typeface="Open Sans"/>
              </a:rPr>
              <a:t>MODULE 13 · DISCUSSION</a:t>
            </a:r>
          </a:p>
        </p:txBody>
      </p:sp>
      <p:sp>
        <p:nvSpPr>
          <p:cNvPr id="202" name="TB202"/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16191F"/>
                </a:solidFill>
                <a:latin typeface="Montserrat"/>
              </a:rPr>
              <a:t>Talk It Through: Access in Your Organization</a:t>
            </a:r>
          </a:p>
        </p:txBody>
      </p:sp>
      <p:sp>
        <p:nvSpPr>
          <p:cNvPr id="203" name="SH203"/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B204"/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Five minutes in pairs. Bring one answer back to the room.</a:t>
            </a:r>
          </a:p>
        </p:txBody>
      </p:sp>
      <p:sp>
        <p:nvSpPr>
          <p:cNvPr id="205" name="SH205"/>
          <p:cNvSpPr/>
          <p:nvPr/>
        </p:nvSpPr>
        <p:spPr>
          <a:xfrm>
            <a:off x="609600" y="1905000"/>
            <a:ext cx="3556000" cy="3200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BG206"/>
          <p:cNvSpPr/>
          <p:nvPr/>
        </p:nvSpPr>
        <p:spPr>
          <a:xfrm>
            <a:off x="914400" y="2209800"/>
            <a:ext cx="558800" cy="5588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207" name="TB207"/>
          <p:cNvSpPr txBox="1"/>
          <p:nvPr/>
        </p:nvSpPr>
        <p:spPr>
          <a:xfrm>
            <a:off x="914400" y="2997200"/>
            <a:ext cx="2946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6191F"/>
                </a:solidFill>
                <a:latin typeface="Open Sans"/>
              </a:rPr>
              <a:t>Temporary access</a:t>
            </a:r>
          </a:p>
        </p:txBody>
      </p:sp>
      <p:sp>
        <p:nvSpPr>
          <p:cNvPr id="208" name="TB208"/>
          <p:cNvSpPr txBox="1"/>
          <p:nvPr/>
        </p:nvSpPr>
        <p:spPr>
          <a:xfrm>
            <a:off x="914400" y="3479800"/>
            <a:ext cx="2946400" cy="190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2F3542"/>
                </a:solidFill>
                <a:latin typeface="Open Sans"/>
              </a:rPr>
              <a:t>How do contractors and on-call cover get access today - and who is responsible for taking it away again?</a:t>
            </a:r>
          </a:p>
        </p:txBody>
      </p:sp>
      <p:sp>
        <p:nvSpPr>
          <p:cNvPr id="209" name="SH209"/>
          <p:cNvSpPr/>
          <p:nvPr/>
        </p:nvSpPr>
        <p:spPr>
          <a:xfrm>
            <a:off x="4318000" y="1905000"/>
            <a:ext cx="3556000" cy="3200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BG210"/>
          <p:cNvSpPr/>
          <p:nvPr/>
        </p:nvSpPr>
        <p:spPr>
          <a:xfrm>
            <a:off x="4622800" y="2209800"/>
            <a:ext cx="558800" cy="5588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211" name="TB211"/>
          <p:cNvSpPr txBox="1"/>
          <p:nvPr/>
        </p:nvSpPr>
        <p:spPr>
          <a:xfrm>
            <a:off x="4622800" y="2997200"/>
            <a:ext cx="2946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6191F"/>
                </a:solidFill>
                <a:latin typeface="Open Sans"/>
              </a:rPr>
              <a:t>Orgs or folders?</a:t>
            </a:r>
          </a:p>
        </p:txBody>
      </p:sp>
      <p:sp>
        <p:nvSpPr>
          <p:cNvPr id="212" name="TB212"/>
          <p:cNvSpPr txBox="1"/>
          <p:nvPr/>
        </p:nvSpPr>
        <p:spPr>
          <a:xfrm>
            <a:off x="4622800" y="3479800"/>
            <a:ext cx="2946400" cy="190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2F3542"/>
                </a:solidFill>
                <a:latin typeface="Open Sans"/>
              </a:rPr>
              <a:t>Would you separate teams into their own organizations, or keep one org with folder permissions? What decides it?</a:t>
            </a:r>
          </a:p>
        </p:txBody>
      </p:sp>
      <p:sp>
        <p:nvSpPr>
          <p:cNvPr id="213" name="SH213"/>
          <p:cNvSpPr/>
          <p:nvPr/>
        </p:nvSpPr>
        <p:spPr>
          <a:xfrm>
            <a:off x="8026400" y="1905000"/>
            <a:ext cx="3556000" cy="3200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BG214"/>
          <p:cNvSpPr/>
          <p:nvPr/>
        </p:nvSpPr>
        <p:spPr>
          <a:xfrm>
            <a:off x="8331200" y="2209800"/>
            <a:ext cx="558800" cy="5588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15" name="TB215"/>
          <p:cNvSpPr txBox="1"/>
          <p:nvPr/>
        </p:nvSpPr>
        <p:spPr>
          <a:xfrm>
            <a:off x="8331200" y="2997200"/>
            <a:ext cx="2946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6191F"/>
                </a:solidFill>
                <a:latin typeface="Open Sans"/>
              </a:rPr>
              <a:t>Where it breaks</a:t>
            </a:r>
          </a:p>
        </p:txBody>
      </p:sp>
      <p:sp>
        <p:nvSpPr>
          <p:cNvPr id="216" name="TB216"/>
          <p:cNvSpPr txBox="1"/>
          <p:nvPr/>
        </p:nvSpPr>
        <p:spPr>
          <a:xfrm>
            <a:off x="8331200" y="3479800"/>
            <a:ext cx="2946400" cy="190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2F3542"/>
                </a:solidFill>
                <a:latin typeface="Open Sans"/>
              </a:rPr>
              <a:t>Which part of your current permission model breaks first when you reach 300 dashboards and 100 users?</a:t>
            </a:r>
          </a:p>
        </p:txBody>
      </p:sp>
      <p:sp>
        <p:nvSpPr>
          <p:cNvPr id="217" name="SH217"/>
          <p:cNvSpPr/>
          <p:nvPr/>
        </p:nvSpPr>
        <p:spPr>
          <a:xfrm>
            <a:off x="609600" y="5867400"/>
            <a:ext cx="10972800" cy="635000"/>
          </a:xfrm>
          <a:prstGeom prst="roundRect">
            <a:avLst/>
          </a:prstGeom>
          <a:solidFill>
            <a:srgbClr val="16191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TB218"/>
          <p:cNvSpPr txBox="1"/>
          <p:nvPr/>
        </p:nvSpPr>
        <p:spPr>
          <a:xfrm>
            <a:off x="914400" y="607060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Open Sans"/>
              </a:rPr>
              <a:t>Facilitator: park any answer that starts with “we email someone” - that is the lab we are about to do.</a:t>
            </a:r>
          </a:p>
        </p:txBody>
      </p:sp>
    </p:spTree>
    <p:extLst>
      <p:ext uri="{BB962C8B-B14F-4D97-AF65-F5344CB8AC3E}">
        <p14:creationId xmlns:p14="http://schemas.microsoft.com/office/powerpoint/2010/main" val="311862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79BA30-8750-454A-A2D0-80204C52E768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5445D2-B46F-41A4-A1D4-5C082ECBC3C9}"/>
              </a:ext>
            </a:extLst>
          </p:cNvPr>
          <p:cNvSpPr/>
          <p:nvPr/>
        </p:nvSpPr>
        <p:spPr>
          <a:xfrm>
            <a:off x="0" y="1181100"/>
            <a:ext cx="12192000" cy="508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A51B6F-92B6-409C-9739-C88B999F4690}"/>
              </a:ext>
            </a:extLst>
          </p:cNvPr>
          <p:cNvSpPr txBox="1"/>
          <p:nvPr/>
        </p:nvSpPr>
        <p:spPr>
          <a:xfrm>
            <a:off x="609600" y="254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FD19A"/>
                </a:solidFill>
                <a:latin typeface="Open Sans"/>
                <a:ea typeface="Open Sans"/>
                <a:cs typeface="Open Sans"/>
              </a:rPr>
              <a:t>HANDS-ON  ·  LAB 13  ·  10 MINUTES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AD49AF-5908-45DE-BCF6-FAC8E2D2291E}"/>
              </a:ext>
            </a:extLst>
          </p:cNvPr>
          <p:cNvSpPr txBox="1"/>
          <p:nvPr/>
        </p:nvSpPr>
        <p:spPr>
          <a:xfrm>
            <a:off x="609600" y="533400"/>
            <a:ext cx="6921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Montserrat"/>
              </a:rPr>
              <a:t>Create Users, Teams &amp; Folder RBAC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25F2F-7124-4CBD-BA8F-B656CF170302}"/>
              </a:ext>
            </a:extLst>
          </p:cNvPr>
          <p:cNvSpPr txBox="1"/>
          <p:nvPr/>
        </p:nvSpPr>
        <p:spPr>
          <a:xfrm>
            <a:off x="8890000" y="533400"/>
            <a:ext cx="26924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9FE3C4"/>
                </a:solidFill>
                <a:latin typeface="Open Sans"/>
                <a:ea typeface="Open Sans"/>
                <a:cs typeface="Open Sans"/>
              </a:rPr>
              <a:t>Goal: a Dev team that can only read the Production folder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3A9AB3-31D5-405E-9220-EDA10BE54FBB}"/>
              </a:ext>
            </a:extLst>
          </p:cNvPr>
          <p:cNvSpPr/>
          <p:nvPr/>
        </p:nvSpPr>
        <p:spPr>
          <a:xfrm>
            <a:off x="609600" y="1473200"/>
            <a:ext cx="7112000" cy="914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DA326-F4B6-48F1-A195-B6BDC0E11EEF}"/>
              </a:ext>
            </a:extLst>
          </p:cNvPr>
          <p:cNvSpPr/>
          <p:nvPr/>
        </p:nvSpPr>
        <p:spPr>
          <a:xfrm>
            <a:off x="838200" y="1727200"/>
            <a:ext cx="406400" cy="4064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35B157-F530-45C9-B318-230B46E64FA8}"/>
              </a:ext>
            </a:extLst>
          </p:cNvPr>
          <p:cNvSpPr txBox="1"/>
          <p:nvPr/>
        </p:nvSpPr>
        <p:spPr>
          <a:xfrm>
            <a:off x="1447800" y="1625600"/>
            <a:ext cx="5969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Create two local users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3EBCE-7A44-4A18-9D7F-9EE06D9A31E9}"/>
              </a:ext>
            </a:extLst>
          </p:cNvPr>
          <p:cNvSpPr txBox="1"/>
          <p:nvPr/>
        </p:nvSpPr>
        <p:spPr>
          <a:xfrm>
            <a:off x="1447800" y="1905000"/>
            <a:ext cx="5969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Admin → Users → New user
dev.user@corp.io  ·  sre.user@corp.io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BF544C-E33A-44BE-A8C5-CA9FA93E60A1}"/>
              </a:ext>
            </a:extLst>
          </p:cNvPr>
          <p:cNvSpPr/>
          <p:nvPr/>
        </p:nvSpPr>
        <p:spPr>
          <a:xfrm>
            <a:off x="609600" y="2463800"/>
            <a:ext cx="7112000" cy="914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70B757-7897-4CA0-900D-4972499C83C3}"/>
              </a:ext>
            </a:extLst>
          </p:cNvPr>
          <p:cNvSpPr/>
          <p:nvPr/>
        </p:nvSpPr>
        <p:spPr>
          <a:xfrm>
            <a:off x="838200" y="2717800"/>
            <a:ext cx="406400" cy="4064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42688-46E2-4454-9D9F-1DCFDBB7A2BE}"/>
              </a:ext>
            </a:extLst>
          </p:cNvPr>
          <p:cNvSpPr txBox="1"/>
          <p:nvPr/>
        </p:nvSpPr>
        <p:spPr>
          <a:xfrm>
            <a:off x="1447800" y="2616200"/>
            <a:ext cx="5969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Create two teams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430410-B64C-4040-941E-26CEAB9CE80D}"/>
              </a:ext>
            </a:extLst>
          </p:cNvPr>
          <p:cNvSpPr txBox="1"/>
          <p:nvPr/>
        </p:nvSpPr>
        <p:spPr>
          <a:xfrm>
            <a:off x="1447800" y="2895600"/>
            <a:ext cx="5969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Admin → Teams → New team
Team-Dev  ·  Team-SRE, then add the members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5A8192-2DBF-4182-A56D-FCABF68B962C}"/>
              </a:ext>
            </a:extLst>
          </p:cNvPr>
          <p:cNvSpPr/>
          <p:nvPr/>
        </p:nvSpPr>
        <p:spPr>
          <a:xfrm>
            <a:off x="609600" y="3454400"/>
            <a:ext cx="7112000" cy="914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1A9C510-3292-45AC-B4A0-488242E9EFFB}"/>
              </a:ext>
            </a:extLst>
          </p:cNvPr>
          <p:cNvSpPr/>
          <p:nvPr/>
        </p:nvSpPr>
        <p:spPr>
          <a:xfrm>
            <a:off x="838200" y="3708400"/>
            <a:ext cx="406400" cy="4064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6A916B-E5FD-481A-A75E-6C113AA7BFC8}"/>
              </a:ext>
            </a:extLst>
          </p:cNvPr>
          <p:cNvSpPr txBox="1"/>
          <p:nvPr/>
        </p:nvSpPr>
        <p:spPr>
          <a:xfrm>
            <a:off x="1447800" y="3606800"/>
            <a:ext cx="5969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Create folders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A84BED-E641-45A9-A3BA-F465DFFD7D51}"/>
              </a:ext>
            </a:extLst>
          </p:cNvPr>
          <p:cNvSpPr txBox="1"/>
          <p:nvPr/>
        </p:nvSpPr>
        <p:spPr>
          <a:xfrm>
            <a:off x="1447800" y="3886200"/>
            <a:ext cx="5969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Dashboards → New folder
“Production”  ·  “Sandbox”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01AD150-DB37-4A51-ABC8-F9D75EC2C0C3}"/>
              </a:ext>
            </a:extLst>
          </p:cNvPr>
          <p:cNvSpPr/>
          <p:nvPr/>
        </p:nvSpPr>
        <p:spPr>
          <a:xfrm>
            <a:off x="609600" y="4445000"/>
            <a:ext cx="7112000" cy="914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C043981-E999-49D7-AC1B-D9D18419C52E}"/>
              </a:ext>
            </a:extLst>
          </p:cNvPr>
          <p:cNvSpPr/>
          <p:nvPr/>
        </p:nvSpPr>
        <p:spPr>
          <a:xfrm>
            <a:off x="838200" y="4699000"/>
            <a:ext cx="406400" cy="4064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88F2B7-8D6B-46B0-B93E-388B36887DFF}"/>
              </a:ext>
            </a:extLst>
          </p:cNvPr>
          <p:cNvSpPr txBox="1"/>
          <p:nvPr/>
        </p:nvSpPr>
        <p:spPr>
          <a:xfrm>
            <a:off x="1447800" y="4597400"/>
            <a:ext cx="5969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Set folder permissions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278852-AA60-4248-B9CE-8032DB7B3901}"/>
              </a:ext>
            </a:extLst>
          </p:cNvPr>
          <p:cNvSpPr txBox="1"/>
          <p:nvPr/>
        </p:nvSpPr>
        <p:spPr>
          <a:xfrm>
            <a:off x="1447800" y="4876800"/>
            <a:ext cx="5969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Production → Permissions → remove Editor
Add Team-SRE = Admin, Team-Dev = View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B2298CA-D8B4-4A79-9074-0A116251F943}"/>
              </a:ext>
            </a:extLst>
          </p:cNvPr>
          <p:cNvSpPr/>
          <p:nvPr/>
        </p:nvSpPr>
        <p:spPr>
          <a:xfrm>
            <a:off x="609600" y="5435600"/>
            <a:ext cx="7112000" cy="914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CF3F4AE-599D-44BD-8BA9-2CB9784EF3B3}"/>
              </a:ext>
            </a:extLst>
          </p:cNvPr>
          <p:cNvSpPr/>
          <p:nvPr/>
        </p:nvSpPr>
        <p:spPr>
          <a:xfrm>
            <a:off x="838200" y="5689600"/>
            <a:ext cx="406400" cy="4064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235D63-4D89-45CA-B932-99FFAF3DEBD8}"/>
              </a:ext>
            </a:extLst>
          </p:cNvPr>
          <p:cNvSpPr txBox="1"/>
          <p:nvPr/>
        </p:nvSpPr>
        <p:spPr>
          <a:xfrm>
            <a:off x="1447800" y="5588000"/>
            <a:ext cx="5969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Test with a real login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10B927-CCF6-4622-8742-81489A428D69}"/>
              </a:ext>
            </a:extLst>
          </p:cNvPr>
          <p:cNvSpPr txBox="1"/>
          <p:nvPr/>
        </p:nvSpPr>
        <p:spPr>
          <a:xfrm>
            <a:off x="1447800" y="5867400"/>
            <a:ext cx="5969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Log in as dev.user → open Production
Save should be unavailable; Sandbox is editable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BFCD181-BFCF-46E7-9EAE-352BA97D5BBE}"/>
              </a:ext>
            </a:extLst>
          </p:cNvPr>
          <p:cNvSpPr/>
          <p:nvPr/>
        </p:nvSpPr>
        <p:spPr>
          <a:xfrm>
            <a:off x="7975600" y="1473200"/>
            <a:ext cx="3606800" cy="2413000"/>
          </a:xfrm>
          <a:prstGeom prst="round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48538C-0A3C-4BA3-80D3-781860446F38}"/>
              </a:ext>
            </a:extLst>
          </p:cNvPr>
          <p:cNvSpPr txBox="1"/>
          <p:nvPr/>
        </p:nvSpPr>
        <p:spPr>
          <a:xfrm>
            <a:off x="8280400" y="16510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4FD19A"/>
                </a:solidFill>
                <a:latin typeface="Open Sans"/>
                <a:ea typeface="Open Sans"/>
                <a:cs typeface="Open Sans"/>
              </a:rPr>
              <a:t>Success criteria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4A0B1A-A686-4E94-B786-B84520579FEF}"/>
              </a:ext>
            </a:extLst>
          </p:cNvPr>
          <p:cNvSpPr txBox="1"/>
          <p:nvPr/>
        </p:nvSpPr>
        <p:spPr>
          <a:xfrm>
            <a:off x="8280400" y="1981200"/>
            <a:ext cx="30988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D7EDE4"/>
                </a:solidFill>
                <a:latin typeface="Open Sans"/>
                <a:ea typeface="Open Sans"/>
                <a:cs typeface="Open Sans"/>
              </a:rPr>
              <a:t>• dev.user sees Production, read-only
• dev.user cannot see other folders
• sre.user can edit and manage
   Production permissions
• Removing a user from Team-Dev
   instantly removes their access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86613FF-D23D-47AB-9E40-3A820991124E}"/>
              </a:ext>
            </a:extLst>
          </p:cNvPr>
          <p:cNvSpPr/>
          <p:nvPr/>
        </p:nvSpPr>
        <p:spPr>
          <a:xfrm>
            <a:off x="7975600" y="4038600"/>
            <a:ext cx="3606800" cy="2413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F2A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BF7F16-2B7F-4290-BF1A-22F2D976FA38}"/>
              </a:ext>
            </a:extLst>
          </p:cNvPr>
          <p:cNvSpPr txBox="1"/>
          <p:nvPr/>
        </p:nvSpPr>
        <p:spPr>
          <a:xfrm>
            <a:off x="8280400" y="42164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B87400"/>
                </a:solidFill>
                <a:latin typeface="Open Sans"/>
                <a:ea typeface="Open Sans"/>
                <a:cs typeface="Open Sans"/>
              </a:rPr>
              <a:t>Watch out for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15C4A7-A16C-42E9-8A44-5408B09B6F68}"/>
              </a:ext>
            </a:extLst>
          </p:cNvPr>
          <p:cNvSpPr txBox="1"/>
          <p:nvPr/>
        </p:nvSpPr>
        <p:spPr>
          <a:xfrm>
            <a:off x="8280400" y="4546600"/>
            <a:ext cx="3098800" cy="1841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The default “Editor” entry on a
   folder overrides your team rule
• Org role Admin always wins —
   test with a Viewer account
• Permissions are additive: the most
   permissive match applies
• Deleting a team does not delete
   its users</a:t>
            </a:r>
          </a:p>
        </p:txBody>
      </p:sp>
    </p:spTree>
    <p:extLst>
      <p:ext uri="{BB962C8B-B14F-4D97-AF65-F5344CB8AC3E}">
        <p14:creationId xmlns:p14="http://schemas.microsoft.com/office/powerpoint/2010/main" val="3628993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52EF3-E76D-4BB1-9107-0B467573D9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3D617E-2CA5-4EF6-8686-0A31DD12ACDD}"/>
              </a:ext>
            </a:extLst>
          </p:cNvPr>
          <p:cNvSpPr/>
          <p:nvPr/>
        </p:nvSpPr>
        <p:spPr>
          <a:xfrm>
            <a:off x="0" y="0"/>
            <a:ext cx="4318000" cy="6858000"/>
          </a:xfrm>
          <a:prstGeom prst="rect">
            <a:avLst/>
          </a:prstGeom>
          <a:solidFill>
            <a:srgbClr val="1A22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6C4FA6-DF61-4AD9-84AC-81DC111F3A9F}"/>
              </a:ext>
            </a:extLst>
          </p:cNvPr>
          <p:cNvSpPr/>
          <p:nvPr/>
        </p:nvSpPr>
        <p:spPr>
          <a:xfrm>
            <a:off x="4318000" y="0"/>
            <a:ext cx="76200" cy="68580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BBD850-8271-4B55-8245-4A56763FAF11}"/>
              </a:ext>
            </a:extLst>
          </p:cNvPr>
          <p:cNvSpPr txBox="1"/>
          <p:nvPr/>
        </p:nvSpPr>
        <p:spPr>
          <a:xfrm>
            <a:off x="889000" y="20828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5B9BE8"/>
                </a:solidFill>
                <a:latin typeface="Open Sans"/>
                <a:ea typeface="Open Sans"/>
                <a:cs typeface="Open Sans"/>
              </a:rPr>
              <a:t>MODULE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AB076-B18A-4D96-B0EE-215D4F3044D4}"/>
              </a:ext>
            </a:extLst>
          </p:cNvPr>
          <p:cNvSpPr txBox="1"/>
          <p:nvPr/>
        </p:nvSpPr>
        <p:spPr>
          <a:xfrm>
            <a:off x="889000" y="2540000"/>
            <a:ext cx="3048000" cy="152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600" b="1">
                <a:solidFill>
                  <a:srgbClr val="FFFFFF"/>
                </a:solidFill>
                <a:latin typeface="Montserrat"/>
              </a:rPr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224FB-3DB1-4EC3-85C7-3B8675DBA078}"/>
              </a:ext>
            </a:extLst>
          </p:cNvPr>
          <p:cNvSpPr txBox="1"/>
          <p:nvPr/>
        </p:nvSpPr>
        <p:spPr>
          <a:xfrm>
            <a:off x="5080000" y="1422400"/>
            <a:ext cx="6604000" cy="1143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Montserrat"/>
              </a:rPr>
              <a:t>Authentication &amp;
Authorization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8AC94F-D59E-4CA6-8C51-343B122DE1A4}"/>
              </a:ext>
            </a:extLst>
          </p:cNvPr>
          <p:cNvSpPr txBox="1"/>
          <p:nvPr/>
        </p:nvSpPr>
        <p:spPr>
          <a:xfrm>
            <a:off x="5080000" y="26416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Prove who the user is, then decide what they may do.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9E6CEF-8633-4B94-B34E-9E6E1A9B03E6}"/>
              </a:ext>
            </a:extLst>
          </p:cNvPr>
          <p:cNvSpPr/>
          <p:nvPr/>
        </p:nvSpPr>
        <p:spPr>
          <a:xfrm>
            <a:off x="5080000" y="3225800"/>
            <a:ext cx="3149600" cy="558800"/>
          </a:xfrm>
          <a:prstGeom prst="roundRect">
            <a:avLst/>
          </a:prstGeom>
          <a:solidFill>
            <a:srgbClr val="232B38"/>
          </a:solidFill>
          <a:ln w="12700" cap="flat" cmpd="sng" algn="ctr">
            <a:solidFill>
              <a:srgbClr val="3A46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Local Authentication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A5E462-23E6-4DD2-B9CB-0D5DB7AB6824}"/>
              </a:ext>
            </a:extLst>
          </p:cNvPr>
          <p:cNvSpPr/>
          <p:nvPr/>
        </p:nvSpPr>
        <p:spPr>
          <a:xfrm>
            <a:off x="8483600" y="3225800"/>
            <a:ext cx="3149600" cy="558800"/>
          </a:xfrm>
          <a:prstGeom prst="roundRect">
            <a:avLst/>
          </a:prstGeom>
          <a:solidFill>
            <a:srgbClr val="232B38"/>
          </a:solidFill>
          <a:ln w="12700" cap="flat" cmpd="sng" algn="ctr">
            <a:solidFill>
              <a:srgbClr val="3A46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LDAP / Active Directory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7C9092-2991-41A3-9C20-E1F67977D79D}"/>
              </a:ext>
            </a:extLst>
          </p:cNvPr>
          <p:cNvSpPr/>
          <p:nvPr/>
        </p:nvSpPr>
        <p:spPr>
          <a:xfrm>
            <a:off x="5080000" y="3937000"/>
            <a:ext cx="3149600" cy="558800"/>
          </a:xfrm>
          <a:prstGeom prst="roundRect">
            <a:avLst/>
          </a:prstGeom>
          <a:solidFill>
            <a:srgbClr val="232B38"/>
          </a:solidFill>
          <a:ln w="12700" cap="flat" cmpd="sng" algn="ctr">
            <a:solidFill>
              <a:srgbClr val="3A46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OAuth 2.0 &amp; OIDC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37E867E-B16B-4C64-A702-1105A8845904}"/>
              </a:ext>
            </a:extLst>
          </p:cNvPr>
          <p:cNvSpPr/>
          <p:nvPr/>
        </p:nvSpPr>
        <p:spPr>
          <a:xfrm>
            <a:off x="8483600" y="3937000"/>
            <a:ext cx="3149600" cy="558800"/>
          </a:xfrm>
          <a:prstGeom prst="roundRect">
            <a:avLst/>
          </a:prstGeom>
          <a:solidFill>
            <a:srgbClr val="232B38"/>
          </a:solidFill>
          <a:ln w="12700" cap="flat" cmpd="sng" algn="ctr">
            <a:solidFill>
              <a:srgbClr val="3A46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Azure AD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9F1D52D-862C-4907-BE3B-1E726F420D07}"/>
              </a:ext>
            </a:extLst>
          </p:cNvPr>
          <p:cNvSpPr/>
          <p:nvPr/>
        </p:nvSpPr>
        <p:spPr>
          <a:xfrm>
            <a:off x="5080000" y="4648200"/>
            <a:ext cx="3149600" cy="558800"/>
          </a:xfrm>
          <a:prstGeom prst="roundRect">
            <a:avLst/>
          </a:prstGeom>
          <a:solidFill>
            <a:srgbClr val="232B38"/>
          </a:solidFill>
          <a:ln w="12700" cap="flat" cmpd="sng" algn="ctr">
            <a:solidFill>
              <a:srgbClr val="3A46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Google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D36AAC4-A1A4-41AD-ABAE-7B8AD23DAEBB}"/>
              </a:ext>
            </a:extLst>
          </p:cNvPr>
          <p:cNvSpPr/>
          <p:nvPr/>
        </p:nvSpPr>
        <p:spPr>
          <a:xfrm>
            <a:off x="8483600" y="4648200"/>
            <a:ext cx="3149600" cy="558800"/>
          </a:xfrm>
          <a:prstGeom prst="roundRect">
            <a:avLst/>
          </a:prstGeom>
          <a:solidFill>
            <a:srgbClr val="232B38"/>
          </a:solidFill>
          <a:ln w="12700" cap="flat" cmpd="sng" algn="ctr">
            <a:solidFill>
              <a:srgbClr val="3A46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GitHub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24A3BB-23F8-4593-AA77-76C3F82CCD50}"/>
              </a:ext>
            </a:extLst>
          </p:cNvPr>
          <p:cNvSpPr/>
          <p:nvPr/>
        </p:nvSpPr>
        <p:spPr>
          <a:xfrm>
            <a:off x="5080000" y="5359400"/>
            <a:ext cx="3149600" cy="558800"/>
          </a:xfrm>
          <a:prstGeom prst="roundRect">
            <a:avLst/>
          </a:prstGeom>
          <a:solidFill>
            <a:srgbClr val="232B38"/>
          </a:solidFill>
          <a:ln w="12700" cap="flat" cmpd="sng" algn="ctr">
            <a:solidFill>
              <a:srgbClr val="3A46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SAML &amp; SSO Concepts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788968-768F-44EB-96AB-56101D28F00C}"/>
              </a:ext>
            </a:extLst>
          </p:cNvPr>
          <p:cNvSpPr/>
          <p:nvPr/>
        </p:nvSpPr>
        <p:spPr>
          <a:xfrm>
            <a:off x="8483600" y="5359400"/>
            <a:ext cx="3149600" cy="558800"/>
          </a:xfrm>
          <a:prstGeom prst="roundRect">
            <a:avLst/>
          </a:prstGeom>
          <a:solidFill>
            <a:srgbClr val="232B38"/>
          </a:solidFill>
          <a:ln w="12700" cap="flat" cmpd="sng" algn="ctr">
            <a:solidFill>
              <a:srgbClr val="3A46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Role Mapping</a:t>
            </a:r>
          </a:p>
        </p:txBody>
      </p:sp>
    </p:spTree>
    <p:extLst>
      <p:ext uri="{BB962C8B-B14F-4D97-AF65-F5344CB8AC3E}">
        <p14:creationId xmlns:p14="http://schemas.microsoft.com/office/powerpoint/2010/main" val="79641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944D07-D72F-4AD5-B2B0-7C5E83FA0DEE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MODULE 14 ·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A302F8-5732-4441-80D8-DABE2D83F62C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How Grafana Authenticates a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57C92C-23EC-4FDA-B8C8-7D219DCC2C43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31DEC4-6FA9-4D39-A1F8-580D45976322}"/>
              </a:ext>
            </a:extLst>
          </p:cNvPr>
          <p:cNvSpPr/>
          <p:nvPr/>
        </p:nvSpPr>
        <p:spPr>
          <a:xfrm>
            <a:off x="609600" y="2667000"/>
            <a:ext cx="1905000" cy="11430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USER
BROWSER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B55F9B3-B78A-4979-B86A-F708F52DAD2E}"/>
              </a:ext>
            </a:extLst>
          </p:cNvPr>
          <p:cNvSpPr/>
          <p:nvPr/>
        </p:nvSpPr>
        <p:spPr>
          <a:xfrm>
            <a:off x="2565400" y="3086100"/>
            <a:ext cx="508000" cy="3048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393C73-9EDF-4876-8D8D-1B6395D32895}"/>
              </a:ext>
            </a:extLst>
          </p:cNvPr>
          <p:cNvSpPr/>
          <p:nvPr/>
        </p:nvSpPr>
        <p:spPr>
          <a:xfrm>
            <a:off x="3149600" y="1651000"/>
            <a:ext cx="4826000" cy="381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60601-93F6-415B-9109-A82B74C0145A}"/>
              </a:ext>
            </a:extLst>
          </p:cNvPr>
          <p:cNvSpPr txBox="1"/>
          <p:nvPr/>
        </p:nvSpPr>
        <p:spPr>
          <a:xfrm>
            <a:off x="3403600" y="18034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GRAFANA SERVER  ·  auth pipeline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0571FA-6A85-430E-BB18-0F99BBD9AAB2}"/>
              </a:ext>
            </a:extLst>
          </p:cNvPr>
          <p:cNvSpPr/>
          <p:nvPr/>
        </p:nvSpPr>
        <p:spPr>
          <a:xfrm>
            <a:off x="3403600" y="2159000"/>
            <a:ext cx="4318000" cy="482600"/>
          </a:xfrm>
          <a:prstGeom prst="roundRect">
            <a:avLst/>
          </a:prstGeom>
          <a:solidFill>
            <a:srgbClr val="F2F4F8"/>
          </a:solidFill>
          <a:ln w="15875" cap="flat" cmpd="sng" algn="ctr">
            <a:solidFill>
              <a:srgbClr val="D6DC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1  Login request / existing cookie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EEC641-5965-41F8-985B-BEBC47849357}"/>
              </a:ext>
            </a:extLst>
          </p:cNvPr>
          <p:cNvSpPr/>
          <p:nvPr/>
        </p:nvSpPr>
        <p:spPr>
          <a:xfrm>
            <a:off x="3403600" y="2705100"/>
            <a:ext cx="4318000" cy="482600"/>
          </a:xfrm>
          <a:prstGeom prst="roundRect">
            <a:avLst/>
          </a:prstGeom>
          <a:solidFill>
            <a:srgbClr val="F2F4F8"/>
          </a:solidFill>
          <a:ln w="15875" cap="flat" cmpd="sng" algn="ctr">
            <a:solidFill>
              <a:srgbClr val="D6DC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2  Auth provider chain evaluated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EDBCEA8-E10C-4CB1-BA34-6326FB9E4617}"/>
              </a:ext>
            </a:extLst>
          </p:cNvPr>
          <p:cNvSpPr/>
          <p:nvPr/>
        </p:nvSpPr>
        <p:spPr>
          <a:xfrm>
            <a:off x="3403600" y="3251200"/>
            <a:ext cx="4318000" cy="482600"/>
          </a:xfrm>
          <a:prstGeom prst="roundRect">
            <a:avLst/>
          </a:prstGeom>
          <a:solidFill>
            <a:srgbClr val="F2F4F8"/>
          </a:solidFill>
          <a:ln w="15875" cap="flat" cmpd="sng" algn="ctr">
            <a:solidFill>
              <a:srgbClr val="D6DC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3  Identity verified externally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4AF6EB-F137-4C5B-A7B7-F955DBBC7575}"/>
              </a:ext>
            </a:extLst>
          </p:cNvPr>
          <p:cNvSpPr/>
          <p:nvPr/>
        </p:nvSpPr>
        <p:spPr>
          <a:xfrm>
            <a:off x="3403600" y="3797300"/>
            <a:ext cx="4318000" cy="482600"/>
          </a:xfrm>
          <a:prstGeom prst="roundRect">
            <a:avLst/>
          </a:prstGeom>
          <a:solidFill>
            <a:srgbClr val="F2F4F8"/>
          </a:solidFill>
          <a:ln w="15875" cap="flat" cmpd="sng" algn="ctr">
            <a:solidFill>
              <a:srgbClr val="D6DC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4  User auto-created / updated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49012A4-7326-499B-9A73-48D59821BE9B}"/>
              </a:ext>
            </a:extLst>
          </p:cNvPr>
          <p:cNvSpPr/>
          <p:nvPr/>
        </p:nvSpPr>
        <p:spPr>
          <a:xfrm>
            <a:off x="3403600" y="4343400"/>
            <a:ext cx="4318000" cy="482600"/>
          </a:xfrm>
          <a:prstGeom prst="roundRect">
            <a:avLst/>
          </a:prstGeom>
          <a:solidFill>
            <a:srgbClr val="F2F4F8"/>
          </a:solidFill>
          <a:ln w="15875" cap="flat" cmpd="sng" algn="ctr">
            <a:solidFill>
              <a:srgbClr val="D6DC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5  Org + role mapping applied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987AB2A-92AD-4C40-A5C6-7A8C1D0155BF}"/>
              </a:ext>
            </a:extLst>
          </p:cNvPr>
          <p:cNvSpPr/>
          <p:nvPr/>
        </p:nvSpPr>
        <p:spPr>
          <a:xfrm>
            <a:off x="3403600" y="4889500"/>
            <a:ext cx="4318000" cy="482600"/>
          </a:xfrm>
          <a:prstGeom prst="roundRect">
            <a:avLst/>
          </a:prstGeom>
          <a:solidFill>
            <a:srgbClr val="E8F0FA"/>
          </a:solidFill>
          <a:ln w="15875" cap="flat" cmpd="sng" algn="ctr">
            <a:solidFill>
              <a:srgbClr val="D6DC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6  Session cookie issued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9D667E5-4B37-4B19-A0A6-DFEE49C2F177}"/>
              </a:ext>
            </a:extLst>
          </p:cNvPr>
          <p:cNvSpPr/>
          <p:nvPr/>
        </p:nvSpPr>
        <p:spPr>
          <a:xfrm>
            <a:off x="8051800" y="3086100"/>
            <a:ext cx="508000" cy="3048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9D9458-C36C-4261-8932-D9ADBD960906}"/>
              </a:ext>
            </a:extLst>
          </p:cNvPr>
          <p:cNvSpPr txBox="1"/>
          <p:nvPr/>
        </p:nvSpPr>
        <p:spPr>
          <a:xfrm>
            <a:off x="8661400" y="17272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IDENTITY SOURCES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3A2DB95-8ED7-4D70-AC82-4A5801ED1ADD}"/>
              </a:ext>
            </a:extLst>
          </p:cNvPr>
          <p:cNvSpPr/>
          <p:nvPr/>
        </p:nvSpPr>
        <p:spPr>
          <a:xfrm>
            <a:off x="8661400" y="2057400"/>
            <a:ext cx="2921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F354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2F3542"/>
                </a:solidFill>
                <a:latin typeface="Open Sans"/>
                <a:ea typeface="Open Sans"/>
                <a:cs typeface="Open Sans"/>
              </a:rPr>
              <a:t>Local DB  (grafana.db)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6CA494-4507-4EA0-AF3C-46908BC8B8B5}"/>
              </a:ext>
            </a:extLst>
          </p:cNvPr>
          <p:cNvSpPr/>
          <p:nvPr/>
        </p:nvSpPr>
        <p:spPr>
          <a:xfrm>
            <a:off x="8661400" y="2628900"/>
            <a:ext cx="2921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LDAP / Active Directory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8AD58F-E67F-45E9-B90F-64AFB3C4B6C4}"/>
              </a:ext>
            </a:extLst>
          </p:cNvPr>
          <p:cNvSpPr/>
          <p:nvPr/>
        </p:nvSpPr>
        <p:spPr>
          <a:xfrm>
            <a:off x="8661400" y="3200400"/>
            <a:ext cx="2921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OAuth 2.0 / OIDC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6A27F4F-B2BB-47DF-A5D2-065D1CEADE69}"/>
              </a:ext>
            </a:extLst>
          </p:cNvPr>
          <p:cNvSpPr/>
          <p:nvPr/>
        </p:nvSpPr>
        <p:spPr>
          <a:xfrm>
            <a:off x="8661400" y="3771900"/>
            <a:ext cx="2921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7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Azure AD  ·  Google  ·  GitHub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DE987B1-C0EF-4529-B374-0E4347C6F235}"/>
              </a:ext>
            </a:extLst>
          </p:cNvPr>
          <p:cNvSpPr/>
          <p:nvPr/>
        </p:nvSpPr>
        <p:spPr>
          <a:xfrm>
            <a:off x="8661400" y="4343400"/>
            <a:ext cx="2921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E9E6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1E9E6A"/>
                </a:solidFill>
                <a:latin typeface="Open Sans"/>
                <a:ea typeface="Open Sans"/>
                <a:cs typeface="Open Sans"/>
              </a:rPr>
              <a:t>SAML 2.0  (Enterprise)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8DC09DD-7B2D-4521-AC68-890CE6089471}"/>
              </a:ext>
            </a:extLst>
          </p:cNvPr>
          <p:cNvSpPr/>
          <p:nvPr/>
        </p:nvSpPr>
        <p:spPr>
          <a:xfrm>
            <a:off x="8661400" y="4914900"/>
            <a:ext cx="2921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8A93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Auth Proxy  ·  JWT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7C8080C-052E-4618-84E3-7AE9847A8EAA}"/>
              </a:ext>
            </a:extLst>
          </p:cNvPr>
          <p:cNvSpPr/>
          <p:nvPr/>
        </p:nvSpPr>
        <p:spPr>
          <a:xfrm>
            <a:off x="609600" y="5715000"/>
            <a:ext cx="10972800" cy="787400"/>
          </a:xfrm>
          <a:prstGeom prst="roundRect">
            <a:avLst/>
          </a:prstGeom>
          <a:solidFill>
            <a:srgbClr val="E8F0FA"/>
          </a:solidFill>
          <a:ln w="12700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AF6695-F595-42BC-B938-273440B40FF4}"/>
              </a:ext>
            </a:extLst>
          </p:cNvPr>
          <p:cNvSpPr txBox="1"/>
          <p:nvPr/>
        </p:nvSpPr>
        <p:spPr>
          <a:xfrm>
            <a:off x="965200" y="5816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Key idea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94CFCF-DCCF-4A65-B902-BC0B2E1F2BD9}"/>
              </a:ext>
            </a:extLst>
          </p:cNvPr>
          <p:cNvSpPr txBox="1"/>
          <p:nvPr/>
        </p:nvSpPr>
        <p:spPr>
          <a:xfrm>
            <a:off x="965200" y="6070600"/>
            <a:ext cx="103124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dirty="0">
                <a:solidFill>
                  <a:srgbClr val="1F3B60"/>
                </a:solidFill>
                <a:latin typeface="Open Sans"/>
                <a:ea typeface="Open Sans"/>
                <a:cs typeface="Open Sans"/>
              </a:rPr>
              <a:t>Authentication only decides WHO the user is. The org role that arrives from role mapping decides WHAT they can do - so an SSO rollout is always two projects: connect the IdP, then map its groups to Grafana roles and teams.</a:t>
            </a:r>
          </a:p>
        </p:txBody>
      </p:sp>
    </p:spTree>
    <p:extLst>
      <p:ext uri="{BB962C8B-B14F-4D97-AF65-F5344CB8AC3E}">
        <p14:creationId xmlns:p14="http://schemas.microsoft.com/office/powerpoint/2010/main" val="2905787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DF14CB-194A-4AEB-8162-8B2F93FBD171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MODULE 14 · 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2B84F-2E99-4552-A0C1-457A7A3ACBBA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Local Authentication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62E747-7B66-4B07-9B70-A4631194EAB9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12DCB-8D2F-41AE-8609-051EE34F8B88}"/>
              </a:ext>
            </a:extLst>
          </p:cNvPr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Username / password stored in Grafana's own database - the default, and the fallback you must keep working.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0DEA1C-D23B-49F3-AE93-459EF320C2BB}"/>
              </a:ext>
            </a:extLst>
          </p:cNvPr>
          <p:cNvSpPr/>
          <p:nvPr/>
        </p:nvSpPr>
        <p:spPr>
          <a:xfrm>
            <a:off x="609600" y="1803400"/>
            <a:ext cx="5461000" cy="213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2F895-08D6-4502-840C-731F6385BD18}"/>
              </a:ext>
            </a:extLst>
          </p:cNvPr>
          <p:cNvSpPr txBox="1"/>
          <p:nvPr/>
        </p:nvSpPr>
        <p:spPr>
          <a:xfrm>
            <a:off x="914400" y="19812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How it works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BC6B15-F404-40DF-81B4-14AA2E8FD73B}"/>
              </a:ext>
            </a:extLst>
          </p:cNvPr>
          <p:cNvSpPr txBox="1"/>
          <p:nvPr/>
        </p:nvSpPr>
        <p:spPr>
          <a:xfrm>
            <a:off x="914400" y="2311400"/>
            <a:ext cx="4902200" cy="152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Passwords hashed (PBKDF2 + per-user salt) in grafana.db
• Session tracked with the grafana_session cookie
• Login attempts rate-limited and lockable
• admin/admin default must be changed on day one
• Users can self-serve password reset if SMTP is set up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4BC752-21ED-45C4-9340-1B5EE85546C3}"/>
              </a:ext>
            </a:extLst>
          </p:cNvPr>
          <p:cNvSpPr/>
          <p:nvPr/>
        </p:nvSpPr>
        <p:spPr>
          <a:xfrm>
            <a:off x="609600" y="4089400"/>
            <a:ext cx="5461000" cy="24130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2999A1-4A24-4FC2-88E3-7513F6B7329E}"/>
              </a:ext>
            </a:extLst>
          </p:cNvPr>
          <p:cNvSpPr txBox="1"/>
          <p:nvPr/>
        </p:nvSpPr>
        <p:spPr>
          <a:xfrm>
            <a:off x="914400" y="42672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B34B00"/>
                </a:solidFill>
                <a:latin typeface="Open Sans"/>
                <a:ea typeface="Open Sans"/>
                <a:cs typeface="Open Sans"/>
              </a:rPr>
              <a:t>Hardening checklist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A41657-9E75-4C45-8EB3-A062180D07B4}"/>
              </a:ext>
            </a:extLst>
          </p:cNvPr>
          <p:cNvSpPr txBox="1"/>
          <p:nvPr/>
        </p:nvSpPr>
        <p:spPr>
          <a:xfrm>
            <a:off x="914400" y="4597400"/>
            <a:ext cx="4902200" cy="1841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Rename / rotate the default admin account
• </a:t>
            </a:r>
            <a:r>
              <a:rPr lang="en-US" sz="130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disable_signout_menu</a:t>
            </a:r>
            <a:r>
              <a:rPr lang="en-US" sz="13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 = false, </a:t>
            </a:r>
            <a:r>
              <a:rPr lang="en-US" sz="130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allow_sign_up</a:t>
            </a:r>
            <a:r>
              <a:rPr lang="en-US" sz="13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 = false
• Enforce HTTPS + </a:t>
            </a:r>
            <a:r>
              <a:rPr lang="en-US" sz="130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cookie_secure</a:t>
            </a:r>
            <a:r>
              <a:rPr lang="en-US" sz="13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 = true
• Short </a:t>
            </a:r>
            <a:r>
              <a:rPr lang="en-US" sz="130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login_maximum_lifetime_duration</a:t>
            </a:r>
            <a:r>
              <a:rPr lang="en-US" sz="13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 for kiosks
• Keep ONE local break-glass admin after SSO go-live
• Never share accounts - use service accounts for scripts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0AF666-427F-46BD-833E-E57564AAF434}"/>
              </a:ext>
            </a:extLst>
          </p:cNvPr>
          <p:cNvSpPr/>
          <p:nvPr/>
        </p:nvSpPr>
        <p:spPr>
          <a:xfrm>
            <a:off x="6375400" y="1803400"/>
            <a:ext cx="5207000" cy="46990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F09C0A-5BB0-48AC-A126-68873D36638B}"/>
              </a:ext>
            </a:extLst>
          </p:cNvPr>
          <p:cNvSpPr/>
          <p:nvPr/>
        </p:nvSpPr>
        <p:spPr>
          <a:xfrm>
            <a:off x="6375400" y="1803400"/>
            <a:ext cx="5207000" cy="381000"/>
          </a:xfrm>
          <a:prstGeom prst="rect">
            <a:avLst/>
          </a:prstGeom>
          <a:solidFill>
            <a:srgbClr val="2226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625B5-3C96-4897-B653-377C146B3EA8}"/>
              </a:ext>
            </a:extLst>
          </p:cNvPr>
          <p:cNvSpPr txBox="1"/>
          <p:nvPr/>
        </p:nvSpPr>
        <p:spPr>
          <a:xfrm>
            <a:off x="6654800" y="18034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9FB0C6"/>
                </a:solidFill>
                <a:latin typeface="Consolas"/>
              </a:rPr>
              <a:t>grafana.ini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6F1581-EA82-499B-8857-0EBE3D896CA4}"/>
              </a:ext>
            </a:extLst>
          </p:cNvPr>
          <p:cNvSpPr txBox="1"/>
          <p:nvPr/>
        </p:nvSpPr>
        <p:spPr>
          <a:xfrm>
            <a:off x="6654800" y="2336800"/>
            <a:ext cx="4699000" cy="401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9FE3C4"/>
                </a:solidFill>
                <a:latin typeface="Consolas"/>
              </a:rPr>
              <a:t>[auth]
disable_login_form = false
disable_signout_menu = false
login_maximum_lifetime_duration = 30d
[auth.anonymous]
enabled = false
[users]
allow_sign_up = false
allow_org_create = false
auto_assign_org = true
auto_assign_org_role = Viewer
[security]
admin_user = gf_admin
admin_password = $__env{GF_ADMIN_PW}
cookie_secure = true
disable_gravatar = true</a:t>
            </a:r>
          </a:p>
        </p:txBody>
      </p:sp>
    </p:spTree>
    <p:extLst>
      <p:ext uri="{BB962C8B-B14F-4D97-AF65-F5344CB8AC3E}">
        <p14:creationId xmlns:p14="http://schemas.microsoft.com/office/powerpoint/2010/main" val="4147919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1EA3C4-F5BF-47B6-B769-E38EE58806E0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MODULE 14 · 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C7642-7419-4BC7-8F21-A525F45E1329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LDAP / Active Directory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7EBF29-E119-48F2-93D7-0D2183AF3410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C05EEC-BF2A-489B-9714-C51DFD460113}"/>
              </a:ext>
            </a:extLst>
          </p:cNvPr>
          <p:cNvSpPr/>
          <p:nvPr/>
        </p:nvSpPr>
        <p:spPr>
          <a:xfrm>
            <a:off x="609600" y="1524000"/>
            <a:ext cx="2133600" cy="8382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1F3B60"/>
                </a:solidFill>
                <a:latin typeface="Open Sans"/>
                <a:ea typeface="Open Sans"/>
                <a:cs typeface="Open Sans"/>
              </a:rPr>
              <a:t>Login form
credentials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3258F1CA-E1BE-4262-8A4A-1DF1720A4771}"/>
              </a:ext>
            </a:extLst>
          </p:cNvPr>
          <p:cNvSpPr/>
          <p:nvPr/>
        </p:nvSpPr>
        <p:spPr>
          <a:xfrm>
            <a:off x="2844800" y="1524000"/>
            <a:ext cx="2133600" cy="838200"/>
          </a:xfrm>
          <a:prstGeom prst="homePlate">
            <a:avLst/>
          </a:prstGeom>
          <a:solidFill>
            <a:srgbClr val="FFFFFF"/>
          </a:solidFill>
          <a:ln w="15875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1F3B60"/>
                </a:solidFill>
                <a:latin typeface="Open Sans"/>
                <a:ea typeface="Open Sans"/>
                <a:cs typeface="Open Sans"/>
              </a:rPr>
              <a:t>Bind as
service account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CBE837CF-8DBE-46B3-9492-0B5DAEFE625B}"/>
              </a:ext>
            </a:extLst>
          </p:cNvPr>
          <p:cNvSpPr/>
          <p:nvPr/>
        </p:nvSpPr>
        <p:spPr>
          <a:xfrm>
            <a:off x="5080000" y="1524000"/>
            <a:ext cx="2133600" cy="838200"/>
          </a:xfrm>
          <a:prstGeom prst="homePlate">
            <a:avLst/>
          </a:prstGeom>
          <a:solidFill>
            <a:srgbClr val="FFFFFF"/>
          </a:solidFill>
          <a:ln w="15875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1F3B60"/>
                </a:solidFill>
                <a:latin typeface="Open Sans"/>
                <a:ea typeface="Open Sans"/>
                <a:cs typeface="Open Sans"/>
              </a:rPr>
              <a:t>Search user
(search_filter)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9D3E99C5-0E08-4BEE-A7A5-8D42D3CA574E}"/>
              </a:ext>
            </a:extLst>
          </p:cNvPr>
          <p:cNvSpPr/>
          <p:nvPr/>
        </p:nvSpPr>
        <p:spPr>
          <a:xfrm>
            <a:off x="7315200" y="1524000"/>
            <a:ext cx="2133600" cy="838200"/>
          </a:xfrm>
          <a:prstGeom prst="homePlate">
            <a:avLst/>
          </a:prstGeom>
          <a:solidFill>
            <a:srgbClr val="FFFFFF"/>
          </a:solidFill>
          <a:ln w="15875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1F3B60"/>
                </a:solidFill>
                <a:latin typeface="Open Sans"/>
                <a:ea typeface="Open Sans"/>
                <a:cs typeface="Open Sans"/>
              </a:rPr>
              <a:t>Re-bind as user
to verify password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61078ED-A251-43EE-B448-9CA3106768AC}"/>
              </a:ext>
            </a:extLst>
          </p:cNvPr>
          <p:cNvSpPr/>
          <p:nvPr/>
        </p:nvSpPr>
        <p:spPr>
          <a:xfrm>
            <a:off x="9550400" y="1524000"/>
            <a:ext cx="2133600" cy="838200"/>
          </a:xfrm>
          <a:prstGeom prst="homePlate">
            <a:avLst/>
          </a:prstGeom>
          <a:solidFill>
            <a:srgbClr val="2E5FA3"/>
          </a:solidFill>
          <a:ln w="15875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Read groups →
map to org role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891599-2A8F-495A-B668-803B4E2E1824}"/>
              </a:ext>
            </a:extLst>
          </p:cNvPr>
          <p:cNvSpPr/>
          <p:nvPr/>
        </p:nvSpPr>
        <p:spPr>
          <a:xfrm>
            <a:off x="609600" y="2590800"/>
            <a:ext cx="5969000" cy="39116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14E373-AA8A-4377-AD67-C62055BF8186}"/>
              </a:ext>
            </a:extLst>
          </p:cNvPr>
          <p:cNvSpPr/>
          <p:nvPr/>
        </p:nvSpPr>
        <p:spPr>
          <a:xfrm>
            <a:off x="609600" y="2590800"/>
            <a:ext cx="5969000" cy="381000"/>
          </a:xfrm>
          <a:prstGeom prst="rect">
            <a:avLst/>
          </a:prstGeom>
          <a:solidFill>
            <a:srgbClr val="2226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CBBD53-CEA2-44D5-BF82-9288EF8B1169}"/>
              </a:ext>
            </a:extLst>
          </p:cNvPr>
          <p:cNvSpPr txBox="1"/>
          <p:nvPr/>
        </p:nvSpPr>
        <p:spPr>
          <a:xfrm>
            <a:off x="889000" y="25908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9FB0C6"/>
                </a:solidFill>
                <a:latin typeface="Consolas"/>
              </a:rPr>
              <a:t>/etc/grafana/ldap.toml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03D153-BFEE-45D0-A3F5-56FFBF7477EE}"/>
              </a:ext>
            </a:extLst>
          </p:cNvPr>
          <p:cNvSpPr txBox="1"/>
          <p:nvPr/>
        </p:nvSpPr>
        <p:spPr>
          <a:xfrm>
            <a:off x="889000" y="3098800"/>
            <a:ext cx="5461000" cy="330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9FE3C4"/>
                </a:solidFill>
                <a:latin typeface="Consolas"/>
              </a:rPr>
              <a:t>[[servers]]
host = "dc01.corp.local"
port = 636
use_ssl = true
start_tls = false
ssl_skip_verify = false
bind_dn = "CN=grafana-svc,OU=Svc,DC=corp,DC=local"
bind_password = "$__env{LDAP_PW}"
search_filter = "(sAMAccountName=%s)"
search_base_dns = ["DC=corp,DC=local"]
[servers.attributes]
username = "sAMAccountName"
name     = "displayName"
email    = "mail"
member_of = "memberOf"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E40CF-C35E-46CD-8FFB-948A26B1CEC5}"/>
              </a:ext>
            </a:extLst>
          </p:cNvPr>
          <p:cNvSpPr txBox="1"/>
          <p:nvPr/>
        </p:nvSpPr>
        <p:spPr>
          <a:xfrm>
            <a:off x="6883400" y="2641600"/>
            <a:ext cx="4699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Group → role mapping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E113A1-6583-46F3-AC27-5C80A6481998}"/>
              </a:ext>
            </a:extLst>
          </p:cNvPr>
          <p:cNvSpPr/>
          <p:nvPr/>
        </p:nvSpPr>
        <p:spPr>
          <a:xfrm>
            <a:off x="6883400" y="3048000"/>
            <a:ext cx="4699000" cy="584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BC52B-7AC6-4FF2-82D1-A8C2879C9A81}"/>
              </a:ext>
            </a:extLst>
          </p:cNvPr>
          <p:cNvSpPr txBox="1"/>
          <p:nvPr/>
        </p:nvSpPr>
        <p:spPr>
          <a:xfrm>
            <a:off x="7112000" y="3048000"/>
            <a:ext cx="2794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2F3542"/>
                </a:solidFill>
                <a:latin typeface="Consolas"/>
              </a:rPr>
              <a:t>CN=Grafana-Admins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820C33-6304-4BC2-A16A-F4185B091369}"/>
              </a:ext>
            </a:extLst>
          </p:cNvPr>
          <p:cNvSpPr/>
          <p:nvPr/>
        </p:nvSpPr>
        <p:spPr>
          <a:xfrm>
            <a:off x="10160000" y="3175000"/>
            <a:ext cx="1193800" cy="330200"/>
          </a:xfrm>
          <a:prstGeom prst="round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A637099-42B6-4D94-AC44-736DB316716B}"/>
              </a:ext>
            </a:extLst>
          </p:cNvPr>
          <p:cNvSpPr/>
          <p:nvPr/>
        </p:nvSpPr>
        <p:spPr>
          <a:xfrm>
            <a:off x="9779000" y="3238500"/>
            <a:ext cx="279400" cy="2032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32A561C-0AED-489D-A82E-EBA3E65936DF}"/>
              </a:ext>
            </a:extLst>
          </p:cNvPr>
          <p:cNvSpPr/>
          <p:nvPr/>
        </p:nvSpPr>
        <p:spPr>
          <a:xfrm>
            <a:off x="6883400" y="3708400"/>
            <a:ext cx="4699000" cy="584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B885EA-655A-4230-BAA2-F4CD863C6C32}"/>
              </a:ext>
            </a:extLst>
          </p:cNvPr>
          <p:cNvSpPr txBox="1"/>
          <p:nvPr/>
        </p:nvSpPr>
        <p:spPr>
          <a:xfrm>
            <a:off x="7112000" y="3708400"/>
            <a:ext cx="2794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2F3542"/>
                </a:solidFill>
                <a:latin typeface="Consolas"/>
              </a:rPr>
              <a:t>CN=Grafana-Editors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9A41DCF-FDF3-4BF8-8C9D-855E7F8CF629}"/>
              </a:ext>
            </a:extLst>
          </p:cNvPr>
          <p:cNvSpPr/>
          <p:nvPr/>
        </p:nvSpPr>
        <p:spPr>
          <a:xfrm>
            <a:off x="10160000" y="3835400"/>
            <a:ext cx="1193800" cy="330200"/>
          </a:xfrm>
          <a:prstGeom prst="round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</a:rPr>
              <a:t>Editor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FF3C5E4-8C66-4881-B5DA-566B6D62F9F2}"/>
              </a:ext>
            </a:extLst>
          </p:cNvPr>
          <p:cNvSpPr/>
          <p:nvPr/>
        </p:nvSpPr>
        <p:spPr>
          <a:xfrm>
            <a:off x="9779000" y="3898900"/>
            <a:ext cx="279400" cy="2032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A5430F-0DCD-4C81-9BA5-7CA258EA2FC7}"/>
              </a:ext>
            </a:extLst>
          </p:cNvPr>
          <p:cNvSpPr/>
          <p:nvPr/>
        </p:nvSpPr>
        <p:spPr>
          <a:xfrm>
            <a:off x="6883400" y="4368800"/>
            <a:ext cx="4699000" cy="584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7CAC25-E881-4956-A7BD-2CF16BDC98FA}"/>
              </a:ext>
            </a:extLst>
          </p:cNvPr>
          <p:cNvSpPr txBox="1"/>
          <p:nvPr/>
        </p:nvSpPr>
        <p:spPr>
          <a:xfrm>
            <a:off x="7112000" y="4368800"/>
            <a:ext cx="2794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2F3542"/>
                </a:solidFill>
                <a:latin typeface="Consolas"/>
              </a:rPr>
              <a:t>CN=Domain Users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029E175-BFB8-4A2D-9962-63D2C5A3A512}"/>
              </a:ext>
            </a:extLst>
          </p:cNvPr>
          <p:cNvSpPr/>
          <p:nvPr/>
        </p:nvSpPr>
        <p:spPr>
          <a:xfrm>
            <a:off x="10160000" y="4495800"/>
            <a:ext cx="1193800" cy="330200"/>
          </a:xfrm>
          <a:prstGeom prst="round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</a:rPr>
              <a:t>Viewer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0EF933B-4C59-46D9-B2EE-F483B88A0BF7}"/>
              </a:ext>
            </a:extLst>
          </p:cNvPr>
          <p:cNvSpPr/>
          <p:nvPr/>
        </p:nvSpPr>
        <p:spPr>
          <a:xfrm>
            <a:off x="9779000" y="4559300"/>
            <a:ext cx="279400" cy="2032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60B709A-4B4D-415B-9009-B754729BCAF2}"/>
              </a:ext>
            </a:extLst>
          </p:cNvPr>
          <p:cNvSpPr/>
          <p:nvPr/>
        </p:nvSpPr>
        <p:spPr>
          <a:xfrm>
            <a:off x="6883400" y="5105400"/>
            <a:ext cx="4699000" cy="1397000"/>
          </a:xfrm>
          <a:prstGeom prst="roundRect">
            <a:avLst/>
          </a:prstGeom>
          <a:solidFill>
            <a:srgbClr val="E8F0FA"/>
          </a:solidFill>
          <a:ln w="12700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FAC90B-D7C7-4991-99BB-0FBE6F6BF75A}"/>
              </a:ext>
            </a:extLst>
          </p:cNvPr>
          <p:cNvSpPr txBox="1"/>
          <p:nvPr/>
        </p:nvSpPr>
        <p:spPr>
          <a:xfrm>
            <a:off x="7137400" y="5232400"/>
            <a:ext cx="4267200" cy="1219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dirty="0">
                <a:solidFill>
                  <a:srgbClr val="1F3B60"/>
                </a:solidFill>
                <a:latin typeface="Open Sans"/>
                <a:ea typeface="Open Sans"/>
                <a:cs typeface="Open Sans"/>
              </a:rPr>
              <a:t>• Order matters: first matching group wins
• Use </a:t>
            </a:r>
            <a:r>
              <a:rPr lang="en-US" sz="1250" dirty="0" err="1">
                <a:solidFill>
                  <a:srgbClr val="1F3B60"/>
                </a:solidFill>
                <a:latin typeface="Open Sans"/>
                <a:ea typeface="Open Sans"/>
                <a:cs typeface="Open Sans"/>
              </a:rPr>
              <a:t>grafana_admin</a:t>
            </a:r>
            <a:r>
              <a:rPr lang="en-US" sz="1250" dirty="0">
                <a:solidFill>
                  <a:srgbClr val="1F3B60"/>
                </a:solidFill>
                <a:latin typeface="Open Sans"/>
                <a:ea typeface="Open Sans"/>
                <a:cs typeface="Open Sans"/>
              </a:rPr>
              <a:t> = true for server admins
• Test with Admin → Users → LDAP debug view
• Group changes apply at next login (or sync interval)
• Always use LDAPS / </a:t>
            </a:r>
            <a:r>
              <a:rPr lang="en-US" sz="1250" dirty="0" err="1">
                <a:solidFill>
                  <a:srgbClr val="1F3B60"/>
                </a:solidFill>
                <a:latin typeface="Open Sans"/>
                <a:ea typeface="Open Sans"/>
                <a:cs typeface="Open Sans"/>
              </a:rPr>
              <a:t>StartTLS</a:t>
            </a:r>
            <a:r>
              <a:rPr lang="en-US" sz="1250" dirty="0">
                <a:solidFill>
                  <a:srgbClr val="1F3B60"/>
                </a:solidFill>
                <a:latin typeface="Open Sans"/>
                <a:ea typeface="Open Sans"/>
                <a:cs typeface="Open Sans"/>
              </a:rPr>
              <a:t> - never plain 389</a:t>
            </a:r>
          </a:p>
        </p:txBody>
      </p:sp>
    </p:spTree>
    <p:extLst>
      <p:ext uri="{BB962C8B-B14F-4D97-AF65-F5344CB8AC3E}">
        <p14:creationId xmlns:p14="http://schemas.microsoft.com/office/powerpoint/2010/main" val="201841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C2EEDD-0452-45B1-9527-4B49620345EA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MODULE 14 · 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3C650-4F70-4DB1-A1EF-72EA250A24C5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000" b="1" dirty="0">
                <a:solidFill>
                  <a:srgbClr val="16191F"/>
                </a:solidFill>
                <a:latin typeface="Montserrat"/>
              </a:rPr>
              <a:t>OAuth 2.0 / OIDC - Authorization Code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3815D-F31F-42E9-AB2F-E6A1E7296EE8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A70E97-EDC4-4835-AAC9-5529973DAC45}"/>
              </a:ext>
            </a:extLst>
          </p:cNvPr>
          <p:cNvSpPr/>
          <p:nvPr/>
        </p:nvSpPr>
        <p:spPr>
          <a:xfrm>
            <a:off x="609600" y="1498600"/>
            <a:ext cx="3352800" cy="5080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USER BROWSER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5B1F15-BF26-40E3-951E-4A135D84914E}"/>
              </a:ext>
            </a:extLst>
          </p:cNvPr>
          <p:cNvSpPr/>
          <p:nvPr/>
        </p:nvSpPr>
        <p:spPr>
          <a:xfrm>
            <a:off x="2273300" y="2006600"/>
            <a:ext cx="25400" cy="3810000"/>
          </a:xfrm>
          <a:prstGeom prst="rect">
            <a:avLst/>
          </a:prstGeom>
          <a:solidFill>
            <a:srgbClr val="D6D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2C3056-96B4-464F-B50E-1BEA6591266E}"/>
              </a:ext>
            </a:extLst>
          </p:cNvPr>
          <p:cNvSpPr/>
          <p:nvPr/>
        </p:nvSpPr>
        <p:spPr>
          <a:xfrm>
            <a:off x="4419600" y="1498600"/>
            <a:ext cx="3352800" cy="508000"/>
          </a:xfrm>
          <a:prstGeom prst="round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GRAFANA SERVER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1A562A-9C2C-4E7E-8C30-870F875E4B88}"/>
              </a:ext>
            </a:extLst>
          </p:cNvPr>
          <p:cNvSpPr/>
          <p:nvPr/>
        </p:nvSpPr>
        <p:spPr>
          <a:xfrm>
            <a:off x="6083300" y="2006600"/>
            <a:ext cx="25400" cy="3810000"/>
          </a:xfrm>
          <a:prstGeom prst="rect">
            <a:avLst/>
          </a:prstGeom>
          <a:solidFill>
            <a:srgbClr val="D6D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5CFFF2-BC58-488F-9FF9-39AFE7131491}"/>
              </a:ext>
            </a:extLst>
          </p:cNvPr>
          <p:cNvSpPr/>
          <p:nvPr/>
        </p:nvSpPr>
        <p:spPr>
          <a:xfrm>
            <a:off x="8229600" y="1498600"/>
            <a:ext cx="3352800" cy="508000"/>
          </a:xfrm>
          <a:prstGeom prst="round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IDENTITY PROVIDER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B76255-DEC6-4E47-B1A0-58F1BCC19E26}"/>
              </a:ext>
            </a:extLst>
          </p:cNvPr>
          <p:cNvSpPr/>
          <p:nvPr/>
        </p:nvSpPr>
        <p:spPr>
          <a:xfrm>
            <a:off x="9893300" y="2006600"/>
            <a:ext cx="25400" cy="3810000"/>
          </a:xfrm>
          <a:prstGeom prst="rect">
            <a:avLst/>
          </a:prstGeom>
          <a:solidFill>
            <a:srgbClr val="D6D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389149E-9050-42AA-B112-2C4F9291000F}"/>
              </a:ext>
            </a:extLst>
          </p:cNvPr>
          <p:cNvSpPr/>
          <p:nvPr/>
        </p:nvSpPr>
        <p:spPr>
          <a:xfrm>
            <a:off x="2273300" y="2489200"/>
            <a:ext cx="3810000" cy="177800"/>
          </a:xfrm>
          <a:prstGeom prst="rightArrow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19D798-B711-40B9-BC5C-2B4B4EB010AA}"/>
              </a:ext>
            </a:extLst>
          </p:cNvPr>
          <p:cNvSpPr/>
          <p:nvPr/>
        </p:nvSpPr>
        <p:spPr>
          <a:xfrm>
            <a:off x="2133600" y="2209800"/>
            <a:ext cx="279400" cy="279400"/>
          </a:xfrm>
          <a:prstGeom prst="ellipse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5D1244-3A0E-4738-BC13-9B0C4116AAA5}"/>
              </a:ext>
            </a:extLst>
          </p:cNvPr>
          <p:cNvSpPr txBox="1"/>
          <p:nvPr/>
        </p:nvSpPr>
        <p:spPr>
          <a:xfrm>
            <a:off x="2476500" y="21844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2F3542"/>
                </a:solidFill>
                <a:latin typeface="Open Sans"/>
                <a:ea typeface="Open Sans"/>
                <a:cs typeface="Open Sans"/>
              </a:rPr>
              <a:t>Click “Sign in with …”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9F5A394-F689-4D55-825C-90041D9F3C5D}"/>
              </a:ext>
            </a:extLst>
          </p:cNvPr>
          <p:cNvSpPr/>
          <p:nvPr/>
        </p:nvSpPr>
        <p:spPr>
          <a:xfrm>
            <a:off x="6083300" y="3098800"/>
            <a:ext cx="3810000" cy="177800"/>
          </a:xfrm>
          <a:prstGeom prst="rightArrow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B1CF682-D4BE-47ED-8F7A-B0484C589055}"/>
              </a:ext>
            </a:extLst>
          </p:cNvPr>
          <p:cNvSpPr/>
          <p:nvPr/>
        </p:nvSpPr>
        <p:spPr>
          <a:xfrm>
            <a:off x="5943600" y="2819400"/>
            <a:ext cx="279400" cy="2794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0CF8C8-F96F-44A5-A7BB-CDDB2C517161}"/>
              </a:ext>
            </a:extLst>
          </p:cNvPr>
          <p:cNvSpPr txBox="1"/>
          <p:nvPr/>
        </p:nvSpPr>
        <p:spPr>
          <a:xfrm>
            <a:off x="6286500" y="2794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2F3542"/>
                </a:solidFill>
                <a:latin typeface="Open Sans"/>
                <a:ea typeface="Open Sans"/>
                <a:cs typeface="Open Sans"/>
              </a:rPr>
              <a:t>302 → /authorize?client_id&amp;scope&amp;state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127E843B-906C-4A35-B1A7-A82508FF44F7}"/>
              </a:ext>
            </a:extLst>
          </p:cNvPr>
          <p:cNvSpPr/>
          <p:nvPr/>
        </p:nvSpPr>
        <p:spPr>
          <a:xfrm>
            <a:off x="6083300" y="3708400"/>
            <a:ext cx="3810000" cy="177800"/>
          </a:xfrm>
          <a:prstGeom prst="leftArrow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E25667-6AA8-4683-9F7D-61AFA33406BC}"/>
              </a:ext>
            </a:extLst>
          </p:cNvPr>
          <p:cNvSpPr/>
          <p:nvPr/>
        </p:nvSpPr>
        <p:spPr>
          <a:xfrm>
            <a:off x="9753600" y="3429000"/>
            <a:ext cx="279400" cy="2794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0B2232-FC9A-4F02-BB1C-1EBDE8C08724}"/>
              </a:ext>
            </a:extLst>
          </p:cNvPr>
          <p:cNvSpPr txBox="1"/>
          <p:nvPr/>
        </p:nvSpPr>
        <p:spPr>
          <a:xfrm>
            <a:off x="6286500" y="34036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2F3542"/>
                </a:solidFill>
                <a:latin typeface="Open Sans"/>
                <a:ea typeface="Open Sans"/>
                <a:cs typeface="Open Sans"/>
              </a:rPr>
              <a:t>User logs in + consents → returns code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47C92F1-86C0-4C6C-941A-43152B7D0A27}"/>
              </a:ext>
            </a:extLst>
          </p:cNvPr>
          <p:cNvSpPr/>
          <p:nvPr/>
        </p:nvSpPr>
        <p:spPr>
          <a:xfrm>
            <a:off x="6083300" y="4318000"/>
            <a:ext cx="3810000" cy="177800"/>
          </a:xfrm>
          <a:prstGeom prst="rightArrow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E4133AD-C0E3-4200-A53B-1C517436FB12}"/>
              </a:ext>
            </a:extLst>
          </p:cNvPr>
          <p:cNvSpPr/>
          <p:nvPr/>
        </p:nvSpPr>
        <p:spPr>
          <a:xfrm>
            <a:off x="5943600" y="4038600"/>
            <a:ext cx="279400" cy="2794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01DFAF-E833-463B-8789-DFADCA2B184A}"/>
              </a:ext>
            </a:extLst>
          </p:cNvPr>
          <p:cNvSpPr txBox="1"/>
          <p:nvPr/>
        </p:nvSpPr>
        <p:spPr>
          <a:xfrm>
            <a:off x="6286500" y="40132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250">
                <a:solidFill>
                  <a:srgbClr val="2F3542"/>
                </a:solidFill>
                <a:latin typeface="Open Sans"/>
                <a:ea typeface="Open Sans"/>
                <a:cs typeface="Open Sans"/>
              </a:rPr>
              <a:t>POST /token  (code + client_secret)</a:t>
            </a:r>
            <a:endParaRPr lang="en-US" sz="1250">
              <a:solidFill>
                <a:srgbClr val="2F354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954F1766-71DA-4290-80D3-57A1C95A4175}"/>
              </a:ext>
            </a:extLst>
          </p:cNvPr>
          <p:cNvSpPr/>
          <p:nvPr/>
        </p:nvSpPr>
        <p:spPr>
          <a:xfrm>
            <a:off x="6083300" y="4927600"/>
            <a:ext cx="3810000" cy="177800"/>
          </a:xfrm>
          <a:prstGeom prst="leftArrow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446F9C-91ED-463D-925B-0B520EC005D8}"/>
              </a:ext>
            </a:extLst>
          </p:cNvPr>
          <p:cNvSpPr/>
          <p:nvPr/>
        </p:nvSpPr>
        <p:spPr>
          <a:xfrm>
            <a:off x="9753600" y="4648200"/>
            <a:ext cx="279400" cy="2794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7EA9AF-5914-47A6-945A-28BEE267A40F}"/>
              </a:ext>
            </a:extLst>
          </p:cNvPr>
          <p:cNvSpPr txBox="1"/>
          <p:nvPr/>
        </p:nvSpPr>
        <p:spPr>
          <a:xfrm>
            <a:off x="6286500" y="46228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2F3542"/>
                </a:solidFill>
                <a:latin typeface="Open Sans"/>
                <a:ea typeface="Open Sans"/>
                <a:cs typeface="Open Sans"/>
              </a:rPr>
              <a:t>access_token + id_token (+ groups claim)</a:t>
            </a:r>
          </a:p>
        </p:txBody>
      </p:sp>
      <p:sp>
        <p:nvSpPr>
          <p:cNvPr id="26" name="Arrow: Left 25">
            <a:extLst>
              <a:ext uri="{FF2B5EF4-FFF2-40B4-BE49-F238E27FC236}">
                <a16:creationId xmlns:a16="http://schemas.microsoft.com/office/drawing/2014/main" id="{30680C01-270E-41CF-AFD6-9A416BD3C791}"/>
              </a:ext>
            </a:extLst>
          </p:cNvPr>
          <p:cNvSpPr/>
          <p:nvPr/>
        </p:nvSpPr>
        <p:spPr>
          <a:xfrm>
            <a:off x="2273300" y="5537200"/>
            <a:ext cx="3810000" cy="177800"/>
          </a:xfrm>
          <a:prstGeom prst="leftArrow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D997A05-2208-4CAF-A172-6C9AB9CEF195}"/>
              </a:ext>
            </a:extLst>
          </p:cNvPr>
          <p:cNvSpPr/>
          <p:nvPr/>
        </p:nvSpPr>
        <p:spPr>
          <a:xfrm>
            <a:off x="5943600" y="5257800"/>
            <a:ext cx="279400" cy="2794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AFF2A7-86B9-4C97-BEC6-A274751BD8E9}"/>
              </a:ext>
            </a:extLst>
          </p:cNvPr>
          <p:cNvSpPr txBox="1"/>
          <p:nvPr/>
        </p:nvSpPr>
        <p:spPr>
          <a:xfrm>
            <a:off x="2540000" y="51054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2F3542"/>
                </a:solidFill>
                <a:latin typeface="Open Sans"/>
                <a:ea typeface="Open Sans"/>
                <a:cs typeface="Open Sans"/>
              </a:rPr>
              <a:t>Map role → set session cookie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D4BEC5E-9827-4050-9995-A4A752CC3CC1}"/>
              </a:ext>
            </a:extLst>
          </p:cNvPr>
          <p:cNvSpPr/>
          <p:nvPr/>
        </p:nvSpPr>
        <p:spPr>
          <a:xfrm>
            <a:off x="609600" y="5867400"/>
            <a:ext cx="5384800" cy="6350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F4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6160E8-E3EE-459F-9A28-44DD6322C3A4}"/>
              </a:ext>
            </a:extLst>
          </p:cNvPr>
          <p:cNvSpPr txBox="1"/>
          <p:nvPr/>
        </p:nvSpPr>
        <p:spPr>
          <a:xfrm>
            <a:off x="863600" y="5867400"/>
            <a:ext cx="4953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7A3A00"/>
                </a:solidFill>
                <a:latin typeface="Open Sans"/>
                <a:ea typeface="Open Sans"/>
                <a:cs typeface="Open Sans"/>
              </a:rPr>
              <a:t>Redirect URI must match exactly:
https://grafana.corp.io/login/&lt;provider&gt;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044009F-5E86-4BFD-81D8-5FB0587FD35C}"/>
              </a:ext>
            </a:extLst>
          </p:cNvPr>
          <p:cNvSpPr/>
          <p:nvPr/>
        </p:nvSpPr>
        <p:spPr>
          <a:xfrm>
            <a:off x="6197600" y="5867400"/>
            <a:ext cx="5384800" cy="635000"/>
          </a:xfrm>
          <a:prstGeom prst="roundRect">
            <a:avLst/>
          </a:prstGeom>
          <a:solidFill>
            <a:srgbClr val="E8F0FA"/>
          </a:solidFill>
          <a:ln w="12700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FF948B-4C67-40E9-95E1-5BEDF41E26CE}"/>
              </a:ext>
            </a:extLst>
          </p:cNvPr>
          <p:cNvSpPr txBox="1"/>
          <p:nvPr/>
        </p:nvSpPr>
        <p:spPr>
          <a:xfrm>
            <a:off x="6451600" y="5867400"/>
            <a:ext cx="4953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1F3B60"/>
                </a:solidFill>
                <a:latin typeface="Open Sans"/>
                <a:ea typeface="Open Sans"/>
                <a:cs typeface="Open Sans"/>
              </a:rPr>
              <a:t>Grafana never sees the password. Revoking access at the
IdP takes effect on the next token refresh / login.</a:t>
            </a:r>
          </a:p>
        </p:txBody>
      </p:sp>
    </p:spTree>
    <p:extLst>
      <p:ext uri="{BB962C8B-B14F-4D97-AF65-F5344CB8AC3E}">
        <p14:creationId xmlns:p14="http://schemas.microsoft.com/office/powerpoint/2010/main" val="2336836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3B1C73-C63E-4096-AF83-74B9853D1A25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MODULE 14 · 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BE51E-A11F-4E8A-9075-1AADF897376A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000" b="1">
                <a:solidFill>
                  <a:srgbClr val="16191F"/>
                </a:solidFill>
                <a:latin typeface="Montserrat"/>
              </a:rPr>
              <a:t>Provider Setup: Azure AD · Google · GitHub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EEABFF-EFCD-4851-8069-276C6F22261A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B92A7-E718-405A-84CD-E5EC3BFEB4CB}"/>
              </a:ext>
            </a:extLst>
          </p:cNvPr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Same OAuth flow, three different config blocks in grafana.ini. Register the app on the provider side first.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3FFA08-CE58-4471-A204-0BE82942F651}"/>
              </a:ext>
            </a:extLst>
          </p:cNvPr>
          <p:cNvSpPr/>
          <p:nvPr/>
        </p:nvSpPr>
        <p:spPr>
          <a:xfrm>
            <a:off x="609600" y="1803400"/>
            <a:ext cx="3505200" cy="469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EA7622-24DE-45D2-A3CA-F3BF2D8BEA5E}"/>
              </a:ext>
            </a:extLst>
          </p:cNvPr>
          <p:cNvSpPr/>
          <p:nvPr/>
        </p:nvSpPr>
        <p:spPr>
          <a:xfrm>
            <a:off x="609600" y="1803400"/>
            <a:ext cx="3505200" cy="4318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4C23F3-4D1A-41F6-B5C8-A11D3644A674}"/>
              </a:ext>
            </a:extLst>
          </p:cNvPr>
          <p:cNvSpPr txBox="1"/>
          <p:nvPr/>
        </p:nvSpPr>
        <p:spPr>
          <a:xfrm>
            <a:off x="812800" y="1803400"/>
            <a:ext cx="3175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AZURE AD / ENTRA 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363777-9CED-4787-AF53-63E1C7283C94}"/>
              </a:ext>
            </a:extLst>
          </p:cNvPr>
          <p:cNvSpPr/>
          <p:nvPr/>
        </p:nvSpPr>
        <p:spPr>
          <a:xfrm>
            <a:off x="762000" y="2362200"/>
            <a:ext cx="3200400" cy="2667000"/>
          </a:xfrm>
          <a:prstGeom prst="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B1FCDA-50C2-4AE4-877F-B6A72C7EFBF7}"/>
              </a:ext>
            </a:extLst>
          </p:cNvPr>
          <p:cNvSpPr txBox="1"/>
          <p:nvPr/>
        </p:nvSpPr>
        <p:spPr>
          <a:xfrm>
            <a:off x="889000" y="2463800"/>
            <a:ext cx="2997200" cy="2489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9FE3C4"/>
                </a:solidFill>
                <a:latin typeface="Consolas"/>
              </a:rPr>
              <a:t>[auth.azuread]
enabled = true
client_id = $APP_ID
client_secret = $SECRET
scopes = openid email profile
auth_url = .../oauth2/v2.0/authorize
token_url = .../oauth2/v2.0/token
allowed_groups = &lt;group-obj-id&gt;
role_attribute_strict = 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4FBE28-F27E-4026-AC17-D45B3A685998}"/>
              </a:ext>
            </a:extLst>
          </p:cNvPr>
          <p:cNvSpPr txBox="1"/>
          <p:nvPr/>
        </p:nvSpPr>
        <p:spPr>
          <a:xfrm>
            <a:off x="812800" y="5156200"/>
            <a:ext cx="3124200" cy="1219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Register in Entra ID → App registrations. Add the groups claim to the token, then map group object IDs to roles.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A95A11-6CBB-44D0-A2A8-37903BC08584}"/>
              </a:ext>
            </a:extLst>
          </p:cNvPr>
          <p:cNvSpPr/>
          <p:nvPr/>
        </p:nvSpPr>
        <p:spPr>
          <a:xfrm>
            <a:off x="4318000" y="1803400"/>
            <a:ext cx="3505200" cy="469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1A708D-9247-4290-A5A0-18459F54DF43}"/>
              </a:ext>
            </a:extLst>
          </p:cNvPr>
          <p:cNvSpPr/>
          <p:nvPr/>
        </p:nvSpPr>
        <p:spPr>
          <a:xfrm>
            <a:off x="4318000" y="1803400"/>
            <a:ext cx="3505200" cy="431800"/>
          </a:xfrm>
          <a:prstGeom prst="rect">
            <a:avLst/>
          </a:prstGeom>
          <a:solidFill>
            <a:srgbClr val="D045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0EBF6E-8CD9-41D4-B10E-5619C3CACB2F}"/>
              </a:ext>
            </a:extLst>
          </p:cNvPr>
          <p:cNvSpPr txBox="1"/>
          <p:nvPr/>
        </p:nvSpPr>
        <p:spPr>
          <a:xfrm>
            <a:off x="4521200" y="1803400"/>
            <a:ext cx="3175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GOOGLE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9A828F-F5F7-4C5B-8D9B-644E8D0E3CE1}"/>
              </a:ext>
            </a:extLst>
          </p:cNvPr>
          <p:cNvSpPr/>
          <p:nvPr/>
        </p:nvSpPr>
        <p:spPr>
          <a:xfrm>
            <a:off x="4470400" y="2362200"/>
            <a:ext cx="3200400" cy="2667000"/>
          </a:xfrm>
          <a:prstGeom prst="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08D3AA-C179-49BE-9C74-67F51495908C}"/>
              </a:ext>
            </a:extLst>
          </p:cNvPr>
          <p:cNvSpPr txBox="1"/>
          <p:nvPr/>
        </p:nvSpPr>
        <p:spPr>
          <a:xfrm>
            <a:off x="4597400" y="2463800"/>
            <a:ext cx="2997200" cy="2489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9FE3C4"/>
                </a:solidFill>
                <a:latin typeface="Consolas"/>
              </a:rPr>
              <a:t>[auth.google]
enabled = true
client_id = $ID.apps.google...
client_secret = $SECRET
scopes = openid email profile
auth_url = accounts.google.com/
  o/oauth2/v2/auth
allowed_domains = corp.io
allow_sign_up = true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25D985-7C18-4BF0-B7E3-87F9B10A5FE3}"/>
              </a:ext>
            </a:extLst>
          </p:cNvPr>
          <p:cNvSpPr txBox="1"/>
          <p:nvPr/>
        </p:nvSpPr>
        <p:spPr>
          <a:xfrm>
            <a:off x="4521200" y="5156200"/>
            <a:ext cx="3124200" cy="1219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Create OAuth client in Google Cloud Console. </a:t>
            </a:r>
            <a:r>
              <a:rPr lang="en-US" sz="125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allowed_domains</a:t>
            </a:r>
            <a:r>
              <a:rPr lang="en-US" sz="125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 is the security control - Google has no groups claim by default.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13DE2B-B45F-40A0-B439-55ABD4724F03}"/>
              </a:ext>
            </a:extLst>
          </p:cNvPr>
          <p:cNvSpPr/>
          <p:nvPr/>
        </p:nvSpPr>
        <p:spPr>
          <a:xfrm>
            <a:off x="8026400" y="1803400"/>
            <a:ext cx="3505200" cy="469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A780A6-D576-48F9-B2B4-95839796683C}"/>
              </a:ext>
            </a:extLst>
          </p:cNvPr>
          <p:cNvSpPr/>
          <p:nvPr/>
        </p:nvSpPr>
        <p:spPr>
          <a:xfrm>
            <a:off x="8026400" y="1803400"/>
            <a:ext cx="3505200" cy="431800"/>
          </a:xfrm>
          <a:prstGeom prst="rect">
            <a:avLst/>
          </a:prstGeom>
          <a:solidFill>
            <a:srgbClr val="2F35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445FAE-35B7-4F88-83B9-8C92E3970A75}"/>
              </a:ext>
            </a:extLst>
          </p:cNvPr>
          <p:cNvSpPr txBox="1"/>
          <p:nvPr/>
        </p:nvSpPr>
        <p:spPr>
          <a:xfrm>
            <a:off x="8229600" y="1803400"/>
            <a:ext cx="3175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GITHUB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429C31-1182-480B-BEFA-5DE32D294A64}"/>
              </a:ext>
            </a:extLst>
          </p:cNvPr>
          <p:cNvSpPr/>
          <p:nvPr/>
        </p:nvSpPr>
        <p:spPr>
          <a:xfrm>
            <a:off x="8178800" y="2362200"/>
            <a:ext cx="3200400" cy="2667000"/>
          </a:xfrm>
          <a:prstGeom prst="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534750-781C-44EC-9924-1F61228BFAF1}"/>
              </a:ext>
            </a:extLst>
          </p:cNvPr>
          <p:cNvSpPr txBox="1"/>
          <p:nvPr/>
        </p:nvSpPr>
        <p:spPr>
          <a:xfrm>
            <a:off x="8305800" y="2463800"/>
            <a:ext cx="2997200" cy="2489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9FE3C4"/>
                </a:solidFill>
                <a:latin typeface="Consolas"/>
              </a:rPr>
              <a:t>[auth.github]
enabled = true
client_id = $ID
client_secret = $SECRET
scopes = user:email,read:org
allowed_organizations = my-org
team_ids = 1234,5678
role_attribute_path =
  contains(groups[*],'@my-org/
  platform') &amp;&amp; 'Admin' || 'Viewer'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A03F47-C88B-4A9E-9906-8842CCC4D427}"/>
              </a:ext>
            </a:extLst>
          </p:cNvPr>
          <p:cNvSpPr txBox="1"/>
          <p:nvPr/>
        </p:nvSpPr>
        <p:spPr>
          <a:xfrm>
            <a:off x="8229600" y="5156200"/>
            <a:ext cx="3124200" cy="1219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Create an OAuth App in GitHub org settings. Restrict by organization and team - otherwise any GitHub user can log in.</a:t>
            </a:r>
          </a:p>
        </p:txBody>
      </p:sp>
    </p:spTree>
    <p:extLst>
      <p:ext uri="{BB962C8B-B14F-4D97-AF65-F5344CB8AC3E}">
        <p14:creationId xmlns:p14="http://schemas.microsoft.com/office/powerpoint/2010/main" val="1104395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E71418-D252-41F8-881A-D97CA8EE90A0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MODULE 14 · 05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02B7E-EFB1-4F36-A76F-C6E435306611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SSO Concepts &amp; Role Mapping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A47A40-37EB-46E6-AF54-BCD9E1B6543A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CAD98B-09B9-4744-8672-33097161FED5}"/>
              </a:ext>
            </a:extLst>
          </p:cNvPr>
          <p:cNvSpPr/>
          <p:nvPr/>
        </p:nvSpPr>
        <p:spPr>
          <a:xfrm>
            <a:off x="609600" y="1600200"/>
            <a:ext cx="2578100" cy="165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36E12A-37EA-4477-8012-D6EEB913611D}"/>
              </a:ext>
            </a:extLst>
          </p:cNvPr>
          <p:cNvSpPr/>
          <p:nvPr/>
        </p:nvSpPr>
        <p:spPr>
          <a:xfrm>
            <a:off x="609600" y="1600200"/>
            <a:ext cx="2578100" cy="635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346F4-222F-4E05-9309-8BB619B81EAE}"/>
              </a:ext>
            </a:extLst>
          </p:cNvPr>
          <p:cNvSpPr txBox="1"/>
          <p:nvPr/>
        </p:nvSpPr>
        <p:spPr>
          <a:xfrm>
            <a:off x="812800" y="1828800"/>
            <a:ext cx="22225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Identity Provider (IdP)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B2CEE3-FFE1-4CBD-8EA3-6F4CE734FEE2}"/>
              </a:ext>
            </a:extLst>
          </p:cNvPr>
          <p:cNvSpPr txBox="1"/>
          <p:nvPr/>
        </p:nvSpPr>
        <p:spPr>
          <a:xfrm>
            <a:off x="812800" y="2413000"/>
            <a:ext cx="22225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Owns the credentials and MFA: Entra ID, Okta, Keycloak, Google Workspace.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49F2CE-F60D-4784-885D-12E95EC262C8}"/>
              </a:ext>
            </a:extLst>
          </p:cNvPr>
          <p:cNvSpPr/>
          <p:nvPr/>
        </p:nvSpPr>
        <p:spPr>
          <a:xfrm>
            <a:off x="3390900" y="1600200"/>
            <a:ext cx="2578100" cy="165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9E1912-1AE5-4301-9CF5-6BA4245D699F}"/>
              </a:ext>
            </a:extLst>
          </p:cNvPr>
          <p:cNvSpPr/>
          <p:nvPr/>
        </p:nvSpPr>
        <p:spPr>
          <a:xfrm>
            <a:off x="3390900" y="1600200"/>
            <a:ext cx="2578100" cy="635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C0379C-D3C7-4ED7-8829-B6D970B1B303}"/>
              </a:ext>
            </a:extLst>
          </p:cNvPr>
          <p:cNvSpPr txBox="1"/>
          <p:nvPr/>
        </p:nvSpPr>
        <p:spPr>
          <a:xfrm>
            <a:off x="3594100" y="1828800"/>
            <a:ext cx="22225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Service Provider (SP)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F19682-0BCE-4D81-8F22-251DE4FB78FC}"/>
              </a:ext>
            </a:extLst>
          </p:cNvPr>
          <p:cNvSpPr txBox="1"/>
          <p:nvPr/>
        </p:nvSpPr>
        <p:spPr>
          <a:xfrm>
            <a:off x="3594100" y="2413000"/>
            <a:ext cx="22225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Grafana. Trusts the IdP's assertion instead of storing passwords.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AA5FF1-CFCE-4CFC-B546-C80F289476C3}"/>
              </a:ext>
            </a:extLst>
          </p:cNvPr>
          <p:cNvSpPr/>
          <p:nvPr/>
        </p:nvSpPr>
        <p:spPr>
          <a:xfrm>
            <a:off x="6172200" y="1600200"/>
            <a:ext cx="2578100" cy="165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807736-E699-4D35-85CA-E04106A188EC}"/>
              </a:ext>
            </a:extLst>
          </p:cNvPr>
          <p:cNvSpPr/>
          <p:nvPr/>
        </p:nvSpPr>
        <p:spPr>
          <a:xfrm>
            <a:off x="6172200" y="1600200"/>
            <a:ext cx="2578100" cy="635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C0D72E-097D-4C41-A049-89C8908940EE}"/>
              </a:ext>
            </a:extLst>
          </p:cNvPr>
          <p:cNvSpPr txBox="1"/>
          <p:nvPr/>
        </p:nvSpPr>
        <p:spPr>
          <a:xfrm>
            <a:off x="6375400" y="1828800"/>
            <a:ext cx="22225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Assertion / Token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04F37C-23A0-4401-88CB-B8F25A4C665B}"/>
              </a:ext>
            </a:extLst>
          </p:cNvPr>
          <p:cNvSpPr txBox="1"/>
          <p:nvPr/>
        </p:nvSpPr>
        <p:spPr>
          <a:xfrm>
            <a:off x="6375400" y="2413000"/>
            <a:ext cx="22225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Signed proof of identity - SAML assertion or OIDC </a:t>
            </a:r>
            <a:r>
              <a:rPr lang="en-US" sz="125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id_token</a:t>
            </a:r>
            <a:r>
              <a:rPr lang="en-US" sz="125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 with claims.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B6AC59B-88DD-46E3-A35D-071AFE9A4AB1}"/>
              </a:ext>
            </a:extLst>
          </p:cNvPr>
          <p:cNvSpPr/>
          <p:nvPr/>
        </p:nvSpPr>
        <p:spPr>
          <a:xfrm>
            <a:off x="8953500" y="1600200"/>
            <a:ext cx="2578100" cy="165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13171C-347F-458C-97E0-1BBBA2919E97}"/>
              </a:ext>
            </a:extLst>
          </p:cNvPr>
          <p:cNvSpPr/>
          <p:nvPr/>
        </p:nvSpPr>
        <p:spPr>
          <a:xfrm>
            <a:off x="8953500" y="1600200"/>
            <a:ext cx="2578100" cy="635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F380DA-134F-4865-99D7-0434200E1A24}"/>
              </a:ext>
            </a:extLst>
          </p:cNvPr>
          <p:cNvSpPr txBox="1"/>
          <p:nvPr/>
        </p:nvSpPr>
        <p:spPr>
          <a:xfrm>
            <a:off x="9156700" y="1828800"/>
            <a:ext cx="22225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JIT Provisioning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C46300-F2E4-4428-9614-5C08DE0FF14B}"/>
              </a:ext>
            </a:extLst>
          </p:cNvPr>
          <p:cNvSpPr txBox="1"/>
          <p:nvPr/>
        </p:nvSpPr>
        <p:spPr>
          <a:xfrm>
            <a:off x="9156700" y="2413000"/>
            <a:ext cx="22225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User row + org + role created automatically on first successful login.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C71D69-CB38-4CF4-8D1A-3E3A57DCAC60}"/>
              </a:ext>
            </a:extLst>
          </p:cNvPr>
          <p:cNvSpPr txBox="1"/>
          <p:nvPr/>
        </p:nvSpPr>
        <p:spPr>
          <a:xfrm>
            <a:off x="609600" y="34544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 dirty="0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Role mapping precedence - highest wins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45EB012-7EC8-46DB-B5D1-B3B90AD9E9C4}"/>
              </a:ext>
            </a:extLst>
          </p:cNvPr>
          <p:cNvSpPr/>
          <p:nvPr/>
        </p:nvSpPr>
        <p:spPr>
          <a:xfrm>
            <a:off x="609600" y="3835400"/>
            <a:ext cx="6350000" cy="584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FDD974-1135-4D0E-9AB7-4DC263CCAC55}"/>
              </a:ext>
            </a:extLst>
          </p:cNvPr>
          <p:cNvSpPr/>
          <p:nvPr/>
        </p:nvSpPr>
        <p:spPr>
          <a:xfrm>
            <a:off x="609600" y="3835400"/>
            <a:ext cx="431800" cy="584200"/>
          </a:xfrm>
          <a:prstGeom prst="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89A704-7B4B-4813-B5FA-232F2F49EA4D}"/>
              </a:ext>
            </a:extLst>
          </p:cNvPr>
          <p:cNvSpPr txBox="1"/>
          <p:nvPr/>
        </p:nvSpPr>
        <p:spPr>
          <a:xfrm>
            <a:off x="1219200" y="3911600"/>
            <a:ext cx="558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Grafana Server Admin flag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63B295-DEC4-4B52-B93E-175B5E963526}"/>
              </a:ext>
            </a:extLst>
          </p:cNvPr>
          <p:cNvSpPr txBox="1"/>
          <p:nvPr/>
        </p:nvSpPr>
        <p:spPr>
          <a:xfrm>
            <a:off x="1219200" y="4152900"/>
            <a:ext cx="558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Consolas"/>
              </a:rPr>
              <a:t>grafana_admin / role_attribute_path → GrafanaAdmin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04DD20-B7CD-4851-AA1F-D66EF4744BE6}"/>
              </a:ext>
            </a:extLst>
          </p:cNvPr>
          <p:cNvSpPr/>
          <p:nvPr/>
        </p:nvSpPr>
        <p:spPr>
          <a:xfrm>
            <a:off x="609600" y="4483100"/>
            <a:ext cx="6350000" cy="584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42E60C-6A50-428B-B63E-A15B3D9501FE}"/>
              </a:ext>
            </a:extLst>
          </p:cNvPr>
          <p:cNvSpPr/>
          <p:nvPr/>
        </p:nvSpPr>
        <p:spPr>
          <a:xfrm>
            <a:off x="609600" y="4483100"/>
            <a:ext cx="431800" cy="5842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521878-E123-465C-B249-89613D1A3FC4}"/>
              </a:ext>
            </a:extLst>
          </p:cNvPr>
          <p:cNvSpPr txBox="1"/>
          <p:nvPr/>
        </p:nvSpPr>
        <p:spPr>
          <a:xfrm>
            <a:off x="1219200" y="4559300"/>
            <a:ext cx="558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Explicit provider mapping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1F7EF4-F6F9-4DBD-9558-9481B83A3909}"/>
              </a:ext>
            </a:extLst>
          </p:cNvPr>
          <p:cNvSpPr txBox="1"/>
          <p:nvPr/>
        </p:nvSpPr>
        <p:spPr>
          <a:xfrm>
            <a:off x="1219200" y="4800600"/>
            <a:ext cx="558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Consolas"/>
              </a:rPr>
              <a:t>role_attribute_path, group_mappings, allowed_groups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C02B1DD-7F11-49A0-9DB1-1797D02F3664}"/>
              </a:ext>
            </a:extLst>
          </p:cNvPr>
          <p:cNvSpPr/>
          <p:nvPr/>
        </p:nvSpPr>
        <p:spPr>
          <a:xfrm>
            <a:off x="609600" y="5130800"/>
            <a:ext cx="6350000" cy="584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2B2D4A-A9E5-48F5-8EC7-37D2B1B714D4}"/>
              </a:ext>
            </a:extLst>
          </p:cNvPr>
          <p:cNvSpPr/>
          <p:nvPr/>
        </p:nvSpPr>
        <p:spPr>
          <a:xfrm>
            <a:off x="609600" y="5130800"/>
            <a:ext cx="431800" cy="5842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439580-195C-48A2-A46A-D327EB7D2DE3}"/>
              </a:ext>
            </a:extLst>
          </p:cNvPr>
          <p:cNvSpPr txBox="1"/>
          <p:nvPr/>
        </p:nvSpPr>
        <p:spPr>
          <a:xfrm>
            <a:off x="1219200" y="5207000"/>
            <a:ext cx="558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auto_assign_org_role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45320F-96B9-429B-ABD1-C3D6A7586B76}"/>
              </a:ext>
            </a:extLst>
          </p:cNvPr>
          <p:cNvSpPr txBox="1"/>
          <p:nvPr/>
        </p:nvSpPr>
        <p:spPr>
          <a:xfrm>
            <a:off x="1219200" y="5448300"/>
            <a:ext cx="558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Consolas"/>
              </a:rPr>
              <a:t>Fallback for every new SSO user (keep it Viewer)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0105923-1FD2-41A5-857D-FCECFC13C049}"/>
              </a:ext>
            </a:extLst>
          </p:cNvPr>
          <p:cNvSpPr/>
          <p:nvPr/>
        </p:nvSpPr>
        <p:spPr>
          <a:xfrm>
            <a:off x="609600" y="5778500"/>
            <a:ext cx="6350000" cy="584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94E343-F66C-40A9-95B0-5DAC22DF4410}"/>
              </a:ext>
            </a:extLst>
          </p:cNvPr>
          <p:cNvSpPr/>
          <p:nvPr/>
        </p:nvSpPr>
        <p:spPr>
          <a:xfrm>
            <a:off x="609600" y="5778500"/>
            <a:ext cx="431800" cy="5842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65466C-2406-41A4-A9D4-7EF862A0153E}"/>
              </a:ext>
            </a:extLst>
          </p:cNvPr>
          <p:cNvSpPr txBox="1"/>
          <p:nvPr/>
        </p:nvSpPr>
        <p:spPr>
          <a:xfrm>
            <a:off x="1219200" y="5854700"/>
            <a:ext cx="558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Folder / dashboard ACL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98A694-DA5D-4726-B267-1E6946D3B523}"/>
              </a:ext>
            </a:extLst>
          </p:cNvPr>
          <p:cNvSpPr txBox="1"/>
          <p:nvPr/>
        </p:nvSpPr>
        <p:spPr>
          <a:xfrm>
            <a:off x="1219200" y="6096000"/>
            <a:ext cx="558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Consolas"/>
              </a:rPr>
              <a:t>Refines access inside the granted org role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07E3CB4-02CF-438D-8C79-541923B28DB9}"/>
              </a:ext>
            </a:extLst>
          </p:cNvPr>
          <p:cNvSpPr/>
          <p:nvPr/>
        </p:nvSpPr>
        <p:spPr>
          <a:xfrm>
            <a:off x="7213600" y="3454400"/>
            <a:ext cx="4368800" cy="30480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9617FC-D3D5-45DD-9045-3E0DD401A74B}"/>
              </a:ext>
            </a:extLst>
          </p:cNvPr>
          <p:cNvSpPr txBox="1"/>
          <p:nvPr/>
        </p:nvSpPr>
        <p:spPr>
          <a:xfrm>
            <a:off x="7518400" y="36322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5B9BE8"/>
                </a:solidFill>
                <a:latin typeface="Open Sans"/>
                <a:ea typeface="Open Sans"/>
                <a:cs typeface="Open Sans"/>
              </a:rPr>
              <a:t>SSO rollout order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2066E0-46DF-468B-98DB-10D152A7C5B0}"/>
              </a:ext>
            </a:extLst>
          </p:cNvPr>
          <p:cNvSpPr txBox="1"/>
          <p:nvPr/>
        </p:nvSpPr>
        <p:spPr>
          <a:xfrm>
            <a:off x="7518400" y="3987800"/>
            <a:ext cx="38862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1. Register the app / SP in the IdP
2. Configure Grafana, keep the login form
3. Test with one pilot user per role
4. Verify group → role + team assignment
5. Enable auto_login, hide the login form
6. Keep one break-glass local admin
7. Document the rollback (disable = false)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05D728-B80D-43F7-B993-906CCC9D0D93}"/>
              </a:ext>
            </a:extLst>
          </p:cNvPr>
          <p:cNvSpPr txBox="1"/>
          <p:nvPr/>
        </p:nvSpPr>
        <p:spPr>
          <a:xfrm>
            <a:off x="7518400" y="5943600"/>
            <a:ext cx="38862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SAML &amp; Team Sync are Enterprise features - OIDC covers most needs in OSS.</a:t>
            </a:r>
          </a:p>
        </p:txBody>
      </p:sp>
    </p:spTree>
    <p:extLst>
      <p:ext uri="{BB962C8B-B14F-4D97-AF65-F5344CB8AC3E}">
        <p14:creationId xmlns:p14="http://schemas.microsoft.com/office/powerpoint/2010/main" val="4087081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101"/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6800"/>
                </a:solidFill>
                <a:latin typeface="Open Sans"/>
              </a:rPr>
              <a:t>MODULE 14 · CHECKPOINT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16191F"/>
                </a:solidFill>
                <a:latin typeface="Montserrat"/>
              </a:rPr>
              <a:t>Quick Quiz: Authentication &amp; SSO</a:t>
            </a:r>
          </a:p>
        </p:txBody>
      </p:sp>
      <p:sp>
        <p:nvSpPr>
          <p:cNvPr id="103" name="SH103"/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Three questions before the SSO lab. Commit to an answer out loud.</a:t>
            </a:r>
          </a:p>
        </p:txBody>
      </p:sp>
      <p:sp>
        <p:nvSpPr>
          <p:cNvPr id="105" name="SH105"/>
          <p:cNvSpPr/>
          <p:nvPr/>
        </p:nvSpPr>
        <p:spPr>
          <a:xfrm>
            <a:off x="609600" y="18034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B106"/>
          <p:cNvSpPr txBox="1"/>
          <p:nvPr/>
        </p:nvSpPr>
        <p:spPr>
          <a:xfrm>
            <a:off x="914400" y="20066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Q1 · In the OAuth code flow, what does Grafana exchange for the token?</a:t>
            </a:r>
          </a:p>
        </p:txBody>
      </p:sp>
      <p:sp>
        <p:nvSpPr>
          <p:cNvPr id="107" name="TB107"/>
          <p:cNvSpPr txBox="1"/>
          <p:nvPr/>
        </p:nvSpPr>
        <p:spPr>
          <a:xfrm>
            <a:off x="914400" y="24130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A) Username and password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B) The code plus the client secret</a:t>
            </a:r>
          </a:p>
        </p:txBody>
      </p:sp>
      <p:sp>
        <p:nvSpPr>
          <p:cNvPr id="108" name="TB108"/>
          <p:cNvSpPr txBox="1"/>
          <p:nvPr/>
        </p:nvSpPr>
        <p:spPr>
          <a:xfrm>
            <a:off x="6248400" y="24130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C) A SAML assertion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D) The session cookie</a:t>
            </a:r>
          </a:p>
        </p:txBody>
      </p:sp>
      <p:sp>
        <p:nvSpPr>
          <p:cNvPr id="109" name="SH109"/>
          <p:cNvSpPr/>
          <p:nvPr/>
        </p:nvSpPr>
        <p:spPr>
          <a:xfrm>
            <a:off x="609600" y="32258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B110"/>
          <p:cNvSpPr txBox="1"/>
          <p:nvPr/>
        </p:nvSpPr>
        <p:spPr>
          <a:xfrm>
            <a:off x="914400" y="34290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Q2 · You roll out SSO and lock everyone out. What should have been kept?</a:t>
            </a:r>
          </a:p>
        </p:txBody>
      </p:sp>
      <p:sp>
        <p:nvSpPr>
          <p:cNvPr id="111" name="TB111"/>
          <p:cNvSpPr txBox="1"/>
          <p:nvPr/>
        </p:nvSpPr>
        <p:spPr>
          <a:xfrm>
            <a:off x="914400" y="38354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A) A local admin fallback login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B) A second SAML provider</a:t>
            </a:r>
          </a:p>
        </p:txBody>
      </p:sp>
      <p:sp>
        <p:nvSpPr>
          <p:cNvPr id="112" name="TB112"/>
          <p:cNvSpPr txBox="1"/>
          <p:nvPr/>
        </p:nvSpPr>
        <p:spPr>
          <a:xfrm>
            <a:off x="6248400" y="38354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C) Anonymous access enabled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D) LDAP TLS switched off</a:t>
            </a:r>
          </a:p>
        </p:txBody>
      </p:sp>
      <p:sp>
        <p:nvSpPr>
          <p:cNvPr id="113" name="SH113"/>
          <p:cNvSpPr/>
          <p:nvPr/>
        </p:nvSpPr>
        <p:spPr>
          <a:xfrm>
            <a:off x="609600" y="46482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TB114"/>
          <p:cNvSpPr txBox="1"/>
          <p:nvPr/>
        </p:nvSpPr>
        <p:spPr>
          <a:xfrm>
            <a:off x="914400" y="48514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Q3 · How should IdP groups become Grafana roles?</a:t>
            </a:r>
          </a:p>
        </p:txBody>
      </p:sp>
      <p:sp>
        <p:nvSpPr>
          <p:cNvPr id="115" name="TB115"/>
          <p:cNvSpPr txBox="1"/>
          <p:nvPr/>
        </p:nvSpPr>
        <p:spPr>
          <a:xfrm>
            <a:off x="914400" y="52578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A) Manual edits after each login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B) role_attribute_path / group mappings</a:t>
            </a:r>
          </a:p>
        </p:txBody>
      </p:sp>
      <p:sp>
        <p:nvSpPr>
          <p:cNvPr id="116" name="TB116"/>
          <p:cNvSpPr txBox="1"/>
          <p:nvPr/>
        </p:nvSpPr>
        <p:spPr>
          <a:xfrm>
            <a:off x="6248400" y="52578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C) A cron job hitting the API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D) Folder ACLs only</a:t>
            </a:r>
          </a:p>
        </p:txBody>
      </p:sp>
    </p:spTree>
    <p:extLst>
      <p:ext uri="{BB962C8B-B14F-4D97-AF65-F5344CB8AC3E}">
        <p14:creationId xmlns:p14="http://schemas.microsoft.com/office/powerpoint/2010/main" val="4204611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101"/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1E9E6A"/>
                </a:solidFill>
                <a:latin typeface="Open Sans"/>
              </a:rPr>
              <a:t>MODULE 14 · ANSWERS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16191F"/>
                </a:solidFill>
                <a:latin typeface="Montserrat"/>
              </a:rPr>
              <a:t>Quiz Answers: Authentication &amp; SSO</a:t>
            </a:r>
          </a:p>
        </p:txBody>
      </p:sp>
      <p:sp>
        <p:nvSpPr>
          <p:cNvPr id="103" name="SH103"/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1E9E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How did the room do?</a:t>
            </a:r>
          </a:p>
        </p:txBody>
      </p:sp>
      <p:sp>
        <p:nvSpPr>
          <p:cNvPr id="105" name="SH105"/>
          <p:cNvSpPr/>
          <p:nvPr/>
        </p:nvSpPr>
        <p:spPr>
          <a:xfrm>
            <a:off x="609600" y="18034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BG106"/>
          <p:cNvSpPr/>
          <p:nvPr/>
        </p:nvSpPr>
        <p:spPr>
          <a:xfrm>
            <a:off x="939800" y="2171700"/>
            <a:ext cx="558800" cy="5588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/>
              </a:rPr>
              <a:t>B</a:t>
            </a:r>
          </a:p>
        </p:txBody>
      </p:sp>
      <p:sp>
        <p:nvSpPr>
          <p:cNvPr id="107" name="TB107"/>
          <p:cNvSpPr txBox="1"/>
          <p:nvPr/>
        </p:nvSpPr>
        <p:spPr>
          <a:xfrm>
            <a:off x="1778000" y="2082800"/>
            <a:ext cx="9499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Q1 - The authorization code plus the client secret</a:t>
            </a:r>
          </a:p>
        </p:txBody>
      </p:sp>
      <p:sp>
        <p:nvSpPr>
          <p:cNvPr id="108" name="TB108"/>
          <p:cNvSpPr txBox="1"/>
          <p:nvPr/>
        </p:nvSpPr>
        <p:spPr>
          <a:xfrm>
            <a:off x="1778000" y="2489200"/>
            <a:ext cx="949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Grafana POSTs both to the IdP token endpoint and receives an access token and id_token back.</a:t>
            </a:r>
          </a:p>
        </p:txBody>
      </p:sp>
      <p:sp>
        <p:nvSpPr>
          <p:cNvPr id="109" name="SH109"/>
          <p:cNvSpPr/>
          <p:nvPr/>
        </p:nvSpPr>
        <p:spPr>
          <a:xfrm>
            <a:off x="609600" y="32258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BG110"/>
          <p:cNvSpPr/>
          <p:nvPr/>
        </p:nvSpPr>
        <p:spPr>
          <a:xfrm>
            <a:off x="939800" y="3594100"/>
            <a:ext cx="558800" cy="5588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/>
              </a:rPr>
              <a:t>A</a:t>
            </a:r>
          </a:p>
        </p:txBody>
      </p:sp>
      <p:sp>
        <p:nvSpPr>
          <p:cNvPr id="111" name="TB111"/>
          <p:cNvSpPr txBox="1"/>
          <p:nvPr/>
        </p:nvSpPr>
        <p:spPr>
          <a:xfrm>
            <a:off x="1778000" y="3505200"/>
            <a:ext cx="9499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Q2 - A local admin fallback login</a:t>
            </a:r>
          </a:p>
        </p:txBody>
      </p:sp>
      <p:sp>
        <p:nvSpPr>
          <p:cNvPr id="112" name="TB112"/>
          <p:cNvSpPr txBox="1"/>
          <p:nvPr/>
        </p:nvSpPr>
        <p:spPr>
          <a:xfrm>
            <a:off x="1778000" y="3911600"/>
            <a:ext cx="949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Keep basic auth and one break-glass admin enabled. Never make the IdP a single point of failure.</a:t>
            </a:r>
          </a:p>
        </p:txBody>
      </p:sp>
      <p:sp>
        <p:nvSpPr>
          <p:cNvPr id="113" name="SH113"/>
          <p:cNvSpPr/>
          <p:nvPr/>
        </p:nvSpPr>
        <p:spPr>
          <a:xfrm>
            <a:off x="609600" y="46482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BG114"/>
          <p:cNvSpPr/>
          <p:nvPr/>
        </p:nvSpPr>
        <p:spPr>
          <a:xfrm>
            <a:off x="939800" y="5016500"/>
            <a:ext cx="558800" cy="5588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/>
              </a:rPr>
              <a:t>B</a:t>
            </a:r>
          </a:p>
        </p:txBody>
      </p:sp>
      <p:sp>
        <p:nvSpPr>
          <p:cNvPr id="115" name="TB115"/>
          <p:cNvSpPr txBox="1"/>
          <p:nvPr/>
        </p:nvSpPr>
        <p:spPr>
          <a:xfrm>
            <a:off x="1778000" y="4927600"/>
            <a:ext cx="9499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Q3 - </a:t>
            </a:r>
            <a:r>
              <a:rPr lang="en-US" sz="1700" b="1" dirty="0" err="1">
                <a:solidFill>
                  <a:srgbClr val="16191F"/>
                </a:solidFill>
                <a:latin typeface="Open Sans"/>
              </a:rPr>
              <a:t>role_attribute_path</a:t>
            </a:r>
            <a:r>
              <a:rPr lang="en-US" sz="1700" b="1" dirty="0">
                <a:solidFill>
                  <a:srgbClr val="16191F"/>
                </a:solidFill>
                <a:latin typeface="Open Sans"/>
              </a:rPr>
              <a:t> or group mappings</a:t>
            </a:r>
          </a:p>
        </p:txBody>
      </p:sp>
      <p:sp>
        <p:nvSpPr>
          <p:cNvPr id="116" name="TB116"/>
          <p:cNvSpPr txBox="1"/>
          <p:nvPr/>
        </p:nvSpPr>
        <p:spPr>
          <a:xfrm>
            <a:off x="1778000" y="5334000"/>
            <a:ext cx="949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Map claims and groups in the auth config so roles are applied automatically at every login.</a:t>
            </a:r>
          </a:p>
        </p:txBody>
      </p:sp>
    </p:spTree>
    <p:extLst>
      <p:ext uri="{BB962C8B-B14F-4D97-AF65-F5344CB8AC3E}">
        <p14:creationId xmlns:p14="http://schemas.microsoft.com/office/powerpoint/2010/main" val="3018150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B201"/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E5FA3"/>
                </a:solidFill>
                <a:latin typeface="Open Sans"/>
              </a:rPr>
              <a:t>MODULE 14 · DISCUSSION</a:t>
            </a:r>
          </a:p>
        </p:txBody>
      </p:sp>
      <p:sp>
        <p:nvSpPr>
          <p:cNvPr id="202" name="TB202"/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16191F"/>
                </a:solidFill>
                <a:latin typeface="Montserrat"/>
              </a:rPr>
              <a:t>Talk It Through: SSO in Your Environment</a:t>
            </a:r>
          </a:p>
        </p:txBody>
      </p:sp>
      <p:sp>
        <p:nvSpPr>
          <p:cNvPr id="203" name="SH203"/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B204"/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Five minutes in pairs. Bring one answer back to the room.</a:t>
            </a:r>
          </a:p>
        </p:txBody>
      </p:sp>
      <p:sp>
        <p:nvSpPr>
          <p:cNvPr id="205" name="SH205"/>
          <p:cNvSpPr/>
          <p:nvPr/>
        </p:nvSpPr>
        <p:spPr>
          <a:xfrm>
            <a:off x="609600" y="1905000"/>
            <a:ext cx="3556000" cy="3200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BG206"/>
          <p:cNvSpPr/>
          <p:nvPr/>
        </p:nvSpPr>
        <p:spPr>
          <a:xfrm>
            <a:off x="914400" y="2209800"/>
            <a:ext cx="558800" cy="5588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207" name="TB207"/>
          <p:cNvSpPr txBox="1"/>
          <p:nvPr/>
        </p:nvSpPr>
        <p:spPr>
          <a:xfrm>
            <a:off x="914400" y="2997200"/>
            <a:ext cx="2946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6191F"/>
                </a:solidFill>
                <a:latin typeface="Open Sans"/>
              </a:rPr>
              <a:t>Who owns the IdP?</a:t>
            </a:r>
          </a:p>
        </p:txBody>
      </p:sp>
      <p:sp>
        <p:nvSpPr>
          <p:cNvPr id="208" name="TB208"/>
          <p:cNvSpPr txBox="1"/>
          <p:nvPr/>
        </p:nvSpPr>
        <p:spPr>
          <a:xfrm>
            <a:off x="914400" y="3479800"/>
            <a:ext cx="2946400" cy="190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2F3542"/>
                </a:solidFill>
                <a:latin typeface="Open Sans"/>
              </a:rPr>
              <a:t>Which provider do you use, and does the identity team or the Grafana team own the app registration and its secrets?</a:t>
            </a:r>
          </a:p>
        </p:txBody>
      </p:sp>
      <p:sp>
        <p:nvSpPr>
          <p:cNvPr id="209" name="SH209"/>
          <p:cNvSpPr/>
          <p:nvPr/>
        </p:nvSpPr>
        <p:spPr>
          <a:xfrm>
            <a:off x="4318000" y="1905000"/>
            <a:ext cx="3556000" cy="3200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BG210"/>
          <p:cNvSpPr/>
          <p:nvPr/>
        </p:nvSpPr>
        <p:spPr>
          <a:xfrm>
            <a:off x="4622800" y="2209800"/>
            <a:ext cx="558800" cy="5588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211" name="TB211"/>
          <p:cNvSpPr txBox="1"/>
          <p:nvPr/>
        </p:nvSpPr>
        <p:spPr>
          <a:xfrm>
            <a:off x="4622800" y="2997200"/>
            <a:ext cx="2946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6191F"/>
                </a:solidFill>
                <a:latin typeface="Open Sans"/>
              </a:rPr>
              <a:t>Cutover rollback</a:t>
            </a:r>
          </a:p>
        </p:txBody>
      </p:sp>
      <p:sp>
        <p:nvSpPr>
          <p:cNvPr id="212" name="TB212"/>
          <p:cNvSpPr txBox="1"/>
          <p:nvPr/>
        </p:nvSpPr>
        <p:spPr>
          <a:xfrm>
            <a:off x="4622800" y="3479800"/>
            <a:ext cx="2946400" cy="190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2F3542"/>
                </a:solidFill>
                <a:latin typeface="Open Sans"/>
              </a:rPr>
              <a:t>If role mapping lands everyone as Viewer on go-live morning, what is your rollback - and who has the break-glass login?</a:t>
            </a:r>
          </a:p>
        </p:txBody>
      </p:sp>
      <p:sp>
        <p:nvSpPr>
          <p:cNvPr id="213" name="SH213"/>
          <p:cNvSpPr/>
          <p:nvPr/>
        </p:nvSpPr>
        <p:spPr>
          <a:xfrm>
            <a:off x="8026400" y="1905000"/>
            <a:ext cx="3556000" cy="3200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BG214"/>
          <p:cNvSpPr/>
          <p:nvPr/>
        </p:nvSpPr>
        <p:spPr>
          <a:xfrm>
            <a:off x="8331200" y="2209800"/>
            <a:ext cx="558800" cy="5588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15" name="TB215"/>
          <p:cNvSpPr txBox="1"/>
          <p:nvPr/>
        </p:nvSpPr>
        <p:spPr>
          <a:xfrm>
            <a:off x="8331200" y="2997200"/>
            <a:ext cx="2946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6191F"/>
                </a:solidFill>
                <a:latin typeface="Open Sans"/>
              </a:rPr>
              <a:t>MFA and sessions</a:t>
            </a:r>
          </a:p>
        </p:txBody>
      </p:sp>
      <p:sp>
        <p:nvSpPr>
          <p:cNvPr id="216" name="TB216"/>
          <p:cNvSpPr txBox="1"/>
          <p:nvPr/>
        </p:nvSpPr>
        <p:spPr>
          <a:xfrm>
            <a:off x="8331200" y="3479800"/>
            <a:ext cx="2946400" cy="190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2F3542"/>
                </a:solidFill>
                <a:latin typeface="Open Sans"/>
              </a:rPr>
              <a:t>Should MFA and session lifetime be enforced at the IdP or inside Grafana? What does your security policy actually require?</a:t>
            </a:r>
          </a:p>
        </p:txBody>
      </p:sp>
      <p:sp>
        <p:nvSpPr>
          <p:cNvPr id="217" name="SH217"/>
          <p:cNvSpPr/>
          <p:nvPr/>
        </p:nvSpPr>
        <p:spPr>
          <a:xfrm>
            <a:off x="609600" y="5867400"/>
            <a:ext cx="10972800" cy="635000"/>
          </a:xfrm>
          <a:prstGeom prst="roundRect">
            <a:avLst/>
          </a:prstGeom>
          <a:solidFill>
            <a:srgbClr val="16191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TB218"/>
          <p:cNvSpPr txBox="1"/>
          <p:nvPr/>
        </p:nvSpPr>
        <p:spPr>
          <a:xfrm>
            <a:off x="914400" y="607060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Open Sans"/>
              </a:rPr>
              <a:t>Facilitator: anyone without a break-glass admin account should write that down as an action.</a:t>
            </a:r>
          </a:p>
        </p:txBody>
      </p:sp>
    </p:spTree>
    <p:extLst>
      <p:ext uri="{BB962C8B-B14F-4D97-AF65-F5344CB8AC3E}">
        <p14:creationId xmlns:p14="http://schemas.microsoft.com/office/powerpoint/2010/main" val="2408188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D927C6-0170-4B10-9F9C-E366D7D14BC6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FCFA8E-A0E5-43BE-83E6-652395CE2620}"/>
              </a:ext>
            </a:extLst>
          </p:cNvPr>
          <p:cNvSpPr/>
          <p:nvPr/>
        </p:nvSpPr>
        <p:spPr>
          <a:xfrm>
            <a:off x="0" y="1181100"/>
            <a:ext cx="12192000" cy="508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2BAE9-46B4-4226-ABE4-798DFF445570}"/>
              </a:ext>
            </a:extLst>
          </p:cNvPr>
          <p:cNvSpPr txBox="1"/>
          <p:nvPr/>
        </p:nvSpPr>
        <p:spPr>
          <a:xfrm>
            <a:off x="609600" y="254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FD19A"/>
                </a:solidFill>
                <a:latin typeface="Open Sans"/>
                <a:ea typeface="Open Sans"/>
                <a:cs typeface="Open Sans"/>
              </a:rPr>
              <a:t>HANDS-ON  ·  LAB 14  ·  15 MINUTES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18B16-7CB3-4556-B51B-1F2AC47914AC}"/>
              </a:ext>
            </a:extLst>
          </p:cNvPr>
          <p:cNvSpPr txBox="1"/>
          <p:nvPr/>
        </p:nvSpPr>
        <p:spPr>
          <a:xfrm>
            <a:off x="609600" y="533400"/>
            <a:ext cx="6921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Montserrat"/>
              </a:rPr>
              <a:t>Configure OAuth SSO + Role Mapping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4DE0E-ED52-4F85-B4F2-632A501D930F}"/>
              </a:ext>
            </a:extLst>
          </p:cNvPr>
          <p:cNvSpPr txBox="1"/>
          <p:nvPr/>
        </p:nvSpPr>
        <p:spPr>
          <a:xfrm>
            <a:off x="8890000" y="660400"/>
            <a:ext cx="26924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9FE3C4"/>
                </a:solidFill>
                <a:latin typeface="Open Sans"/>
                <a:ea typeface="Open Sans"/>
                <a:cs typeface="Open Sans"/>
              </a:rPr>
              <a:t>Provider: GitHub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754644-708A-4DD5-869C-6B39AA205AF0}"/>
              </a:ext>
            </a:extLst>
          </p:cNvPr>
          <p:cNvSpPr/>
          <p:nvPr/>
        </p:nvSpPr>
        <p:spPr>
          <a:xfrm>
            <a:off x="609600" y="1422400"/>
            <a:ext cx="7112000" cy="787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86682B-1242-4710-AD9D-3D9D48AA43DF}"/>
              </a:ext>
            </a:extLst>
          </p:cNvPr>
          <p:cNvSpPr/>
          <p:nvPr/>
        </p:nvSpPr>
        <p:spPr>
          <a:xfrm>
            <a:off x="812800" y="1625600"/>
            <a:ext cx="381000" cy="3810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95A773-D904-4718-A721-F8E78F2D86C3}"/>
              </a:ext>
            </a:extLst>
          </p:cNvPr>
          <p:cNvSpPr txBox="1"/>
          <p:nvPr/>
        </p:nvSpPr>
        <p:spPr>
          <a:xfrm>
            <a:off x="1397000" y="1524000"/>
            <a:ext cx="609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Register the OAuth app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B68BA5-0EC1-4D48-BE3A-369D888D8990}"/>
              </a:ext>
            </a:extLst>
          </p:cNvPr>
          <p:cNvSpPr txBox="1"/>
          <p:nvPr/>
        </p:nvSpPr>
        <p:spPr>
          <a:xfrm>
            <a:off x="1397000" y="1778000"/>
            <a:ext cx="61722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GitHub → Settings → Developer settings → OAuth Apps
Callback URL: http://localhost:3000/login/github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7A1874-7C30-40CD-BA25-11E800F1ACE6}"/>
              </a:ext>
            </a:extLst>
          </p:cNvPr>
          <p:cNvSpPr/>
          <p:nvPr/>
        </p:nvSpPr>
        <p:spPr>
          <a:xfrm>
            <a:off x="609600" y="2260600"/>
            <a:ext cx="7112000" cy="787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1E22120-B1E4-4D25-ADD3-31F9DFB79AD3}"/>
              </a:ext>
            </a:extLst>
          </p:cNvPr>
          <p:cNvSpPr/>
          <p:nvPr/>
        </p:nvSpPr>
        <p:spPr>
          <a:xfrm>
            <a:off x="812800" y="2463800"/>
            <a:ext cx="381000" cy="3810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311C92-6627-42FC-802C-EE91CFACAD95}"/>
              </a:ext>
            </a:extLst>
          </p:cNvPr>
          <p:cNvSpPr txBox="1"/>
          <p:nvPr/>
        </p:nvSpPr>
        <p:spPr>
          <a:xfrm>
            <a:off x="1397000" y="2362200"/>
            <a:ext cx="609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Add the config block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67A180-5573-48B8-A4C0-68B31C175662}"/>
              </a:ext>
            </a:extLst>
          </p:cNvPr>
          <p:cNvSpPr txBox="1"/>
          <p:nvPr/>
        </p:nvSpPr>
        <p:spPr>
          <a:xfrm>
            <a:off x="1397000" y="2616200"/>
            <a:ext cx="61722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Edit grafana.ini [</a:t>
            </a:r>
            <a:r>
              <a:rPr lang="en-US" sz="120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auth.github</a:t>
            </a:r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] - paste </a:t>
            </a:r>
            <a:r>
              <a:rPr lang="en-US" sz="120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client_id</a:t>
            </a:r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,
</a:t>
            </a:r>
            <a:r>
              <a:rPr lang="en-US" sz="120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client_secret</a:t>
            </a:r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, scopes = </a:t>
            </a:r>
            <a:r>
              <a:rPr lang="en-US" sz="120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user:email,read:org</a:t>
            </a:r>
            <a:endParaRPr lang="en-US" sz="1200" dirty="0">
              <a:solidFill>
                <a:srgbClr val="5A627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20EBB4-56F5-499D-9718-42B3C3F90EB8}"/>
              </a:ext>
            </a:extLst>
          </p:cNvPr>
          <p:cNvSpPr/>
          <p:nvPr/>
        </p:nvSpPr>
        <p:spPr>
          <a:xfrm>
            <a:off x="609600" y="3098800"/>
            <a:ext cx="7112000" cy="787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521D2AA-C8B3-4E6F-A276-FE8C7DC4D554}"/>
              </a:ext>
            </a:extLst>
          </p:cNvPr>
          <p:cNvSpPr/>
          <p:nvPr/>
        </p:nvSpPr>
        <p:spPr>
          <a:xfrm>
            <a:off x="812800" y="3302000"/>
            <a:ext cx="381000" cy="3810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2E744-33F9-4C3C-B641-AB8A9EA5C5D8}"/>
              </a:ext>
            </a:extLst>
          </p:cNvPr>
          <p:cNvSpPr txBox="1"/>
          <p:nvPr/>
        </p:nvSpPr>
        <p:spPr>
          <a:xfrm>
            <a:off x="1397000" y="3200400"/>
            <a:ext cx="609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Restrict who may enter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6DA0E2-D07F-4EC9-8FF4-81802FA18BFA}"/>
              </a:ext>
            </a:extLst>
          </p:cNvPr>
          <p:cNvSpPr txBox="1"/>
          <p:nvPr/>
        </p:nvSpPr>
        <p:spPr>
          <a:xfrm>
            <a:off x="1397000" y="3454400"/>
            <a:ext cx="61722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allowed_organizations = &lt;your-org&gt;
allow_sign_up = true (so JIT provisioning works)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6CBC011-0A4F-4628-8F38-F2D4C41D4B9C}"/>
              </a:ext>
            </a:extLst>
          </p:cNvPr>
          <p:cNvSpPr/>
          <p:nvPr/>
        </p:nvSpPr>
        <p:spPr>
          <a:xfrm>
            <a:off x="609600" y="3937000"/>
            <a:ext cx="7112000" cy="787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356FDF2-2C96-49AB-976E-42434AB49E8D}"/>
              </a:ext>
            </a:extLst>
          </p:cNvPr>
          <p:cNvSpPr/>
          <p:nvPr/>
        </p:nvSpPr>
        <p:spPr>
          <a:xfrm>
            <a:off x="812800" y="4140200"/>
            <a:ext cx="381000" cy="3810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38A0E9-C7CC-4DD8-A4CA-35FC14984C28}"/>
              </a:ext>
            </a:extLst>
          </p:cNvPr>
          <p:cNvSpPr txBox="1"/>
          <p:nvPr/>
        </p:nvSpPr>
        <p:spPr>
          <a:xfrm>
            <a:off x="1397000" y="4038600"/>
            <a:ext cx="609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Map groups to roles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BD410C-5A0A-4543-BCC1-C1C05D647AA0}"/>
              </a:ext>
            </a:extLst>
          </p:cNvPr>
          <p:cNvSpPr txBox="1"/>
          <p:nvPr/>
        </p:nvSpPr>
        <p:spPr>
          <a:xfrm>
            <a:off x="1397000" y="4292600"/>
            <a:ext cx="61722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role_attribute_path = contains(groups[*],
'@org/platform') &amp;&amp; 'Admin' || 'Viewer'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CF41B72-EDE3-4916-A923-354F8B4A0103}"/>
              </a:ext>
            </a:extLst>
          </p:cNvPr>
          <p:cNvSpPr/>
          <p:nvPr/>
        </p:nvSpPr>
        <p:spPr>
          <a:xfrm>
            <a:off x="609600" y="4775200"/>
            <a:ext cx="7112000" cy="787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34C7C8E-6A02-47A6-84EF-FD0170D1BD2F}"/>
              </a:ext>
            </a:extLst>
          </p:cNvPr>
          <p:cNvSpPr/>
          <p:nvPr/>
        </p:nvSpPr>
        <p:spPr>
          <a:xfrm>
            <a:off x="812800" y="4978400"/>
            <a:ext cx="381000" cy="3810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6C5FDD-C9B3-4716-ABC0-3169BCB6C986}"/>
              </a:ext>
            </a:extLst>
          </p:cNvPr>
          <p:cNvSpPr txBox="1"/>
          <p:nvPr/>
        </p:nvSpPr>
        <p:spPr>
          <a:xfrm>
            <a:off x="1397000" y="4876800"/>
            <a:ext cx="609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Restart &amp; verify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0760F9-BA24-4727-B000-66900C0407D8}"/>
              </a:ext>
            </a:extLst>
          </p:cNvPr>
          <p:cNvSpPr txBox="1"/>
          <p:nvPr/>
        </p:nvSpPr>
        <p:spPr>
          <a:xfrm>
            <a:off x="1397000" y="5130800"/>
            <a:ext cx="61722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systemctl restart grafana-server → the login page
now shows “Sign in with GitHub”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BF0D600-0957-4053-990C-AAA52238B486}"/>
              </a:ext>
            </a:extLst>
          </p:cNvPr>
          <p:cNvSpPr/>
          <p:nvPr/>
        </p:nvSpPr>
        <p:spPr>
          <a:xfrm>
            <a:off x="609600" y="5613400"/>
            <a:ext cx="7112000" cy="787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5EABD48-0400-4986-A432-ABA42C857888}"/>
              </a:ext>
            </a:extLst>
          </p:cNvPr>
          <p:cNvSpPr/>
          <p:nvPr/>
        </p:nvSpPr>
        <p:spPr>
          <a:xfrm>
            <a:off x="812800" y="5816600"/>
            <a:ext cx="381000" cy="3810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A04AEF-FACA-41E8-AA0B-B6A1C1D5E659}"/>
              </a:ext>
            </a:extLst>
          </p:cNvPr>
          <p:cNvSpPr txBox="1"/>
          <p:nvPr/>
        </p:nvSpPr>
        <p:spPr>
          <a:xfrm>
            <a:off x="1397000" y="5715000"/>
            <a:ext cx="609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Prove the mapping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052F2C-A62E-4B6E-8A0A-DFAA73D1C6CD}"/>
              </a:ext>
            </a:extLst>
          </p:cNvPr>
          <p:cNvSpPr txBox="1"/>
          <p:nvPr/>
        </p:nvSpPr>
        <p:spPr>
          <a:xfrm>
            <a:off x="1397000" y="5969000"/>
            <a:ext cx="61722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Log in with a non-admin account → confirm the role in
Admin → Users, then check its folder access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71C2C72-4B66-40B6-ADF0-51973490D499}"/>
              </a:ext>
            </a:extLst>
          </p:cNvPr>
          <p:cNvSpPr/>
          <p:nvPr/>
        </p:nvSpPr>
        <p:spPr>
          <a:xfrm>
            <a:off x="7975600" y="1422400"/>
            <a:ext cx="3606800" cy="2362200"/>
          </a:xfrm>
          <a:prstGeom prst="round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A91C60-37B4-45D7-8861-516F8EDE99B8}"/>
              </a:ext>
            </a:extLst>
          </p:cNvPr>
          <p:cNvSpPr txBox="1"/>
          <p:nvPr/>
        </p:nvSpPr>
        <p:spPr>
          <a:xfrm>
            <a:off x="8280400" y="16002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4FD19A"/>
                </a:solidFill>
                <a:latin typeface="Open Sans"/>
                <a:ea typeface="Open Sans"/>
                <a:cs typeface="Open Sans"/>
              </a:rPr>
              <a:t>Success criteria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6D225A-192B-4DF3-9CBE-6A4AF6E4B6B2}"/>
              </a:ext>
            </a:extLst>
          </p:cNvPr>
          <p:cNvSpPr txBox="1"/>
          <p:nvPr/>
        </p:nvSpPr>
        <p:spPr>
          <a:xfrm>
            <a:off x="8280400" y="1930400"/>
            <a:ext cx="30988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D7EDE4"/>
                </a:solidFill>
                <a:latin typeface="Open Sans"/>
                <a:ea typeface="Open Sans"/>
                <a:cs typeface="Open Sans"/>
              </a:rPr>
              <a:t>• SSO button appears on /login
• New user auto-created on first login
• Role matches the mapped group
• A user outside the org is rejected
• Local admin login still works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DB2995-339F-4831-BE07-E11FCC2EBA2E}"/>
              </a:ext>
            </a:extLst>
          </p:cNvPr>
          <p:cNvSpPr/>
          <p:nvPr/>
        </p:nvSpPr>
        <p:spPr>
          <a:xfrm>
            <a:off x="7975600" y="3937000"/>
            <a:ext cx="3606800" cy="25146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F2A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B31066-09B4-48BE-BE63-AE033203225E}"/>
              </a:ext>
            </a:extLst>
          </p:cNvPr>
          <p:cNvSpPr txBox="1"/>
          <p:nvPr/>
        </p:nvSpPr>
        <p:spPr>
          <a:xfrm>
            <a:off x="8280400" y="4114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B87400"/>
                </a:solidFill>
                <a:latin typeface="Open Sans"/>
                <a:ea typeface="Open Sans"/>
                <a:cs typeface="Open Sans"/>
              </a:rPr>
              <a:t>Debug playbook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34E053-10FD-471F-959F-087F436BD5BF}"/>
              </a:ext>
            </a:extLst>
          </p:cNvPr>
          <p:cNvSpPr txBox="1"/>
          <p:nvPr/>
        </p:nvSpPr>
        <p:spPr>
          <a:xfrm>
            <a:off x="8280400" y="4445000"/>
            <a:ext cx="3098800" cy="1930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redirect_uri mismatch → check root_url
• Check logs: /var/log/grafana/grafana.log
• Set [log] level = debug temporarily
• “User not allowed” → org / domain filter
• Role stuck at Viewer → claim missing
   from the token, not a Grafana bug
• Test JMESPath before shipping it</a:t>
            </a:r>
          </a:p>
        </p:txBody>
      </p:sp>
    </p:spTree>
    <p:extLst>
      <p:ext uri="{BB962C8B-B14F-4D97-AF65-F5344CB8AC3E}">
        <p14:creationId xmlns:p14="http://schemas.microsoft.com/office/powerpoint/2010/main" val="1626589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6F2029-4968-481D-A0EA-55B3B5E8C9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0F8E74-F5D2-4289-9DBE-3EF87CEF5056}"/>
              </a:ext>
            </a:extLst>
          </p:cNvPr>
          <p:cNvSpPr/>
          <p:nvPr/>
        </p:nvSpPr>
        <p:spPr>
          <a:xfrm>
            <a:off x="0" y="0"/>
            <a:ext cx="4318000" cy="6858000"/>
          </a:xfrm>
          <a:prstGeom prst="rect">
            <a:avLst/>
          </a:prstGeom>
          <a:solidFill>
            <a:srgbClr val="1225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C2D735-5E0C-41F6-88D7-54EEC05CAD11}"/>
              </a:ext>
            </a:extLst>
          </p:cNvPr>
          <p:cNvSpPr/>
          <p:nvPr/>
        </p:nvSpPr>
        <p:spPr>
          <a:xfrm>
            <a:off x="4318000" y="0"/>
            <a:ext cx="76200" cy="68580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56676-45B0-45FA-8CE4-FA103CA0B128}"/>
              </a:ext>
            </a:extLst>
          </p:cNvPr>
          <p:cNvSpPr txBox="1"/>
          <p:nvPr/>
        </p:nvSpPr>
        <p:spPr>
          <a:xfrm>
            <a:off x="889000" y="20828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FD19A"/>
                </a:solidFill>
                <a:latin typeface="Open Sans"/>
                <a:ea typeface="Open Sans"/>
                <a:cs typeface="Open Sans"/>
              </a:rPr>
              <a:t>MODULE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4EFA4-E584-4B7F-89E3-FC871D03FA80}"/>
              </a:ext>
            </a:extLst>
          </p:cNvPr>
          <p:cNvSpPr txBox="1"/>
          <p:nvPr/>
        </p:nvSpPr>
        <p:spPr>
          <a:xfrm>
            <a:off x="889000" y="2540000"/>
            <a:ext cx="3048000" cy="152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600" b="1">
                <a:solidFill>
                  <a:srgbClr val="FFFFFF"/>
                </a:solidFill>
                <a:latin typeface="Montserrat"/>
              </a:rPr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F79F1-A492-4494-B16D-490BD4163903}"/>
              </a:ext>
            </a:extLst>
          </p:cNvPr>
          <p:cNvSpPr txBox="1"/>
          <p:nvPr/>
        </p:nvSpPr>
        <p:spPr>
          <a:xfrm>
            <a:off x="5080000" y="1524000"/>
            <a:ext cx="6604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Montserrat"/>
              </a:rPr>
              <a:t>Dashboard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08505A-7A32-4A97-8AAB-9FFFA46B61C8}"/>
              </a:ext>
            </a:extLst>
          </p:cNvPr>
          <p:cNvSpPr txBox="1"/>
          <p:nvPr/>
        </p:nvSpPr>
        <p:spPr>
          <a:xfrm>
            <a:off x="5080000" y="22098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Treat dashboards as code, not as clicks.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B035CD-F016-4E61-8413-498EC1A36A95}"/>
              </a:ext>
            </a:extLst>
          </p:cNvPr>
          <p:cNvSpPr/>
          <p:nvPr/>
        </p:nvSpPr>
        <p:spPr>
          <a:xfrm>
            <a:off x="5080000" y="2946400"/>
            <a:ext cx="3149600" cy="609600"/>
          </a:xfrm>
          <a:prstGeom prst="roundRect">
            <a:avLst/>
          </a:prstGeom>
          <a:solidFill>
            <a:srgbClr val="1B2A24"/>
          </a:solidFill>
          <a:ln w="12700" cap="flat" cmpd="sng" algn="ctr">
            <a:solidFill>
              <a:srgbClr val="335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5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Dashboard Versioning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881A5D-6AD7-4C51-A597-B3AE6487B885}"/>
              </a:ext>
            </a:extLst>
          </p:cNvPr>
          <p:cNvSpPr/>
          <p:nvPr/>
        </p:nvSpPr>
        <p:spPr>
          <a:xfrm>
            <a:off x="8483600" y="2946400"/>
            <a:ext cx="3149600" cy="609600"/>
          </a:xfrm>
          <a:prstGeom prst="roundRect">
            <a:avLst/>
          </a:prstGeom>
          <a:solidFill>
            <a:srgbClr val="1B2A24"/>
          </a:solidFill>
          <a:ln w="12700" cap="flat" cmpd="sng" algn="ctr">
            <a:solidFill>
              <a:srgbClr val="335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5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Import &amp; Export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FAA8F4-51A7-4F5A-8F37-E88A46FBBA50}"/>
              </a:ext>
            </a:extLst>
          </p:cNvPr>
          <p:cNvSpPr/>
          <p:nvPr/>
        </p:nvSpPr>
        <p:spPr>
          <a:xfrm>
            <a:off x="5080000" y="3733800"/>
            <a:ext cx="3149600" cy="609600"/>
          </a:xfrm>
          <a:prstGeom prst="roundRect">
            <a:avLst/>
          </a:prstGeom>
          <a:solidFill>
            <a:srgbClr val="1B2A24"/>
          </a:solidFill>
          <a:ln w="12700" cap="flat" cmpd="sng" algn="ctr">
            <a:solidFill>
              <a:srgbClr val="335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5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JSON Model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7529D1F-4A35-4196-BD15-711EAC5E0AC4}"/>
              </a:ext>
            </a:extLst>
          </p:cNvPr>
          <p:cNvSpPr/>
          <p:nvPr/>
        </p:nvSpPr>
        <p:spPr>
          <a:xfrm>
            <a:off x="8483600" y="3733800"/>
            <a:ext cx="3149600" cy="609600"/>
          </a:xfrm>
          <a:prstGeom prst="roundRect">
            <a:avLst/>
          </a:prstGeom>
          <a:solidFill>
            <a:srgbClr val="1B2A24"/>
          </a:solidFill>
          <a:ln w="12700" cap="flat" cmpd="sng" algn="ctr">
            <a:solidFill>
              <a:srgbClr val="335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5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Dashboard Provisioning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4F185F-C528-4B76-B5A3-B83E3AA27DBE}"/>
              </a:ext>
            </a:extLst>
          </p:cNvPr>
          <p:cNvSpPr/>
          <p:nvPr/>
        </p:nvSpPr>
        <p:spPr>
          <a:xfrm>
            <a:off x="5080000" y="4521200"/>
            <a:ext cx="3149600" cy="609600"/>
          </a:xfrm>
          <a:prstGeom prst="roundRect">
            <a:avLst/>
          </a:prstGeom>
          <a:solidFill>
            <a:srgbClr val="1B2A24"/>
          </a:solidFill>
          <a:ln w="12700" cap="flat" cmpd="sng" algn="ctr">
            <a:solidFill>
              <a:srgbClr val="335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5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Folder Organization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118539-C242-41E4-B8F8-582BE4BC07C8}"/>
              </a:ext>
            </a:extLst>
          </p:cNvPr>
          <p:cNvSpPr/>
          <p:nvPr/>
        </p:nvSpPr>
        <p:spPr>
          <a:xfrm>
            <a:off x="8483600" y="4521200"/>
            <a:ext cx="3149600" cy="609600"/>
          </a:xfrm>
          <a:prstGeom prst="roundRect">
            <a:avLst/>
          </a:prstGeom>
          <a:solidFill>
            <a:srgbClr val="1B2A24"/>
          </a:solidFill>
          <a:ln w="12700" cap="flat" cmpd="sng" algn="ctr">
            <a:solidFill>
              <a:srgbClr val="335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5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GitOps Workflow</a:t>
            </a:r>
          </a:p>
        </p:txBody>
      </p:sp>
    </p:spTree>
    <p:extLst>
      <p:ext uri="{BB962C8B-B14F-4D97-AF65-F5344CB8AC3E}">
        <p14:creationId xmlns:p14="http://schemas.microsoft.com/office/powerpoint/2010/main" val="874042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22FC67-29DE-4BE3-AE29-6F7FA3824B12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E9E6A"/>
                </a:solidFill>
                <a:latin typeface="Open Sans"/>
                <a:ea typeface="Open Sans"/>
                <a:cs typeface="Open Sans"/>
              </a:rPr>
              <a:t>MODULE 15 ·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405627-6BD1-40F3-8F28-45C511B07D06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000" b="1" dirty="0">
                <a:solidFill>
                  <a:srgbClr val="16191F"/>
                </a:solidFill>
                <a:latin typeface="Montserrat"/>
              </a:rPr>
              <a:t>Dashboard Lifecycle - from UI to </a:t>
            </a:r>
            <a:r>
              <a:rPr lang="en-US" sz="3000" b="1" dirty="0" err="1">
                <a:solidFill>
                  <a:srgbClr val="16191F"/>
                </a:solidFill>
                <a:latin typeface="Montserrat"/>
              </a:rPr>
              <a:t>GitOps</a:t>
            </a:r>
            <a:endParaRPr lang="en-US" sz="3000" b="1" dirty="0">
              <a:solidFill>
                <a:srgbClr val="16191F"/>
              </a:solidFill>
              <a:latin typeface="Montserra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407AA2-2321-43D8-BE54-4E4715CD855B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A72172-71BE-472B-98AC-A84F8936D63B}"/>
              </a:ext>
            </a:extLst>
          </p:cNvPr>
          <p:cNvSpPr/>
          <p:nvPr/>
        </p:nvSpPr>
        <p:spPr>
          <a:xfrm>
            <a:off x="609600" y="1600200"/>
            <a:ext cx="1879600" cy="939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E9E6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1  AUTHOR
in the UI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E4D3DAE-8AC0-473A-9947-30294BD6193C}"/>
              </a:ext>
            </a:extLst>
          </p:cNvPr>
          <p:cNvSpPr/>
          <p:nvPr/>
        </p:nvSpPr>
        <p:spPr>
          <a:xfrm>
            <a:off x="2540000" y="1930400"/>
            <a:ext cx="279400" cy="2540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B89E7D-F88E-4D57-87CF-9317CE29743D}"/>
              </a:ext>
            </a:extLst>
          </p:cNvPr>
          <p:cNvSpPr/>
          <p:nvPr/>
        </p:nvSpPr>
        <p:spPr>
          <a:xfrm>
            <a:off x="2870200" y="1600200"/>
            <a:ext cx="1879600" cy="939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E9E6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2  EXPORT
JSON model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A268F6C-6A6F-4EDC-9346-05DC6F5D1B85}"/>
              </a:ext>
            </a:extLst>
          </p:cNvPr>
          <p:cNvSpPr/>
          <p:nvPr/>
        </p:nvSpPr>
        <p:spPr>
          <a:xfrm>
            <a:off x="4800600" y="1930400"/>
            <a:ext cx="279400" cy="2540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7B0C6C-30F8-4CE4-9A95-2FB4A70C9D02}"/>
              </a:ext>
            </a:extLst>
          </p:cNvPr>
          <p:cNvSpPr/>
          <p:nvPr/>
        </p:nvSpPr>
        <p:spPr>
          <a:xfrm>
            <a:off x="5130800" y="1600200"/>
            <a:ext cx="1879600" cy="939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E9E6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3  GIT REPO
review + PR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B2E7358-C680-46C4-B3B5-09814F32BAA2}"/>
              </a:ext>
            </a:extLst>
          </p:cNvPr>
          <p:cNvSpPr/>
          <p:nvPr/>
        </p:nvSpPr>
        <p:spPr>
          <a:xfrm>
            <a:off x="7061200" y="1930400"/>
            <a:ext cx="279400" cy="2540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0A8A6C-6ED1-44A8-B305-9B0916287916}"/>
              </a:ext>
            </a:extLst>
          </p:cNvPr>
          <p:cNvSpPr/>
          <p:nvPr/>
        </p:nvSpPr>
        <p:spPr>
          <a:xfrm>
            <a:off x="7391400" y="1600200"/>
            <a:ext cx="1879600" cy="939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E9E6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it-IT" sz="12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4  CI / CD
validate + tag</a:t>
            </a:r>
            <a:endParaRPr lang="en-US" sz="1250" b="1">
              <a:solidFill>
                <a:srgbClr val="16191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CA12215-B539-4FB4-BB15-D0AA5DF7327A}"/>
              </a:ext>
            </a:extLst>
          </p:cNvPr>
          <p:cNvSpPr/>
          <p:nvPr/>
        </p:nvSpPr>
        <p:spPr>
          <a:xfrm>
            <a:off x="9321800" y="1930400"/>
            <a:ext cx="279400" cy="2540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4C9ECD-E455-45B8-A125-CA8F084CE442}"/>
              </a:ext>
            </a:extLst>
          </p:cNvPr>
          <p:cNvSpPr/>
          <p:nvPr/>
        </p:nvSpPr>
        <p:spPr>
          <a:xfrm>
            <a:off x="9652000" y="1600200"/>
            <a:ext cx="1879600" cy="939800"/>
          </a:xfrm>
          <a:prstGeom prst="roundRect">
            <a:avLst/>
          </a:prstGeom>
          <a:solidFill>
            <a:srgbClr val="1E9E6A"/>
          </a:solidFill>
          <a:ln w="15875" cap="flat" cmpd="sng" algn="ctr">
            <a:solidFill>
              <a:srgbClr val="1E9E6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  PROVISION
file or API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D19C46-8D91-4915-90DC-F152E0470FFA}"/>
              </a:ext>
            </a:extLst>
          </p:cNvPr>
          <p:cNvSpPr/>
          <p:nvPr/>
        </p:nvSpPr>
        <p:spPr>
          <a:xfrm>
            <a:off x="10579100" y="2540000"/>
            <a:ext cx="25400" cy="381000"/>
          </a:xfrm>
          <a:prstGeom prst="rect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820E33-0AB7-4DC6-B472-A7895F096138}"/>
              </a:ext>
            </a:extLst>
          </p:cNvPr>
          <p:cNvSpPr/>
          <p:nvPr/>
        </p:nvSpPr>
        <p:spPr>
          <a:xfrm>
            <a:off x="2362200" y="2921000"/>
            <a:ext cx="8242300" cy="25400"/>
          </a:xfrm>
          <a:prstGeom prst="rect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3B72A2-0D1D-467C-9C95-8398344E4C3B}"/>
              </a:ext>
            </a:extLst>
          </p:cNvPr>
          <p:cNvSpPr/>
          <p:nvPr/>
        </p:nvSpPr>
        <p:spPr>
          <a:xfrm>
            <a:off x="2362200" y="2946400"/>
            <a:ext cx="25400" cy="355600"/>
          </a:xfrm>
          <a:prstGeom prst="rect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31B115-DF37-4157-9863-F5535B26131C}"/>
              </a:ext>
            </a:extLst>
          </p:cNvPr>
          <p:cNvSpPr/>
          <p:nvPr/>
        </p:nvSpPr>
        <p:spPr>
          <a:xfrm>
            <a:off x="6096000" y="2946400"/>
            <a:ext cx="25400" cy="355600"/>
          </a:xfrm>
          <a:prstGeom prst="rect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E9F00D-8D71-4E61-8BE2-4EC9CB4836A1}"/>
              </a:ext>
            </a:extLst>
          </p:cNvPr>
          <p:cNvSpPr/>
          <p:nvPr/>
        </p:nvSpPr>
        <p:spPr>
          <a:xfrm>
            <a:off x="9829800" y="2946400"/>
            <a:ext cx="25400" cy="355600"/>
          </a:xfrm>
          <a:prstGeom prst="rect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8D8C73D-7BD8-40F1-9709-9E42A038BA67}"/>
              </a:ext>
            </a:extLst>
          </p:cNvPr>
          <p:cNvSpPr/>
          <p:nvPr/>
        </p:nvSpPr>
        <p:spPr>
          <a:xfrm>
            <a:off x="609600" y="3302000"/>
            <a:ext cx="3505200" cy="7112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E5F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GRAFANA · DEV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06056D-6CDD-4BE1-A196-F5EA071BF3DE}"/>
              </a:ext>
            </a:extLst>
          </p:cNvPr>
          <p:cNvSpPr/>
          <p:nvPr/>
        </p:nvSpPr>
        <p:spPr>
          <a:xfrm>
            <a:off x="4343400" y="3302000"/>
            <a:ext cx="3505200" cy="7112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F2A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2A93B"/>
                </a:solidFill>
                <a:latin typeface="Open Sans"/>
                <a:ea typeface="Open Sans"/>
                <a:cs typeface="Open Sans"/>
              </a:rPr>
              <a:t>GRAFANA · STAGING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40F8EC-EC1C-47F3-A05C-1FA39463AEEF}"/>
              </a:ext>
            </a:extLst>
          </p:cNvPr>
          <p:cNvSpPr/>
          <p:nvPr/>
        </p:nvSpPr>
        <p:spPr>
          <a:xfrm>
            <a:off x="8077200" y="3302000"/>
            <a:ext cx="3505200" cy="7112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045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D0453B"/>
                </a:solidFill>
                <a:latin typeface="Open Sans"/>
                <a:ea typeface="Open Sans"/>
                <a:cs typeface="Open Sans"/>
              </a:rPr>
              <a:t>GRAFANA · PRODUCTION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2C937-5972-46AB-AECB-F3A0600EAA69}"/>
              </a:ext>
            </a:extLst>
          </p:cNvPr>
          <p:cNvSpPr txBox="1"/>
          <p:nvPr/>
        </p:nvSpPr>
        <p:spPr>
          <a:xfrm>
            <a:off x="609600" y="4089400"/>
            <a:ext cx="109728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 dirty="0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Provisioned dashboards are read-only in the UI - the file is the source of truth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5E858DE-90A1-40B2-90EA-39DC45D4BE27}"/>
              </a:ext>
            </a:extLst>
          </p:cNvPr>
          <p:cNvSpPr/>
          <p:nvPr/>
        </p:nvSpPr>
        <p:spPr>
          <a:xfrm>
            <a:off x="609600" y="4445000"/>
            <a:ext cx="3505200" cy="2057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54CD21-674E-4A66-ABCF-D5163B73F415}"/>
              </a:ext>
            </a:extLst>
          </p:cNvPr>
          <p:cNvSpPr/>
          <p:nvPr/>
        </p:nvSpPr>
        <p:spPr>
          <a:xfrm>
            <a:off x="609600" y="4445000"/>
            <a:ext cx="3505200" cy="635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219BBB-0666-4FC5-8D34-51283FABEF9D}"/>
              </a:ext>
            </a:extLst>
          </p:cNvPr>
          <p:cNvSpPr txBox="1"/>
          <p:nvPr/>
        </p:nvSpPr>
        <p:spPr>
          <a:xfrm>
            <a:off x="838200" y="46482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Why version dashboards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123923-474B-484B-8076-4DDCB983392E}"/>
              </a:ext>
            </a:extLst>
          </p:cNvPr>
          <p:cNvSpPr txBox="1"/>
          <p:nvPr/>
        </p:nvSpPr>
        <p:spPr>
          <a:xfrm>
            <a:off x="838200" y="4978400"/>
            <a:ext cx="3098800" cy="142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Roll back a bad panel in seconds
• Review changes before they hit Prod
• Identical dashboards across environments
• Recreate a whole instance from Git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5EB9A1B-5846-4CDF-BCF6-3C9CE8800965}"/>
              </a:ext>
            </a:extLst>
          </p:cNvPr>
          <p:cNvSpPr/>
          <p:nvPr/>
        </p:nvSpPr>
        <p:spPr>
          <a:xfrm>
            <a:off x="4318000" y="4445000"/>
            <a:ext cx="3505200" cy="2057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11CA35-7B9B-4778-AD1D-CBCFF2B4C576}"/>
              </a:ext>
            </a:extLst>
          </p:cNvPr>
          <p:cNvSpPr/>
          <p:nvPr/>
        </p:nvSpPr>
        <p:spPr>
          <a:xfrm>
            <a:off x="4318000" y="4445000"/>
            <a:ext cx="3505200" cy="635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ABAD0C-DB68-4DFA-9D2D-F787759756FD}"/>
              </a:ext>
            </a:extLst>
          </p:cNvPr>
          <p:cNvSpPr txBox="1"/>
          <p:nvPr/>
        </p:nvSpPr>
        <p:spPr>
          <a:xfrm>
            <a:off x="4546600" y="46482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What travels with the JSON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A746E6-78FE-4506-985D-B2B1EE1AAB56}"/>
              </a:ext>
            </a:extLst>
          </p:cNvPr>
          <p:cNvSpPr txBox="1"/>
          <p:nvPr/>
        </p:nvSpPr>
        <p:spPr>
          <a:xfrm>
            <a:off x="4546600" y="4978400"/>
            <a:ext cx="3098800" cy="142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Panels, queries, variables, thresholds
• Data source refs (use variables, not UIDs)
• Time range, refresh interval, tags
• NOT: permissions, annotations, users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A53B3FB-3BC5-432B-BF70-CF4F884339B3}"/>
              </a:ext>
            </a:extLst>
          </p:cNvPr>
          <p:cNvSpPr/>
          <p:nvPr/>
        </p:nvSpPr>
        <p:spPr>
          <a:xfrm>
            <a:off x="8026400" y="4445000"/>
            <a:ext cx="3505200" cy="2057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966EFA-98E6-4E6D-8968-0B94F2215F02}"/>
              </a:ext>
            </a:extLst>
          </p:cNvPr>
          <p:cNvSpPr/>
          <p:nvPr/>
        </p:nvSpPr>
        <p:spPr>
          <a:xfrm>
            <a:off x="8026400" y="4445000"/>
            <a:ext cx="3505200" cy="635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05D5F8-8959-46DE-86FE-E61726513494}"/>
              </a:ext>
            </a:extLst>
          </p:cNvPr>
          <p:cNvSpPr txBox="1"/>
          <p:nvPr/>
        </p:nvSpPr>
        <p:spPr>
          <a:xfrm>
            <a:off x="8255000" y="46482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Two ways to deploy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25F0F6-7666-42BE-A728-E23CA1D014FD}"/>
              </a:ext>
            </a:extLst>
          </p:cNvPr>
          <p:cNvSpPr txBox="1"/>
          <p:nvPr/>
        </p:nvSpPr>
        <p:spPr>
          <a:xfrm>
            <a:off x="8255000" y="4978400"/>
            <a:ext cx="3098800" cy="142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Provisioning: YAML + JSON files on disk
• API: POST /</a:t>
            </a:r>
            <a:r>
              <a:rPr lang="en-US" sz="125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api</a:t>
            </a:r>
            <a:r>
              <a:rPr lang="en-US" sz="125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/dashboards/</a:t>
            </a:r>
            <a:r>
              <a:rPr lang="en-US" sz="125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db</a:t>
            </a:r>
            <a:r>
              <a:rPr lang="en-US" sz="125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
• Terraform / Grizzly for larger estates
• Pick one - never mix for the same folder</a:t>
            </a:r>
          </a:p>
        </p:txBody>
      </p:sp>
    </p:spTree>
    <p:extLst>
      <p:ext uri="{BB962C8B-B14F-4D97-AF65-F5344CB8AC3E}">
        <p14:creationId xmlns:p14="http://schemas.microsoft.com/office/powerpoint/2010/main" val="351015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687B3D-0D83-4C98-B01B-C6A045A00AAA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E9E6A"/>
                </a:solidFill>
                <a:latin typeface="Open Sans"/>
                <a:ea typeface="Open Sans"/>
                <a:cs typeface="Open Sans"/>
              </a:rPr>
              <a:t>MODULE 15 · 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B7BB33-B538-4F53-B62A-90B4B3B74C90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Dashboard Versioning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50516F-D181-4B06-A6F5-FAFC366A8AF8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C12F41-1F8D-4FEE-8E36-686555B781F8}"/>
              </a:ext>
            </a:extLst>
          </p:cNvPr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Every Save writes a new version row. Dashboard settings → Versions gives you diff and one-click restore.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0E9ECC-997B-474C-B534-C329E2D205AD}"/>
              </a:ext>
            </a:extLst>
          </p:cNvPr>
          <p:cNvSpPr/>
          <p:nvPr/>
        </p:nvSpPr>
        <p:spPr>
          <a:xfrm>
            <a:off x="609600" y="1803400"/>
            <a:ext cx="6604000" cy="3327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CEE1F0-4F21-4589-8279-F540DDDD12B2}"/>
              </a:ext>
            </a:extLst>
          </p:cNvPr>
          <p:cNvSpPr/>
          <p:nvPr/>
        </p:nvSpPr>
        <p:spPr>
          <a:xfrm>
            <a:off x="609600" y="1803400"/>
            <a:ext cx="6604000" cy="431800"/>
          </a:xfrm>
          <a:prstGeom prst="rect">
            <a:avLst/>
          </a:prstGeom>
          <a:solidFill>
            <a:srgbClr val="2F35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C960B-7F62-4650-A4EA-BCC117FD49B1}"/>
              </a:ext>
            </a:extLst>
          </p:cNvPr>
          <p:cNvSpPr txBox="1"/>
          <p:nvPr/>
        </p:nvSpPr>
        <p:spPr>
          <a:xfrm>
            <a:off x="863600" y="1803400"/>
            <a:ext cx="5080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Dashboard settings  ›  Versions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DB4A56-A989-4111-A5F3-C6406E6B2F92}"/>
              </a:ext>
            </a:extLst>
          </p:cNvPr>
          <p:cNvSpPr txBox="1"/>
          <p:nvPr/>
        </p:nvSpPr>
        <p:spPr>
          <a:xfrm>
            <a:off x="838200" y="23114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Version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D35D2-6D4C-41DF-98C1-EDA5FBA61639}"/>
              </a:ext>
            </a:extLst>
          </p:cNvPr>
          <p:cNvSpPr txBox="1"/>
          <p:nvPr/>
        </p:nvSpPr>
        <p:spPr>
          <a:xfrm>
            <a:off x="1905000" y="23114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8E9EC-B75A-4A54-B61F-BF677EAE5059}"/>
              </a:ext>
            </a:extLst>
          </p:cNvPr>
          <p:cNvSpPr txBox="1"/>
          <p:nvPr/>
        </p:nvSpPr>
        <p:spPr>
          <a:xfrm>
            <a:off x="3403600" y="23114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Updated by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9485FD-E6D7-42BB-A5F2-3A1775C3D447}"/>
              </a:ext>
            </a:extLst>
          </p:cNvPr>
          <p:cNvSpPr txBox="1"/>
          <p:nvPr/>
        </p:nvSpPr>
        <p:spPr>
          <a:xfrm>
            <a:off x="4902200" y="23114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Notes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64F59-ADBB-40CA-9FA7-004C6DA41D9A}"/>
              </a:ext>
            </a:extLst>
          </p:cNvPr>
          <p:cNvSpPr/>
          <p:nvPr/>
        </p:nvSpPr>
        <p:spPr>
          <a:xfrm>
            <a:off x="762000" y="2616200"/>
            <a:ext cx="6299200" cy="533400"/>
          </a:xfrm>
          <a:prstGeom prst="rect">
            <a:avLst/>
          </a:prstGeom>
          <a:solidFill>
            <a:srgbClr val="EAF7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66142E-94A7-4DE4-830F-7B50F20F4505}"/>
              </a:ext>
            </a:extLst>
          </p:cNvPr>
          <p:cNvSpPr/>
          <p:nvPr/>
        </p:nvSpPr>
        <p:spPr>
          <a:xfrm>
            <a:off x="762000" y="2616200"/>
            <a:ext cx="50800" cy="5334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A48C73-37AA-4301-A947-0A5FA37C58B1}"/>
              </a:ext>
            </a:extLst>
          </p:cNvPr>
          <p:cNvSpPr txBox="1"/>
          <p:nvPr/>
        </p:nvSpPr>
        <p:spPr>
          <a:xfrm>
            <a:off x="939800" y="2616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1E9E6A"/>
                </a:solidFill>
                <a:latin typeface="Open Sans"/>
                <a:ea typeface="Open Sans"/>
                <a:cs typeface="Open Sans"/>
              </a:rPr>
              <a:t>v12  (latest)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9CFDCA-9D1A-4C75-8B1A-EEC10EC11FC1}"/>
              </a:ext>
            </a:extLst>
          </p:cNvPr>
          <p:cNvSpPr txBox="1"/>
          <p:nvPr/>
        </p:nvSpPr>
        <p:spPr>
          <a:xfrm>
            <a:off x="1905000" y="2616200"/>
            <a:ext cx="1397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Today 09:41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231E3-E1FE-4575-8F53-6C0BEE6DA44F}"/>
              </a:ext>
            </a:extLst>
          </p:cNvPr>
          <p:cNvSpPr txBox="1"/>
          <p:nvPr/>
        </p:nvSpPr>
        <p:spPr>
          <a:xfrm>
            <a:off x="3403600" y="2616200"/>
            <a:ext cx="1397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sre.user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4BA177-DFE3-4757-BD90-AD1D7F5D431A}"/>
              </a:ext>
            </a:extLst>
          </p:cNvPr>
          <p:cNvSpPr txBox="1"/>
          <p:nvPr/>
        </p:nvSpPr>
        <p:spPr>
          <a:xfrm>
            <a:off x="4902200" y="2616200"/>
            <a:ext cx="20955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Added p99 latency row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05E311-6B88-4951-9B1B-83A9A403B7E1}"/>
              </a:ext>
            </a:extLst>
          </p:cNvPr>
          <p:cNvSpPr/>
          <p:nvPr/>
        </p:nvSpPr>
        <p:spPr>
          <a:xfrm>
            <a:off x="762000" y="3200400"/>
            <a:ext cx="6299200" cy="533400"/>
          </a:xfrm>
          <a:prstGeom prst="rect">
            <a:avLst/>
          </a:prstGeom>
          <a:solidFill>
            <a:srgbClr val="FAFA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F38094-D15E-4912-9A28-3C7B4372DA9E}"/>
              </a:ext>
            </a:extLst>
          </p:cNvPr>
          <p:cNvSpPr txBox="1"/>
          <p:nvPr/>
        </p:nvSpPr>
        <p:spPr>
          <a:xfrm>
            <a:off x="939800" y="32004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2F3542"/>
                </a:solidFill>
                <a:latin typeface="Open Sans"/>
                <a:ea typeface="Open Sans"/>
                <a:cs typeface="Open Sans"/>
              </a:rPr>
              <a:t>v11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F3D34C-6213-4471-901C-9DB7716F0418}"/>
              </a:ext>
            </a:extLst>
          </p:cNvPr>
          <p:cNvSpPr txBox="1"/>
          <p:nvPr/>
        </p:nvSpPr>
        <p:spPr>
          <a:xfrm>
            <a:off x="1905000" y="3200400"/>
            <a:ext cx="1397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Yesterday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C5A784-1DB9-4D30-8D6E-F84B5913B41A}"/>
              </a:ext>
            </a:extLst>
          </p:cNvPr>
          <p:cNvSpPr txBox="1"/>
          <p:nvPr/>
        </p:nvSpPr>
        <p:spPr>
          <a:xfrm>
            <a:off x="3403600" y="3200400"/>
            <a:ext cx="1397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dev.user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253AC8-6D19-4BCB-91F8-81F3EC35DC27}"/>
              </a:ext>
            </a:extLst>
          </p:cNvPr>
          <p:cNvSpPr txBox="1"/>
          <p:nvPr/>
        </p:nvSpPr>
        <p:spPr>
          <a:xfrm>
            <a:off x="4902200" y="3200400"/>
            <a:ext cx="20955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Changed refresh to 1m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2D5EB5-D5AC-4383-823F-0B503414B8D2}"/>
              </a:ext>
            </a:extLst>
          </p:cNvPr>
          <p:cNvSpPr/>
          <p:nvPr/>
        </p:nvSpPr>
        <p:spPr>
          <a:xfrm>
            <a:off x="762000" y="3784600"/>
            <a:ext cx="6299200" cy="533400"/>
          </a:xfrm>
          <a:prstGeom prst="rect">
            <a:avLst/>
          </a:prstGeom>
          <a:solidFill>
            <a:srgbClr val="FAFA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B3A1F2-6C75-4391-A7F8-58ADF6AB7F05}"/>
              </a:ext>
            </a:extLst>
          </p:cNvPr>
          <p:cNvSpPr txBox="1"/>
          <p:nvPr/>
        </p:nvSpPr>
        <p:spPr>
          <a:xfrm>
            <a:off x="939800" y="37846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2F3542"/>
                </a:solidFill>
                <a:latin typeface="Open Sans"/>
                <a:ea typeface="Open Sans"/>
                <a:cs typeface="Open Sans"/>
              </a:rPr>
              <a:t>v10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E7C8C1-842D-4E7E-BD6F-EEDD83979547}"/>
              </a:ext>
            </a:extLst>
          </p:cNvPr>
          <p:cNvSpPr txBox="1"/>
          <p:nvPr/>
        </p:nvSpPr>
        <p:spPr>
          <a:xfrm>
            <a:off x="1905000" y="3784600"/>
            <a:ext cx="1397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12 Mar 2026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943339-3D07-4002-9F5D-AB91EE4C4DA9}"/>
              </a:ext>
            </a:extLst>
          </p:cNvPr>
          <p:cNvSpPr txBox="1"/>
          <p:nvPr/>
        </p:nvSpPr>
        <p:spPr>
          <a:xfrm>
            <a:off x="3403600" y="3784600"/>
            <a:ext cx="1397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provisioning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0D2D03-2028-4D5A-B785-B5CB389DAEAD}"/>
              </a:ext>
            </a:extLst>
          </p:cNvPr>
          <p:cNvSpPr txBox="1"/>
          <p:nvPr/>
        </p:nvSpPr>
        <p:spPr>
          <a:xfrm>
            <a:off x="4902200" y="3784600"/>
            <a:ext cx="20955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CI deploy - tag v2.4.0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D8F892-6170-4F8D-A1D9-DBB4C9BF78AA}"/>
              </a:ext>
            </a:extLst>
          </p:cNvPr>
          <p:cNvSpPr/>
          <p:nvPr/>
        </p:nvSpPr>
        <p:spPr>
          <a:xfrm>
            <a:off x="762000" y="4368800"/>
            <a:ext cx="6299200" cy="533400"/>
          </a:xfrm>
          <a:prstGeom prst="rect">
            <a:avLst/>
          </a:prstGeom>
          <a:solidFill>
            <a:srgbClr val="FAFA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FDE2ED-D727-46D9-82E1-CEDB76F9EDAE}"/>
              </a:ext>
            </a:extLst>
          </p:cNvPr>
          <p:cNvSpPr txBox="1"/>
          <p:nvPr/>
        </p:nvSpPr>
        <p:spPr>
          <a:xfrm>
            <a:off x="939800" y="43688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2F3542"/>
                </a:solidFill>
                <a:latin typeface="Open Sans"/>
                <a:ea typeface="Open Sans"/>
                <a:cs typeface="Open Sans"/>
              </a:rPr>
              <a:t>v9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0520F0-2F2F-49CD-8AAB-44ADC65D93AC}"/>
              </a:ext>
            </a:extLst>
          </p:cNvPr>
          <p:cNvSpPr txBox="1"/>
          <p:nvPr/>
        </p:nvSpPr>
        <p:spPr>
          <a:xfrm>
            <a:off x="1905000" y="4368800"/>
            <a:ext cx="1397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05 Mar 2026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0D33AB-41F4-457F-8FE3-20B1DC01063C}"/>
              </a:ext>
            </a:extLst>
          </p:cNvPr>
          <p:cNvSpPr txBox="1"/>
          <p:nvPr/>
        </p:nvSpPr>
        <p:spPr>
          <a:xfrm>
            <a:off x="3403600" y="4368800"/>
            <a:ext cx="1397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sre.user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3C1428-E066-41A2-825C-FB1EEE329DB1}"/>
              </a:ext>
            </a:extLst>
          </p:cNvPr>
          <p:cNvSpPr txBox="1"/>
          <p:nvPr/>
        </p:nvSpPr>
        <p:spPr>
          <a:xfrm>
            <a:off x="4902200" y="4368800"/>
            <a:ext cx="20955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Fixed variable regex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C280C3-8A95-4122-BAC3-7699839576D8}"/>
              </a:ext>
            </a:extLst>
          </p:cNvPr>
          <p:cNvSpPr txBox="1"/>
          <p:nvPr/>
        </p:nvSpPr>
        <p:spPr>
          <a:xfrm>
            <a:off x="609600" y="5207000"/>
            <a:ext cx="6604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Select two rows → Compare versions → view the JSON diff, then Restore.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2F74169-022E-4159-B841-B966E62369B3}"/>
              </a:ext>
            </a:extLst>
          </p:cNvPr>
          <p:cNvSpPr/>
          <p:nvPr/>
        </p:nvSpPr>
        <p:spPr>
          <a:xfrm>
            <a:off x="7518400" y="1803400"/>
            <a:ext cx="4064000" cy="1320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263394-4539-4619-A5B7-00AA3E2AC2D4}"/>
              </a:ext>
            </a:extLst>
          </p:cNvPr>
          <p:cNvSpPr/>
          <p:nvPr/>
        </p:nvSpPr>
        <p:spPr>
          <a:xfrm>
            <a:off x="7518400" y="1803400"/>
            <a:ext cx="63500" cy="13208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3BBFB4-9FED-4C23-B67A-8ACC5E522CDA}"/>
              </a:ext>
            </a:extLst>
          </p:cNvPr>
          <p:cNvSpPr txBox="1"/>
          <p:nvPr/>
        </p:nvSpPr>
        <p:spPr>
          <a:xfrm>
            <a:off x="7772400" y="1930400"/>
            <a:ext cx="355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What you get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9300D-0F0A-4F01-81FB-A484B7E515C2}"/>
              </a:ext>
            </a:extLst>
          </p:cNvPr>
          <p:cNvSpPr txBox="1"/>
          <p:nvPr/>
        </p:nvSpPr>
        <p:spPr>
          <a:xfrm>
            <a:off x="7772400" y="2209800"/>
            <a:ext cx="3708400" cy="838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Full JSON snapshot on every save
• Side-by-side diff of any two versions
• Restore creates a new version
• API: /api/dashboards/uid/{uid}/versions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F701A1D-84F7-4646-9D47-D3957AA14E6F}"/>
              </a:ext>
            </a:extLst>
          </p:cNvPr>
          <p:cNvSpPr/>
          <p:nvPr/>
        </p:nvSpPr>
        <p:spPr>
          <a:xfrm>
            <a:off x="7518400" y="3251200"/>
            <a:ext cx="4064000" cy="1676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4871ACA-E67E-48B7-B435-5B2CBFE6719B}"/>
              </a:ext>
            </a:extLst>
          </p:cNvPr>
          <p:cNvSpPr/>
          <p:nvPr/>
        </p:nvSpPr>
        <p:spPr>
          <a:xfrm>
            <a:off x="7518400" y="3251200"/>
            <a:ext cx="63500" cy="1676400"/>
          </a:xfrm>
          <a:prstGeom prst="rect">
            <a:avLst/>
          </a:prstGeom>
          <a:solidFill>
            <a:srgbClr val="F2A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1C401F-F371-4819-8536-B350C84A9262}"/>
              </a:ext>
            </a:extLst>
          </p:cNvPr>
          <p:cNvSpPr txBox="1"/>
          <p:nvPr/>
        </p:nvSpPr>
        <p:spPr>
          <a:xfrm>
            <a:off x="7772400" y="3378200"/>
            <a:ext cx="355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Limits &amp; gotchas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82A05B-B0B4-4DAF-9BEB-D30F08C8E294}"/>
              </a:ext>
            </a:extLst>
          </p:cNvPr>
          <p:cNvSpPr txBox="1"/>
          <p:nvPr/>
        </p:nvSpPr>
        <p:spPr>
          <a:xfrm>
            <a:off x="7772400" y="3657600"/>
            <a:ext cx="3708400" cy="1193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Tracks dashboard JSON only - not
   permissions or annotations
• Provisioned dashboards can't be
   restored from the UI
• History lives in </a:t>
            </a:r>
            <a:r>
              <a:rPr lang="en-US" sz="120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grafana.db</a:t>
            </a:r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 → back it up
• Pruned by </a:t>
            </a:r>
            <a:r>
              <a:rPr lang="en-US" sz="120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versions_to_keep</a:t>
            </a:r>
            <a:endParaRPr lang="en-US" sz="1200" dirty="0">
              <a:solidFill>
                <a:srgbClr val="5A627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51A7C6B-6219-4F33-991D-7FC1389CCD18}"/>
              </a:ext>
            </a:extLst>
          </p:cNvPr>
          <p:cNvSpPr/>
          <p:nvPr/>
        </p:nvSpPr>
        <p:spPr>
          <a:xfrm>
            <a:off x="7518400" y="5054600"/>
            <a:ext cx="40640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ED8D57E-4CD6-4074-9E37-E827B4104A10}"/>
              </a:ext>
            </a:extLst>
          </p:cNvPr>
          <p:cNvSpPr/>
          <p:nvPr/>
        </p:nvSpPr>
        <p:spPr>
          <a:xfrm>
            <a:off x="7518400" y="5054600"/>
            <a:ext cx="63500" cy="13970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A0DEE3-D2C1-41F0-973D-8DE93B8C2653}"/>
              </a:ext>
            </a:extLst>
          </p:cNvPr>
          <p:cNvSpPr txBox="1"/>
          <p:nvPr/>
        </p:nvSpPr>
        <p:spPr>
          <a:xfrm>
            <a:off x="7772400" y="5181600"/>
            <a:ext cx="355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Discipline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60D750-5A45-4A2B-8930-5C3F3E959633}"/>
              </a:ext>
            </a:extLst>
          </p:cNvPr>
          <p:cNvSpPr txBox="1"/>
          <p:nvPr/>
        </p:nvSpPr>
        <p:spPr>
          <a:xfrm>
            <a:off x="7772400" y="5461000"/>
            <a:ext cx="3708400" cy="91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Always write a save message
• Never edit Production live —
   copy, edit, then PR
• Tag dashboards by team / env / tier</a:t>
            </a:r>
          </a:p>
        </p:txBody>
      </p:sp>
    </p:spTree>
    <p:extLst>
      <p:ext uri="{BB962C8B-B14F-4D97-AF65-F5344CB8AC3E}">
        <p14:creationId xmlns:p14="http://schemas.microsoft.com/office/powerpoint/2010/main" val="1886719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0D7A4-0AC2-4694-B8D4-823311C6A89C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E9E6A"/>
                </a:solidFill>
                <a:latin typeface="Open Sans"/>
                <a:ea typeface="Open Sans"/>
                <a:cs typeface="Open Sans"/>
              </a:rPr>
              <a:t>MODULE 15 · 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EBC208-F23C-4A83-B536-44A37A283EB8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Import &amp; Export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9DCE5F-2131-48A4-B039-2D8751A8185F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1A08BD-4150-43CE-9B37-4275B3D06234}"/>
              </a:ext>
            </a:extLst>
          </p:cNvPr>
          <p:cNvSpPr/>
          <p:nvPr/>
        </p:nvSpPr>
        <p:spPr>
          <a:xfrm>
            <a:off x="609600" y="1574800"/>
            <a:ext cx="5334000" cy="3175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57F6DE-9DCE-4AE5-878B-883949F1D014}"/>
              </a:ext>
            </a:extLst>
          </p:cNvPr>
          <p:cNvSpPr/>
          <p:nvPr/>
        </p:nvSpPr>
        <p:spPr>
          <a:xfrm>
            <a:off x="609600" y="1574800"/>
            <a:ext cx="5334000" cy="5080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EB1AB5-D7CE-4751-919B-86D1F0127056}"/>
              </a:ext>
            </a:extLst>
          </p:cNvPr>
          <p:cNvSpPr txBox="1"/>
          <p:nvPr/>
        </p:nvSpPr>
        <p:spPr>
          <a:xfrm>
            <a:off x="863600" y="1574800"/>
            <a:ext cx="482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EXPORT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6D117B-7159-4A1D-A7F9-AF0F9B076915}"/>
              </a:ext>
            </a:extLst>
          </p:cNvPr>
          <p:cNvSpPr/>
          <p:nvPr/>
        </p:nvSpPr>
        <p:spPr>
          <a:xfrm>
            <a:off x="863600" y="2260600"/>
            <a:ext cx="304800" cy="3048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A4535C-4257-4019-A42D-F7CF0B2E70F3}"/>
              </a:ext>
            </a:extLst>
          </p:cNvPr>
          <p:cNvSpPr txBox="1"/>
          <p:nvPr/>
        </p:nvSpPr>
        <p:spPr>
          <a:xfrm>
            <a:off x="1320800" y="22606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Share → Export → Save to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78CA89-5A4C-4561-9C08-027A2FDEC556}"/>
              </a:ext>
            </a:extLst>
          </p:cNvPr>
          <p:cNvSpPr txBox="1"/>
          <p:nvPr/>
        </p:nvSpPr>
        <p:spPr>
          <a:xfrm>
            <a:off x="1320800" y="25019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Downloads the dashboard JSON as-is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F143FF0-D0DE-4E2E-B2ED-3369CB651C2A}"/>
              </a:ext>
            </a:extLst>
          </p:cNvPr>
          <p:cNvSpPr/>
          <p:nvPr/>
        </p:nvSpPr>
        <p:spPr>
          <a:xfrm>
            <a:off x="863600" y="2844800"/>
            <a:ext cx="304800" cy="3048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023888-8FE8-487A-BCDC-59C0A1F020BD}"/>
              </a:ext>
            </a:extLst>
          </p:cNvPr>
          <p:cNvSpPr txBox="1"/>
          <p:nvPr/>
        </p:nvSpPr>
        <p:spPr>
          <a:xfrm>
            <a:off x="1320800" y="28448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Tick “Export for sharing externally”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35A88-524B-4095-A1D8-716DBF2E3C7F}"/>
              </a:ext>
            </a:extLst>
          </p:cNvPr>
          <p:cNvSpPr txBox="1"/>
          <p:nvPr/>
        </p:nvSpPr>
        <p:spPr>
          <a:xfrm>
            <a:off x="1320800" y="30861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Replaces data source UIDs with __inputs variables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92731A-4653-43A7-A1CB-B0EE9DE81B3F}"/>
              </a:ext>
            </a:extLst>
          </p:cNvPr>
          <p:cNvSpPr/>
          <p:nvPr/>
        </p:nvSpPr>
        <p:spPr>
          <a:xfrm>
            <a:off x="863600" y="3429000"/>
            <a:ext cx="304800" cy="3048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DB389F-690B-4DBA-8F9E-E3B3FD8CE302}"/>
              </a:ext>
            </a:extLst>
          </p:cNvPr>
          <p:cNvSpPr txBox="1"/>
          <p:nvPr/>
        </p:nvSpPr>
        <p:spPr>
          <a:xfrm>
            <a:off x="1320800" y="34290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Or use the API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C06190-BDB2-4BCC-94A9-A25C75C95A15}"/>
              </a:ext>
            </a:extLst>
          </p:cNvPr>
          <p:cNvSpPr txBox="1"/>
          <p:nvPr/>
        </p:nvSpPr>
        <p:spPr>
          <a:xfrm>
            <a:off x="1320800" y="36703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GET /api/dashboards/uid/{uid}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74DF8A7-F392-4971-AB9B-9A1983315FD8}"/>
              </a:ext>
            </a:extLst>
          </p:cNvPr>
          <p:cNvSpPr/>
          <p:nvPr/>
        </p:nvSpPr>
        <p:spPr>
          <a:xfrm>
            <a:off x="863600" y="4013200"/>
            <a:ext cx="304800" cy="3048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F861FD-1E5B-4977-A1C2-71FFCAE0B0C7}"/>
              </a:ext>
            </a:extLst>
          </p:cNvPr>
          <p:cNvSpPr txBox="1"/>
          <p:nvPr/>
        </p:nvSpPr>
        <p:spPr>
          <a:xfrm>
            <a:off x="1320800" y="40132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Commit the file to Git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9BE01A-31C1-4FAD-A183-86E7065E6E31}"/>
              </a:ext>
            </a:extLst>
          </p:cNvPr>
          <p:cNvSpPr txBox="1"/>
          <p:nvPr/>
        </p:nvSpPr>
        <p:spPr>
          <a:xfrm>
            <a:off x="1320800" y="42545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One file per dashboard, folder per team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4ABA47-4E79-4043-AFE4-E7F12789FAAA}"/>
              </a:ext>
            </a:extLst>
          </p:cNvPr>
          <p:cNvSpPr/>
          <p:nvPr/>
        </p:nvSpPr>
        <p:spPr>
          <a:xfrm>
            <a:off x="6248400" y="1574800"/>
            <a:ext cx="5334000" cy="3175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BC809C-B10C-410F-9E3C-C6FB89430A6B}"/>
              </a:ext>
            </a:extLst>
          </p:cNvPr>
          <p:cNvSpPr/>
          <p:nvPr/>
        </p:nvSpPr>
        <p:spPr>
          <a:xfrm>
            <a:off x="6248400" y="1574800"/>
            <a:ext cx="5334000" cy="5080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B0FC8-FE7A-41A9-9A5E-C69DF27736BE}"/>
              </a:ext>
            </a:extLst>
          </p:cNvPr>
          <p:cNvSpPr txBox="1"/>
          <p:nvPr/>
        </p:nvSpPr>
        <p:spPr>
          <a:xfrm>
            <a:off x="6502400" y="1574800"/>
            <a:ext cx="482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IMPORT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3F0A2FD-782D-48D1-B3D4-B549C12B7B17}"/>
              </a:ext>
            </a:extLst>
          </p:cNvPr>
          <p:cNvSpPr/>
          <p:nvPr/>
        </p:nvSpPr>
        <p:spPr>
          <a:xfrm>
            <a:off x="6502400" y="2260600"/>
            <a:ext cx="304800" cy="3048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C671FF-8480-498F-85D7-569415E97578}"/>
              </a:ext>
            </a:extLst>
          </p:cNvPr>
          <p:cNvSpPr txBox="1"/>
          <p:nvPr/>
        </p:nvSpPr>
        <p:spPr>
          <a:xfrm>
            <a:off x="6959600" y="22606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Dashboards → New → Import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8B4EA0-0607-4DEE-822C-9521312D23F2}"/>
              </a:ext>
            </a:extLst>
          </p:cNvPr>
          <p:cNvSpPr txBox="1"/>
          <p:nvPr/>
        </p:nvSpPr>
        <p:spPr>
          <a:xfrm>
            <a:off x="6959600" y="25019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Paste JSON, upload a file, or enter a grafana.com ID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92EEEB9-9597-45FB-81A8-47C66B55E7F9}"/>
              </a:ext>
            </a:extLst>
          </p:cNvPr>
          <p:cNvSpPr/>
          <p:nvPr/>
        </p:nvSpPr>
        <p:spPr>
          <a:xfrm>
            <a:off x="6502400" y="2844800"/>
            <a:ext cx="304800" cy="3048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70BDD4-3AA5-489E-800A-8EEAA3E711E1}"/>
              </a:ext>
            </a:extLst>
          </p:cNvPr>
          <p:cNvSpPr txBox="1"/>
          <p:nvPr/>
        </p:nvSpPr>
        <p:spPr>
          <a:xfrm>
            <a:off x="6959600" y="28448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Map the data sources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755DE4-6DEF-4297-90E5-631F915A8FEE}"/>
              </a:ext>
            </a:extLst>
          </p:cNvPr>
          <p:cNvSpPr txBox="1"/>
          <p:nvPr/>
        </p:nvSpPr>
        <p:spPr>
          <a:xfrm>
            <a:off x="6959600" y="30861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Each __inputs entry must be pointed at a real source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C05F1A-3CD9-4257-89FF-A4F00E8B4F1E}"/>
              </a:ext>
            </a:extLst>
          </p:cNvPr>
          <p:cNvSpPr/>
          <p:nvPr/>
        </p:nvSpPr>
        <p:spPr>
          <a:xfrm>
            <a:off x="6502400" y="3429000"/>
            <a:ext cx="304800" cy="3048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59460C-5182-43A1-9CDE-F4447A6114A9}"/>
              </a:ext>
            </a:extLst>
          </p:cNvPr>
          <p:cNvSpPr txBox="1"/>
          <p:nvPr/>
        </p:nvSpPr>
        <p:spPr>
          <a:xfrm>
            <a:off x="6959600" y="34290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Choose folder + UID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E20317-729B-4086-A152-75EA9A42F54F}"/>
              </a:ext>
            </a:extLst>
          </p:cNvPr>
          <p:cNvSpPr txBox="1"/>
          <p:nvPr/>
        </p:nvSpPr>
        <p:spPr>
          <a:xfrm>
            <a:off x="6959600" y="36703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Keep the UID stable so links and history survive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A8F7B0C-B8FE-47EF-BF24-0784F9B19EB7}"/>
              </a:ext>
            </a:extLst>
          </p:cNvPr>
          <p:cNvSpPr/>
          <p:nvPr/>
        </p:nvSpPr>
        <p:spPr>
          <a:xfrm>
            <a:off x="6502400" y="4013200"/>
            <a:ext cx="304800" cy="3048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971F83-5544-430D-AED9-E8568348097C}"/>
              </a:ext>
            </a:extLst>
          </p:cNvPr>
          <p:cNvSpPr txBox="1"/>
          <p:nvPr/>
        </p:nvSpPr>
        <p:spPr>
          <a:xfrm>
            <a:off x="6959600" y="40132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Or use the API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FD4E19-D45F-41C9-B776-55EA93843AEB}"/>
              </a:ext>
            </a:extLst>
          </p:cNvPr>
          <p:cNvSpPr txBox="1"/>
          <p:nvPr/>
        </p:nvSpPr>
        <p:spPr>
          <a:xfrm>
            <a:off x="6959600" y="42545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POST /api/dashboards/db  with overwrite: true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37D34A5-AC79-4906-B4F3-65A4C08563DA}"/>
              </a:ext>
            </a:extLst>
          </p:cNvPr>
          <p:cNvSpPr/>
          <p:nvPr/>
        </p:nvSpPr>
        <p:spPr>
          <a:xfrm>
            <a:off x="609600" y="4953000"/>
            <a:ext cx="6604000" cy="15494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759DC5-DBFE-4D24-8A2E-DB099011FB4F}"/>
              </a:ext>
            </a:extLst>
          </p:cNvPr>
          <p:cNvSpPr/>
          <p:nvPr/>
        </p:nvSpPr>
        <p:spPr>
          <a:xfrm>
            <a:off x="609600" y="4953000"/>
            <a:ext cx="6604000" cy="355600"/>
          </a:xfrm>
          <a:prstGeom prst="rect">
            <a:avLst/>
          </a:prstGeom>
          <a:solidFill>
            <a:srgbClr val="2226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368DD2-F55E-4CCD-AD8E-848D70FFDEB4}"/>
              </a:ext>
            </a:extLst>
          </p:cNvPr>
          <p:cNvSpPr txBox="1"/>
          <p:nvPr/>
        </p:nvSpPr>
        <p:spPr>
          <a:xfrm>
            <a:off x="889000" y="49530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 b="1" dirty="0">
                <a:solidFill>
                  <a:srgbClr val="9FB0C6"/>
                </a:solidFill>
                <a:latin typeface="Consolas"/>
              </a:rPr>
              <a:t>bash - automate it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8A000E-E45B-4646-B18C-2BE516E963AC}"/>
              </a:ext>
            </a:extLst>
          </p:cNvPr>
          <p:cNvSpPr txBox="1"/>
          <p:nvPr/>
        </p:nvSpPr>
        <p:spPr>
          <a:xfrm>
            <a:off x="863600" y="5384800"/>
            <a:ext cx="6223000" cy="1066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>
                <a:solidFill>
                  <a:srgbClr val="9FE3C4"/>
                </a:solidFill>
                <a:latin typeface="Consolas"/>
              </a:rPr>
              <a:t># export
curl -H "Authorization: Bearer $TOKEN" \
  $GF/api/dashboards/uid/abc123 &gt; dash.json
# import
curl -X POST -d @dash.json $GF/api/dashboards/db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888CBE0-4FB2-49B5-AEB9-4F0627AEC217}"/>
              </a:ext>
            </a:extLst>
          </p:cNvPr>
          <p:cNvSpPr/>
          <p:nvPr/>
        </p:nvSpPr>
        <p:spPr>
          <a:xfrm>
            <a:off x="7518400" y="4953000"/>
            <a:ext cx="4064000" cy="1549400"/>
          </a:xfrm>
          <a:prstGeom prst="roundRect">
            <a:avLst/>
          </a:prstGeom>
          <a:solidFill>
            <a:srgbClr val="FFF8EC"/>
          </a:solidFill>
          <a:ln w="15875" cap="flat" cmpd="sng" algn="ctr">
            <a:solidFill>
              <a:srgbClr val="F2A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569BD1-DC7E-47AA-B327-D6B676EB932C}"/>
              </a:ext>
            </a:extLst>
          </p:cNvPr>
          <p:cNvSpPr txBox="1"/>
          <p:nvPr/>
        </p:nvSpPr>
        <p:spPr>
          <a:xfrm>
            <a:off x="7797800" y="5080000"/>
            <a:ext cx="355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B87400"/>
                </a:solidFill>
                <a:latin typeface="Open Sans"/>
                <a:ea typeface="Open Sans"/>
                <a:cs typeface="Open Sans"/>
              </a:rPr>
              <a:t>Import pitfalls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CC2B10-1B0A-4B12-A4F1-805573963D50}"/>
              </a:ext>
            </a:extLst>
          </p:cNvPr>
          <p:cNvSpPr txBox="1"/>
          <p:nvPr/>
        </p:nvSpPr>
        <p:spPr>
          <a:xfrm>
            <a:off x="7797800" y="5359400"/>
            <a:ext cx="3657600" cy="1066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Duplicate UID overwrites silently
• Panel IDs collide when copy-pasting
• grafana.com dashboards may need
   plugins you don't have
• Check schemaVersion after import</a:t>
            </a:r>
          </a:p>
        </p:txBody>
      </p:sp>
    </p:spTree>
    <p:extLst>
      <p:ext uri="{BB962C8B-B14F-4D97-AF65-F5344CB8AC3E}">
        <p14:creationId xmlns:p14="http://schemas.microsoft.com/office/powerpoint/2010/main" val="3543424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F416C3-7F5E-450C-BCD2-0BC968193DDF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E9E6A"/>
                </a:solidFill>
                <a:latin typeface="Open Sans"/>
                <a:ea typeface="Open Sans"/>
                <a:cs typeface="Open Sans"/>
              </a:rPr>
              <a:t>MODULE 15 · 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9E237-FA5A-4703-A0DA-03313BE2071F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The Dashboard JSON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42843C-A73B-4F3A-8248-D72E121EF1C9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924911-A750-4CA1-976B-C39349F4351D}"/>
              </a:ext>
            </a:extLst>
          </p:cNvPr>
          <p:cNvSpPr/>
          <p:nvPr/>
        </p:nvSpPr>
        <p:spPr>
          <a:xfrm>
            <a:off x="609600" y="1574800"/>
            <a:ext cx="6350000" cy="49276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605C00-318A-458C-971A-A5CB26D7DDFE}"/>
              </a:ext>
            </a:extLst>
          </p:cNvPr>
          <p:cNvSpPr/>
          <p:nvPr/>
        </p:nvSpPr>
        <p:spPr>
          <a:xfrm>
            <a:off x="609600" y="1574800"/>
            <a:ext cx="6350000" cy="355600"/>
          </a:xfrm>
          <a:prstGeom prst="rect">
            <a:avLst/>
          </a:prstGeom>
          <a:solidFill>
            <a:srgbClr val="2226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3044A-BC1D-41BC-A76D-7F3A9D8F16AC}"/>
              </a:ext>
            </a:extLst>
          </p:cNvPr>
          <p:cNvSpPr txBox="1"/>
          <p:nvPr/>
        </p:nvSpPr>
        <p:spPr>
          <a:xfrm>
            <a:off x="889000" y="15748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9FB0C6"/>
                </a:solidFill>
                <a:latin typeface="Consolas"/>
              </a:rPr>
              <a:t>api-latency.json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4B7CA-9F0A-4B22-A7FD-12D25B121897}"/>
              </a:ext>
            </a:extLst>
          </p:cNvPr>
          <p:cNvSpPr txBox="1"/>
          <p:nvPr/>
        </p:nvSpPr>
        <p:spPr>
          <a:xfrm>
            <a:off x="863600" y="2006600"/>
            <a:ext cx="5969000" cy="441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>
                <a:solidFill>
                  <a:srgbClr val="9FE3C4"/>
                </a:solidFill>
                <a:latin typeface="Consolas"/>
              </a:rPr>
              <a:t>{
  "uid": "api-latency",
  "title": "API Latency",
  "tags": ["platform","prod"],
  "schemaVersion": 39,
  "version": 12,
  "refresh": "1m",
  "time": { "from": "now-6h", "to": "now" },
  "templating": { "list": [
     { "name": "env", "type": "query",
       "datasource": "${DS_PROM}" } ] },
  "panels": [
    { "id": 2, "type": "timeseries",
      "title": "p99 by service",
      "gridPos": { "h": 8, "w": 12, "x": 0, "y": 0 },
      "datasource": "${DS_PROM}",
      "targets": [ { "expr": "histogram_quantile(...)",
                     "interval": "1m" } ],
      "fieldConfig": { "defaults": { "unit": "s" } } }
  ],
  "annotations": { "list": [] }
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CEDB53-03D7-4977-A968-BB8F8CE73FBB}"/>
              </a:ext>
            </a:extLst>
          </p:cNvPr>
          <p:cNvSpPr/>
          <p:nvPr/>
        </p:nvSpPr>
        <p:spPr>
          <a:xfrm>
            <a:off x="7264400" y="1574800"/>
            <a:ext cx="4318000" cy="914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E5A029-3955-4B71-903D-4947D9CB305B}"/>
              </a:ext>
            </a:extLst>
          </p:cNvPr>
          <p:cNvSpPr/>
          <p:nvPr/>
        </p:nvSpPr>
        <p:spPr>
          <a:xfrm>
            <a:off x="7264400" y="1574800"/>
            <a:ext cx="63500" cy="9144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2F0234-E4B6-43A1-A0AF-93D665685785}"/>
              </a:ext>
            </a:extLst>
          </p:cNvPr>
          <p:cNvSpPr txBox="1"/>
          <p:nvPr/>
        </p:nvSpPr>
        <p:spPr>
          <a:xfrm>
            <a:off x="7518400" y="1676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F46800"/>
                </a:solidFill>
                <a:latin typeface="Consolas"/>
              </a:rPr>
              <a:t>uid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7DFC9B-6884-4381-8112-3FE515686EAC}"/>
              </a:ext>
            </a:extLst>
          </p:cNvPr>
          <p:cNvSpPr txBox="1"/>
          <p:nvPr/>
        </p:nvSpPr>
        <p:spPr>
          <a:xfrm>
            <a:off x="7518400" y="1930400"/>
            <a:ext cx="3886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Stable identifier - keep it in Git. Changing it breaks links and history.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844BC7-E72E-4124-AC8E-F1B655886C9E}"/>
              </a:ext>
            </a:extLst>
          </p:cNvPr>
          <p:cNvSpPr/>
          <p:nvPr/>
        </p:nvSpPr>
        <p:spPr>
          <a:xfrm>
            <a:off x="7264400" y="2565400"/>
            <a:ext cx="4318000" cy="914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A2567A-D7AB-440C-98D3-D1F7F8E1CC16}"/>
              </a:ext>
            </a:extLst>
          </p:cNvPr>
          <p:cNvSpPr/>
          <p:nvPr/>
        </p:nvSpPr>
        <p:spPr>
          <a:xfrm>
            <a:off x="7264400" y="2565400"/>
            <a:ext cx="63500" cy="9144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31213E-F22D-4C09-80F5-FC6FA75B6202}"/>
              </a:ext>
            </a:extLst>
          </p:cNvPr>
          <p:cNvSpPr txBox="1"/>
          <p:nvPr/>
        </p:nvSpPr>
        <p:spPr>
          <a:xfrm>
            <a:off x="7518400" y="2667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2E5FA3"/>
                </a:solidFill>
                <a:latin typeface="Consolas"/>
              </a:rPr>
              <a:t>version / schemaVersion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FF0D3D-6C89-49D1-B603-D341C0852861}"/>
              </a:ext>
            </a:extLst>
          </p:cNvPr>
          <p:cNvSpPr txBox="1"/>
          <p:nvPr/>
        </p:nvSpPr>
        <p:spPr>
          <a:xfrm>
            <a:off x="7518400" y="2921000"/>
            <a:ext cx="3886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Dashboard revision vs. Grafana's JSON schema. Grafana migrates schemaVersion on load.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95FC2F1-9570-4CDC-A7F5-341019382BA8}"/>
              </a:ext>
            </a:extLst>
          </p:cNvPr>
          <p:cNvSpPr/>
          <p:nvPr/>
        </p:nvSpPr>
        <p:spPr>
          <a:xfrm>
            <a:off x="7264400" y="3556000"/>
            <a:ext cx="4318000" cy="914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9D5AFA-1F25-4127-A2A8-D90A3B34D628}"/>
              </a:ext>
            </a:extLst>
          </p:cNvPr>
          <p:cNvSpPr/>
          <p:nvPr/>
        </p:nvSpPr>
        <p:spPr>
          <a:xfrm>
            <a:off x="7264400" y="3556000"/>
            <a:ext cx="63500" cy="9144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E23B6-EF2D-47F9-A57C-FA6A3BFDEB2A}"/>
              </a:ext>
            </a:extLst>
          </p:cNvPr>
          <p:cNvSpPr txBox="1"/>
          <p:nvPr/>
        </p:nvSpPr>
        <p:spPr>
          <a:xfrm>
            <a:off x="7518400" y="36576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7B5EA7"/>
                </a:solidFill>
                <a:latin typeface="Consolas"/>
              </a:rPr>
              <a:t>templating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07C529-F274-4747-BB96-115312007CCE}"/>
              </a:ext>
            </a:extLst>
          </p:cNvPr>
          <p:cNvSpPr txBox="1"/>
          <p:nvPr/>
        </p:nvSpPr>
        <p:spPr>
          <a:xfrm>
            <a:off x="7518400" y="3911600"/>
            <a:ext cx="3886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Variables. Use ${DS_X} for data sources so one file works in every environment.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5061C5-1485-4DAD-BBE2-4D875E32EEC3}"/>
              </a:ext>
            </a:extLst>
          </p:cNvPr>
          <p:cNvSpPr/>
          <p:nvPr/>
        </p:nvSpPr>
        <p:spPr>
          <a:xfrm>
            <a:off x="7264400" y="4546600"/>
            <a:ext cx="4318000" cy="914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0FD114-9DFB-46AD-9489-8EDA6D65DB73}"/>
              </a:ext>
            </a:extLst>
          </p:cNvPr>
          <p:cNvSpPr/>
          <p:nvPr/>
        </p:nvSpPr>
        <p:spPr>
          <a:xfrm>
            <a:off x="7264400" y="4546600"/>
            <a:ext cx="63500" cy="9144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7C3E9B-B054-435D-80AD-57082B1026C3}"/>
              </a:ext>
            </a:extLst>
          </p:cNvPr>
          <p:cNvSpPr txBox="1"/>
          <p:nvPr/>
        </p:nvSpPr>
        <p:spPr>
          <a:xfrm>
            <a:off x="7518400" y="4648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E9E6A"/>
                </a:solidFill>
                <a:latin typeface="Consolas"/>
              </a:rPr>
              <a:t>panels[] · gridPos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D423B1-F171-4E2A-8DE5-C50668DE1871}"/>
              </a:ext>
            </a:extLst>
          </p:cNvPr>
          <p:cNvSpPr txBox="1"/>
          <p:nvPr/>
        </p:nvSpPr>
        <p:spPr>
          <a:xfrm>
            <a:off x="7518400" y="4902200"/>
            <a:ext cx="3886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Layout grid is 24 columns wide; h/w/x/y position each panel.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D2393E3-748F-49CB-A483-DCFC2630746C}"/>
              </a:ext>
            </a:extLst>
          </p:cNvPr>
          <p:cNvSpPr/>
          <p:nvPr/>
        </p:nvSpPr>
        <p:spPr>
          <a:xfrm>
            <a:off x="7264400" y="5537200"/>
            <a:ext cx="4318000" cy="914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933BF9-862A-4256-BF7F-5601F240176C}"/>
              </a:ext>
            </a:extLst>
          </p:cNvPr>
          <p:cNvSpPr/>
          <p:nvPr/>
        </p:nvSpPr>
        <p:spPr>
          <a:xfrm>
            <a:off x="7264400" y="5537200"/>
            <a:ext cx="63500" cy="914400"/>
          </a:xfrm>
          <a:prstGeom prst="rect">
            <a:avLst/>
          </a:prstGeom>
          <a:solidFill>
            <a:srgbClr val="D045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E0FE9-CE74-4B1A-9291-141956AE4544}"/>
              </a:ext>
            </a:extLst>
          </p:cNvPr>
          <p:cNvSpPr txBox="1"/>
          <p:nvPr/>
        </p:nvSpPr>
        <p:spPr>
          <a:xfrm>
            <a:off x="7518400" y="56388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D0453B"/>
                </a:solidFill>
                <a:latin typeface="Consolas"/>
              </a:rPr>
              <a:t>targets[]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44EA5-7B26-4BBC-8129-3DF4DF67F5A9}"/>
              </a:ext>
            </a:extLst>
          </p:cNvPr>
          <p:cNvSpPr txBox="1"/>
          <p:nvPr/>
        </p:nvSpPr>
        <p:spPr>
          <a:xfrm>
            <a:off x="7518400" y="5892800"/>
            <a:ext cx="3886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The actual queries. This is where performance is won or lost.</a:t>
            </a:r>
          </a:p>
        </p:txBody>
      </p:sp>
    </p:spTree>
    <p:extLst>
      <p:ext uri="{BB962C8B-B14F-4D97-AF65-F5344CB8AC3E}">
        <p14:creationId xmlns:p14="http://schemas.microsoft.com/office/powerpoint/2010/main" val="3568827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08DCF1-3B8C-4930-AFE4-BD7CBC079E58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E9E6A"/>
                </a:solidFill>
                <a:latin typeface="Open Sans"/>
                <a:ea typeface="Open Sans"/>
                <a:cs typeface="Open Sans"/>
              </a:rPr>
              <a:t>MODULE 15 · 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E4286-288A-4985-AAA3-333B016CBE3C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Dashboard Provisioning (as Code)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4E9473-E2FC-4C80-9DE4-D91E9718A35E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E3823-9E3F-4D82-8E0E-AC594B034058}"/>
              </a:ext>
            </a:extLst>
          </p:cNvPr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Drop YAML + JSON on disk. Grafana loads them at start-up and re-scans on the configured interval - no clicks, no drift.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7AC752-61B6-4546-80FE-BF8D0A91BA76}"/>
              </a:ext>
            </a:extLst>
          </p:cNvPr>
          <p:cNvSpPr/>
          <p:nvPr/>
        </p:nvSpPr>
        <p:spPr>
          <a:xfrm>
            <a:off x="609600" y="1803400"/>
            <a:ext cx="5461000" cy="29972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8F437C-DD9B-4C31-A3AD-FD3739B91398}"/>
              </a:ext>
            </a:extLst>
          </p:cNvPr>
          <p:cNvSpPr/>
          <p:nvPr/>
        </p:nvSpPr>
        <p:spPr>
          <a:xfrm>
            <a:off x="609600" y="1803400"/>
            <a:ext cx="5461000" cy="355600"/>
          </a:xfrm>
          <a:prstGeom prst="rect">
            <a:avLst/>
          </a:prstGeom>
          <a:solidFill>
            <a:srgbClr val="2226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1975B-24DD-458D-80C2-E5356FAD4B5F}"/>
              </a:ext>
            </a:extLst>
          </p:cNvPr>
          <p:cNvSpPr txBox="1"/>
          <p:nvPr/>
        </p:nvSpPr>
        <p:spPr>
          <a:xfrm>
            <a:off x="838200" y="18034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9FB0C6"/>
                </a:solidFill>
                <a:latin typeface="Consolas"/>
              </a:rPr>
              <a:t>/etc/grafana/provisioning/dashboards/team.yaml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D3E160-242A-49AE-AA54-EDC722B76572}"/>
              </a:ext>
            </a:extLst>
          </p:cNvPr>
          <p:cNvSpPr txBox="1"/>
          <p:nvPr/>
        </p:nvSpPr>
        <p:spPr>
          <a:xfrm>
            <a:off x="838200" y="2235200"/>
            <a:ext cx="5080000" cy="2489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>
                <a:solidFill>
                  <a:srgbClr val="9FE3C4"/>
                </a:solidFill>
                <a:latin typeface="Consolas"/>
              </a:rPr>
              <a:t>apiVersion: 1
providers:
  - name: platform-dashboards
    orgId: 1
    folder: Production
    type: file
    disableDeletion: true
    updateIntervalSeconds: 30
    allowUiUpdates: false
    options:
      path: /var/lib/grafana/dash/prod
      foldersFromFilesStructure: true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FA1A00-9B83-4C8E-9206-1E3E3F673F10}"/>
              </a:ext>
            </a:extLst>
          </p:cNvPr>
          <p:cNvSpPr/>
          <p:nvPr/>
        </p:nvSpPr>
        <p:spPr>
          <a:xfrm>
            <a:off x="609600" y="4927600"/>
            <a:ext cx="5461000" cy="1574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74A72C-5062-4426-9897-0457757027DB}"/>
              </a:ext>
            </a:extLst>
          </p:cNvPr>
          <p:cNvSpPr txBox="1"/>
          <p:nvPr/>
        </p:nvSpPr>
        <p:spPr>
          <a:xfrm>
            <a:off x="889000" y="50292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Repository layout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D3F7B9-7686-4986-A974-9978F79C92C4}"/>
              </a:ext>
            </a:extLst>
          </p:cNvPr>
          <p:cNvSpPr txBox="1"/>
          <p:nvPr/>
        </p:nvSpPr>
        <p:spPr>
          <a:xfrm>
            <a:off x="889000" y="5308600"/>
            <a:ext cx="4953000" cy="1168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>
                <a:solidFill>
                  <a:srgbClr val="5A6273"/>
                </a:solidFill>
                <a:latin typeface="Consolas"/>
              </a:rPr>
              <a:t>grafana/
├─ provisioning/
│   ├─ datasources/prometheus.yaml
│   ├─ dashboards/team.yaml
│   └─ alerting/rules.yaml
└─ dashboards/
     ├─ prod/api-latency.json
     └─ prod/db-health.json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E1F084-60D3-4F8A-B470-4B1C88F6B93F}"/>
              </a:ext>
            </a:extLst>
          </p:cNvPr>
          <p:cNvSpPr/>
          <p:nvPr/>
        </p:nvSpPr>
        <p:spPr>
          <a:xfrm>
            <a:off x="6375400" y="1803400"/>
            <a:ext cx="5207000" cy="914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2A2126-7C73-45A8-A646-7DCD47025EBA}"/>
              </a:ext>
            </a:extLst>
          </p:cNvPr>
          <p:cNvSpPr/>
          <p:nvPr/>
        </p:nvSpPr>
        <p:spPr>
          <a:xfrm>
            <a:off x="6375400" y="1803400"/>
            <a:ext cx="63500" cy="9144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CBFFD7-8958-441C-9CB2-D5782445E527}"/>
              </a:ext>
            </a:extLst>
          </p:cNvPr>
          <p:cNvSpPr txBox="1"/>
          <p:nvPr/>
        </p:nvSpPr>
        <p:spPr>
          <a:xfrm>
            <a:off x="6629400" y="19050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Consolas"/>
              </a:rPr>
              <a:t>allowUiUpdates: false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7CDDD3-1ED1-430D-9CA2-8C0D0407B296}"/>
              </a:ext>
            </a:extLst>
          </p:cNvPr>
          <p:cNvSpPr txBox="1"/>
          <p:nvPr/>
        </p:nvSpPr>
        <p:spPr>
          <a:xfrm>
            <a:off x="6629400" y="2159000"/>
            <a:ext cx="477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Dashboards become read-only in the UI. The file wins - this is what kills config drift.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F1DBB71-3C9F-4B51-8483-CD59DA95E17F}"/>
              </a:ext>
            </a:extLst>
          </p:cNvPr>
          <p:cNvSpPr/>
          <p:nvPr/>
        </p:nvSpPr>
        <p:spPr>
          <a:xfrm>
            <a:off x="6375400" y="2794000"/>
            <a:ext cx="5207000" cy="914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2F5334-5844-4094-9ADE-48C8F225CDAB}"/>
              </a:ext>
            </a:extLst>
          </p:cNvPr>
          <p:cNvSpPr/>
          <p:nvPr/>
        </p:nvSpPr>
        <p:spPr>
          <a:xfrm>
            <a:off x="6375400" y="2794000"/>
            <a:ext cx="63500" cy="9144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29747D-CBC3-405F-A38B-D9E9562AE66A}"/>
              </a:ext>
            </a:extLst>
          </p:cNvPr>
          <p:cNvSpPr txBox="1"/>
          <p:nvPr/>
        </p:nvSpPr>
        <p:spPr>
          <a:xfrm>
            <a:off x="6629400" y="28956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2E5FA3"/>
                </a:solidFill>
                <a:latin typeface="Consolas"/>
              </a:rPr>
              <a:t>disableDeletion: true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177F3E-6AE0-401C-93DB-E8598EC90785}"/>
              </a:ext>
            </a:extLst>
          </p:cNvPr>
          <p:cNvSpPr txBox="1"/>
          <p:nvPr/>
        </p:nvSpPr>
        <p:spPr>
          <a:xfrm>
            <a:off x="6629400" y="3149600"/>
            <a:ext cx="477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Removing a file no longer deletes the dashboard. Safer for Production.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DEFAC6-604E-441F-9ED8-34ADD60B75C5}"/>
              </a:ext>
            </a:extLst>
          </p:cNvPr>
          <p:cNvSpPr/>
          <p:nvPr/>
        </p:nvSpPr>
        <p:spPr>
          <a:xfrm>
            <a:off x="6375400" y="3784600"/>
            <a:ext cx="5207000" cy="914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8F3826-85D4-41D1-BBA0-8C54823CA5FB}"/>
              </a:ext>
            </a:extLst>
          </p:cNvPr>
          <p:cNvSpPr/>
          <p:nvPr/>
        </p:nvSpPr>
        <p:spPr>
          <a:xfrm>
            <a:off x="6375400" y="3784600"/>
            <a:ext cx="63500" cy="9144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F5FB26-5BB7-474A-ADBB-AECFD038B070}"/>
              </a:ext>
            </a:extLst>
          </p:cNvPr>
          <p:cNvSpPr txBox="1"/>
          <p:nvPr/>
        </p:nvSpPr>
        <p:spPr>
          <a:xfrm>
            <a:off x="6629400" y="38862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7B5EA7"/>
                </a:solidFill>
                <a:latin typeface="Consolas"/>
              </a:rPr>
              <a:t>updateIntervalSeconds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DF6556-BF94-4A96-9303-29FBB39401BC}"/>
              </a:ext>
            </a:extLst>
          </p:cNvPr>
          <p:cNvSpPr txBox="1"/>
          <p:nvPr/>
        </p:nvSpPr>
        <p:spPr>
          <a:xfrm>
            <a:off x="6629400" y="4140200"/>
            <a:ext cx="477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How often Grafana re-scans the folder. 10–60s is typical.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03C2EAD-03AE-4A71-953D-3132D4E1CED2}"/>
              </a:ext>
            </a:extLst>
          </p:cNvPr>
          <p:cNvSpPr/>
          <p:nvPr/>
        </p:nvSpPr>
        <p:spPr>
          <a:xfrm>
            <a:off x="6375400" y="4775200"/>
            <a:ext cx="5207000" cy="914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2FD059-F102-4012-AB4E-5F2E82141449}"/>
              </a:ext>
            </a:extLst>
          </p:cNvPr>
          <p:cNvSpPr/>
          <p:nvPr/>
        </p:nvSpPr>
        <p:spPr>
          <a:xfrm>
            <a:off x="6375400" y="4775200"/>
            <a:ext cx="63500" cy="9144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8F084E-4884-402E-94AD-947C8C01B348}"/>
              </a:ext>
            </a:extLst>
          </p:cNvPr>
          <p:cNvSpPr txBox="1"/>
          <p:nvPr/>
        </p:nvSpPr>
        <p:spPr>
          <a:xfrm>
            <a:off x="6629400" y="48768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1E9E6A"/>
                </a:solidFill>
                <a:latin typeface="Consolas"/>
              </a:rPr>
              <a:t>foldersFromFilesStructure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4A3803-F383-4FC6-B489-3A1A19F487B4}"/>
              </a:ext>
            </a:extLst>
          </p:cNvPr>
          <p:cNvSpPr txBox="1"/>
          <p:nvPr/>
        </p:nvSpPr>
        <p:spPr>
          <a:xfrm>
            <a:off x="6629400" y="5130800"/>
            <a:ext cx="477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Sub-directories become Grafana folders automatically.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635911E-7F46-4CC9-9CDD-4FF61429F3DF}"/>
              </a:ext>
            </a:extLst>
          </p:cNvPr>
          <p:cNvSpPr/>
          <p:nvPr/>
        </p:nvSpPr>
        <p:spPr>
          <a:xfrm>
            <a:off x="6375400" y="5765800"/>
            <a:ext cx="5207000" cy="736600"/>
          </a:xfrm>
          <a:prstGeom prst="roundRect">
            <a:avLst/>
          </a:prstGeom>
          <a:solidFill>
            <a:srgbClr val="EAF7F1"/>
          </a:solidFill>
          <a:ln w="15875" cap="flat" cmpd="sng" algn="ctr">
            <a:solidFill>
              <a:srgbClr val="1E9E6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AA1CA1-FA71-42CF-A3DF-AE5C13B6D19C}"/>
              </a:ext>
            </a:extLst>
          </p:cNvPr>
          <p:cNvSpPr txBox="1"/>
          <p:nvPr/>
        </p:nvSpPr>
        <p:spPr>
          <a:xfrm>
            <a:off x="6629400" y="5765800"/>
            <a:ext cx="47752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0F5C3F"/>
                </a:solidFill>
                <a:latin typeface="Open Sans"/>
                <a:ea typeface="Open Sans"/>
                <a:cs typeface="Open Sans"/>
              </a:rPr>
              <a:t>Data sources, alert rules, contact points, plugins and teams can all be provisioned the same way - provisioning is the whole platform, not just dashboards.</a:t>
            </a:r>
          </a:p>
        </p:txBody>
      </p:sp>
    </p:spTree>
    <p:extLst>
      <p:ext uri="{BB962C8B-B14F-4D97-AF65-F5344CB8AC3E}">
        <p14:creationId xmlns:p14="http://schemas.microsoft.com/office/powerpoint/2010/main" val="1441669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D4331F-E71B-466F-A64D-7FE9D2A4650D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E9E6A"/>
                </a:solidFill>
                <a:latin typeface="Open Sans"/>
                <a:ea typeface="Open Sans"/>
                <a:cs typeface="Open Sans"/>
              </a:rPr>
              <a:t>MODULE 15 · 05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CED21-C100-40A6-9B9C-BF5D004756EC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Folder Organization &amp; Naming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256AAB-AD89-4B35-B552-9276B86D1256}"/>
              </a:ext>
            </a:extLst>
          </p:cNvPr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17466-117C-421E-AA35-79EF60880AD9}"/>
              </a:ext>
            </a:extLst>
          </p:cNvPr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Folders are your permission boundary AND your navigation. Design them once, before you have 300 dashboards.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BC2F8C-02AE-4300-AC19-31362ED8A1BB}"/>
              </a:ext>
            </a:extLst>
          </p:cNvPr>
          <p:cNvSpPr/>
          <p:nvPr/>
        </p:nvSpPr>
        <p:spPr>
          <a:xfrm>
            <a:off x="609600" y="1803400"/>
            <a:ext cx="5588000" cy="3175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56C90C-0AA9-4BEC-87FA-8183C768BB44}"/>
              </a:ext>
            </a:extLst>
          </p:cNvPr>
          <p:cNvSpPr/>
          <p:nvPr/>
        </p:nvSpPr>
        <p:spPr>
          <a:xfrm>
            <a:off x="609600" y="1803400"/>
            <a:ext cx="5588000" cy="406400"/>
          </a:xfrm>
          <a:prstGeom prst="rect">
            <a:avLst/>
          </a:prstGeom>
          <a:solidFill>
            <a:srgbClr val="2F35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EE28FA-D471-4AF8-92F9-A787C06D3EDA}"/>
              </a:ext>
            </a:extLst>
          </p:cNvPr>
          <p:cNvSpPr txBox="1"/>
          <p:nvPr/>
        </p:nvSpPr>
        <p:spPr>
          <a:xfrm>
            <a:off x="889000" y="18034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Recommended 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873DF-D036-43EF-AEB3-2E0B26166751}"/>
              </a:ext>
            </a:extLst>
          </p:cNvPr>
          <p:cNvSpPr txBox="1"/>
          <p:nvPr/>
        </p:nvSpPr>
        <p:spPr>
          <a:xfrm>
            <a:off x="863600" y="2336800"/>
            <a:ext cx="5207000" cy="2540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>
                <a:solidFill>
                  <a:srgbClr val="2F3542"/>
                </a:solidFill>
                <a:latin typeface="Consolas"/>
              </a:rPr>
              <a:t>00 · Executive          → KPI / SLO roll-ups (Viewer)
10 · Platform-Prod      → Team-SRE Admin, others View
11 · Platform-Staging   → Team-SRE Edit
20 · App-Payments       → Team-Payments Admin
21 · App-Checkout       → Team-Checkout Admin
90 · Sandbox            → Everyone Edit, no SLAs
99 · Archive            → read-only, quarterly cleanup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6EC5AE-B685-4CED-8A20-5A018C9F4A70}"/>
              </a:ext>
            </a:extLst>
          </p:cNvPr>
          <p:cNvSpPr/>
          <p:nvPr/>
        </p:nvSpPr>
        <p:spPr>
          <a:xfrm>
            <a:off x="6502400" y="1803400"/>
            <a:ext cx="5080000" cy="762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1A84D5-CBC8-4120-8041-A91A4372E42B}"/>
              </a:ext>
            </a:extLst>
          </p:cNvPr>
          <p:cNvSpPr/>
          <p:nvPr/>
        </p:nvSpPr>
        <p:spPr>
          <a:xfrm>
            <a:off x="6502400" y="1803400"/>
            <a:ext cx="63500" cy="7620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849DF6-6824-4F6A-8508-63841FB4FA84}"/>
              </a:ext>
            </a:extLst>
          </p:cNvPr>
          <p:cNvSpPr txBox="1"/>
          <p:nvPr/>
        </p:nvSpPr>
        <p:spPr>
          <a:xfrm>
            <a:off x="6756400" y="19050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Number the prefixes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56BD84-8A85-43B0-A4B0-2E71673659EB}"/>
              </a:ext>
            </a:extLst>
          </p:cNvPr>
          <p:cNvSpPr txBox="1"/>
          <p:nvPr/>
        </p:nvSpPr>
        <p:spPr>
          <a:xfrm>
            <a:off x="6756400" y="2133600"/>
            <a:ext cx="4648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Folders sort alphabetically - 00/10/20 gives you deliberate ordering.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6F3777-D4EC-4553-9A54-7DF082984C8C}"/>
              </a:ext>
            </a:extLst>
          </p:cNvPr>
          <p:cNvSpPr/>
          <p:nvPr/>
        </p:nvSpPr>
        <p:spPr>
          <a:xfrm>
            <a:off x="6502400" y="2641600"/>
            <a:ext cx="5080000" cy="762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FA98A6-31BD-4AC3-BF48-8FE6C8993D15}"/>
              </a:ext>
            </a:extLst>
          </p:cNvPr>
          <p:cNvSpPr/>
          <p:nvPr/>
        </p:nvSpPr>
        <p:spPr>
          <a:xfrm>
            <a:off x="6502400" y="2641600"/>
            <a:ext cx="63500" cy="7620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68F3A9-51A2-4FE6-B47D-1A96F882736E}"/>
              </a:ext>
            </a:extLst>
          </p:cNvPr>
          <p:cNvSpPr txBox="1"/>
          <p:nvPr/>
        </p:nvSpPr>
        <p:spPr>
          <a:xfrm>
            <a:off x="6756400" y="27432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One folder = one owner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EF1394-49C7-423D-B9BA-D99711D0070E}"/>
              </a:ext>
            </a:extLst>
          </p:cNvPr>
          <p:cNvSpPr txBox="1"/>
          <p:nvPr/>
        </p:nvSpPr>
        <p:spPr>
          <a:xfrm>
            <a:off x="6756400" y="2971800"/>
            <a:ext cx="4648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If two teams need Admin on the same folder, you need two folders.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8F6605-0593-4979-BAEE-ACBE1BAB6BBE}"/>
              </a:ext>
            </a:extLst>
          </p:cNvPr>
          <p:cNvSpPr/>
          <p:nvPr/>
        </p:nvSpPr>
        <p:spPr>
          <a:xfrm>
            <a:off x="6502400" y="3479800"/>
            <a:ext cx="5080000" cy="762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FEA910-5B27-4BE0-ADE2-CB6A7EFB7145}"/>
              </a:ext>
            </a:extLst>
          </p:cNvPr>
          <p:cNvSpPr/>
          <p:nvPr/>
        </p:nvSpPr>
        <p:spPr>
          <a:xfrm>
            <a:off x="6502400" y="3479800"/>
            <a:ext cx="63500" cy="7620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0A1AA5-5F45-463C-B2BB-B0E63523FDB0}"/>
              </a:ext>
            </a:extLst>
          </p:cNvPr>
          <p:cNvSpPr txBox="1"/>
          <p:nvPr/>
        </p:nvSpPr>
        <p:spPr>
          <a:xfrm>
            <a:off x="6756400" y="35814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Environment in the name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70D5B9-E178-4F58-8010-D60004158523}"/>
              </a:ext>
            </a:extLst>
          </p:cNvPr>
          <p:cNvSpPr txBox="1"/>
          <p:nvPr/>
        </p:nvSpPr>
        <p:spPr>
          <a:xfrm>
            <a:off x="6756400" y="3810000"/>
            <a:ext cx="4648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Prod and Staging never share a folder - different blast radius.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2045273-FAA1-4488-A13E-9344A2B7FFD8}"/>
              </a:ext>
            </a:extLst>
          </p:cNvPr>
          <p:cNvSpPr/>
          <p:nvPr/>
        </p:nvSpPr>
        <p:spPr>
          <a:xfrm>
            <a:off x="6502400" y="4318000"/>
            <a:ext cx="5080000" cy="762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E2E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F9B04D-C7C1-4B70-A284-8D319A510E3C}"/>
              </a:ext>
            </a:extLst>
          </p:cNvPr>
          <p:cNvSpPr/>
          <p:nvPr/>
        </p:nvSpPr>
        <p:spPr>
          <a:xfrm>
            <a:off x="6502400" y="4318000"/>
            <a:ext cx="63500" cy="7620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AFF626-792D-41BC-892C-AC388719F2FC}"/>
              </a:ext>
            </a:extLst>
          </p:cNvPr>
          <p:cNvSpPr txBox="1"/>
          <p:nvPr/>
        </p:nvSpPr>
        <p:spPr>
          <a:xfrm>
            <a:off x="6756400" y="44196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Tag what folders can't express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00573A-4A9D-48DF-AAA7-060D8089F705}"/>
              </a:ext>
            </a:extLst>
          </p:cNvPr>
          <p:cNvSpPr txBox="1"/>
          <p:nvPr/>
        </p:nvSpPr>
        <p:spPr>
          <a:xfrm>
            <a:off x="6756400" y="4648200"/>
            <a:ext cx="4648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tier:1, </a:t>
            </a:r>
            <a:r>
              <a:rPr lang="en-US" sz="120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team:sre</a:t>
            </a:r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200" dirty="0" err="1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datasource:prom</a:t>
            </a:r>
            <a:r>
              <a:rPr lang="en-US" sz="1200" dirty="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 - tags cross-cut the tree.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11E4484-F282-4A67-900F-E8657F154306}"/>
              </a:ext>
            </a:extLst>
          </p:cNvPr>
          <p:cNvSpPr/>
          <p:nvPr/>
        </p:nvSpPr>
        <p:spPr>
          <a:xfrm>
            <a:off x="609600" y="5156200"/>
            <a:ext cx="5588000" cy="1346200"/>
          </a:xfrm>
          <a:prstGeom prst="roundRect">
            <a:avLst/>
          </a:prstGeom>
          <a:solidFill>
            <a:srgbClr val="FDF0EF"/>
          </a:solidFill>
          <a:ln w="15875" cap="flat" cmpd="sng" algn="ctr">
            <a:solidFill>
              <a:srgbClr val="D045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C0CFD0-C202-46C8-A22A-A1A9C812D37A}"/>
              </a:ext>
            </a:extLst>
          </p:cNvPr>
          <p:cNvSpPr txBox="1"/>
          <p:nvPr/>
        </p:nvSpPr>
        <p:spPr>
          <a:xfrm>
            <a:off x="889000" y="5283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A5322A"/>
                </a:solidFill>
                <a:latin typeface="Open Sans"/>
                <a:ea typeface="Open Sans"/>
                <a:cs typeface="Open Sans"/>
              </a:rPr>
              <a:t>Anti-patterns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E95712-DC9B-45C5-B298-DF03FA5405C6}"/>
              </a:ext>
            </a:extLst>
          </p:cNvPr>
          <p:cNvSpPr txBox="1"/>
          <p:nvPr/>
        </p:nvSpPr>
        <p:spPr>
          <a:xfrm>
            <a:off x="889000" y="5562600"/>
            <a:ext cx="50800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“General” folder used as a dumping ground
• Personal folders (“Ravi's dashboards”)
• Permissions set per dashboard instead of per folder
• 40 near-identical dashboards instead of one + variables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5CC3BC9-CCF0-4A71-B827-7CAD01045179}"/>
              </a:ext>
            </a:extLst>
          </p:cNvPr>
          <p:cNvSpPr/>
          <p:nvPr/>
        </p:nvSpPr>
        <p:spPr>
          <a:xfrm>
            <a:off x="6502400" y="5156200"/>
            <a:ext cx="5080000" cy="13462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B4BB09-C4B3-4D69-840E-975E9E9C2098}"/>
              </a:ext>
            </a:extLst>
          </p:cNvPr>
          <p:cNvSpPr txBox="1"/>
          <p:nvPr/>
        </p:nvSpPr>
        <p:spPr>
          <a:xfrm>
            <a:off x="6781800" y="5283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4FD19A"/>
                </a:solidFill>
                <a:latin typeface="Open Sans"/>
                <a:ea typeface="Open Sans"/>
                <a:cs typeface="Open Sans"/>
              </a:rPr>
              <a:t>Dashboard naming pattern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683832-087F-49D1-B4D3-D1B55AECA90D}"/>
              </a:ext>
            </a:extLst>
          </p:cNvPr>
          <p:cNvSpPr txBox="1"/>
          <p:nvPr/>
        </p:nvSpPr>
        <p:spPr>
          <a:xfrm>
            <a:off x="6781800" y="5588000"/>
            <a:ext cx="4648200" cy="838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C7CCD6"/>
                </a:solidFill>
                <a:latin typeface="Consolas"/>
              </a:rPr>
              <a:t>&lt;domain&gt; · &lt;system&gt; · &lt;purpose&gt;
Payments · API · Latency &amp; Errors
Platform · Kubernetes · Cluster Health</a:t>
            </a:r>
          </a:p>
        </p:txBody>
      </p:sp>
    </p:spTree>
    <p:extLst>
      <p:ext uri="{BB962C8B-B14F-4D97-AF65-F5344CB8AC3E}">
        <p14:creationId xmlns:p14="http://schemas.microsoft.com/office/powerpoint/2010/main" val="2755230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101"/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6800"/>
                </a:solidFill>
                <a:latin typeface="Open Sans"/>
              </a:rPr>
              <a:t>MODULE 15 · CHECKPOINT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16191F"/>
                </a:solidFill>
                <a:latin typeface="Montserrat"/>
              </a:rPr>
              <a:t>Quick Quiz: Dashboard Management</a:t>
            </a:r>
          </a:p>
        </p:txBody>
      </p:sp>
      <p:sp>
        <p:nvSpPr>
          <p:cNvPr id="103" name="SH103"/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Three questions before the lab. Vote with hands, then we reveal.</a:t>
            </a:r>
          </a:p>
        </p:txBody>
      </p:sp>
      <p:sp>
        <p:nvSpPr>
          <p:cNvPr id="105" name="SH105"/>
          <p:cNvSpPr/>
          <p:nvPr/>
        </p:nvSpPr>
        <p:spPr>
          <a:xfrm>
            <a:off x="609600" y="18034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B106"/>
          <p:cNvSpPr txBox="1"/>
          <p:nvPr/>
        </p:nvSpPr>
        <p:spPr>
          <a:xfrm>
            <a:off x="914400" y="20066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Q1 · Which JSON field must stay stable in Git so links and history survive?</a:t>
            </a:r>
          </a:p>
        </p:txBody>
      </p:sp>
      <p:sp>
        <p:nvSpPr>
          <p:cNvPr id="107" name="TB107"/>
          <p:cNvSpPr txBox="1"/>
          <p:nvPr/>
        </p:nvSpPr>
        <p:spPr>
          <a:xfrm>
            <a:off x="914400" y="24130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A) title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B) id</a:t>
            </a:r>
          </a:p>
        </p:txBody>
      </p:sp>
      <p:sp>
        <p:nvSpPr>
          <p:cNvPr id="108" name="TB108"/>
          <p:cNvSpPr txBox="1"/>
          <p:nvPr/>
        </p:nvSpPr>
        <p:spPr>
          <a:xfrm>
            <a:off x="6248400" y="24130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C) uid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D) version</a:t>
            </a:r>
          </a:p>
        </p:txBody>
      </p:sp>
      <p:sp>
        <p:nvSpPr>
          <p:cNvPr id="109" name="SH109"/>
          <p:cNvSpPr/>
          <p:nvPr/>
        </p:nvSpPr>
        <p:spPr>
          <a:xfrm>
            <a:off x="609600" y="32258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B110"/>
          <p:cNvSpPr txBox="1"/>
          <p:nvPr/>
        </p:nvSpPr>
        <p:spPr>
          <a:xfrm>
            <a:off x="914400" y="34290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Q2 · What happens when you edit a provisioned dashboard in the UI?</a:t>
            </a:r>
          </a:p>
        </p:txBody>
      </p:sp>
      <p:sp>
        <p:nvSpPr>
          <p:cNvPr id="111" name="TB111"/>
          <p:cNvSpPr txBox="1"/>
          <p:nvPr/>
        </p:nvSpPr>
        <p:spPr>
          <a:xfrm>
            <a:off x="914400" y="38354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A) It saves normally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B) It saves, then is overwritten</a:t>
            </a:r>
          </a:p>
        </p:txBody>
      </p:sp>
      <p:sp>
        <p:nvSpPr>
          <p:cNvPr id="112" name="TB112"/>
          <p:cNvSpPr txBox="1"/>
          <p:nvPr/>
        </p:nvSpPr>
        <p:spPr>
          <a:xfrm>
            <a:off x="6248400" y="38354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C) Grafana blocks the save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D) It forks into a new dashboard</a:t>
            </a:r>
          </a:p>
        </p:txBody>
      </p:sp>
      <p:sp>
        <p:nvSpPr>
          <p:cNvPr id="113" name="SH113"/>
          <p:cNvSpPr/>
          <p:nvPr/>
        </p:nvSpPr>
        <p:spPr>
          <a:xfrm>
            <a:off x="609600" y="46482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TB114"/>
          <p:cNvSpPr txBox="1"/>
          <p:nvPr/>
        </p:nvSpPr>
        <p:spPr>
          <a:xfrm>
            <a:off x="914400" y="48514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Q3 · “Export for sharing externally” changes the JSON by…</a:t>
            </a:r>
          </a:p>
        </p:txBody>
      </p:sp>
      <p:sp>
        <p:nvSpPr>
          <p:cNvPr id="115" name="TB115"/>
          <p:cNvSpPr txBox="1"/>
          <p:nvPr/>
        </p:nvSpPr>
        <p:spPr>
          <a:xfrm>
            <a:off x="914400" y="52578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A) Removing all panels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B) Swapping data source UIDs for __inputs</a:t>
            </a:r>
          </a:p>
        </p:txBody>
      </p:sp>
      <p:sp>
        <p:nvSpPr>
          <p:cNvPr id="116" name="TB116"/>
          <p:cNvSpPr txBox="1"/>
          <p:nvPr/>
        </p:nvSpPr>
        <p:spPr>
          <a:xfrm>
            <a:off x="6248400" y="52578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C) Stripping the uid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D) Compressing the file</a:t>
            </a:r>
          </a:p>
        </p:txBody>
      </p:sp>
    </p:spTree>
    <p:extLst>
      <p:ext uri="{BB962C8B-B14F-4D97-AF65-F5344CB8AC3E}">
        <p14:creationId xmlns:p14="http://schemas.microsoft.com/office/powerpoint/2010/main" val="5513689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101"/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1E9E6A"/>
                </a:solidFill>
                <a:latin typeface="Open Sans"/>
              </a:rPr>
              <a:t>MODULE 15 · ANSWERS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16191F"/>
                </a:solidFill>
                <a:latin typeface="Montserrat"/>
              </a:rPr>
              <a:t>Quiz Answers: Dashboard Management</a:t>
            </a:r>
          </a:p>
        </p:txBody>
      </p:sp>
      <p:sp>
        <p:nvSpPr>
          <p:cNvPr id="103" name="SH103"/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1E9E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How did the room do?</a:t>
            </a:r>
          </a:p>
        </p:txBody>
      </p:sp>
      <p:sp>
        <p:nvSpPr>
          <p:cNvPr id="105" name="SH105"/>
          <p:cNvSpPr/>
          <p:nvPr/>
        </p:nvSpPr>
        <p:spPr>
          <a:xfrm>
            <a:off x="609600" y="18034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BG106"/>
          <p:cNvSpPr/>
          <p:nvPr/>
        </p:nvSpPr>
        <p:spPr>
          <a:xfrm>
            <a:off x="939800" y="2171700"/>
            <a:ext cx="558800" cy="5588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/>
              </a:rPr>
              <a:t>C</a:t>
            </a:r>
          </a:p>
        </p:txBody>
      </p:sp>
      <p:sp>
        <p:nvSpPr>
          <p:cNvPr id="107" name="TB107"/>
          <p:cNvSpPr txBox="1"/>
          <p:nvPr/>
        </p:nvSpPr>
        <p:spPr>
          <a:xfrm>
            <a:off x="1778000" y="2082800"/>
            <a:ext cx="9499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Q1 - </a:t>
            </a:r>
            <a:r>
              <a:rPr lang="en-US" sz="1700" b="1" dirty="0" err="1">
                <a:solidFill>
                  <a:srgbClr val="16191F"/>
                </a:solidFill>
                <a:latin typeface="Open Sans"/>
              </a:rPr>
              <a:t>uid</a:t>
            </a:r>
            <a:endParaRPr lang="en-US" sz="1700" b="1" dirty="0">
              <a:solidFill>
                <a:srgbClr val="16191F"/>
              </a:solidFill>
              <a:latin typeface="Open Sans"/>
            </a:endParaRPr>
          </a:p>
        </p:txBody>
      </p:sp>
      <p:sp>
        <p:nvSpPr>
          <p:cNvPr id="108" name="TB108"/>
          <p:cNvSpPr txBox="1"/>
          <p:nvPr/>
        </p:nvSpPr>
        <p:spPr>
          <a:xfrm>
            <a:off x="1778000" y="2489200"/>
            <a:ext cx="949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The stable identifier. Keep it in Git; changing it breaks links, history and provisioning.</a:t>
            </a:r>
          </a:p>
        </p:txBody>
      </p:sp>
      <p:sp>
        <p:nvSpPr>
          <p:cNvPr id="109" name="SH109"/>
          <p:cNvSpPr/>
          <p:nvPr/>
        </p:nvSpPr>
        <p:spPr>
          <a:xfrm>
            <a:off x="609600" y="32258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BG110"/>
          <p:cNvSpPr/>
          <p:nvPr/>
        </p:nvSpPr>
        <p:spPr>
          <a:xfrm>
            <a:off x="939800" y="3594100"/>
            <a:ext cx="558800" cy="5588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/>
              </a:rPr>
              <a:t>C</a:t>
            </a:r>
          </a:p>
        </p:txBody>
      </p:sp>
      <p:sp>
        <p:nvSpPr>
          <p:cNvPr id="111" name="TB111"/>
          <p:cNvSpPr txBox="1"/>
          <p:nvPr/>
        </p:nvSpPr>
        <p:spPr>
          <a:xfrm>
            <a:off x="1778000" y="3505200"/>
            <a:ext cx="9499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Q2 - Grafana blocks the save</a:t>
            </a:r>
          </a:p>
        </p:txBody>
      </p:sp>
      <p:sp>
        <p:nvSpPr>
          <p:cNvPr id="112" name="TB112"/>
          <p:cNvSpPr txBox="1"/>
          <p:nvPr/>
        </p:nvSpPr>
        <p:spPr>
          <a:xfrm>
            <a:off x="1778000" y="3911600"/>
            <a:ext cx="949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Provisioned dashboards are read-only in the UI. Change the JSON in Git, not in the browser.</a:t>
            </a:r>
          </a:p>
        </p:txBody>
      </p:sp>
      <p:sp>
        <p:nvSpPr>
          <p:cNvPr id="113" name="SH113"/>
          <p:cNvSpPr/>
          <p:nvPr/>
        </p:nvSpPr>
        <p:spPr>
          <a:xfrm>
            <a:off x="609600" y="46482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BG114"/>
          <p:cNvSpPr/>
          <p:nvPr/>
        </p:nvSpPr>
        <p:spPr>
          <a:xfrm>
            <a:off x="939800" y="5016500"/>
            <a:ext cx="558800" cy="5588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/>
              </a:rPr>
              <a:t>B</a:t>
            </a:r>
          </a:p>
        </p:txBody>
      </p:sp>
      <p:sp>
        <p:nvSpPr>
          <p:cNvPr id="115" name="TB115"/>
          <p:cNvSpPr txBox="1"/>
          <p:nvPr/>
        </p:nvSpPr>
        <p:spPr>
          <a:xfrm>
            <a:off x="1778000" y="4927600"/>
            <a:ext cx="9499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Q3 - Data source UIDs become __inputs variables</a:t>
            </a:r>
          </a:p>
        </p:txBody>
      </p:sp>
      <p:sp>
        <p:nvSpPr>
          <p:cNvPr id="116" name="TB116"/>
          <p:cNvSpPr txBox="1"/>
          <p:nvPr/>
        </p:nvSpPr>
        <p:spPr>
          <a:xfrm>
            <a:off x="1778000" y="5334000"/>
            <a:ext cx="949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That is what makes the JSON portable between instances. Without it, the import points at a UID that does not exist.</a:t>
            </a:r>
          </a:p>
        </p:txBody>
      </p:sp>
    </p:spTree>
    <p:extLst>
      <p:ext uri="{BB962C8B-B14F-4D97-AF65-F5344CB8AC3E}">
        <p14:creationId xmlns:p14="http://schemas.microsoft.com/office/powerpoint/2010/main" val="2691171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B201"/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E5FA3"/>
                </a:solidFill>
                <a:latin typeface="Open Sans"/>
              </a:rPr>
              <a:t>MODULE 15 · DISCUSSION</a:t>
            </a:r>
          </a:p>
        </p:txBody>
      </p:sp>
      <p:sp>
        <p:nvSpPr>
          <p:cNvPr id="202" name="TB202"/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16191F"/>
                </a:solidFill>
                <a:latin typeface="Montserrat"/>
              </a:rPr>
              <a:t>Talk It Through: Dashboards as Code</a:t>
            </a:r>
          </a:p>
        </p:txBody>
      </p:sp>
      <p:sp>
        <p:nvSpPr>
          <p:cNvPr id="203" name="SH203"/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B204"/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Five minutes in pairs. Bring one answer back to the room.</a:t>
            </a:r>
          </a:p>
        </p:txBody>
      </p:sp>
      <p:sp>
        <p:nvSpPr>
          <p:cNvPr id="205" name="SH205"/>
          <p:cNvSpPr/>
          <p:nvPr/>
        </p:nvSpPr>
        <p:spPr>
          <a:xfrm>
            <a:off x="609600" y="1905000"/>
            <a:ext cx="3556000" cy="3200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BG206"/>
          <p:cNvSpPr/>
          <p:nvPr/>
        </p:nvSpPr>
        <p:spPr>
          <a:xfrm>
            <a:off x="914400" y="2209800"/>
            <a:ext cx="558800" cy="5588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207" name="TB207"/>
          <p:cNvSpPr txBox="1"/>
          <p:nvPr/>
        </p:nvSpPr>
        <p:spPr>
          <a:xfrm>
            <a:off x="914400" y="2997200"/>
            <a:ext cx="2946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6191F"/>
                </a:solidFill>
                <a:latin typeface="Open Sans"/>
              </a:rPr>
              <a:t>Who can save in prod?</a:t>
            </a:r>
          </a:p>
        </p:txBody>
      </p:sp>
      <p:sp>
        <p:nvSpPr>
          <p:cNvPr id="208" name="TB208"/>
          <p:cNvSpPr txBox="1"/>
          <p:nvPr/>
        </p:nvSpPr>
        <p:spPr>
          <a:xfrm>
            <a:off x="914400" y="3479800"/>
            <a:ext cx="29464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2F3542"/>
                </a:solidFill>
                <a:latin typeface="Open Sans"/>
              </a:rPr>
              <a:t>Should anyone with Editor save straight to production, or does every change go through a pull request?</a:t>
            </a:r>
          </a:p>
        </p:txBody>
      </p:sp>
      <p:sp>
        <p:nvSpPr>
          <p:cNvPr id="209" name="SH209"/>
          <p:cNvSpPr/>
          <p:nvPr/>
        </p:nvSpPr>
        <p:spPr>
          <a:xfrm>
            <a:off x="4318000" y="1905000"/>
            <a:ext cx="3556000" cy="3200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BG210"/>
          <p:cNvSpPr/>
          <p:nvPr/>
        </p:nvSpPr>
        <p:spPr>
          <a:xfrm>
            <a:off x="4622800" y="2209800"/>
            <a:ext cx="558800" cy="5588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211" name="TB211"/>
          <p:cNvSpPr txBox="1"/>
          <p:nvPr/>
        </p:nvSpPr>
        <p:spPr>
          <a:xfrm>
            <a:off x="4622800" y="2997200"/>
            <a:ext cx="2946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6191F"/>
                </a:solidFill>
                <a:latin typeface="Open Sans"/>
              </a:rPr>
              <a:t>Your folder taxonomy</a:t>
            </a:r>
          </a:p>
        </p:txBody>
      </p:sp>
      <p:sp>
        <p:nvSpPr>
          <p:cNvPr id="212" name="TB212"/>
          <p:cNvSpPr txBox="1"/>
          <p:nvPr/>
        </p:nvSpPr>
        <p:spPr>
          <a:xfrm>
            <a:off x="4622800" y="3479800"/>
            <a:ext cx="29464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2F3542"/>
                </a:solidFill>
                <a:latin typeface="Open Sans"/>
              </a:rPr>
              <a:t>By team, by environment, or by audience? Which one survives 300 dashboards in your organization?</a:t>
            </a:r>
          </a:p>
        </p:txBody>
      </p:sp>
      <p:sp>
        <p:nvSpPr>
          <p:cNvPr id="213" name="SH213"/>
          <p:cNvSpPr/>
          <p:nvPr/>
        </p:nvSpPr>
        <p:spPr>
          <a:xfrm>
            <a:off x="8026400" y="1905000"/>
            <a:ext cx="3556000" cy="3200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BG214"/>
          <p:cNvSpPr/>
          <p:nvPr/>
        </p:nvSpPr>
        <p:spPr>
          <a:xfrm>
            <a:off x="8331200" y="2209800"/>
            <a:ext cx="558800" cy="5588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15" name="TB215"/>
          <p:cNvSpPr txBox="1"/>
          <p:nvPr/>
        </p:nvSpPr>
        <p:spPr>
          <a:xfrm>
            <a:off x="8331200" y="2997200"/>
            <a:ext cx="2946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6191F"/>
                </a:solidFill>
                <a:latin typeface="Open Sans"/>
              </a:rPr>
              <a:t>Where GitOps hurts</a:t>
            </a:r>
          </a:p>
        </p:txBody>
      </p:sp>
      <p:sp>
        <p:nvSpPr>
          <p:cNvPr id="216" name="TB216"/>
          <p:cNvSpPr txBox="1"/>
          <p:nvPr/>
        </p:nvSpPr>
        <p:spPr>
          <a:xfrm>
            <a:off x="8331200" y="3479800"/>
            <a:ext cx="29464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2F3542"/>
                </a:solidFill>
                <a:latin typeface="Open Sans"/>
              </a:rPr>
              <a:t>What would slow down if dashboards became code, and is that trade worth it for your teams?</a:t>
            </a:r>
          </a:p>
        </p:txBody>
      </p:sp>
      <p:sp>
        <p:nvSpPr>
          <p:cNvPr id="217" name="SH217"/>
          <p:cNvSpPr/>
          <p:nvPr/>
        </p:nvSpPr>
        <p:spPr>
          <a:xfrm>
            <a:off x="609600" y="5867400"/>
            <a:ext cx="10972800" cy="635000"/>
          </a:xfrm>
          <a:prstGeom prst="roundRect">
            <a:avLst/>
          </a:prstGeom>
          <a:solidFill>
            <a:srgbClr val="16191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TB218"/>
          <p:cNvSpPr txBox="1"/>
          <p:nvPr/>
        </p:nvSpPr>
        <p:spPr>
          <a:xfrm>
            <a:off x="914400" y="607060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Open Sans"/>
              </a:rPr>
              <a:t>Facilitator: note where the room disagrees - that is usually the real governance gap.</a:t>
            </a:r>
          </a:p>
        </p:txBody>
      </p:sp>
    </p:spTree>
    <p:extLst>
      <p:ext uri="{BB962C8B-B14F-4D97-AF65-F5344CB8AC3E}">
        <p14:creationId xmlns:p14="http://schemas.microsoft.com/office/powerpoint/2010/main" val="166053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56A6C2-74E5-4AFE-89D8-AEE345BEAB41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851F00-7F26-491E-AF25-A4B34044C8A3}"/>
              </a:ext>
            </a:extLst>
          </p:cNvPr>
          <p:cNvSpPr/>
          <p:nvPr/>
        </p:nvSpPr>
        <p:spPr>
          <a:xfrm>
            <a:off x="0" y="1181100"/>
            <a:ext cx="12192000" cy="508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E4A7D-1011-4580-B16C-98E6FD8633A8}"/>
              </a:ext>
            </a:extLst>
          </p:cNvPr>
          <p:cNvSpPr txBox="1"/>
          <p:nvPr/>
        </p:nvSpPr>
        <p:spPr>
          <a:xfrm>
            <a:off x="609600" y="254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FD19A"/>
                </a:solidFill>
                <a:latin typeface="Open Sans"/>
                <a:ea typeface="Open Sans"/>
                <a:cs typeface="Open Sans"/>
              </a:rPr>
              <a:t>HANDS-ON  ·  LAB 15  ·  15 MINUTES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1B5546-F025-4355-9245-B3206FEDAE02}"/>
              </a:ext>
            </a:extLst>
          </p:cNvPr>
          <p:cNvSpPr txBox="1"/>
          <p:nvPr/>
        </p:nvSpPr>
        <p:spPr>
          <a:xfrm>
            <a:off x="609600" y="533400"/>
            <a:ext cx="812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Montserrat"/>
              </a:rPr>
              <a:t>Version, Export, Import &amp; Provision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10629-126B-4640-8E6A-3D0F9951843D}"/>
              </a:ext>
            </a:extLst>
          </p:cNvPr>
          <p:cNvSpPr txBox="1"/>
          <p:nvPr/>
        </p:nvSpPr>
        <p:spPr>
          <a:xfrm>
            <a:off x="8890000" y="660400"/>
            <a:ext cx="26924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9FE3C4"/>
                </a:solidFill>
                <a:latin typeface="Open Sans"/>
                <a:ea typeface="Open Sans"/>
                <a:cs typeface="Open Sans"/>
              </a:rPr>
              <a:t>Move a dashboard between folders as code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DFA54D-98E1-45DF-805B-85503F51869D}"/>
              </a:ext>
            </a:extLst>
          </p:cNvPr>
          <p:cNvSpPr/>
          <p:nvPr/>
        </p:nvSpPr>
        <p:spPr>
          <a:xfrm>
            <a:off x="609600" y="1371600"/>
            <a:ext cx="7366000" cy="812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8848EE-5E50-4955-905F-A2794932287B}"/>
              </a:ext>
            </a:extLst>
          </p:cNvPr>
          <p:cNvSpPr/>
          <p:nvPr/>
        </p:nvSpPr>
        <p:spPr>
          <a:xfrm>
            <a:off x="812800" y="1587500"/>
            <a:ext cx="381000" cy="3810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A61CD7-DD98-4DA2-B641-965409BAF3D6}"/>
              </a:ext>
            </a:extLst>
          </p:cNvPr>
          <p:cNvSpPr txBox="1"/>
          <p:nvPr/>
        </p:nvSpPr>
        <p:spPr>
          <a:xfrm>
            <a:off x="1397000" y="14732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Make three saves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2C9B2-953B-4C56-90F4-F380711ECFFE}"/>
              </a:ext>
            </a:extLst>
          </p:cNvPr>
          <p:cNvSpPr txBox="1"/>
          <p:nvPr/>
        </p:nvSpPr>
        <p:spPr>
          <a:xfrm>
            <a:off x="1397000" y="1727200"/>
            <a:ext cx="64262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Edit a panel title → Save with a message. Repeat.
Open Settings → Versions and diff v1 vs v3, then restore v2.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897DBB-0E36-4E9C-B2F1-4F1F68FCD821}"/>
              </a:ext>
            </a:extLst>
          </p:cNvPr>
          <p:cNvSpPr/>
          <p:nvPr/>
        </p:nvSpPr>
        <p:spPr>
          <a:xfrm>
            <a:off x="609600" y="2235200"/>
            <a:ext cx="7366000" cy="812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828324-1E20-4C6A-80EB-7D789E683D83}"/>
              </a:ext>
            </a:extLst>
          </p:cNvPr>
          <p:cNvSpPr/>
          <p:nvPr/>
        </p:nvSpPr>
        <p:spPr>
          <a:xfrm>
            <a:off x="812800" y="2451100"/>
            <a:ext cx="381000" cy="3810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95F0F0-F964-4234-9945-9563C9A07980}"/>
              </a:ext>
            </a:extLst>
          </p:cNvPr>
          <p:cNvSpPr txBox="1"/>
          <p:nvPr/>
        </p:nvSpPr>
        <p:spPr>
          <a:xfrm>
            <a:off x="1397000" y="23368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Export for sharing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E9D7AE-9C57-4167-8C3D-4E5702D9AED7}"/>
              </a:ext>
            </a:extLst>
          </p:cNvPr>
          <p:cNvSpPr txBox="1"/>
          <p:nvPr/>
        </p:nvSpPr>
        <p:spPr>
          <a:xfrm>
            <a:off x="1397000" y="2590800"/>
            <a:ext cx="64262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Share → Export → tick “Export for sharing externally”.
Inspect the __inputs block in the downloaded JSON.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889145-9F29-4807-8A27-1F7A5E4D167C}"/>
              </a:ext>
            </a:extLst>
          </p:cNvPr>
          <p:cNvSpPr/>
          <p:nvPr/>
        </p:nvSpPr>
        <p:spPr>
          <a:xfrm>
            <a:off x="609600" y="3098800"/>
            <a:ext cx="7366000" cy="812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2570E9-2BA1-4D8E-9C7D-F518942BF0BB}"/>
              </a:ext>
            </a:extLst>
          </p:cNvPr>
          <p:cNvSpPr/>
          <p:nvPr/>
        </p:nvSpPr>
        <p:spPr>
          <a:xfrm>
            <a:off x="812800" y="3314700"/>
            <a:ext cx="381000" cy="3810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6DC08D-DD14-48D4-9E9E-189733948A58}"/>
              </a:ext>
            </a:extLst>
          </p:cNvPr>
          <p:cNvSpPr txBox="1"/>
          <p:nvPr/>
        </p:nvSpPr>
        <p:spPr>
          <a:xfrm>
            <a:off x="1397000" y="32004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Import into a new folder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0B9B62-51A3-4BBA-AAB4-EB028188CA4B}"/>
              </a:ext>
            </a:extLst>
          </p:cNvPr>
          <p:cNvSpPr txBox="1"/>
          <p:nvPr/>
        </p:nvSpPr>
        <p:spPr>
          <a:xfrm>
            <a:off x="1397000" y="3454400"/>
            <a:ext cx="64262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Dashboards → Import → upload the file, map the data source,
choose the Sandbox folder and a new UID.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728BA0-8B91-4EE1-97C9-7D291BCC5BB5}"/>
              </a:ext>
            </a:extLst>
          </p:cNvPr>
          <p:cNvSpPr/>
          <p:nvPr/>
        </p:nvSpPr>
        <p:spPr>
          <a:xfrm>
            <a:off x="609600" y="3962400"/>
            <a:ext cx="7366000" cy="812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ACDE4A-FB5D-4262-97EF-71CF8C77B998}"/>
              </a:ext>
            </a:extLst>
          </p:cNvPr>
          <p:cNvSpPr/>
          <p:nvPr/>
        </p:nvSpPr>
        <p:spPr>
          <a:xfrm>
            <a:off x="812800" y="4178300"/>
            <a:ext cx="381000" cy="3810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7E8D8E-294B-4B4E-A47F-265C9B0AA5FE}"/>
              </a:ext>
            </a:extLst>
          </p:cNvPr>
          <p:cNvSpPr txBox="1"/>
          <p:nvPr/>
        </p:nvSpPr>
        <p:spPr>
          <a:xfrm>
            <a:off x="1397000" y="4064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Export via the API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74827A-1E43-487B-BB5E-A52DD094A3C2}"/>
              </a:ext>
            </a:extLst>
          </p:cNvPr>
          <p:cNvSpPr txBox="1"/>
          <p:nvPr/>
        </p:nvSpPr>
        <p:spPr>
          <a:xfrm>
            <a:off x="1397000" y="4318000"/>
            <a:ext cx="64262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Create a service account token, then
curl -H "Authorization: Bearer $T" $GF/api/dashboards/uid/&lt;uid&gt;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786F90D-BECD-433C-B8B2-B14BF5EA8126}"/>
              </a:ext>
            </a:extLst>
          </p:cNvPr>
          <p:cNvSpPr/>
          <p:nvPr/>
        </p:nvSpPr>
        <p:spPr>
          <a:xfrm>
            <a:off x="609600" y="4826000"/>
            <a:ext cx="7366000" cy="812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09E72DF-1D64-480F-8DC9-60C57F706DEE}"/>
              </a:ext>
            </a:extLst>
          </p:cNvPr>
          <p:cNvSpPr/>
          <p:nvPr/>
        </p:nvSpPr>
        <p:spPr>
          <a:xfrm>
            <a:off x="812800" y="5041900"/>
            <a:ext cx="381000" cy="3810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CCA28A-35AB-4C6E-910C-08BAAE8CCA2C}"/>
              </a:ext>
            </a:extLst>
          </p:cNvPr>
          <p:cNvSpPr txBox="1"/>
          <p:nvPr/>
        </p:nvSpPr>
        <p:spPr>
          <a:xfrm>
            <a:off x="1397000" y="49276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Provision it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FAB35F-05D4-476E-98B5-B5FF08E5AB98}"/>
              </a:ext>
            </a:extLst>
          </p:cNvPr>
          <p:cNvSpPr txBox="1"/>
          <p:nvPr/>
        </p:nvSpPr>
        <p:spPr>
          <a:xfrm>
            <a:off x="1397000" y="5181600"/>
            <a:ext cx="64262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Copy the JSON to /var/lib/grafana/dashboards/prod/ and add a
provider YAML with allowUiUpdates: false. Restart Grafana.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F9D7B34-103D-4EF1-9650-BBBC0A480ABA}"/>
              </a:ext>
            </a:extLst>
          </p:cNvPr>
          <p:cNvSpPr/>
          <p:nvPr/>
        </p:nvSpPr>
        <p:spPr>
          <a:xfrm>
            <a:off x="609600" y="5689600"/>
            <a:ext cx="7366000" cy="812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6E6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22BD4E6-C3FA-4887-ADF0-37656668EE44}"/>
              </a:ext>
            </a:extLst>
          </p:cNvPr>
          <p:cNvSpPr/>
          <p:nvPr/>
        </p:nvSpPr>
        <p:spPr>
          <a:xfrm>
            <a:off x="812800" y="5905500"/>
            <a:ext cx="381000" cy="3810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72796C-391F-4B07-BD9A-819A3467C660}"/>
              </a:ext>
            </a:extLst>
          </p:cNvPr>
          <p:cNvSpPr txBox="1"/>
          <p:nvPr/>
        </p:nvSpPr>
        <p:spPr>
          <a:xfrm>
            <a:off x="1397000" y="57912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50" b="1">
                <a:solidFill>
                  <a:srgbClr val="16191F"/>
                </a:solidFill>
                <a:latin typeface="Open Sans"/>
                <a:ea typeface="Open Sans"/>
                <a:cs typeface="Open Sans"/>
              </a:rPr>
              <a:t>Prove it is read-only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0DA4DA-EEE2-4AED-8060-A5F4289B6E3B}"/>
              </a:ext>
            </a:extLst>
          </p:cNvPr>
          <p:cNvSpPr txBox="1"/>
          <p:nvPr/>
        </p:nvSpPr>
        <p:spPr>
          <a:xfrm>
            <a:off x="1397000" y="6045200"/>
            <a:ext cx="64262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Open the provisioned dashboard → the Save button is gone.
Edit the file, wait 30s, and watch the change appear.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DD04F4-F15E-470E-90E5-30AF99C8CEEA}"/>
              </a:ext>
            </a:extLst>
          </p:cNvPr>
          <p:cNvSpPr/>
          <p:nvPr/>
        </p:nvSpPr>
        <p:spPr>
          <a:xfrm>
            <a:off x="8229600" y="1371600"/>
            <a:ext cx="3352800" cy="2489200"/>
          </a:xfrm>
          <a:prstGeom prst="round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48E03E-E6DB-476D-A57F-FD0D76136FA4}"/>
              </a:ext>
            </a:extLst>
          </p:cNvPr>
          <p:cNvSpPr txBox="1"/>
          <p:nvPr/>
        </p:nvSpPr>
        <p:spPr>
          <a:xfrm>
            <a:off x="8509000" y="15494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4FD19A"/>
                </a:solidFill>
                <a:latin typeface="Open Sans"/>
                <a:ea typeface="Open Sans"/>
                <a:cs typeface="Open Sans"/>
              </a:rPr>
              <a:t>Success criteria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7962AD-96CF-4B11-91CC-7F300238314B}"/>
              </a:ext>
            </a:extLst>
          </p:cNvPr>
          <p:cNvSpPr txBox="1"/>
          <p:nvPr/>
        </p:nvSpPr>
        <p:spPr>
          <a:xfrm>
            <a:off x="8509000" y="1879600"/>
            <a:ext cx="28702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D7EDE4"/>
                </a:solidFill>
                <a:latin typeface="Open Sans"/>
                <a:ea typeface="Open Sans"/>
                <a:cs typeface="Open Sans"/>
              </a:rPr>
              <a:t>• Version history shows 3+ entries
• Restore produced a new version
• Imported copy lives in Sandbox
   with its own UID
• Provisioned dashboard is
   read-only and auto-reloads
• File edit reaches the UI in &lt;60s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95B1087-FA13-40A1-A547-D604C5A9245B}"/>
              </a:ext>
            </a:extLst>
          </p:cNvPr>
          <p:cNvSpPr/>
          <p:nvPr/>
        </p:nvSpPr>
        <p:spPr>
          <a:xfrm>
            <a:off x="8229600" y="4013200"/>
            <a:ext cx="3352800" cy="2438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F2A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AF1F7D-E2DD-476A-9997-7709096C37F0}"/>
              </a:ext>
            </a:extLst>
          </p:cNvPr>
          <p:cNvSpPr txBox="1"/>
          <p:nvPr/>
        </p:nvSpPr>
        <p:spPr>
          <a:xfrm>
            <a:off x="8509000" y="41910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B87400"/>
                </a:solidFill>
                <a:latin typeface="Open Sans"/>
                <a:ea typeface="Open Sans"/>
                <a:cs typeface="Open Sans"/>
              </a:rPr>
              <a:t>Stretch goals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759667-A71E-485D-AB71-37789CF13B7D}"/>
              </a:ext>
            </a:extLst>
          </p:cNvPr>
          <p:cNvSpPr txBox="1"/>
          <p:nvPr/>
        </p:nvSpPr>
        <p:spPr>
          <a:xfrm>
            <a:off x="8509000" y="4521200"/>
            <a:ext cx="2870200" cy="187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A6273"/>
                </a:solidFill>
                <a:latin typeface="Open Sans"/>
                <a:ea typeface="Open Sans"/>
                <a:cs typeface="Open Sans"/>
              </a:rPr>
              <a:t>• Put the JSON in Git and deploy
   it with a CI job
• Use foldersFromFilesStructure
   to create folders automatically
• Replace hard-coded data source
   UIDs with ${DS_PROM}
• Script a nightly backup of every
   dashboard via /api/search</a:t>
            </a:r>
          </a:p>
        </p:txBody>
      </p:sp>
    </p:spTree>
    <p:extLst>
      <p:ext uri="{BB962C8B-B14F-4D97-AF65-F5344CB8AC3E}">
        <p14:creationId xmlns:p14="http://schemas.microsoft.com/office/powerpoint/2010/main" val="19042482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44633F-C352-4469-AF47-E7CDBBBD41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B1A033-7EBB-4737-8B91-7C6616CE493B}"/>
              </a:ext>
            </a:extLst>
          </p:cNvPr>
          <p:cNvSpPr/>
          <p:nvPr/>
        </p:nvSpPr>
        <p:spPr>
          <a:xfrm>
            <a:off x="0" y="0"/>
            <a:ext cx="4318000" cy="6858000"/>
          </a:xfrm>
          <a:prstGeom prst="rect">
            <a:avLst/>
          </a:prstGeom>
          <a:solidFill>
            <a:srgbClr val="231D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A71C9B-A274-4764-9C9D-47F598E66876}"/>
              </a:ext>
            </a:extLst>
          </p:cNvPr>
          <p:cNvSpPr/>
          <p:nvPr/>
        </p:nvSpPr>
        <p:spPr>
          <a:xfrm>
            <a:off x="4318000" y="0"/>
            <a:ext cx="76200" cy="68580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E3A424-69D1-45EC-BCC1-4EADF47F7E5E}"/>
              </a:ext>
            </a:extLst>
          </p:cNvPr>
          <p:cNvSpPr txBox="1"/>
          <p:nvPr/>
        </p:nvSpPr>
        <p:spPr>
          <a:xfrm>
            <a:off x="889000" y="20828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B49BD8"/>
                </a:solidFill>
                <a:latin typeface="Open Sans"/>
                <a:ea typeface="Open Sans"/>
                <a:cs typeface="Open Sans"/>
              </a:rPr>
              <a:t>MODULE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1277A6-3FA3-4FD5-A89A-0850B4460BBF}"/>
              </a:ext>
            </a:extLst>
          </p:cNvPr>
          <p:cNvSpPr txBox="1"/>
          <p:nvPr/>
        </p:nvSpPr>
        <p:spPr>
          <a:xfrm>
            <a:off x="889000" y="2540000"/>
            <a:ext cx="3048000" cy="152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600" b="1">
                <a:solidFill>
                  <a:srgbClr val="FFFFFF"/>
                </a:solidFill>
                <a:latin typeface="Montserrat"/>
              </a:rPr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E3CDD-8996-4279-9C87-181229436397}"/>
              </a:ext>
            </a:extLst>
          </p:cNvPr>
          <p:cNvSpPr txBox="1"/>
          <p:nvPr/>
        </p:nvSpPr>
        <p:spPr>
          <a:xfrm>
            <a:off x="5080000" y="1422400"/>
            <a:ext cx="6604000" cy="1143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Montserrat"/>
              </a:rPr>
              <a:t>Performance
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CDD9A-373D-4E42-B01D-178F65102CA3}"/>
              </a:ext>
            </a:extLst>
          </p:cNvPr>
          <p:cNvSpPr txBox="1"/>
          <p:nvPr/>
        </p:nvSpPr>
        <p:spPr>
          <a:xfrm>
            <a:off x="5080000" y="26416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Fast dashboards are a design decision, not an accident.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50A1F9-4618-4798-AF8D-40D87E89C594}"/>
              </a:ext>
            </a:extLst>
          </p:cNvPr>
          <p:cNvSpPr/>
          <p:nvPr/>
        </p:nvSpPr>
        <p:spPr>
          <a:xfrm>
            <a:off x="5080000" y="3327400"/>
            <a:ext cx="3149600" cy="584200"/>
          </a:xfrm>
          <a:prstGeom prst="roundRect">
            <a:avLst/>
          </a:prstGeom>
          <a:solidFill>
            <a:srgbClr val="2A2438"/>
          </a:solidFill>
          <a:ln w="12700" cap="flat" cmpd="sng" algn="ctr">
            <a:solidFill>
              <a:srgbClr val="46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Dashboard Performance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B7BB084-9659-4D6D-96DE-822C1F68A2D6}"/>
              </a:ext>
            </a:extLst>
          </p:cNvPr>
          <p:cNvSpPr/>
          <p:nvPr/>
        </p:nvSpPr>
        <p:spPr>
          <a:xfrm>
            <a:off x="8483600" y="3327400"/>
            <a:ext cx="3149600" cy="584200"/>
          </a:xfrm>
          <a:prstGeom prst="roundRect">
            <a:avLst/>
          </a:prstGeom>
          <a:solidFill>
            <a:srgbClr val="2A2438"/>
          </a:solidFill>
          <a:ln w="12700" cap="flat" cmpd="sng" algn="ctr">
            <a:solidFill>
              <a:srgbClr val="46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Query Optimization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68B1CA-35F7-4424-9422-86C887DD74E1}"/>
              </a:ext>
            </a:extLst>
          </p:cNvPr>
          <p:cNvSpPr/>
          <p:nvPr/>
        </p:nvSpPr>
        <p:spPr>
          <a:xfrm>
            <a:off x="5080000" y="4089400"/>
            <a:ext cx="3149600" cy="584200"/>
          </a:xfrm>
          <a:prstGeom prst="roundRect">
            <a:avLst/>
          </a:prstGeom>
          <a:solidFill>
            <a:srgbClr val="2A2438"/>
          </a:solidFill>
          <a:ln w="12700" cap="flat" cmpd="sng" algn="ctr">
            <a:solidFill>
              <a:srgbClr val="46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Refresh Intervals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BE6B26-C014-4BFD-AAAE-441418A164BC}"/>
              </a:ext>
            </a:extLst>
          </p:cNvPr>
          <p:cNvSpPr/>
          <p:nvPr/>
        </p:nvSpPr>
        <p:spPr>
          <a:xfrm>
            <a:off x="8483600" y="4089400"/>
            <a:ext cx="3149600" cy="584200"/>
          </a:xfrm>
          <a:prstGeom prst="roundRect">
            <a:avLst/>
          </a:prstGeom>
          <a:solidFill>
            <a:srgbClr val="2A2438"/>
          </a:solidFill>
          <a:ln w="12700" cap="flat" cmpd="sng" algn="ctr">
            <a:solidFill>
              <a:srgbClr val="46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Caching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DE182D-1E95-4FA9-A0EC-D221C3C956FF}"/>
              </a:ext>
            </a:extLst>
          </p:cNvPr>
          <p:cNvSpPr/>
          <p:nvPr/>
        </p:nvSpPr>
        <p:spPr>
          <a:xfrm>
            <a:off x="5080000" y="4851400"/>
            <a:ext cx="3149600" cy="584200"/>
          </a:xfrm>
          <a:prstGeom prst="roundRect">
            <a:avLst/>
          </a:prstGeom>
          <a:solidFill>
            <a:srgbClr val="2A2438"/>
          </a:solidFill>
          <a:ln w="12700" cap="flat" cmpd="sng" algn="ctr">
            <a:solidFill>
              <a:srgbClr val="46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Panel &amp; Variable Design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E74072A-395E-4149-AA44-6C8D391E4A45}"/>
              </a:ext>
            </a:extLst>
          </p:cNvPr>
          <p:cNvSpPr/>
          <p:nvPr/>
        </p:nvSpPr>
        <p:spPr>
          <a:xfrm>
            <a:off x="8483600" y="4851400"/>
            <a:ext cx="3149600" cy="584200"/>
          </a:xfrm>
          <a:prstGeom prst="roundRect">
            <a:avLst/>
          </a:prstGeom>
          <a:solidFill>
            <a:srgbClr val="2A2438"/>
          </a:solidFill>
          <a:ln w="12700" cap="flat" cmpd="sng" algn="ctr">
            <a:solidFill>
              <a:srgbClr val="463A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0164443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4E5224-ABDE-4A25-B7A9-7C2A2C894873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MODULE 16  ·  DASHBOARD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4EA96-58C9-4416-A4AD-3BE4BD1E4B8B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The Query Path: Where Time Is Spent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753FE7-47E0-4E66-AB99-3C546B1CBFD6}"/>
              </a:ext>
            </a:extLst>
          </p:cNvPr>
          <p:cNvSpPr/>
          <p:nvPr/>
        </p:nvSpPr>
        <p:spPr>
          <a:xfrm>
            <a:off x="609600" y="1270000"/>
            <a:ext cx="1524000" cy="381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0B237-E358-4E97-BA43-CC70A67BC585}"/>
              </a:ext>
            </a:extLst>
          </p:cNvPr>
          <p:cNvSpPr/>
          <p:nvPr/>
        </p:nvSpPr>
        <p:spPr>
          <a:xfrm>
            <a:off x="609600" y="1752600"/>
            <a:ext cx="2400300" cy="12192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91428E-FC68-44EB-952C-33DD8C09C714}"/>
              </a:ext>
            </a:extLst>
          </p:cNvPr>
          <p:cNvSpPr/>
          <p:nvPr/>
        </p:nvSpPr>
        <p:spPr>
          <a:xfrm>
            <a:off x="609600" y="1752600"/>
            <a:ext cx="2400300" cy="508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E6B12C-C2B7-4777-943B-DC0DC65339B2}"/>
              </a:ext>
            </a:extLst>
          </p:cNvPr>
          <p:cNvSpPr txBox="1"/>
          <p:nvPr/>
        </p:nvSpPr>
        <p:spPr>
          <a:xfrm>
            <a:off x="762000" y="1930400"/>
            <a:ext cx="20955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2E5FA3"/>
                </a:solidFill>
                <a:latin typeface="Open Sans"/>
                <a:ea typeface="Open Sans"/>
                <a:cs typeface="Open Sans"/>
              </a:rPr>
              <a:t>1  BROWSER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2543B-37DE-44B7-AD3D-861E77B047AF}"/>
              </a:ext>
            </a:extLst>
          </p:cNvPr>
          <p:cNvSpPr txBox="1"/>
          <p:nvPr/>
        </p:nvSpPr>
        <p:spPr>
          <a:xfrm>
            <a:off x="762000" y="2235200"/>
            <a:ext cx="20955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Panel render, JS
decode, DOM paint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75234E2-6BFA-4176-82FB-6D851D845C2E}"/>
              </a:ext>
            </a:extLst>
          </p:cNvPr>
          <p:cNvSpPr/>
          <p:nvPr/>
        </p:nvSpPr>
        <p:spPr>
          <a:xfrm>
            <a:off x="3060700" y="2235200"/>
            <a:ext cx="355600" cy="2540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AA65B08-429D-457C-9E90-3A02F3C3BC07}"/>
              </a:ext>
            </a:extLst>
          </p:cNvPr>
          <p:cNvSpPr/>
          <p:nvPr/>
        </p:nvSpPr>
        <p:spPr>
          <a:xfrm>
            <a:off x="609600" y="3175000"/>
            <a:ext cx="2400300" cy="685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045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Too many panels
&gt; 20 = slow render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53A7F5-DC30-4ABF-938C-F52E61E20CE6}"/>
              </a:ext>
            </a:extLst>
          </p:cNvPr>
          <p:cNvSpPr/>
          <p:nvPr/>
        </p:nvSpPr>
        <p:spPr>
          <a:xfrm>
            <a:off x="3467100" y="1752600"/>
            <a:ext cx="2400300" cy="12192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98B8E9-2FB9-414D-A8B6-E65EF2C7B8DD}"/>
              </a:ext>
            </a:extLst>
          </p:cNvPr>
          <p:cNvSpPr/>
          <p:nvPr/>
        </p:nvSpPr>
        <p:spPr>
          <a:xfrm>
            <a:off x="3467100" y="1752600"/>
            <a:ext cx="2400300" cy="508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A3F8FE-4F41-40E5-8187-38AD10A497B5}"/>
              </a:ext>
            </a:extLst>
          </p:cNvPr>
          <p:cNvSpPr txBox="1"/>
          <p:nvPr/>
        </p:nvSpPr>
        <p:spPr>
          <a:xfrm>
            <a:off x="3619500" y="1930400"/>
            <a:ext cx="20955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2  GRAFANA SERVER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EAE802-F0E2-4686-995B-E2E8B0E9A646}"/>
              </a:ext>
            </a:extLst>
          </p:cNvPr>
          <p:cNvSpPr txBox="1"/>
          <p:nvPr/>
        </p:nvSpPr>
        <p:spPr>
          <a:xfrm>
            <a:off x="3619500" y="2235200"/>
            <a:ext cx="20955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Auth, query router,
fan-out per panel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2C8AFA4-288E-4833-B4E4-7FBA3791CA27}"/>
              </a:ext>
            </a:extLst>
          </p:cNvPr>
          <p:cNvSpPr/>
          <p:nvPr/>
        </p:nvSpPr>
        <p:spPr>
          <a:xfrm>
            <a:off x="5918200" y="2235200"/>
            <a:ext cx="355600" cy="2540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DEDF4E-436E-40A5-A6E1-6942165E1BD1}"/>
              </a:ext>
            </a:extLst>
          </p:cNvPr>
          <p:cNvSpPr/>
          <p:nvPr/>
        </p:nvSpPr>
        <p:spPr>
          <a:xfrm>
            <a:off x="3467100" y="3175000"/>
            <a:ext cx="2400300" cy="685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F2A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fr-FR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Concurrent queries
per dashboard load</a:t>
            </a:r>
            <a:endParaRPr lang="en-US" sz="1250">
              <a:solidFill>
                <a:srgbClr val="3C44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70E833-8AE0-4BEA-B50D-366EB084E78B}"/>
              </a:ext>
            </a:extLst>
          </p:cNvPr>
          <p:cNvSpPr/>
          <p:nvPr/>
        </p:nvSpPr>
        <p:spPr>
          <a:xfrm>
            <a:off x="6324600" y="1752600"/>
            <a:ext cx="2400300" cy="12192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0E32D9-A29E-4A18-9604-FF558161DB2F}"/>
              </a:ext>
            </a:extLst>
          </p:cNvPr>
          <p:cNvSpPr/>
          <p:nvPr/>
        </p:nvSpPr>
        <p:spPr>
          <a:xfrm>
            <a:off x="6324600" y="1752600"/>
            <a:ext cx="2400300" cy="508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3B07A2-DC3B-4DE3-81CC-64DE738BD501}"/>
              </a:ext>
            </a:extLst>
          </p:cNvPr>
          <p:cNvSpPr txBox="1"/>
          <p:nvPr/>
        </p:nvSpPr>
        <p:spPr>
          <a:xfrm>
            <a:off x="6477000" y="1930400"/>
            <a:ext cx="20955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1E9E6A"/>
                </a:solidFill>
                <a:latin typeface="Open Sans"/>
                <a:ea typeface="Open Sans"/>
                <a:cs typeface="Open Sans"/>
              </a:rPr>
              <a:t>3  CACHE / DS PROXY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5C7621-7176-4063-B05A-89A5BC13FAB3}"/>
              </a:ext>
            </a:extLst>
          </p:cNvPr>
          <p:cNvSpPr txBox="1"/>
          <p:nvPr/>
        </p:nvSpPr>
        <p:spPr>
          <a:xfrm>
            <a:off x="6477000" y="2235200"/>
            <a:ext cx="20955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Query cache hit?
(Enterprise) TTL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DBB8E2F-F483-47C3-BCB4-A6718CC0A673}"/>
              </a:ext>
            </a:extLst>
          </p:cNvPr>
          <p:cNvSpPr/>
          <p:nvPr/>
        </p:nvSpPr>
        <p:spPr>
          <a:xfrm>
            <a:off x="8775700" y="2235200"/>
            <a:ext cx="355600" cy="254000"/>
          </a:xfrm>
          <a:prstGeom prst="rightArrow">
            <a:avLst/>
          </a:prstGeom>
          <a:solidFill>
            <a:srgbClr val="B9C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80F9FAF-874E-48D2-9DF4-E5BFA6C8830C}"/>
              </a:ext>
            </a:extLst>
          </p:cNvPr>
          <p:cNvSpPr/>
          <p:nvPr/>
        </p:nvSpPr>
        <p:spPr>
          <a:xfrm>
            <a:off x="6324600" y="3175000"/>
            <a:ext cx="2400300" cy="685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F2A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Cache miss = full
cost every refresh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BDDEA9-2E01-4BDC-B219-502F919F0107}"/>
              </a:ext>
            </a:extLst>
          </p:cNvPr>
          <p:cNvSpPr/>
          <p:nvPr/>
        </p:nvSpPr>
        <p:spPr>
          <a:xfrm>
            <a:off x="9182100" y="1752600"/>
            <a:ext cx="2400300" cy="12192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9666B2-852A-47E4-BE5A-85DE19664958}"/>
              </a:ext>
            </a:extLst>
          </p:cNvPr>
          <p:cNvSpPr/>
          <p:nvPr/>
        </p:nvSpPr>
        <p:spPr>
          <a:xfrm>
            <a:off x="9182100" y="1752600"/>
            <a:ext cx="2400300" cy="508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F4787C-3FB0-4834-B3B7-6F4F916F7E71}"/>
              </a:ext>
            </a:extLst>
          </p:cNvPr>
          <p:cNvSpPr txBox="1"/>
          <p:nvPr/>
        </p:nvSpPr>
        <p:spPr>
          <a:xfrm>
            <a:off x="9334500" y="1930400"/>
            <a:ext cx="20955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4  DATA SOURCE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B6FCE-656D-4742-80D5-51D18699AC48}"/>
              </a:ext>
            </a:extLst>
          </p:cNvPr>
          <p:cNvSpPr txBox="1"/>
          <p:nvPr/>
        </p:nvSpPr>
        <p:spPr>
          <a:xfrm>
            <a:off x="9334500" y="2235200"/>
            <a:ext cx="20955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Prometheus / Loki /
SQL scans + aggregation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19D5A9B-EC82-4068-98B0-D8AC020835D4}"/>
              </a:ext>
            </a:extLst>
          </p:cNvPr>
          <p:cNvSpPr/>
          <p:nvPr/>
        </p:nvSpPr>
        <p:spPr>
          <a:xfrm>
            <a:off x="9182100" y="3175000"/>
            <a:ext cx="2400300" cy="685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045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Usually 70-90%
of total latency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F1F803-F760-4242-8EEC-CA53DBCF135F}"/>
              </a:ext>
            </a:extLst>
          </p:cNvPr>
          <p:cNvSpPr txBox="1"/>
          <p:nvPr/>
        </p:nvSpPr>
        <p:spPr>
          <a:xfrm>
            <a:off x="609600" y="40132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LATENCY CONTRIBUTORS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815BDF8-8D93-424F-8B80-126231D296B1}"/>
              </a:ext>
            </a:extLst>
          </p:cNvPr>
          <p:cNvSpPr/>
          <p:nvPr/>
        </p:nvSpPr>
        <p:spPr>
          <a:xfrm>
            <a:off x="609600" y="4368800"/>
            <a:ext cx="10972800" cy="21336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0E3EE6-1FD6-4520-A2DD-8EBBCE40BA61}"/>
              </a:ext>
            </a:extLst>
          </p:cNvPr>
          <p:cNvSpPr txBox="1"/>
          <p:nvPr/>
        </p:nvSpPr>
        <p:spPr>
          <a:xfrm>
            <a:off x="914400" y="45974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Montserrat"/>
              </a:rPr>
              <a:t>Diagnose before you optimize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699A0F3-3F5E-4038-936F-CD76EEA102C2}"/>
              </a:ext>
            </a:extLst>
          </p:cNvPr>
          <p:cNvSpPr/>
          <p:nvPr/>
        </p:nvSpPr>
        <p:spPr>
          <a:xfrm>
            <a:off x="914400" y="5029200"/>
            <a:ext cx="3251200" cy="1219200"/>
          </a:xfrm>
          <a:prstGeom prst="roundRect">
            <a:avLst/>
          </a:prstGeom>
          <a:solidFill>
            <a:srgbClr val="2328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F36EE1-01EE-4C5C-B8BC-8BB5E83803B3}"/>
              </a:ext>
            </a:extLst>
          </p:cNvPr>
          <p:cNvSpPr txBox="1"/>
          <p:nvPr/>
        </p:nvSpPr>
        <p:spPr>
          <a:xfrm>
            <a:off x="1117600" y="5181600"/>
            <a:ext cx="2844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F2A93B"/>
                </a:solidFill>
                <a:latin typeface="Open Sans"/>
                <a:ea typeface="Open Sans"/>
                <a:cs typeface="Open Sans"/>
              </a:rPr>
              <a:t>Query Inspector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536ED2-24DE-447B-927D-4E6215AF3187}"/>
              </a:ext>
            </a:extLst>
          </p:cNvPr>
          <p:cNvSpPr txBox="1"/>
          <p:nvPr/>
        </p:nvSpPr>
        <p:spPr>
          <a:xfrm>
            <a:off x="1117600" y="54610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Panel &gt; Inspect &gt; Query:
see request, response size
and per-query duration.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022E9D8-E5D2-466D-9E38-8102DFF31ADD}"/>
              </a:ext>
            </a:extLst>
          </p:cNvPr>
          <p:cNvSpPr/>
          <p:nvPr/>
        </p:nvSpPr>
        <p:spPr>
          <a:xfrm>
            <a:off x="4419600" y="5029200"/>
            <a:ext cx="3251200" cy="1219200"/>
          </a:xfrm>
          <a:prstGeom prst="roundRect">
            <a:avLst/>
          </a:prstGeom>
          <a:solidFill>
            <a:srgbClr val="2328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BF9664-CBC3-4D0F-9861-A40F823B23B3}"/>
              </a:ext>
            </a:extLst>
          </p:cNvPr>
          <p:cNvSpPr txBox="1"/>
          <p:nvPr/>
        </p:nvSpPr>
        <p:spPr>
          <a:xfrm>
            <a:off x="4622800" y="5181600"/>
            <a:ext cx="2844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F2A93B"/>
                </a:solidFill>
                <a:latin typeface="Open Sans"/>
                <a:ea typeface="Open Sans"/>
                <a:cs typeface="Open Sans"/>
              </a:rPr>
              <a:t>Panel Inspect &gt; Stats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99488C-C478-4C7F-AA3F-D23042A577F5}"/>
              </a:ext>
            </a:extLst>
          </p:cNvPr>
          <p:cNvSpPr txBox="1"/>
          <p:nvPr/>
        </p:nvSpPr>
        <p:spPr>
          <a:xfrm>
            <a:off x="4622800" y="54610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Rows returned, data
source load time, render
time for the panel.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B3D1759-0A85-4FE3-B841-FF811FCD2CB7}"/>
              </a:ext>
            </a:extLst>
          </p:cNvPr>
          <p:cNvSpPr/>
          <p:nvPr/>
        </p:nvSpPr>
        <p:spPr>
          <a:xfrm>
            <a:off x="7924800" y="5029200"/>
            <a:ext cx="3251200" cy="1219200"/>
          </a:xfrm>
          <a:prstGeom prst="roundRect">
            <a:avLst/>
          </a:prstGeom>
          <a:solidFill>
            <a:srgbClr val="2328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0F5CAE-9175-49AA-8933-9F663728A47E}"/>
              </a:ext>
            </a:extLst>
          </p:cNvPr>
          <p:cNvSpPr txBox="1"/>
          <p:nvPr/>
        </p:nvSpPr>
        <p:spPr>
          <a:xfrm>
            <a:off x="8128000" y="5181600"/>
            <a:ext cx="2844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F2A93B"/>
                </a:solidFill>
                <a:latin typeface="Open Sans"/>
                <a:ea typeface="Open Sans"/>
                <a:cs typeface="Open Sans"/>
              </a:rPr>
              <a:t>Grafana self-metrics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84333F-5FFB-49A9-BFCC-E910CD68B445}"/>
              </a:ext>
            </a:extLst>
          </p:cNvPr>
          <p:cNvSpPr txBox="1"/>
          <p:nvPr/>
        </p:nvSpPr>
        <p:spPr>
          <a:xfrm>
            <a:off x="8128000" y="54610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/metrics endpoint +
Grafana usage dashboard:
slow queries, HTTP p95.</a:t>
            </a:r>
          </a:p>
        </p:txBody>
      </p:sp>
    </p:spTree>
    <p:extLst>
      <p:ext uri="{BB962C8B-B14F-4D97-AF65-F5344CB8AC3E}">
        <p14:creationId xmlns:p14="http://schemas.microsoft.com/office/powerpoint/2010/main" val="25733890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6698FB-70A0-4626-B528-7CE8A68EB5CA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MODULE 16  ·  DASHBOARD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685313-D3D2-4FB2-9F2B-898C4A6AC520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Six Design Rules for Fast Dashboards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FF383C-EB21-4FB9-B884-92A094C15EB1}"/>
              </a:ext>
            </a:extLst>
          </p:cNvPr>
          <p:cNvSpPr/>
          <p:nvPr/>
        </p:nvSpPr>
        <p:spPr>
          <a:xfrm>
            <a:off x="609600" y="1270000"/>
            <a:ext cx="1524000" cy="381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0439A93-BCD5-4E79-9021-A0ED909F7447}"/>
              </a:ext>
            </a:extLst>
          </p:cNvPr>
          <p:cNvSpPr/>
          <p:nvPr/>
        </p:nvSpPr>
        <p:spPr>
          <a:xfrm>
            <a:off x="609600" y="1625600"/>
            <a:ext cx="3505200" cy="2286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6BA48F-BB37-45F4-99BD-13C16A20DCCC}"/>
              </a:ext>
            </a:extLst>
          </p:cNvPr>
          <p:cNvSpPr/>
          <p:nvPr/>
        </p:nvSpPr>
        <p:spPr>
          <a:xfrm>
            <a:off x="838200" y="1854200"/>
            <a:ext cx="558800" cy="381000"/>
          </a:xfrm>
          <a:prstGeom prst="roundRect">
            <a:avLst/>
          </a:prstGeom>
          <a:solidFill>
            <a:srgbClr val="F1E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5B7445-7205-4011-AA31-DEC86E35270F}"/>
              </a:ext>
            </a:extLst>
          </p:cNvPr>
          <p:cNvSpPr txBox="1"/>
          <p:nvPr/>
        </p:nvSpPr>
        <p:spPr>
          <a:xfrm>
            <a:off x="838200" y="2362200"/>
            <a:ext cx="304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6191F"/>
                </a:solidFill>
                <a:latin typeface="Montserrat"/>
              </a:rPr>
              <a:t>Cap panels per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3B421-5567-4C9A-8C7B-CBA84041BA2F}"/>
              </a:ext>
            </a:extLst>
          </p:cNvPr>
          <p:cNvSpPr txBox="1"/>
          <p:nvPr/>
        </p:nvSpPr>
        <p:spPr>
          <a:xfrm>
            <a:off x="838200" y="2946400"/>
            <a:ext cx="30480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Target 10-15 panels. Every panel = at least one query on load. Split by audience into linked dashboards instead of one mega-board.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FF5582-329F-4E9E-A394-01D7352F687F}"/>
              </a:ext>
            </a:extLst>
          </p:cNvPr>
          <p:cNvSpPr/>
          <p:nvPr/>
        </p:nvSpPr>
        <p:spPr>
          <a:xfrm>
            <a:off x="4318000" y="1625600"/>
            <a:ext cx="3505200" cy="2286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96254F-54C3-4246-BF16-3193993DFCCC}"/>
              </a:ext>
            </a:extLst>
          </p:cNvPr>
          <p:cNvSpPr/>
          <p:nvPr/>
        </p:nvSpPr>
        <p:spPr>
          <a:xfrm>
            <a:off x="4546600" y="1854200"/>
            <a:ext cx="558800" cy="381000"/>
          </a:xfrm>
          <a:prstGeom prst="roundRect">
            <a:avLst/>
          </a:prstGeom>
          <a:solidFill>
            <a:srgbClr val="F1E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475E94-22A7-43FD-AA24-014A19AEAEC9}"/>
              </a:ext>
            </a:extLst>
          </p:cNvPr>
          <p:cNvSpPr txBox="1"/>
          <p:nvPr/>
        </p:nvSpPr>
        <p:spPr>
          <a:xfrm>
            <a:off x="4546600" y="2362200"/>
            <a:ext cx="304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6191F"/>
                </a:solidFill>
                <a:latin typeface="Montserrat"/>
              </a:rPr>
              <a:t>Collapse rows by default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208B3C-7837-4D66-84B2-6503CD2E410C}"/>
              </a:ext>
            </a:extLst>
          </p:cNvPr>
          <p:cNvSpPr txBox="1"/>
          <p:nvPr/>
        </p:nvSpPr>
        <p:spPr>
          <a:xfrm>
            <a:off x="4546600" y="2946400"/>
            <a:ext cx="30480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Panels inside a collapsed row are not queried until the row is expanded. Put drill-down detail in collapsed rows.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D811B8-4A0D-4B01-9599-D6EF89CFB248}"/>
              </a:ext>
            </a:extLst>
          </p:cNvPr>
          <p:cNvSpPr/>
          <p:nvPr/>
        </p:nvSpPr>
        <p:spPr>
          <a:xfrm>
            <a:off x="8026400" y="1625600"/>
            <a:ext cx="3505200" cy="2286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266C327-3809-42BB-895F-9034C869B3CF}"/>
              </a:ext>
            </a:extLst>
          </p:cNvPr>
          <p:cNvSpPr/>
          <p:nvPr/>
        </p:nvSpPr>
        <p:spPr>
          <a:xfrm>
            <a:off x="8255000" y="1854200"/>
            <a:ext cx="558800" cy="381000"/>
          </a:xfrm>
          <a:prstGeom prst="roundRect">
            <a:avLst/>
          </a:prstGeom>
          <a:solidFill>
            <a:srgbClr val="F1E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1FA193-7C0B-4C49-BA26-83F21FF245FC}"/>
              </a:ext>
            </a:extLst>
          </p:cNvPr>
          <p:cNvSpPr txBox="1"/>
          <p:nvPr/>
        </p:nvSpPr>
        <p:spPr>
          <a:xfrm>
            <a:off x="8255000" y="2362200"/>
            <a:ext cx="304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6191F"/>
                </a:solidFill>
                <a:latin typeface="Montserrat"/>
              </a:rPr>
              <a:t>Set a sane default time range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B637BC-EE4E-44C8-B1A3-21D57DA45EC9}"/>
              </a:ext>
            </a:extLst>
          </p:cNvPr>
          <p:cNvSpPr txBox="1"/>
          <p:nvPr/>
        </p:nvSpPr>
        <p:spPr>
          <a:xfrm>
            <a:off x="8255000" y="2946400"/>
            <a:ext cx="30480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Default to 6h or 24h, not 30d. Long ranges force huge scans; users who need history can widen it themselves.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E8B1755-CD67-4AA1-84C0-A39A09F79440}"/>
              </a:ext>
            </a:extLst>
          </p:cNvPr>
          <p:cNvSpPr/>
          <p:nvPr/>
        </p:nvSpPr>
        <p:spPr>
          <a:xfrm>
            <a:off x="609600" y="4114800"/>
            <a:ext cx="3505200" cy="2286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3C33A4-E108-4237-A933-AD16DCEB4B54}"/>
              </a:ext>
            </a:extLst>
          </p:cNvPr>
          <p:cNvSpPr/>
          <p:nvPr/>
        </p:nvSpPr>
        <p:spPr>
          <a:xfrm>
            <a:off x="838200" y="4343400"/>
            <a:ext cx="558800" cy="381000"/>
          </a:xfrm>
          <a:prstGeom prst="roundRect">
            <a:avLst/>
          </a:prstGeom>
          <a:solidFill>
            <a:srgbClr val="F1E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8F722A-AD15-4282-9220-859E03ECF8A7}"/>
              </a:ext>
            </a:extLst>
          </p:cNvPr>
          <p:cNvSpPr txBox="1"/>
          <p:nvPr/>
        </p:nvSpPr>
        <p:spPr>
          <a:xfrm>
            <a:off x="838200" y="4851400"/>
            <a:ext cx="304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6191F"/>
                </a:solidFill>
                <a:latin typeface="Montserrat"/>
              </a:rPr>
              <a:t>Limit Max data points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7DFAFB-6A2F-4AD3-8AEB-21E08471C642}"/>
              </a:ext>
            </a:extLst>
          </p:cNvPr>
          <p:cNvSpPr txBox="1"/>
          <p:nvPr/>
        </p:nvSpPr>
        <p:spPr>
          <a:xfrm>
            <a:off x="838200" y="5435600"/>
            <a:ext cx="30480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Panel &gt; Query options &gt; Max data points ~ panel pixel width. Returning 50k points to draw 800 pixels wastes DB, network and browser.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09A6286-B44B-42F7-B9BE-94251422A54E}"/>
              </a:ext>
            </a:extLst>
          </p:cNvPr>
          <p:cNvSpPr/>
          <p:nvPr/>
        </p:nvSpPr>
        <p:spPr>
          <a:xfrm>
            <a:off x="4318000" y="4114800"/>
            <a:ext cx="3505200" cy="2286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A229F7F-4C6A-4B46-B700-058CDF85DB9A}"/>
              </a:ext>
            </a:extLst>
          </p:cNvPr>
          <p:cNvSpPr/>
          <p:nvPr/>
        </p:nvSpPr>
        <p:spPr>
          <a:xfrm>
            <a:off x="4546600" y="4343400"/>
            <a:ext cx="558800" cy="381000"/>
          </a:xfrm>
          <a:prstGeom prst="roundRect">
            <a:avLst/>
          </a:prstGeom>
          <a:solidFill>
            <a:srgbClr val="F1E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05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E21E12-CD8B-4CE8-BB3A-BE44BDC8F6C7}"/>
              </a:ext>
            </a:extLst>
          </p:cNvPr>
          <p:cNvSpPr txBox="1"/>
          <p:nvPr/>
        </p:nvSpPr>
        <p:spPr>
          <a:xfrm>
            <a:off x="4546600" y="4851400"/>
            <a:ext cx="304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6191F"/>
                </a:solidFill>
                <a:latin typeface="Montserrat"/>
              </a:rPr>
              <a:t>Design variables carefully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013374-9358-47AD-8152-BB177FFC837A}"/>
              </a:ext>
            </a:extLst>
          </p:cNvPr>
          <p:cNvSpPr txBox="1"/>
          <p:nvPr/>
        </p:nvSpPr>
        <p:spPr>
          <a:xfrm>
            <a:off x="4546600" y="5435600"/>
            <a:ext cx="30480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Avoid unbounded multi-value / All variables. Use static lists or label_values with a filter; chain variables to shrink option sets.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AAE51F5-FD15-44FC-8FAE-6C7D004084BF}"/>
              </a:ext>
            </a:extLst>
          </p:cNvPr>
          <p:cNvSpPr/>
          <p:nvPr/>
        </p:nvSpPr>
        <p:spPr>
          <a:xfrm>
            <a:off x="8026400" y="4114800"/>
            <a:ext cx="3505200" cy="2286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CBBCA07-24AC-4819-8BA6-A2023C8C05F8}"/>
              </a:ext>
            </a:extLst>
          </p:cNvPr>
          <p:cNvSpPr/>
          <p:nvPr/>
        </p:nvSpPr>
        <p:spPr>
          <a:xfrm>
            <a:off x="8255000" y="4343400"/>
            <a:ext cx="558800" cy="381000"/>
          </a:xfrm>
          <a:prstGeom prst="roundRect">
            <a:avLst/>
          </a:prstGeom>
          <a:solidFill>
            <a:srgbClr val="F1E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06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BA53E9-16B1-4228-A675-F26FFF5EFA82}"/>
              </a:ext>
            </a:extLst>
          </p:cNvPr>
          <p:cNvSpPr txBox="1"/>
          <p:nvPr/>
        </p:nvSpPr>
        <p:spPr>
          <a:xfrm>
            <a:off x="8255000" y="4851400"/>
            <a:ext cx="304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6191F"/>
                </a:solidFill>
                <a:latin typeface="Montserrat"/>
              </a:rPr>
              <a:t>Pick the cheapest visualization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BAB3A2-9CF1-41E2-9ABC-845F24621DCC}"/>
              </a:ext>
            </a:extLst>
          </p:cNvPr>
          <p:cNvSpPr txBox="1"/>
          <p:nvPr/>
        </p:nvSpPr>
        <p:spPr>
          <a:xfrm>
            <a:off x="8255000" y="5435600"/>
            <a:ext cx="30480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Time series and stat panels are cheap; large tables, logs panels and heatmaps are expensive. Avoid repeating heavy panels across rows.</a:t>
            </a:r>
          </a:p>
        </p:txBody>
      </p:sp>
    </p:spTree>
    <p:extLst>
      <p:ext uri="{BB962C8B-B14F-4D97-AF65-F5344CB8AC3E}">
        <p14:creationId xmlns:p14="http://schemas.microsoft.com/office/powerpoint/2010/main" val="2487780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C3243F-00AF-4FEA-B55C-B2424521B8FE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MODULE 16  ·  QUERY OPTIMIZATION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23BBF-CBF5-4EC4-93AC-66E5B4D79946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Query Optimization: Before / After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DB43C-815D-472D-9F3B-B8316A0F4C1D}"/>
              </a:ext>
            </a:extLst>
          </p:cNvPr>
          <p:cNvSpPr/>
          <p:nvPr/>
        </p:nvSpPr>
        <p:spPr>
          <a:xfrm>
            <a:off x="609600" y="1270000"/>
            <a:ext cx="1524000" cy="381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41C09B-36F7-499B-89C2-44CBC1061199}"/>
              </a:ext>
            </a:extLst>
          </p:cNvPr>
          <p:cNvSpPr/>
          <p:nvPr/>
        </p:nvSpPr>
        <p:spPr>
          <a:xfrm>
            <a:off x="609600" y="1625600"/>
            <a:ext cx="5334000" cy="3276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D045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311025-6DB8-4851-872E-60D93D758BBE}"/>
              </a:ext>
            </a:extLst>
          </p:cNvPr>
          <p:cNvSpPr/>
          <p:nvPr/>
        </p:nvSpPr>
        <p:spPr>
          <a:xfrm>
            <a:off x="609600" y="1625600"/>
            <a:ext cx="5334000" cy="431800"/>
          </a:xfrm>
          <a:prstGeom prst="roundRect">
            <a:avLst/>
          </a:prstGeom>
          <a:solidFill>
            <a:srgbClr val="D045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COSTLY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4873C-D810-4B7F-B1F6-CAECF60B9AD9}"/>
              </a:ext>
            </a:extLst>
          </p:cNvPr>
          <p:cNvSpPr txBox="1"/>
          <p:nvPr/>
        </p:nvSpPr>
        <p:spPr>
          <a:xfrm>
            <a:off x="863600" y="2235200"/>
            <a:ext cx="48260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8A1F18"/>
                </a:solidFill>
                <a:latin typeface="Consolas"/>
              </a:rPr>
              <a:t># PromQL - raw series, no aggregation
node_cpu_seconds_total
# SQL - full scan, no time filter
SELECT * FROM metrics
ORDER BY time DESC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F0FCCA-175D-4BF0-88BE-24FE04EC5BDE}"/>
              </a:ext>
            </a:extLst>
          </p:cNvPr>
          <p:cNvSpPr txBox="1"/>
          <p:nvPr/>
        </p:nvSpPr>
        <p:spPr>
          <a:xfrm>
            <a:off x="863600" y="3708400"/>
            <a:ext cx="4826000" cy="1041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• Returns thousands of series to the browser
• No time-range filter → scans whole table
• SELECT * pulls unused columns
• Re-computed on every 10s refresh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8E2F96-7E18-434E-A5D1-23E49C480C3B}"/>
              </a:ext>
            </a:extLst>
          </p:cNvPr>
          <p:cNvSpPr/>
          <p:nvPr/>
        </p:nvSpPr>
        <p:spPr>
          <a:xfrm>
            <a:off x="6248400" y="1625600"/>
            <a:ext cx="5334000" cy="3276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E9E6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ECD88C-28B0-4751-9340-E09D0A66C314}"/>
              </a:ext>
            </a:extLst>
          </p:cNvPr>
          <p:cNvSpPr/>
          <p:nvPr/>
        </p:nvSpPr>
        <p:spPr>
          <a:xfrm>
            <a:off x="6248400" y="1625600"/>
            <a:ext cx="5334000" cy="431800"/>
          </a:xfrm>
          <a:prstGeom prst="round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OPTIMIZED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F8A638-BF71-4FDF-AD43-B2834F18E3FB}"/>
              </a:ext>
            </a:extLst>
          </p:cNvPr>
          <p:cNvSpPr txBox="1"/>
          <p:nvPr/>
        </p:nvSpPr>
        <p:spPr>
          <a:xfrm>
            <a:off x="6502400" y="2235200"/>
            <a:ext cx="48768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12684A"/>
                </a:solidFill>
                <a:latin typeface="Consolas"/>
              </a:rPr>
              <a:t># PromQL - aggregate + rate + interval
sum by (instance) (
  rate(node_cpu_seconds_total[$__rate_interval]))
# SQL - macro time filter + group by
SELECT $__timeGroupAlias(time,$__interval),
  avg(value) FROM metrics
WHERE $__timeFilter(time) GROUP BY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9AE742-B87F-4639-86A8-6CA5290D713A}"/>
              </a:ext>
            </a:extLst>
          </p:cNvPr>
          <p:cNvSpPr txBox="1"/>
          <p:nvPr/>
        </p:nvSpPr>
        <p:spPr>
          <a:xfrm>
            <a:off x="6502400" y="3962400"/>
            <a:ext cx="48260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• Aggregation happens in the data source
• $__interval / $__timeFilter match panel width
• Fewer series → faster render, less memory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E7F880D-58A8-4FBD-B871-E5DED66F72D5}"/>
              </a:ext>
            </a:extLst>
          </p:cNvPr>
          <p:cNvSpPr/>
          <p:nvPr/>
        </p:nvSpPr>
        <p:spPr>
          <a:xfrm>
            <a:off x="609600" y="4927600"/>
            <a:ext cx="10972800" cy="15748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D634D9-947C-4F65-AD10-C27FB467BC8D}"/>
              </a:ext>
            </a:extLst>
          </p:cNvPr>
          <p:cNvSpPr txBox="1"/>
          <p:nvPr/>
        </p:nvSpPr>
        <p:spPr>
          <a:xfrm>
            <a:off x="914400" y="51054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Montserrat"/>
              </a:rPr>
              <a:t>Optimization checklist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48A410-EC44-46AB-81CA-21691702FA57}"/>
              </a:ext>
            </a:extLst>
          </p:cNvPr>
          <p:cNvSpPr/>
          <p:nvPr/>
        </p:nvSpPr>
        <p:spPr>
          <a:xfrm>
            <a:off x="914400" y="5613400"/>
            <a:ext cx="101600" cy="101600"/>
          </a:xfrm>
          <a:prstGeom prst="ellipse">
            <a:avLst/>
          </a:prstGeom>
          <a:solidFill>
            <a:srgbClr val="F2A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9844C0-21CA-4F43-BE63-F9336E30C68F}"/>
              </a:ext>
            </a:extLst>
          </p:cNvPr>
          <p:cNvSpPr txBox="1"/>
          <p:nvPr/>
        </p:nvSpPr>
        <p:spPr>
          <a:xfrm>
            <a:off x="1143000" y="5562600"/>
            <a:ext cx="3225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Aggregate at the source, never in the browser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977B5E-692E-4DE7-B920-08948D03365E}"/>
              </a:ext>
            </a:extLst>
          </p:cNvPr>
          <p:cNvSpPr/>
          <p:nvPr/>
        </p:nvSpPr>
        <p:spPr>
          <a:xfrm>
            <a:off x="4470400" y="5613400"/>
            <a:ext cx="101600" cy="101600"/>
          </a:xfrm>
          <a:prstGeom prst="ellipse">
            <a:avLst/>
          </a:prstGeom>
          <a:solidFill>
            <a:srgbClr val="F2A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34EFAB-24D8-46AB-A5DC-BD31C9B2459B}"/>
              </a:ext>
            </a:extLst>
          </p:cNvPr>
          <p:cNvSpPr txBox="1"/>
          <p:nvPr/>
        </p:nvSpPr>
        <p:spPr>
          <a:xfrm>
            <a:off x="4699000" y="5562600"/>
            <a:ext cx="3225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Use $__interval, $__timeFilter, $__rate_interval macros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9300E4A-FD96-47DB-9663-0BF9845AEEF7}"/>
              </a:ext>
            </a:extLst>
          </p:cNvPr>
          <p:cNvSpPr/>
          <p:nvPr/>
        </p:nvSpPr>
        <p:spPr>
          <a:xfrm>
            <a:off x="8026400" y="5613400"/>
            <a:ext cx="101600" cy="101600"/>
          </a:xfrm>
          <a:prstGeom prst="ellipse">
            <a:avLst/>
          </a:prstGeom>
          <a:solidFill>
            <a:srgbClr val="F2A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ED27BC-AF05-4A64-A152-2C3F5A2D1CA4}"/>
              </a:ext>
            </a:extLst>
          </p:cNvPr>
          <p:cNvSpPr txBox="1"/>
          <p:nvPr/>
        </p:nvSpPr>
        <p:spPr>
          <a:xfrm>
            <a:off x="8255000" y="5562600"/>
            <a:ext cx="3225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Index time + high-cardinality filter columns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0C288FB-7683-4E60-ACA2-00667F57CCDD}"/>
              </a:ext>
            </a:extLst>
          </p:cNvPr>
          <p:cNvSpPr/>
          <p:nvPr/>
        </p:nvSpPr>
        <p:spPr>
          <a:xfrm>
            <a:off x="914400" y="6146800"/>
            <a:ext cx="101600" cy="101600"/>
          </a:xfrm>
          <a:prstGeom prst="ellipse">
            <a:avLst/>
          </a:prstGeom>
          <a:solidFill>
            <a:srgbClr val="F2A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D3509B-6547-47DC-84A3-C630DB999486}"/>
              </a:ext>
            </a:extLst>
          </p:cNvPr>
          <p:cNvSpPr txBox="1"/>
          <p:nvPr/>
        </p:nvSpPr>
        <p:spPr>
          <a:xfrm>
            <a:off x="1143000" y="6096000"/>
            <a:ext cx="3225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Use recording rules / continuous aggregates for heavy math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D77338F-6DC6-4D9E-B7C1-4F3F472D4BE8}"/>
              </a:ext>
            </a:extLst>
          </p:cNvPr>
          <p:cNvSpPr/>
          <p:nvPr/>
        </p:nvSpPr>
        <p:spPr>
          <a:xfrm>
            <a:off x="4470400" y="6146800"/>
            <a:ext cx="101600" cy="101600"/>
          </a:xfrm>
          <a:prstGeom prst="ellipse">
            <a:avLst/>
          </a:prstGeom>
          <a:solidFill>
            <a:srgbClr val="F2A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0ED1C2-2CE6-466B-8E22-9328ED0D6011}"/>
              </a:ext>
            </a:extLst>
          </p:cNvPr>
          <p:cNvSpPr txBox="1"/>
          <p:nvPr/>
        </p:nvSpPr>
        <p:spPr>
          <a:xfrm>
            <a:off x="4699000" y="6096000"/>
            <a:ext cx="3225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Reuse one query across panels with transformations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62D6A5-53F2-4268-96EC-2691A0B9EA1C}"/>
              </a:ext>
            </a:extLst>
          </p:cNvPr>
          <p:cNvSpPr/>
          <p:nvPr/>
        </p:nvSpPr>
        <p:spPr>
          <a:xfrm>
            <a:off x="8026400" y="6146800"/>
            <a:ext cx="101600" cy="101600"/>
          </a:xfrm>
          <a:prstGeom prst="ellipse">
            <a:avLst/>
          </a:prstGeom>
          <a:solidFill>
            <a:srgbClr val="F2A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1451B6-E445-4133-87F1-9E2B563A8CB4}"/>
              </a:ext>
            </a:extLst>
          </p:cNvPr>
          <p:cNvSpPr txBox="1"/>
          <p:nvPr/>
        </p:nvSpPr>
        <p:spPr>
          <a:xfrm>
            <a:off x="8255000" y="6096000"/>
            <a:ext cx="3225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Avoid regex label matchers on high-cardinality labels</a:t>
            </a:r>
          </a:p>
        </p:txBody>
      </p:sp>
    </p:spTree>
    <p:extLst>
      <p:ext uri="{BB962C8B-B14F-4D97-AF65-F5344CB8AC3E}">
        <p14:creationId xmlns:p14="http://schemas.microsoft.com/office/powerpoint/2010/main" val="37431228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9FDFB-2362-4F2E-ABD6-17F0089D820B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7B5EA7"/>
                </a:solidFill>
                <a:latin typeface="Open Sans"/>
                <a:ea typeface="Open Sans"/>
                <a:cs typeface="Open Sans"/>
              </a:rPr>
              <a:t>MODULE 16  ·  REFRESH INTERVALS &amp; CACHING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B5948-D7BB-4B3F-A72E-B9247C363523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Refresh Intervals &amp; Caching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12BA0-7272-48E8-9E02-83CAFD45A122}"/>
              </a:ext>
            </a:extLst>
          </p:cNvPr>
          <p:cNvSpPr/>
          <p:nvPr/>
        </p:nvSpPr>
        <p:spPr>
          <a:xfrm>
            <a:off x="609600" y="1270000"/>
            <a:ext cx="1524000" cy="381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D0755-22A5-4076-8F6D-9CF30E561B2B}"/>
              </a:ext>
            </a:extLst>
          </p:cNvPr>
          <p:cNvSpPr txBox="1"/>
          <p:nvPr/>
        </p:nvSpPr>
        <p:spPr>
          <a:xfrm>
            <a:off x="609600" y="1549400"/>
            <a:ext cx="6604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REFRESH GUIDANCE  ·  never refresh faster than the data changes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BA680BC-D6F8-44C2-B43C-CA41B10CE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759264"/>
              </p:ext>
            </p:extLst>
          </p:nvPr>
        </p:nvGraphicFramePr>
        <p:xfrm>
          <a:off x="609600" y="1854200"/>
          <a:ext cx="6350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4206229608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2919974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57123559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176925217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Dashboard type</a:t>
                      </a:r>
                    </a:p>
                  </a:txBody>
                  <a:tcPr anchor="ctr"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Source interval</a:t>
                      </a:r>
                    </a:p>
                  </a:txBody>
                  <a:tcPr anchor="ctr"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Refresh</a:t>
                      </a:r>
                    </a:p>
                  </a:txBody>
                  <a:tcPr anchor="ctr"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Why</a:t>
                      </a:r>
                    </a:p>
                  </a:txBody>
                  <a:tcPr anchor="ctr">
                    <a:solidFill>
                      <a:srgbClr val="7B5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64061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Infra / Prometheus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15s scrape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Faster adds no new 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0878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Business KPI / ETL</a:t>
                      </a:r>
                    </a:p>
                  </a:txBody>
                  <a:tcPr anchor="ctr">
                    <a:solidFill>
                      <a:srgbClr val="F3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hourly batch</a:t>
                      </a:r>
                    </a:p>
                  </a:txBody>
                  <a:tcPr anchor="ctr">
                    <a:solidFill>
                      <a:srgbClr val="F3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15m or off</a:t>
                      </a:r>
                    </a:p>
                  </a:txBody>
                  <a:tcPr anchor="ctr">
                    <a:solidFill>
                      <a:srgbClr val="F3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Data only lands hourly</a:t>
                      </a:r>
                    </a:p>
                  </a:txBody>
                  <a:tcPr anchor="ctr">
                    <a:solidFill>
                      <a:srgbClr val="F3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7921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Log exploration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streaming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Refresh on demand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83803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NOC wall display</a:t>
                      </a:r>
                    </a:p>
                  </a:txBody>
                  <a:tcPr anchor="ctr">
                    <a:solidFill>
                      <a:srgbClr val="F3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15-30s</a:t>
                      </a:r>
                    </a:p>
                  </a:txBody>
                  <a:tcPr anchor="ctr">
                    <a:solidFill>
                      <a:srgbClr val="F3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30s-1m</a:t>
                      </a:r>
                    </a:p>
                  </a:txBody>
                  <a:tcPr anchor="ctr">
                    <a:solidFill>
                      <a:srgbClr val="F3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Use kiosk mode + few panels</a:t>
                      </a:r>
                    </a:p>
                  </a:txBody>
                  <a:tcPr anchor="ctr">
                    <a:solidFill>
                      <a:srgbClr val="F3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1403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Alerting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not 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>
                          <a:solidFill>
                            <a:srgbClr val="2B313C"/>
                          </a:solidFill>
                          <a:latin typeface="Open Sans"/>
                          <a:ea typeface="Open Sans"/>
                          <a:cs typeface="Open Sans"/>
                        </a:rPr>
                        <a:t>Rules evaluate server-side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02829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C7A3E1-70B8-42E6-A15F-9836F08628A8}"/>
              </a:ext>
            </a:extLst>
          </p:cNvPr>
          <p:cNvSpPr/>
          <p:nvPr/>
        </p:nvSpPr>
        <p:spPr>
          <a:xfrm>
            <a:off x="609600" y="5080000"/>
            <a:ext cx="6350000" cy="14224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D30C1-805F-477A-80DE-6A060E32DBA5}"/>
              </a:ext>
            </a:extLst>
          </p:cNvPr>
          <p:cNvSpPr txBox="1"/>
          <p:nvPr/>
        </p:nvSpPr>
        <p:spPr>
          <a:xfrm>
            <a:off x="863600" y="52324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Montserrat"/>
              </a:rPr>
              <a:t>Enforce a floor for the whole instance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AD8FB3-EFD5-4911-8D24-23BBED60AA20}"/>
              </a:ext>
            </a:extLst>
          </p:cNvPr>
          <p:cNvSpPr txBox="1"/>
          <p:nvPr/>
        </p:nvSpPr>
        <p:spPr>
          <a:xfrm>
            <a:off x="863600" y="5613400"/>
            <a:ext cx="584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7DE0B4"/>
                </a:solidFill>
                <a:latin typeface="Consolas"/>
              </a:rPr>
              <a:t>[dashboards]
min_refresh_interval = 30s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EF197-F6AD-455E-8FE9-530ACFAD3364}"/>
              </a:ext>
            </a:extLst>
          </p:cNvPr>
          <p:cNvSpPr txBox="1"/>
          <p:nvPr/>
        </p:nvSpPr>
        <p:spPr>
          <a:xfrm>
            <a:off x="863600" y="6146800"/>
            <a:ext cx="5842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Blocks 5s refresh dashboards created by users.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A74300-93B6-476D-B87B-6C15FBD16947}"/>
              </a:ext>
            </a:extLst>
          </p:cNvPr>
          <p:cNvSpPr txBox="1"/>
          <p:nvPr/>
        </p:nvSpPr>
        <p:spPr>
          <a:xfrm>
            <a:off x="7264400" y="15494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8A93A3"/>
                </a:solidFill>
                <a:latin typeface="Open Sans"/>
                <a:ea typeface="Open Sans"/>
                <a:cs typeface="Open Sans"/>
              </a:rPr>
              <a:t>CACHING LAYERS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7C4DB9-5DF2-474B-A052-D78219DDDE00}"/>
              </a:ext>
            </a:extLst>
          </p:cNvPr>
          <p:cNvSpPr/>
          <p:nvPr/>
        </p:nvSpPr>
        <p:spPr>
          <a:xfrm>
            <a:off x="7264400" y="1854200"/>
            <a:ext cx="4318000" cy="1041400"/>
          </a:xfrm>
          <a:prstGeom prst="roundRect">
            <a:avLst/>
          </a:prstGeom>
          <a:solidFill>
            <a:srgbClr val="EAF1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4CF000-E9DF-4665-9ADE-171A0DE7310D}"/>
              </a:ext>
            </a:extLst>
          </p:cNvPr>
          <p:cNvSpPr/>
          <p:nvPr/>
        </p:nvSpPr>
        <p:spPr>
          <a:xfrm>
            <a:off x="7264400" y="1854200"/>
            <a:ext cx="63500" cy="10414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6C1868-70C0-4443-803D-83DE2682A646}"/>
              </a:ext>
            </a:extLst>
          </p:cNvPr>
          <p:cNvSpPr txBox="1"/>
          <p:nvPr/>
        </p:nvSpPr>
        <p:spPr>
          <a:xfrm>
            <a:off x="7518400" y="1981200"/>
            <a:ext cx="38862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6191F"/>
                </a:solidFill>
                <a:latin typeface="Montserrat"/>
              </a:rPr>
              <a:t>Browser / panel cache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056FDC-052C-43D6-B23E-42150450538D}"/>
              </a:ext>
            </a:extLst>
          </p:cNvPr>
          <p:cNvSpPr txBox="1"/>
          <p:nvPr/>
        </p:nvSpPr>
        <p:spPr>
          <a:xfrm>
            <a:off x="7518400" y="2260600"/>
            <a:ext cx="38862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Same query re-used across panels is
de-duplicated in the frontend.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5CE405-AB16-411D-BDB8-4EFB583392AC}"/>
              </a:ext>
            </a:extLst>
          </p:cNvPr>
          <p:cNvSpPr/>
          <p:nvPr/>
        </p:nvSpPr>
        <p:spPr>
          <a:xfrm>
            <a:off x="7264400" y="3022600"/>
            <a:ext cx="4318000" cy="10414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872C77-404F-473C-8DB8-706A797BA539}"/>
              </a:ext>
            </a:extLst>
          </p:cNvPr>
          <p:cNvSpPr/>
          <p:nvPr/>
        </p:nvSpPr>
        <p:spPr>
          <a:xfrm>
            <a:off x="7264400" y="3022600"/>
            <a:ext cx="63500" cy="10414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E7FB55-EEFF-45E2-A70D-1EEA42232C54}"/>
              </a:ext>
            </a:extLst>
          </p:cNvPr>
          <p:cNvSpPr txBox="1"/>
          <p:nvPr/>
        </p:nvSpPr>
        <p:spPr>
          <a:xfrm>
            <a:off x="7518400" y="3149600"/>
            <a:ext cx="38862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6191F"/>
                </a:solidFill>
                <a:latin typeface="Montserrat"/>
              </a:rPr>
              <a:t>Grafana query caching (Enterprise)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F52723-166A-4D5E-83EF-2A6B40F61A76}"/>
              </a:ext>
            </a:extLst>
          </p:cNvPr>
          <p:cNvSpPr txBox="1"/>
          <p:nvPr/>
        </p:nvSpPr>
        <p:spPr>
          <a:xfrm>
            <a:off x="7518400" y="3429000"/>
            <a:ext cx="38862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dirty="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Per-data-source TTL. Identical queries
served from cache - huge win on
wall displays and shared dashboards.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B170AD-2B99-403E-B770-C8F12F2ED41D}"/>
              </a:ext>
            </a:extLst>
          </p:cNvPr>
          <p:cNvSpPr/>
          <p:nvPr/>
        </p:nvSpPr>
        <p:spPr>
          <a:xfrm>
            <a:off x="7264400" y="4191000"/>
            <a:ext cx="4318000" cy="1041400"/>
          </a:xfrm>
          <a:prstGeom prst="roundRect">
            <a:avLst/>
          </a:prstGeom>
          <a:solidFill>
            <a:srgbClr val="FEF0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19737C-C0AD-4B26-AC96-46A4B1D64D81}"/>
              </a:ext>
            </a:extLst>
          </p:cNvPr>
          <p:cNvSpPr/>
          <p:nvPr/>
        </p:nvSpPr>
        <p:spPr>
          <a:xfrm>
            <a:off x="7264400" y="4191000"/>
            <a:ext cx="63500" cy="10414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46CE7A-8CBC-4444-B33E-4BE51C4EB9AA}"/>
              </a:ext>
            </a:extLst>
          </p:cNvPr>
          <p:cNvSpPr txBox="1"/>
          <p:nvPr/>
        </p:nvSpPr>
        <p:spPr>
          <a:xfrm>
            <a:off x="7518400" y="4318000"/>
            <a:ext cx="38862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6191F"/>
                </a:solidFill>
                <a:latin typeface="Montserrat"/>
              </a:rPr>
              <a:t>Data source side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E33B18-FF6B-49AA-B5CF-87961ACD609D}"/>
              </a:ext>
            </a:extLst>
          </p:cNvPr>
          <p:cNvSpPr txBox="1"/>
          <p:nvPr/>
        </p:nvSpPr>
        <p:spPr>
          <a:xfrm>
            <a:off x="7518400" y="4597400"/>
            <a:ext cx="38862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Prometheus recording rules, SQL
materialised views, Loki query cache.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6AC2CFB-B18F-4906-B05F-4C9E743B48FE}"/>
              </a:ext>
            </a:extLst>
          </p:cNvPr>
          <p:cNvSpPr/>
          <p:nvPr/>
        </p:nvSpPr>
        <p:spPr>
          <a:xfrm>
            <a:off x="7264400" y="5359400"/>
            <a:ext cx="4318000" cy="1041400"/>
          </a:xfrm>
          <a:prstGeom prst="roundRect">
            <a:avLst/>
          </a:prstGeom>
          <a:solidFill>
            <a:srgbClr val="FCEB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663069-CFF1-4BD4-B9FC-4E4D8D95EEFA}"/>
              </a:ext>
            </a:extLst>
          </p:cNvPr>
          <p:cNvSpPr/>
          <p:nvPr/>
        </p:nvSpPr>
        <p:spPr>
          <a:xfrm>
            <a:off x="7264400" y="5359400"/>
            <a:ext cx="63500" cy="1041400"/>
          </a:xfrm>
          <a:prstGeom prst="rect">
            <a:avLst/>
          </a:prstGeom>
          <a:solidFill>
            <a:srgbClr val="D045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3AC3B7-8B56-4EED-A44C-A076BA28C6D5}"/>
              </a:ext>
            </a:extLst>
          </p:cNvPr>
          <p:cNvSpPr txBox="1"/>
          <p:nvPr/>
        </p:nvSpPr>
        <p:spPr>
          <a:xfrm>
            <a:off x="7518400" y="5486400"/>
            <a:ext cx="38862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6191F"/>
                </a:solidFill>
                <a:latin typeface="Montserrat"/>
              </a:rPr>
              <a:t>Reverse proxy / CDN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6C549D-A0AA-41B7-81EA-BA5B872B6073}"/>
              </a:ext>
            </a:extLst>
          </p:cNvPr>
          <p:cNvSpPr txBox="1"/>
          <p:nvPr/>
        </p:nvSpPr>
        <p:spPr>
          <a:xfrm>
            <a:off x="7518400" y="5765800"/>
            <a:ext cx="38862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dirty="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Caches static assets only - never
cache /</a:t>
            </a:r>
            <a:r>
              <a:rPr lang="en-US" sz="1250" dirty="0" err="1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api</a:t>
            </a:r>
            <a:r>
              <a:rPr lang="en-US" sz="1250" dirty="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/ds/query responses.</a:t>
            </a:r>
          </a:p>
        </p:txBody>
      </p:sp>
    </p:spTree>
    <p:extLst>
      <p:ext uri="{BB962C8B-B14F-4D97-AF65-F5344CB8AC3E}">
        <p14:creationId xmlns:p14="http://schemas.microsoft.com/office/powerpoint/2010/main" val="3868004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101"/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6800"/>
                </a:solidFill>
                <a:latin typeface="Open Sans"/>
              </a:rPr>
              <a:t>MODULE 16 · CHECKPOINT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16191F"/>
                </a:solidFill>
                <a:latin typeface="Montserrat"/>
              </a:rPr>
              <a:t>Quick Quiz: Performance Optimization</a:t>
            </a:r>
          </a:p>
        </p:txBody>
      </p:sp>
      <p:sp>
        <p:nvSpPr>
          <p:cNvPr id="103" name="SH103"/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F468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Three questions. Answer as a group before we move to best practices.</a:t>
            </a:r>
          </a:p>
        </p:txBody>
      </p:sp>
      <p:sp>
        <p:nvSpPr>
          <p:cNvPr id="105" name="SH105"/>
          <p:cNvSpPr/>
          <p:nvPr/>
        </p:nvSpPr>
        <p:spPr>
          <a:xfrm>
            <a:off x="609600" y="18034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B106"/>
          <p:cNvSpPr txBox="1"/>
          <p:nvPr/>
        </p:nvSpPr>
        <p:spPr>
          <a:xfrm>
            <a:off x="914400" y="20066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Q1 · A dashboard with 40 panels loads slowly. What do you fix first?</a:t>
            </a:r>
          </a:p>
        </p:txBody>
      </p:sp>
      <p:sp>
        <p:nvSpPr>
          <p:cNvPr id="107" name="TB107"/>
          <p:cNvSpPr txBox="1"/>
          <p:nvPr/>
        </p:nvSpPr>
        <p:spPr>
          <a:xfrm>
            <a:off x="914400" y="24130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A) Raise the refresh rate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B) Cut and split panels, collapse rows</a:t>
            </a:r>
          </a:p>
        </p:txBody>
      </p:sp>
      <p:sp>
        <p:nvSpPr>
          <p:cNvPr id="108" name="TB108"/>
          <p:cNvSpPr txBox="1"/>
          <p:nvPr/>
        </p:nvSpPr>
        <p:spPr>
          <a:xfrm>
            <a:off x="6248400" y="24130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C) Add another data source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D) Widen the time range</a:t>
            </a:r>
          </a:p>
        </p:txBody>
      </p:sp>
      <p:sp>
        <p:nvSpPr>
          <p:cNvPr id="109" name="SH109"/>
          <p:cNvSpPr/>
          <p:nvPr/>
        </p:nvSpPr>
        <p:spPr>
          <a:xfrm>
            <a:off x="609600" y="32258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B110"/>
          <p:cNvSpPr txBox="1"/>
          <p:nvPr/>
        </p:nvSpPr>
        <p:spPr>
          <a:xfrm>
            <a:off x="914400" y="34290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Q2 · What does min_refresh_interval = 30s do?</a:t>
            </a:r>
          </a:p>
        </p:txBody>
      </p:sp>
      <p:sp>
        <p:nvSpPr>
          <p:cNvPr id="111" name="TB111"/>
          <p:cNvSpPr txBox="1"/>
          <p:nvPr/>
        </p:nvSpPr>
        <p:spPr>
          <a:xfrm>
            <a:off x="914400" y="38354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A) Refreshes every dashboard every 30s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B) Times out queries after 30s</a:t>
            </a:r>
          </a:p>
        </p:txBody>
      </p:sp>
      <p:sp>
        <p:nvSpPr>
          <p:cNvPr id="112" name="TB112"/>
          <p:cNvSpPr txBox="1"/>
          <p:nvPr/>
        </p:nvSpPr>
        <p:spPr>
          <a:xfrm>
            <a:off x="6248400" y="38354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C) Caches all queries for 30s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D) Blocks refreshes faster than 30s</a:t>
            </a:r>
          </a:p>
        </p:txBody>
      </p:sp>
      <p:sp>
        <p:nvSpPr>
          <p:cNvPr id="113" name="SH113"/>
          <p:cNvSpPr/>
          <p:nvPr/>
        </p:nvSpPr>
        <p:spPr>
          <a:xfrm>
            <a:off x="609600" y="46482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TB114"/>
          <p:cNvSpPr txBox="1"/>
          <p:nvPr/>
        </p:nvSpPr>
        <p:spPr>
          <a:xfrm>
            <a:off x="914400" y="48514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Q3 · Which query change usually saves the most time?</a:t>
            </a:r>
          </a:p>
        </p:txBody>
      </p:sp>
      <p:sp>
        <p:nvSpPr>
          <p:cNvPr id="115" name="TB115"/>
          <p:cNvSpPr txBox="1"/>
          <p:nvPr/>
        </p:nvSpPr>
        <p:spPr>
          <a:xfrm>
            <a:off x="914400" y="52578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A) Renaming the panel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B) SELECT * with a higher limit</a:t>
            </a:r>
          </a:p>
        </p:txBody>
      </p:sp>
      <p:sp>
        <p:nvSpPr>
          <p:cNvPr id="116" name="TB116"/>
          <p:cNvSpPr txBox="1"/>
          <p:nvPr/>
        </p:nvSpPr>
        <p:spPr>
          <a:xfrm>
            <a:off x="6248400" y="5257800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C) Aggregating and filtering server-side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D) Adding more template variables</a:t>
            </a:r>
          </a:p>
        </p:txBody>
      </p:sp>
    </p:spTree>
    <p:extLst>
      <p:ext uri="{BB962C8B-B14F-4D97-AF65-F5344CB8AC3E}">
        <p14:creationId xmlns:p14="http://schemas.microsoft.com/office/powerpoint/2010/main" val="3553442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101"/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1E9E6A"/>
                </a:solidFill>
                <a:latin typeface="Open Sans"/>
              </a:rPr>
              <a:t>MODULE 16 · ANSWERS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16191F"/>
                </a:solidFill>
                <a:latin typeface="Montserrat"/>
              </a:rPr>
              <a:t>Quiz Answers: Performance Optimization</a:t>
            </a:r>
          </a:p>
        </p:txBody>
      </p:sp>
      <p:sp>
        <p:nvSpPr>
          <p:cNvPr id="103" name="SH103"/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1E9E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How did the room do?</a:t>
            </a:r>
          </a:p>
        </p:txBody>
      </p:sp>
      <p:sp>
        <p:nvSpPr>
          <p:cNvPr id="105" name="SH105"/>
          <p:cNvSpPr/>
          <p:nvPr/>
        </p:nvSpPr>
        <p:spPr>
          <a:xfrm>
            <a:off x="609600" y="18034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BG106"/>
          <p:cNvSpPr/>
          <p:nvPr/>
        </p:nvSpPr>
        <p:spPr>
          <a:xfrm>
            <a:off x="939800" y="2171700"/>
            <a:ext cx="558800" cy="5588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/>
              </a:rPr>
              <a:t>B</a:t>
            </a:r>
          </a:p>
        </p:txBody>
      </p:sp>
      <p:sp>
        <p:nvSpPr>
          <p:cNvPr id="107" name="TB107"/>
          <p:cNvSpPr txBox="1"/>
          <p:nvPr/>
        </p:nvSpPr>
        <p:spPr>
          <a:xfrm>
            <a:off x="1778000" y="2082800"/>
            <a:ext cx="9499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Q1 - Cut and split panels, collapse rows by default</a:t>
            </a:r>
          </a:p>
        </p:txBody>
      </p:sp>
      <p:sp>
        <p:nvSpPr>
          <p:cNvPr id="108" name="TB108"/>
          <p:cNvSpPr txBox="1"/>
          <p:nvPr/>
        </p:nvSpPr>
        <p:spPr>
          <a:xfrm>
            <a:off x="1778000" y="2489200"/>
            <a:ext cx="949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Every panel is at least one query on load. Target 10–15 panels; collapsed rows are not queried until opened.</a:t>
            </a:r>
          </a:p>
        </p:txBody>
      </p:sp>
      <p:sp>
        <p:nvSpPr>
          <p:cNvPr id="109" name="SH109"/>
          <p:cNvSpPr/>
          <p:nvPr/>
        </p:nvSpPr>
        <p:spPr>
          <a:xfrm>
            <a:off x="609600" y="32258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BG110"/>
          <p:cNvSpPr/>
          <p:nvPr/>
        </p:nvSpPr>
        <p:spPr>
          <a:xfrm>
            <a:off x="939800" y="3594100"/>
            <a:ext cx="558800" cy="5588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/>
              </a:rPr>
              <a:t>D</a:t>
            </a:r>
          </a:p>
        </p:txBody>
      </p:sp>
      <p:sp>
        <p:nvSpPr>
          <p:cNvPr id="111" name="TB111"/>
          <p:cNvSpPr txBox="1"/>
          <p:nvPr/>
        </p:nvSpPr>
        <p:spPr>
          <a:xfrm>
            <a:off x="1778000" y="3505200"/>
            <a:ext cx="9499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Q2 - It blocks refreshes faster than 30 seconds</a:t>
            </a:r>
          </a:p>
        </p:txBody>
      </p:sp>
      <p:sp>
        <p:nvSpPr>
          <p:cNvPr id="112" name="TB112"/>
          <p:cNvSpPr txBox="1"/>
          <p:nvPr/>
        </p:nvSpPr>
        <p:spPr>
          <a:xfrm>
            <a:off x="1778000" y="3911600"/>
            <a:ext cx="949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min_refresh_interval sets a floor for the whole instance. It does not force a refresh and it is not a cache.</a:t>
            </a:r>
          </a:p>
        </p:txBody>
      </p:sp>
      <p:sp>
        <p:nvSpPr>
          <p:cNvPr id="113" name="SH113"/>
          <p:cNvSpPr/>
          <p:nvPr/>
        </p:nvSpPr>
        <p:spPr>
          <a:xfrm>
            <a:off x="609600" y="4648200"/>
            <a:ext cx="10972800" cy="1295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BG114"/>
          <p:cNvSpPr/>
          <p:nvPr/>
        </p:nvSpPr>
        <p:spPr>
          <a:xfrm>
            <a:off x="939800" y="5016500"/>
            <a:ext cx="558800" cy="5588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/>
              </a:rPr>
              <a:t>C</a:t>
            </a:r>
          </a:p>
        </p:txBody>
      </p:sp>
      <p:sp>
        <p:nvSpPr>
          <p:cNvPr id="115" name="TB115"/>
          <p:cNvSpPr txBox="1"/>
          <p:nvPr/>
        </p:nvSpPr>
        <p:spPr>
          <a:xfrm>
            <a:off x="1778000" y="4927600"/>
            <a:ext cx="9499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6191F"/>
                </a:solidFill>
                <a:latin typeface="Open Sans"/>
              </a:rPr>
              <a:t>Q3 - Aggregate and filter server-side</a:t>
            </a:r>
          </a:p>
        </p:txBody>
      </p:sp>
      <p:sp>
        <p:nvSpPr>
          <p:cNvPr id="116" name="TB116"/>
          <p:cNvSpPr txBox="1"/>
          <p:nvPr/>
        </p:nvSpPr>
        <p:spPr>
          <a:xfrm>
            <a:off x="1778000" y="5334000"/>
            <a:ext cx="949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Push aggregation and the time filter down to the data source. Never return thousands of raw series to the browser.</a:t>
            </a:r>
          </a:p>
        </p:txBody>
      </p:sp>
    </p:spTree>
    <p:extLst>
      <p:ext uri="{BB962C8B-B14F-4D97-AF65-F5344CB8AC3E}">
        <p14:creationId xmlns:p14="http://schemas.microsoft.com/office/powerpoint/2010/main" val="35103946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B201"/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E5FA3"/>
                </a:solidFill>
                <a:latin typeface="Open Sans"/>
              </a:rPr>
              <a:t>MODULE 16 · DISCUSSION</a:t>
            </a:r>
          </a:p>
        </p:txBody>
      </p:sp>
      <p:sp>
        <p:nvSpPr>
          <p:cNvPr id="202" name="TB202"/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16191F"/>
                </a:solidFill>
                <a:latin typeface="Montserrat"/>
              </a:rPr>
              <a:t>Talk It Through: Performance in Your Estate</a:t>
            </a:r>
          </a:p>
        </p:txBody>
      </p:sp>
      <p:sp>
        <p:nvSpPr>
          <p:cNvPr id="203" name="SH203"/>
          <p:cNvSpPr/>
          <p:nvPr/>
        </p:nvSpPr>
        <p:spPr>
          <a:xfrm>
            <a:off x="609600" y="1270000"/>
            <a:ext cx="10972800" cy="381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B204"/>
          <p:cNvSpPr txBox="1"/>
          <p:nvPr/>
        </p:nvSpPr>
        <p:spPr>
          <a:xfrm>
            <a:off x="609600" y="13970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2F3542"/>
                </a:solidFill>
                <a:latin typeface="Open Sans"/>
              </a:rPr>
              <a:t>Five minutes in pairs. Bring one answer back to the room.</a:t>
            </a:r>
          </a:p>
        </p:txBody>
      </p:sp>
      <p:sp>
        <p:nvSpPr>
          <p:cNvPr id="205" name="SH205"/>
          <p:cNvSpPr/>
          <p:nvPr/>
        </p:nvSpPr>
        <p:spPr>
          <a:xfrm>
            <a:off x="609600" y="1905000"/>
            <a:ext cx="3556000" cy="3200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BG206"/>
          <p:cNvSpPr/>
          <p:nvPr/>
        </p:nvSpPr>
        <p:spPr>
          <a:xfrm>
            <a:off x="914400" y="2209800"/>
            <a:ext cx="558800" cy="5588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207" name="TB207"/>
          <p:cNvSpPr txBox="1"/>
          <p:nvPr/>
        </p:nvSpPr>
        <p:spPr>
          <a:xfrm>
            <a:off x="914400" y="2997200"/>
            <a:ext cx="2946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6191F"/>
                </a:solidFill>
                <a:latin typeface="Open Sans"/>
              </a:rPr>
              <a:t>Your slowest dashboard</a:t>
            </a:r>
          </a:p>
        </p:txBody>
      </p:sp>
      <p:sp>
        <p:nvSpPr>
          <p:cNvPr id="208" name="TB208"/>
          <p:cNvSpPr txBox="1"/>
          <p:nvPr/>
        </p:nvSpPr>
        <p:spPr>
          <a:xfrm>
            <a:off x="914400" y="3479800"/>
            <a:ext cx="29464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2F3542"/>
                </a:solidFill>
                <a:latin typeface="Open Sans"/>
              </a:rPr>
              <a:t>Which one is it, and do you know which hop - browser, Grafana, cache or data source - actually costs the time?</a:t>
            </a:r>
          </a:p>
        </p:txBody>
      </p:sp>
      <p:sp>
        <p:nvSpPr>
          <p:cNvPr id="209" name="SH209"/>
          <p:cNvSpPr/>
          <p:nvPr/>
        </p:nvSpPr>
        <p:spPr>
          <a:xfrm>
            <a:off x="4318000" y="1905000"/>
            <a:ext cx="3556000" cy="3200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BG210"/>
          <p:cNvSpPr/>
          <p:nvPr/>
        </p:nvSpPr>
        <p:spPr>
          <a:xfrm>
            <a:off x="4622800" y="2209800"/>
            <a:ext cx="558800" cy="5588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211" name="TB211"/>
          <p:cNvSpPr txBox="1"/>
          <p:nvPr/>
        </p:nvSpPr>
        <p:spPr>
          <a:xfrm>
            <a:off x="4622800" y="2997200"/>
            <a:ext cx="2946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6191F"/>
                </a:solidFill>
                <a:latin typeface="Open Sans"/>
              </a:rPr>
              <a:t>Where caching helps</a:t>
            </a:r>
          </a:p>
        </p:txBody>
      </p:sp>
      <p:sp>
        <p:nvSpPr>
          <p:cNvPr id="212" name="TB212"/>
          <p:cNvSpPr txBox="1"/>
          <p:nvPr/>
        </p:nvSpPr>
        <p:spPr>
          <a:xfrm>
            <a:off x="4622800" y="3479800"/>
            <a:ext cx="29464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2F3542"/>
                </a:solidFill>
                <a:latin typeface="Open Sans"/>
              </a:rPr>
              <a:t>Which dashboards could safely serve cached results, and where would stale data be dangerous or misleading?</a:t>
            </a:r>
          </a:p>
        </p:txBody>
      </p:sp>
      <p:sp>
        <p:nvSpPr>
          <p:cNvPr id="213" name="SH213"/>
          <p:cNvSpPr/>
          <p:nvPr/>
        </p:nvSpPr>
        <p:spPr>
          <a:xfrm>
            <a:off x="8026400" y="1905000"/>
            <a:ext cx="3556000" cy="3200400"/>
          </a:xfrm>
          <a:prstGeom prst="round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BG214"/>
          <p:cNvSpPr/>
          <p:nvPr/>
        </p:nvSpPr>
        <p:spPr>
          <a:xfrm>
            <a:off x="8331200" y="2209800"/>
            <a:ext cx="558800" cy="5588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15" name="TB215"/>
          <p:cNvSpPr txBox="1"/>
          <p:nvPr/>
        </p:nvSpPr>
        <p:spPr>
          <a:xfrm>
            <a:off x="8331200" y="2997200"/>
            <a:ext cx="2946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6191F"/>
                </a:solidFill>
                <a:latin typeface="Open Sans"/>
              </a:rPr>
              <a:t>A refresh floor</a:t>
            </a:r>
          </a:p>
        </p:txBody>
      </p:sp>
      <p:sp>
        <p:nvSpPr>
          <p:cNvPr id="216" name="TB216"/>
          <p:cNvSpPr txBox="1"/>
          <p:nvPr/>
        </p:nvSpPr>
        <p:spPr>
          <a:xfrm>
            <a:off x="8331200" y="3479800"/>
            <a:ext cx="29464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2F3542"/>
                </a:solidFill>
                <a:latin typeface="Open Sans"/>
              </a:rPr>
              <a:t>What minimum refresh interval would your teams accept without complaining? Who gets to grant exceptions?</a:t>
            </a:r>
          </a:p>
        </p:txBody>
      </p:sp>
      <p:sp>
        <p:nvSpPr>
          <p:cNvPr id="217" name="SH217"/>
          <p:cNvSpPr/>
          <p:nvPr/>
        </p:nvSpPr>
        <p:spPr>
          <a:xfrm>
            <a:off x="609600" y="5867400"/>
            <a:ext cx="10972800" cy="635000"/>
          </a:xfrm>
          <a:prstGeom prst="roundRect">
            <a:avLst/>
          </a:prstGeom>
          <a:solidFill>
            <a:srgbClr val="16191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TB218"/>
          <p:cNvSpPr txBox="1"/>
          <p:nvPr/>
        </p:nvSpPr>
        <p:spPr>
          <a:xfrm>
            <a:off x="914400" y="607060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Open Sans"/>
              </a:rPr>
              <a:t>Facilitator: capture one concrete action per pair - it becomes the follow-up clinic agenda.</a:t>
            </a:r>
          </a:p>
        </p:txBody>
      </p:sp>
    </p:spTree>
    <p:extLst>
      <p:ext uri="{BB962C8B-B14F-4D97-AF65-F5344CB8AC3E}">
        <p14:creationId xmlns:p14="http://schemas.microsoft.com/office/powerpoint/2010/main" val="40433583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729AB1-C923-466E-9B4E-255A2F7CA10C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DAY 4  ·  BEST PRACTICES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5C71EA-CCAD-4797-9F51-86B7FC6694D5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Production Best Practices Checklist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EA33F7-7F4B-412C-B2B8-16A6C792C969}"/>
              </a:ext>
            </a:extLst>
          </p:cNvPr>
          <p:cNvSpPr/>
          <p:nvPr/>
        </p:nvSpPr>
        <p:spPr>
          <a:xfrm>
            <a:off x="609600" y="1270000"/>
            <a:ext cx="1524000" cy="381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E05DFC-F6F1-4F03-A461-1E2360A82393}"/>
              </a:ext>
            </a:extLst>
          </p:cNvPr>
          <p:cNvSpPr/>
          <p:nvPr/>
        </p:nvSpPr>
        <p:spPr>
          <a:xfrm>
            <a:off x="609600" y="1574800"/>
            <a:ext cx="5334000" cy="2311400"/>
          </a:xfrm>
          <a:prstGeom prst="roundRect">
            <a:avLst/>
          </a:prstGeom>
          <a:solidFill>
            <a:srgbClr val="FEF0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DE3C4A-F235-455F-B589-61D9EC401199}"/>
              </a:ext>
            </a:extLst>
          </p:cNvPr>
          <p:cNvSpPr/>
          <p:nvPr/>
        </p:nvSpPr>
        <p:spPr>
          <a:xfrm>
            <a:off x="609600" y="1574800"/>
            <a:ext cx="63500" cy="23114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03D4A-1F9B-490F-AC50-324EADCEB8AB}"/>
              </a:ext>
            </a:extLst>
          </p:cNvPr>
          <p:cNvSpPr txBox="1"/>
          <p:nvPr/>
        </p:nvSpPr>
        <p:spPr>
          <a:xfrm>
            <a:off x="863600" y="17272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16191F"/>
                </a:solidFill>
                <a:latin typeface="Montserrat"/>
              </a:rPr>
              <a:t>Users &amp; Access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0F731BB-39A2-47E1-8C93-E401DF09676F}"/>
              </a:ext>
            </a:extLst>
          </p:cNvPr>
          <p:cNvSpPr/>
          <p:nvPr/>
        </p:nvSpPr>
        <p:spPr>
          <a:xfrm>
            <a:off x="889000" y="21717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EA2106-C8AC-4B99-8038-B108BEAB4389}"/>
              </a:ext>
            </a:extLst>
          </p:cNvPr>
          <p:cNvSpPr txBox="1"/>
          <p:nvPr/>
        </p:nvSpPr>
        <p:spPr>
          <a:xfrm>
            <a:off x="1092200" y="21082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Teams for permissions, never per-user grants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BA259A-47B7-4AAB-B76B-260BF6223294}"/>
              </a:ext>
            </a:extLst>
          </p:cNvPr>
          <p:cNvSpPr/>
          <p:nvPr/>
        </p:nvSpPr>
        <p:spPr>
          <a:xfrm>
            <a:off x="889000" y="25146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8707BC-FEFC-49B9-A8F8-5E021D1CDBDD}"/>
              </a:ext>
            </a:extLst>
          </p:cNvPr>
          <p:cNvSpPr txBox="1"/>
          <p:nvPr/>
        </p:nvSpPr>
        <p:spPr>
          <a:xfrm>
            <a:off x="1092200" y="24511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Viewer as the default org role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FBFD7F-34F8-47CF-B856-C965020351A2}"/>
              </a:ext>
            </a:extLst>
          </p:cNvPr>
          <p:cNvSpPr/>
          <p:nvPr/>
        </p:nvSpPr>
        <p:spPr>
          <a:xfrm>
            <a:off x="889000" y="28575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720AFB-0DDD-43BB-B773-E9CEF7F3A545}"/>
              </a:ext>
            </a:extLst>
          </p:cNvPr>
          <p:cNvSpPr txBox="1"/>
          <p:nvPr/>
        </p:nvSpPr>
        <p:spPr>
          <a:xfrm>
            <a:off x="1092200" y="27940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Folder-level ACLs; no dashboard-level exceptions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F7E213C-C5D5-4093-A390-03E629283512}"/>
              </a:ext>
            </a:extLst>
          </p:cNvPr>
          <p:cNvSpPr/>
          <p:nvPr/>
        </p:nvSpPr>
        <p:spPr>
          <a:xfrm>
            <a:off x="889000" y="32004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16216C-14A3-4029-8D5E-99BC289815C4}"/>
              </a:ext>
            </a:extLst>
          </p:cNvPr>
          <p:cNvSpPr txBox="1"/>
          <p:nvPr/>
        </p:nvSpPr>
        <p:spPr>
          <a:xfrm>
            <a:off x="1092200" y="31369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Service accounts for automation, not user API keys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C9025C9-3087-4095-B892-73C440834ACA}"/>
              </a:ext>
            </a:extLst>
          </p:cNvPr>
          <p:cNvSpPr/>
          <p:nvPr/>
        </p:nvSpPr>
        <p:spPr>
          <a:xfrm>
            <a:off x="889000" y="35433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C8364C-8F04-478D-8B11-874D3EC21C65}"/>
              </a:ext>
            </a:extLst>
          </p:cNvPr>
          <p:cNvSpPr txBox="1"/>
          <p:nvPr/>
        </p:nvSpPr>
        <p:spPr>
          <a:xfrm>
            <a:off x="1092200" y="34798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Quarterly access review; remove stale members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D84371-5EB4-43AC-9D71-B50D8020CEE4}"/>
              </a:ext>
            </a:extLst>
          </p:cNvPr>
          <p:cNvSpPr/>
          <p:nvPr/>
        </p:nvSpPr>
        <p:spPr>
          <a:xfrm>
            <a:off x="6248400" y="1574800"/>
            <a:ext cx="5334000" cy="2311400"/>
          </a:xfrm>
          <a:prstGeom prst="roundRect">
            <a:avLst/>
          </a:prstGeom>
          <a:solidFill>
            <a:srgbClr val="EAF1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21EE7E-E7F7-4ACB-880F-52ABDE725BC9}"/>
              </a:ext>
            </a:extLst>
          </p:cNvPr>
          <p:cNvSpPr/>
          <p:nvPr/>
        </p:nvSpPr>
        <p:spPr>
          <a:xfrm>
            <a:off x="6248400" y="1574800"/>
            <a:ext cx="63500" cy="23114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79D6E2-F5C7-4DB4-9195-8C7D6EEE3A22}"/>
              </a:ext>
            </a:extLst>
          </p:cNvPr>
          <p:cNvSpPr txBox="1"/>
          <p:nvPr/>
        </p:nvSpPr>
        <p:spPr>
          <a:xfrm>
            <a:off x="6502400" y="17272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16191F"/>
                </a:solidFill>
                <a:latin typeface="Montserrat"/>
              </a:rPr>
              <a:t>Authentication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60E7EFA-9713-4095-A7F6-92415A2476EE}"/>
              </a:ext>
            </a:extLst>
          </p:cNvPr>
          <p:cNvSpPr/>
          <p:nvPr/>
        </p:nvSpPr>
        <p:spPr>
          <a:xfrm>
            <a:off x="6527800" y="2171700"/>
            <a:ext cx="88900" cy="889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CFD9C1-51F3-4770-B15E-C20B12174926}"/>
              </a:ext>
            </a:extLst>
          </p:cNvPr>
          <p:cNvSpPr txBox="1"/>
          <p:nvPr/>
        </p:nvSpPr>
        <p:spPr>
          <a:xfrm>
            <a:off x="6731000" y="21082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One IdP as source of truth (OIDC or SAML)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DA74D4E-47FC-4235-A940-180FE62081EC}"/>
              </a:ext>
            </a:extLst>
          </p:cNvPr>
          <p:cNvSpPr/>
          <p:nvPr/>
        </p:nvSpPr>
        <p:spPr>
          <a:xfrm>
            <a:off x="6527800" y="2514600"/>
            <a:ext cx="88900" cy="889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77850F-D1A7-455D-A2FC-55583DF9C7BA}"/>
              </a:ext>
            </a:extLst>
          </p:cNvPr>
          <p:cNvSpPr txBox="1"/>
          <p:nvPr/>
        </p:nvSpPr>
        <p:spPr>
          <a:xfrm>
            <a:off x="6731000" y="24511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Disable local login + signup once SSO is live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60410A5-41FB-4206-9369-70EBD5A19AA7}"/>
              </a:ext>
            </a:extLst>
          </p:cNvPr>
          <p:cNvSpPr/>
          <p:nvPr/>
        </p:nvSpPr>
        <p:spPr>
          <a:xfrm>
            <a:off x="6527800" y="2857500"/>
            <a:ext cx="88900" cy="889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0F824A-CE76-491C-B356-2485B823A6DD}"/>
              </a:ext>
            </a:extLst>
          </p:cNvPr>
          <p:cNvSpPr txBox="1"/>
          <p:nvPr/>
        </p:nvSpPr>
        <p:spPr>
          <a:xfrm>
            <a:off x="6731000" y="27940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Keep one break-glass local admin, vaulted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9C3A42C-8CF6-4C4B-83C3-4C4B02BFCF42}"/>
              </a:ext>
            </a:extLst>
          </p:cNvPr>
          <p:cNvSpPr/>
          <p:nvPr/>
        </p:nvSpPr>
        <p:spPr>
          <a:xfrm>
            <a:off x="6527800" y="3200400"/>
            <a:ext cx="88900" cy="889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574261-9922-4C72-ADE8-05F181B9A944}"/>
              </a:ext>
            </a:extLst>
          </p:cNvPr>
          <p:cNvSpPr txBox="1"/>
          <p:nvPr/>
        </p:nvSpPr>
        <p:spPr>
          <a:xfrm>
            <a:off x="6731000" y="31369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Map IdP groups → org roles / RBAC roles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8F8472-3B1C-4ED3-9AF6-A4BFC75AD83B}"/>
              </a:ext>
            </a:extLst>
          </p:cNvPr>
          <p:cNvSpPr/>
          <p:nvPr/>
        </p:nvSpPr>
        <p:spPr>
          <a:xfrm>
            <a:off x="6527800" y="3543300"/>
            <a:ext cx="88900" cy="889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DEA864-6CF5-42D5-BD0A-189BE1693B7D}"/>
              </a:ext>
            </a:extLst>
          </p:cNvPr>
          <p:cNvSpPr txBox="1"/>
          <p:nvPr/>
        </p:nvSpPr>
        <p:spPr>
          <a:xfrm>
            <a:off x="6731000" y="34798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Enforce MFA at the IdP, not in Grafana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667316A-71E5-4A24-8B85-12C9A4BF9C55}"/>
              </a:ext>
            </a:extLst>
          </p:cNvPr>
          <p:cNvSpPr/>
          <p:nvPr/>
        </p:nvSpPr>
        <p:spPr>
          <a:xfrm>
            <a:off x="609600" y="4064000"/>
            <a:ext cx="5334000" cy="23114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6F1FB6-9668-4D3F-8122-E98438C776C5}"/>
              </a:ext>
            </a:extLst>
          </p:cNvPr>
          <p:cNvSpPr/>
          <p:nvPr/>
        </p:nvSpPr>
        <p:spPr>
          <a:xfrm>
            <a:off x="609600" y="4064000"/>
            <a:ext cx="63500" cy="23114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00F3D6-B165-4177-B85A-6E5F4CDE48DE}"/>
              </a:ext>
            </a:extLst>
          </p:cNvPr>
          <p:cNvSpPr txBox="1"/>
          <p:nvPr/>
        </p:nvSpPr>
        <p:spPr>
          <a:xfrm>
            <a:off x="863600" y="42164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16191F"/>
                </a:solidFill>
                <a:latin typeface="Montserrat"/>
              </a:rPr>
              <a:t>Dashboards as Code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ECC2489-D37F-49BA-B647-9D6B63987A1C}"/>
              </a:ext>
            </a:extLst>
          </p:cNvPr>
          <p:cNvSpPr/>
          <p:nvPr/>
        </p:nvSpPr>
        <p:spPr>
          <a:xfrm>
            <a:off x="889000" y="46609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E9EBFC-ADD2-4EA0-9A05-1EBEF4AB36D2}"/>
              </a:ext>
            </a:extLst>
          </p:cNvPr>
          <p:cNvSpPr txBox="1"/>
          <p:nvPr/>
        </p:nvSpPr>
        <p:spPr>
          <a:xfrm>
            <a:off x="1092200" y="45974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Git is the source of truth; UI edits are drafts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32722D-B046-4549-9DEE-01A45C579553}"/>
              </a:ext>
            </a:extLst>
          </p:cNvPr>
          <p:cNvSpPr/>
          <p:nvPr/>
        </p:nvSpPr>
        <p:spPr>
          <a:xfrm>
            <a:off x="889000" y="50038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9BAC98-173D-4726-8C2F-0C19E96A9633}"/>
              </a:ext>
            </a:extLst>
          </p:cNvPr>
          <p:cNvSpPr txBox="1"/>
          <p:nvPr/>
        </p:nvSpPr>
        <p:spPr>
          <a:xfrm>
            <a:off x="1092200" y="49403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Stable uid + provisioning per environment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86DA780-421C-40F4-9B19-AAC6DF7BCC60}"/>
              </a:ext>
            </a:extLst>
          </p:cNvPr>
          <p:cNvSpPr/>
          <p:nvPr/>
        </p:nvSpPr>
        <p:spPr>
          <a:xfrm>
            <a:off x="889000" y="53467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1FCF3B-99B7-4CBA-BDE4-91B30527C059}"/>
              </a:ext>
            </a:extLst>
          </p:cNvPr>
          <p:cNvSpPr txBox="1"/>
          <p:nvPr/>
        </p:nvSpPr>
        <p:spPr>
          <a:xfrm>
            <a:off x="1092200" y="52832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allowUiUpdates: false in production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82E1F79-4B80-424B-9FE9-1544933189C7}"/>
              </a:ext>
            </a:extLst>
          </p:cNvPr>
          <p:cNvSpPr/>
          <p:nvPr/>
        </p:nvSpPr>
        <p:spPr>
          <a:xfrm>
            <a:off x="889000" y="56896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91D7A5-A15B-4A58-98C7-D8637E284F77}"/>
              </a:ext>
            </a:extLst>
          </p:cNvPr>
          <p:cNvSpPr txBox="1"/>
          <p:nvPr/>
        </p:nvSpPr>
        <p:spPr>
          <a:xfrm>
            <a:off x="1092200" y="56261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Naming convention + tags for discovery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9FD5ECB-00D8-4592-B13D-CE73B5CB4BB3}"/>
              </a:ext>
            </a:extLst>
          </p:cNvPr>
          <p:cNvSpPr/>
          <p:nvPr/>
        </p:nvSpPr>
        <p:spPr>
          <a:xfrm>
            <a:off x="889000" y="60325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3D90E1-AB35-480C-8F1F-8B478270AA07}"/>
              </a:ext>
            </a:extLst>
          </p:cNvPr>
          <p:cNvSpPr txBox="1"/>
          <p:nvPr/>
        </p:nvSpPr>
        <p:spPr>
          <a:xfrm>
            <a:off x="1092200" y="59690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Review changes via PR, not version restore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34A16E9-8E49-439C-BEA0-5EAC2C9F6DCF}"/>
              </a:ext>
            </a:extLst>
          </p:cNvPr>
          <p:cNvSpPr/>
          <p:nvPr/>
        </p:nvSpPr>
        <p:spPr>
          <a:xfrm>
            <a:off x="6248400" y="4064000"/>
            <a:ext cx="5334000" cy="2311400"/>
          </a:xfrm>
          <a:prstGeom prst="roundRect">
            <a:avLst/>
          </a:prstGeom>
          <a:solidFill>
            <a:srgbClr val="F1E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F8B02BE-628F-430F-8F78-04DE4FFAE0D8}"/>
              </a:ext>
            </a:extLst>
          </p:cNvPr>
          <p:cNvSpPr/>
          <p:nvPr/>
        </p:nvSpPr>
        <p:spPr>
          <a:xfrm>
            <a:off x="6248400" y="4064000"/>
            <a:ext cx="63500" cy="23114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7BEB20-4F43-4082-A3C0-76BDEADD6DA4}"/>
              </a:ext>
            </a:extLst>
          </p:cNvPr>
          <p:cNvSpPr txBox="1"/>
          <p:nvPr/>
        </p:nvSpPr>
        <p:spPr>
          <a:xfrm>
            <a:off x="6502400" y="42164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16191F"/>
                </a:solidFill>
                <a:latin typeface="Montserrat"/>
              </a:rPr>
              <a:t>Performance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37EE4F-2B9B-4281-86B0-8634216F2301}"/>
              </a:ext>
            </a:extLst>
          </p:cNvPr>
          <p:cNvSpPr/>
          <p:nvPr/>
        </p:nvSpPr>
        <p:spPr>
          <a:xfrm>
            <a:off x="6527800" y="4660900"/>
            <a:ext cx="88900" cy="88900"/>
          </a:xfrm>
          <a:prstGeom prst="ellipse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4EC9F8-A59E-454F-924F-C242F654B6B0}"/>
              </a:ext>
            </a:extLst>
          </p:cNvPr>
          <p:cNvSpPr txBox="1"/>
          <p:nvPr/>
        </p:nvSpPr>
        <p:spPr>
          <a:xfrm>
            <a:off x="6731000" y="45974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10-15 panels per dashboard, heavy rows collapsed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6AE0617-FD2B-4EA1-AA6D-40537EA14D01}"/>
              </a:ext>
            </a:extLst>
          </p:cNvPr>
          <p:cNvSpPr/>
          <p:nvPr/>
        </p:nvSpPr>
        <p:spPr>
          <a:xfrm>
            <a:off x="6527800" y="5003800"/>
            <a:ext cx="88900" cy="88900"/>
          </a:xfrm>
          <a:prstGeom prst="ellipse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E06A1F-62CE-4237-94E2-F4231E2F854E}"/>
              </a:ext>
            </a:extLst>
          </p:cNvPr>
          <p:cNvSpPr txBox="1"/>
          <p:nvPr/>
        </p:nvSpPr>
        <p:spPr>
          <a:xfrm>
            <a:off x="6731000" y="49403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Aggregate in the data source, use macros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8770A91-B769-40E6-A231-F11BDDFCF9BB}"/>
              </a:ext>
            </a:extLst>
          </p:cNvPr>
          <p:cNvSpPr/>
          <p:nvPr/>
        </p:nvSpPr>
        <p:spPr>
          <a:xfrm>
            <a:off x="6527800" y="5346700"/>
            <a:ext cx="88900" cy="88900"/>
          </a:xfrm>
          <a:prstGeom prst="ellipse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9153B3-9300-401D-810E-FAC2890E3924}"/>
              </a:ext>
            </a:extLst>
          </p:cNvPr>
          <p:cNvSpPr txBox="1"/>
          <p:nvPr/>
        </p:nvSpPr>
        <p:spPr>
          <a:xfrm>
            <a:off x="6731000" y="52832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Refresh no faster than the data changes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A6FF1AF-3123-4427-9457-4105461A40E7}"/>
              </a:ext>
            </a:extLst>
          </p:cNvPr>
          <p:cNvSpPr/>
          <p:nvPr/>
        </p:nvSpPr>
        <p:spPr>
          <a:xfrm>
            <a:off x="6527800" y="5689600"/>
            <a:ext cx="88900" cy="88900"/>
          </a:xfrm>
          <a:prstGeom prst="ellipse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E2EE15-0F82-4692-8B7A-5DE486BB9DE7}"/>
              </a:ext>
            </a:extLst>
          </p:cNvPr>
          <p:cNvSpPr txBox="1"/>
          <p:nvPr/>
        </p:nvSpPr>
        <p:spPr>
          <a:xfrm>
            <a:off x="6731000" y="56261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min_refresh_interval floor set instance-wide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C5B9279-847C-4D26-A998-29CABB98A96A}"/>
              </a:ext>
            </a:extLst>
          </p:cNvPr>
          <p:cNvSpPr/>
          <p:nvPr/>
        </p:nvSpPr>
        <p:spPr>
          <a:xfrm>
            <a:off x="6527800" y="6032500"/>
            <a:ext cx="88900" cy="88900"/>
          </a:xfrm>
          <a:prstGeom prst="ellipse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B2B4BE-F3C5-4626-9432-8BD6BBD2BD51}"/>
              </a:ext>
            </a:extLst>
          </p:cNvPr>
          <p:cNvSpPr txBox="1"/>
          <p:nvPr/>
        </p:nvSpPr>
        <p:spPr>
          <a:xfrm>
            <a:off x="6731000" y="59690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Enable query caching for shared dashboards</a:t>
            </a:r>
          </a:p>
        </p:txBody>
      </p:sp>
    </p:spTree>
    <p:extLst>
      <p:ext uri="{BB962C8B-B14F-4D97-AF65-F5344CB8AC3E}">
        <p14:creationId xmlns:p14="http://schemas.microsoft.com/office/powerpoint/2010/main" val="176852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572F94-F091-4AD5-8542-819F87A48380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17BC83-A75D-42B3-B8DC-E929D26EECD5}"/>
              </a:ext>
            </a:extLst>
          </p:cNvPr>
          <p:cNvSpPr/>
          <p:nvPr/>
        </p:nvSpPr>
        <p:spPr>
          <a:xfrm>
            <a:off x="0" y="1168400"/>
            <a:ext cx="12192000" cy="508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D7CC3-DA15-4F95-AF4B-AABFD3826524}"/>
              </a:ext>
            </a:extLst>
          </p:cNvPr>
          <p:cNvSpPr txBox="1"/>
          <p:nvPr/>
        </p:nvSpPr>
        <p:spPr>
          <a:xfrm>
            <a:off x="609600" y="279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7DE0B4"/>
                </a:solidFill>
                <a:latin typeface="Open Sans"/>
                <a:ea typeface="Open Sans"/>
                <a:cs typeface="Open Sans"/>
              </a:rPr>
              <a:t>CAPSTONE  ·  LAB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52D0D-2E00-48ED-B513-832DC68378B6}"/>
              </a:ext>
            </a:extLst>
          </p:cNvPr>
          <p:cNvSpPr txBox="1"/>
          <p:nvPr/>
        </p:nvSpPr>
        <p:spPr>
          <a:xfrm>
            <a:off x="609600" y="558800"/>
            <a:ext cx="8128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Montserrat"/>
              </a:rPr>
              <a:t>Secure, Govern &amp; Tune a Grafana Instance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7825E9-FC82-4D72-B999-2C64D5A7B808}"/>
              </a:ext>
            </a:extLst>
          </p:cNvPr>
          <p:cNvSpPr/>
          <p:nvPr/>
        </p:nvSpPr>
        <p:spPr>
          <a:xfrm>
            <a:off x="9271000" y="431800"/>
            <a:ext cx="2311400" cy="431800"/>
          </a:xfrm>
          <a:prstGeom prst="round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45 minutes  ·  in pairs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71313-B3B3-468C-A9CC-B60D8F625E5D}"/>
              </a:ext>
            </a:extLst>
          </p:cNvPr>
          <p:cNvSpPr txBox="1"/>
          <p:nvPr/>
        </p:nvSpPr>
        <p:spPr>
          <a:xfrm>
            <a:off x="609600" y="1422400"/>
            <a:ext cx="109728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Five task blocks, in order - each one builds on the state left by the previous block.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F93A12-BD0B-4CD5-B679-A6C8DDAF6572}"/>
              </a:ext>
            </a:extLst>
          </p:cNvPr>
          <p:cNvSpPr/>
          <p:nvPr/>
        </p:nvSpPr>
        <p:spPr>
          <a:xfrm>
            <a:off x="609600" y="1828800"/>
            <a:ext cx="2095500" cy="31242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6DC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0CC84C-7D3E-405B-B65C-B75F3F630548}"/>
              </a:ext>
            </a:extLst>
          </p:cNvPr>
          <p:cNvSpPr/>
          <p:nvPr/>
        </p:nvSpPr>
        <p:spPr>
          <a:xfrm>
            <a:off x="609600" y="1828800"/>
            <a:ext cx="2095500" cy="736600"/>
          </a:xfrm>
          <a:prstGeom prst="round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3BC5E8-BE9A-46DB-9C31-EDBDD1ABE5EF}"/>
              </a:ext>
            </a:extLst>
          </p:cNvPr>
          <p:cNvSpPr/>
          <p:nvPr/>
        </p:nvSpPr>
        <p:spPr>
          <a:xfrm>
            <a:off x="609600" y="2311400"/>
            <a:ext cx="2095500" cy="254000"/>
          </a:xfrm>
          <a:prstGeom prst="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B40288-5F61-45B1-A570-4DD0F261863E}"/>
              </a:ext>
            </a:extLst>
          </p:cNvPr>
          <p:cNvSpPr/>
          <p:nvPr/>
        </p:nvSpPr>
        <p:spPr>
          <a:xfrm>
            <a:off x="762000" y="2032000"/>
            <a:ext cx="330200" cy="3302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B7EAE0-F131-4DC5-9E06-1D82E5A18424}"/>
              </a:ext>
            </a:extLst>
          </p:cNvPr>
          <p:cNvSpPr txBox="1"/>
          <p:nvPr/>
        </p:nvSpPr>
        <p:spPr>
          <a:xfrm>
            <a:off x="1193800" y="1905000"/>
            <a:ext cx="14224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Montserrat"/>
              </a:rPr>
              <a:t>Create Users
&amp; Teams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8E10FD1-3D2A-43AC-B938-2416F8775295}"/>
              </a:ext>
            </a:extLst>
          </p:cNvPr>
          <p:cNvSpPr/>
          <p:nvPr/>
        </p:nvSpPr>
        <p:spPr>
          <a:xfrm>
            <a:off x="762000" y="2717800"/>
            <a:ext cx="787400" cy="2794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12684A"/>
                </a:solidFill>
                <a:latin typeface="Open Sans"/>
                <a:ea typeface="Open Sans"/>
                <a:cs typeface="Open Sans"/>
              </a:rPr>
              <a:t>8 min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7DA3B6-AD72-4926-94BB-16556FCD735C}"/>
              </a:ext>
            </a:extLst>
          </p:cNvPr>
          <p:cNvSpPr txBox="1"/>
          <p:nvPr/>
        </p:nvSpPr>
        <p:spPr>
          <a:xfrm>
            <a:off x="762000" y="3098800"/>
            <a:ext cx="17907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Create 4 users (viewer, editor, admin, analyst).
Create teams Platform-SRE and BI-Analysts.
Add members and set team home dashboard.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3DC995-F210-43B1-957F-487B37F4D09F}"/>
              </a:ext>
            </a:extLst>
          </p:cNvPr>
          <p:cNvSpPr/>
          <p:nvPr/>
        </p:nvSpPr>
        <p:spPr>
          <a:xfrm>
            <a:off x="2832100" y="1828800"/>
            <a:ext cx="2095500" cy="31242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6DC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116AE8D-70ED-418E-AF48-79ECB31F5AEE}"/>
              </a:ext>
            </a:extLst>
          </p:cNvPr>
          <p:cNvSpPr/>
          <p:nvPr/>
        </p:nvSpPr>
        <p:spPr>
          <a:xfrm>
            <a:off x="2832100" y="1828800"/>
            <a:ext cx="2095500" cy="736600"/>
          </a:xfrm>
          <a:prstGeom prst="round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8AFAD3-D140-489A-AD52-9FEF89F28E89}"/>
              </a:ext>
            </a:extLst>
          </p:cNvPr>
          <p:cNvSpPr/>
          <p:nvPr/>
        </p:nvSpPr>
        <p:spPr>
          <a:xfrm>
            <a:off x="2832100" y="2311400"/>
            <a:ext cx="2095500" cy="254000"/>
          </a:xfrm>
          <a:prstGeom prst="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1298E54-C8EC-4656-A710-D7192C28352C}"/>
              </a:ext>
            </a:extLst>
          </p:cNvPr>
          <p:cNvSpPr/>
          <p:nvPr/>
        </p:nvSpPr>
        <p:spPr>
          <a:xfrm>
            <a:off x="2984500" y="2032000"/>
            <a:ext cx="330200" cy="3302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690C44-9BE8-49B4-A20A-AD67B05B6F5F}"/>
              </a:ext>
            </a:extLst>
          </p:cNvPr>
          <p:cNvSpPr txBox="1"/>
          <p:nvPr/>
        </p:nvSpPr>
        <p:spPr>
          <a:xfrm>
            <a:off x="3416300" y="1905000"/>
            <a:ext cx="14224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Montserrat"/>
              </a:rPr>
              <a:t>Configure RBAC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C793281-9BD2-4948-938C-EBA6188F12AD}"/>
              </a:ext>
            </a:extLst>
          </p:cNvPr>
          <p:cNvSpPr/>
          <p:nvPr/>
        </p:nvSpPr>
        <p:spPr>
          <a:xfrm>
            <a:off x="2984500" y="2717800"/>
            <a:ext cx="787400" cy="2794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12684A"/>
                </a:solidFill>
                <a:latin typeface="Open Sans"/>
                <a:ea typeface="Open Sans"/>
                <a:cs typeface="Open Sans"/>
              </a:rPr>
              <a:t>10 min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9BC219-8BDE-48E8-94CF-37CE6047EF1E}"/>
              </a:ext>
            </a:extLst>
          </p:cNvPr>
          <p:cNvSpPr txBox="1"/>
          <p:nvPr/>
        </p:nvSpPr>
        <p:spPr>
          <a:xfrm>
            <a:off x="2984500" y="3098800"/>
            <a:ext cx="17907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Build folders Production / Business.
Grant Platform-SRE = Edit on Production,
BI-Analysts = View. Remove Editor inherited
permission and verify with a viewer login.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86046EB-DB1D-4760-A07E-FF7541FE6BFC}"/>
              </a:ext>
            </a:extLst>
          </p:cNvPr>
          <p:cNvSpPr/>
          <p:nvPr/>
        </p:nvSpPr>
        <p:spPr>
          <a:xfrm>
            <a:off x="5054600" y="1828800"/>
            <a:ext cx="2095500" cy="31242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6DC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B972A5-357A-42EB-83CC-BF98730C3801}"/>
              </a:ext>
            </a:extLst>
          </p:cNvPr>
          <p:cNvSpPr/>
          <p:nvPr/>
        </p:nvSpPr>
        <p:spPr>
          <a:xfrm>
            <a:off x="5054600" y="1828800"/>
            <a:ext cx="2095500" cy="736600"/>
          </a:xfrm>
          <a:prstGeom prst="round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B92BF7-8EAB-4738-9FC6-FF7E0E115AB2}"/>
              </a:ext>
            </a:extLst>
          </p:cNvPr>
          <p:cNvSpPr/>
          <p:nvPr/>
        </p:nvSpPr>
        <p:spPr>
          <a:xfrm>
            <a:off x="5054600" y="2311400"/>
            <a:ext cx="2095500" cy="254000"/>
          </a:xfrm>
          <a:prstGeom prst="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ED3C44A-D817-4170-BA02-C0240B3630F5}"/>
              </a:ext>
            </a:extLst>
          </p:cNvPr>
          <p:cNvSpPr/>
          <p:nvPr/>
        </p:nvSpPr>
        <p:spPr>
          <a:xfrm>
            <a:off x="5207000" y="2032000"/>
            <a:ext cx="330200" cy="3302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8A3C0A-465F-46E5-85F4-C953ECA9DB72}"/>
              </a:ext>
            </a:extLst>
          </p:cNvPr>
          <p:cNvSpPr txBox="1"/>
          <p:nvPr/>
        </p:nvSpPr>
        <p:spPr>
          <a:xfrm>
            <a:off x="5638800" y="1905000"/>
            <a:ext cx="14224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Montserrat"/>
              </a:rPr>
              <a:t>Import Dashboards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0BC5E11-5779-4965-AF94-6CB1043BAFE4}"/>
              </a:ext>
            </a:extLst>
          </p:cNvPr>
          <p:cNvSpPr/>
          <p:nvPr/>
        </p:nvSpPr>
        <p:spPr>
          <a:xfrm>
            <a:off x="5207000" y="2717800"/>
            <a:ext cx="787400" cy="2794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12684A"/>
                </a:solidFill>
                <a:latin typeface="Open Sans"/>
                <a:ea typeface="Open Sans"/>
                <a:cs typeface="Open Sans"/>
              </a:rPr>
              <a:t>8 min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9EC4DA-DB64-4FFB-9FDD-273EA7DB8EAA}"/>
              </a:ext>
            </a:extLst>
          </p:cNvPr>
          <p:cNvSpPr txBox="1"/>
          <p:nvPr/>
        </p:nvSpPr>
        <p:spPr>
          <a:xfrm>
            <a:off x="5207000" y="3098800"/>
            <a:ext cx="17907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Import dashboard ID 1860 from grafana.com
into Production, map the Prometheus data
source, then import a JSON file into Business.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973406-3F54-476C-BC98-70CDBD3BEB77}"/>
              </a:ext>
            </a:extLst>
          </p:cNvPr>
          <p:cNvSpPr/>
          <p:nvPr/>
        </p:nvSpPr>
        <p:spPr>
          <a:xfrm>
            <a:off x="7277100" y="1828800"/>
            <a:ext cx="2095500" cy="31242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6DC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33FAFB3-85EB-47E7-979B-D61577F60A2E}"/>
              </a:ext>
            </a:extLst>
          </p:cNvPr>
          <p:cNvSpPr/>
          <p:nvPr/>
        </p:nvSpPr>
        <p:spPr>
          <a:xfrm>
            <a:off x="7277100" y="1828800"/>
            <a:ext cx="2095500" cy="736600"/>
          </a:xfrm>
          <a:prstGeom prst="round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94C150-CAEA-4F69-A4A3-E92EF9411EF6}"/>
              </a:ext>
            </a:extLst>
          </p:cNvPr>
          <p:cNvSpPr/>
          <p:nvPr/>
        </p:nvSpPr>
        <p:spPr>
          <a:xfrm>
            <a:off x="7277100" y="2311400"/>
            <a:ext cx="2095500" cy="254000"/>
          </a:xfrm>
          <a:prstGeom prst="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746CFE5-7D7F-40CF-A6AE-1086C4392257}"/>
              </a:ext>
            </a:extLst>
          </p:cNvPr>
          <p:cNvSpPr/>
          <p:nvPr/>
        </p:nvSpPr>
        <p:spPr>
          <a:xfrm>
            <a:off x="7429500" y="2032000"/>
            <a:ext cx="330200" cy="3302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29971B-6691-4B00-B78D-D46891DA8A19}"/>
              </a:ext>
            </a:extLst>
          </p:cNvPr>
          <p:cNvSpPr txBox="1"/>
          <p:nvPr/>
        </p:nvSpPr>
        <p:spPr>
          <a:xfrm>
            <a:off x="7861300" y="1905000"/>
            <a:ext cx="14224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Montserrat"/>
              </a:rPr>
              <a:t>Export Dashboards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F35C6BD-9AFD-4F70-B12C-0C193E371310}"/>
              </a:ext>
            </a:extLst>
          </p:cNvPr>
          <p:cNvSpPr/>
          <p:nvPr/>
        </p:nvSpPr>
        <p:spPr>
          <a:xfrm>
            <a:off x="7429500" y="2717800"/>
            <a:ext cx="787400" cy="2794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12684A"/>
                </a:solidFill>
                <a:latin typeface="Open Sans"/>
                <a:ea typeface="Open Sans"/>
                <a:cs typeface="Open Sans"/>
              </a:rPr>
              <a:t>9 min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F1C729-72C7-4283-B523-79A4A5573218}"/>
              </a:ext>
            </a:extLst>
          </p:cNvPr>
          <p:cNvSpPr txBox="1"/>
          <p:nvPr/>
        </p:nvSpPr>
        <p:spPr>
          <a:xfrm>
            <a:off x="7429500" y="3098800"/>
            <a:ext cx="17907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Export both dashboards with "Export for
sharing externally", commit JSON to git,
and provision them read-only via YAML.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022935E-0E87-4A94-9DA0-FE162AC50831}"/>
              </a:ext>
            </a:extLst>
          </p:cNvPr>
          <p:cNvSpPr/>
          <p:nvPr/>
        </p:nvSpPr>
        <p:spPr>
          <a:xfrm>
            <a:off x="9499600" y="1828800"/>
            <a:ext cx="2095500" cy="31242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6DC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2941BE5-B274-474D-91FD-7E22676F688B}"/>
              </a:ext>
            </a:extLst>
          </p:cNvPr>
          <p:cNvSpPr/>
          <p:nvPr/>
        </p:nvSpPr>
        <p:spPr>
          <a:xfrm>
            <a:off x="9499600" y="1828800"/>
            <a:ext cx="2095500" cy="736600"/>
          </a:xfrm>
          <a:prstGeom prst="round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173E79-75C1-4FFB-99ED-C6853370F1A8}"/>
              </a:ext>
            </a:extLst>
          </p:cNvPr>
          <p:cNvSpPr/>
          <p:nvPr/>
        </p:nvSpPr>
        <p:spPr>
          <a:xfrm>
            <a:off x="9499600" y="2311400"/>
            <a:ext cx="2095500" cy="254000"/>
          </a:xfrm>
          <a:prstGeom prst="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E3559D1-273B-455F-8428-9A1F7225DCE0}"/>
              </a:ext>
            </a:extLst>
          </p:cNvPr>
          <p:cNvSpPr/>
          <p:nvPr/>
        </p:nvSpPr>
        <p:spPr>
          <a:xfrm>
            <a:off x="9652000" y="2032000"/>
            <a:ext cx="330200" cy="3302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5DDE9F-FBF5-42F3-A553-50CF1AAFB93C}"/>
              </a:ext>
            </a:extLst>
          </p:cNvPr>
          <p:cNvSpPr txBox="1"/>
          <p:nvPr/>
        </p:nvSpPr>
        <p:spPr>
          <a:xfrm>
            <a:off x="10083800" y="1905000"/>
            <a:ext cx="14224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Montserrat"/>
              </a:rPr>
              <a:t>Optimize Queries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41EA65B-F565-4DC7-ABA0-5EF64A997786}"/>
              </a:ext>
            </a:extLst>
          </p:cNvPr>
          <p:cNvSpPr/>
          <p:nvPr/>
        </p:nvSpPr>
        <p:spPr>
          <a:xfrm>
            <a:off x="9652000" y="2717800"/>
            <a:ext cx="787400" cy="2794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12684A"/>
                </a:solidFill>
                <a:latin typeface="Open Sans"/>
                <a:ea typeface="Open Sans"/>
                <a:cs typeface="Open Sans"/>
              </a:rPr>
              <a:t>10 min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BCA2E1-D519-480F-9F60-B4CF23FE0E05}"/>
              </a:ext>
            </a:extLst>
          </p:cNvPr>
          <p:cNvSpPr txBox="1"/>
          <p:nvPr/>
        </p:nvSpPr>
        <p:spPr>
          <a:xfrm>
            <a:off x="9652000" y="3098800"/>
            <a:ext cx="17907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Use Query Inspector to find the slowest panel.
Add aggregation + $__rate_interval, cap max
data points, set refresh to 1m, collapse rows.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B76825B-C3D4-4832-8130-49E7C14CF366}"/>
              </a:ext>
            </a:extLst>
          </p:cNvPr>
          <p:cNvSpPr/>
          <p:nvPr/>
        </p:nvSpPr>
        <p:spPr>
          <a:xfrm>
            <a:off x="609600" y="5130800"/>
            <a:ext cx="10972800" cy="1371600"/>
          </a:xfrm>
          <a:prstGeom prst="roundRect">
            <a:avLst/>
          </a:prstGeom>
          <a:solidFill>
            <a:srgbClr val="F1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1C9021-48CC-4D69-A751-F89CDC09E9A0}"/>
              </a:ext>
            </a:extLst>
          </p:cNvPr>
          <p:cNvSpPr txBox="1"/>
          <p:nvPr/>
        </p:nvSpPr>
        <p:spPr>
          <a:xfrm>
            <a:off x="914400" y="5283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6191F"/>
                </a:solidFill>
                <a:latin typeface="Montserrat"/>
              </a:rPr>
              <a:t>Environment &amp; ground rules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ACE7AC3-5846-4B8F-A19A-8F2F04A4BA11}"/>
              </a:ext>
            </a:extLst>
          </p:cNvPr>
          <p:cNvSpPr/>
          <p:nvPr/>
        </p:nvSpPr>
        <p:spPr>
          <a:xfrm>
            <a:off x="914400" y="57023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BE52FC-0907-4274-9852-8740AE124B65}"/>
              </a:ext>
            </a:extLst>
          </p:cNvPr>
          <p:cNvSpPr txBox="1"/>
          <p:nvPr/>
        </p:nvSpPr>
        <p:spPr>
          <a:xfrm>
            <a:off x="1117600" y="56388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Grafana 11.x on localhost:3000, admin access provided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646F431-B587-49B1-9353-A92F8F63C2F0}"/>
              </a:ext>
            </a:extLst>
          </p:cNvPr>
          <p:cNvSpPr/>
          <p:nvPr/>
        </p:nvSpPr>
        <p:spPr>
          <a:xfrm>
            <a:off x="6299200" y="57023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522065-6F09-4879-A3D0-9D265A94B601}"/>
              </a:ext>
            </a:extLst>
          </p:cNvPr>
          <p:cNvSpPr txBox="1"/>
          <p:nvPr/>
        </p:nvSpPr>
        <p:spPr>
          <a:xfrm>
            <a:off x="6502400" y="56388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Prometheus data source pre-configured as "Prometheus"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89C09B3-8C50-47E0-AD2C-D93A7D4CB46D}"/>
              </a:ext>
            </a:extLst>
          </p:cNvPr>
          <p:cNvSpPr/>
          <p:nvPr/>
        </p:nvSpPr>
        <p:spPr>
          <a:xfrm>
            <a:off x="914400" y="59817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FD9A4B-68D6-45C8-95A3-373FDFCE73D1}"/>
              </a:ext>
            </a:extLst>
          </p:cNvPr>
          <p:cNvSpPr txBox="1"/>
          <p:nvPr/>
        </p:nvSpPr>
        <p:spPr>
          <a:xfrm>
            <a:off x="1117600" y="59182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Repo folder ~/grafana-gitops with provisioning/ mounted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2E6B8DC-BD7B-4A99-9447-5476F9DF4150}"/>
              </a:ext>
            </a:extLst>
          </p:cNvPr>
          <p:cNvSpPr/>
          <p:nvPr/>
        </p:nvSpPr>
        <p:spPr>
          <a:xfrm>
            <a:off x="6299200" y="59817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AD56D0-D532-436F-982F-EDD058855660}"/>
              </a:ext>
            </a:extLst>
          </p:cNvPr>
          <p:cNvSpPr txBox="1"/>
          <p:nvPr/>
        </p:nvSpPr>
        <p:spPr>
          <a:xfrm>
            <a:off x="6502400" y="59182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Use a second private browser window for the viewer login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1E1AECC-99BF-4690-B9DC-31AEF147B097}"/>
              </a:ext>
            </a:extLst>
          </p:cNvPr>
          <p:cNvSpPr/>
          <p:nvPr/>
        </p:nvSpPr>
        <p:spPr>
          <a:xfrm>
            <a:off x="914400" y="62611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104E4C-2C3B-4111-8060-F32AC05A17C1}"/>
              </a:ext>
            </a:extLst>
          </p:cNvPr>
          <p:cNvSpPr txBox="1"/>
          <p:nvPr/>
        </p:nvSpPr>
        <p:spPr>
          <a:xfrm>
            <a:off x="1117600" y="61976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Restart Grafana after every provisioning file change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242C75D-CE82-4045-9800-F011E7006AEF}"/>
              </a:ext>
            </a:extLst>
          </p:cNvPr>
          <p:cNvSpPr/>
          <p:nvPr/>
        </p:nvSpPr>
        <p:spPr>
          <a:xfrm>
            <a:off x="6299200" y="62611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CC011FE-D8AA-44FF-ABBE-477DA3591D25}"/>
              </a:ext>
            </a:extLst>
          </p:cNvPr>
          <p:cNvSpPr txBox="1"/>
          <p:nvPr/>
        </p:nvSpPr>
        <p:spPr>
          <a:xfrm>
            <a:off x="6502400" y="61976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dirty="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Flag a blocker after 3 minutes - do not sit stuck</a:t>
            </a:r>
          </a:p>
        </p:txBody>
      </p:sp>
    </p:spTree>
    <p:extLst>
      <p:ext uri="{BB962C8B-B14F-4D97-AF65-F5344CB8AC3E}">
        <p14:creationId xmlns:p14="http://schemas.microsoft.com/office/powerpoint/2010/main" val="40702979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601062-DA9C-48E6-A628-808AE8974410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F2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EE508D-3435-425E-ABE8-9EE9341875E5}"/>
              </a:ext>
            </a:extLst>
          </p:cNvPr>
          <p:cNvSpPr/>
          <p:nvPr/>
        </p:nvSpPr>
        <p:spPr>
          <a:xfrm>
            <a:off x="0" y="1168400"/>
            <a:ext cx="12192000" cy="508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1D2E9-17F8-4081-8D3E-A4112572EC82}"/>
              </a:ext>
            </a:extLst>
          </p:cNvPr>
          <p:cNvSpPr txBox="1"/>
          <p:nvPr/>
        </p:nvSpPr>
        <p:spPr>
          <a:xfrm>
            <a:off x="609600" y="279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7DE0B4"/>
                </a:solidFill>
                <a:latin typeface="Open Sans"/>
                <a:ea typeface="Open Sans"/>
                <a:cs typeface="Open Sans"/>
              </a:rPr>
              <a:t>CAPSTONE  ·  LAB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832EB-7752-4BFF-8B33-D7B17C0A4278}"/>
              </a:ext>
            </a:extLst>
          </p:cNvPr>
          <p:cNvSpPr txBox="1"/>
          <p:nvPr/>
        </p:nvSpPr>
        <p:spPr>
          <a:xfrm>
            <a:off x="609600" y="5588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Montserrat"/>
              </a:rPr>
              <a:t>Validation, Troubleshooting &amp; Stretch Goals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20288E-8D0B-482B-8890-882727882D45}"/>
              </a:ext>
            </a:extLst>
          </p:cNvPr>
          <p:cNvSpPr/>
          <p:nvPr/>
        </p:nvSpPr>
        <p:spPr>
          <a:xfrm>
            <a:off x="609600" y="1498600"/>
            <a:ext cx="5334000" cy="317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E9E6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02F71A-52C4-4778-AB5C-F47680487A89}"/>
              </a:ext>
            </a:extLst>
          </p:cNvPr>
          <p:cNvSpPr/>
          <p:nvPr/>
        </p:nvSpPr>
        <p:spPr>
          <a:xfrm>
            <a:off x="609600" y="1498600"/>
            <a:ext cx="5334000" cy="431800"/>
          </a:xfrm>
          <a:prstGeom prst="round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DEFINITION OF DONE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B3EF4D-DF88-474D-BB95-0FE88ADB7B05}"/>
              </a:ext>
            </a:extLst>
          </p:cNvPr>
          <p:cNvSpPr/>
          <p:nvPr/>
        </p:nvSpPr>
        <p:spPr>
          <a:xfrm>
            <a:off x="863600" y="2082800"/>
            <a:ext cx="228600" cy="2286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12684A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6C4EBA-A418-4734-8370-369F2F049E59}"/>
              </a:ext>
            </a:extLst>
          </p:cNvPr>
          <p:cNvSpPr txBox="1"/>
          <p:nvPr/>
        </p:nvSpPr>
        <p:spPr>
          <a:xfrm>
            <a:off x="1219200" y="2070100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Viewer login sees Production but cannot edit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89E8CC-4B7A-4B7A-8273-D7F9B733F4A3}"/>
              </a:ext>
            </a:extLst>
          </p:cNvPr>
          <p:cNvSpPr/>
          <p:nvPr/>
        </p:nvSpPr>
        <p:spPr>
          <a:xfrm>
            <a:off x="863600" y="2489200"/>
            <a:ext cx="228600" cy="2286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12684A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E8A2DF-C83B-4921-83EA-693E20A176B1}"/>
              </a:ext>
            </a:extLst>
          </p:cNvPr>
          <p:cNvSpPr txBox="1"/>
          <p:nvPr/>
        </p:nvSpPr>
        <p:spPr>
          <a:xfrm>
            <a:off x="1219200" y="2476500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dirty="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BI-Analysts sees Business only - no Production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A1E354E-7838-4283-AFB7-8A780F8A10EB}"/>
              </a:ext>
            </a:extLst>
          </p:cNvPr>
          <p:cNvSpPr/>
          <p:nvPr/>
        </p:nvSpPr>
        <p:spPr>
          <a:xfrm>
            <a:off x="863600" y="2895600"/>
            <a:ext cx="228600" cy="2286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12684A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8B2119-18BE-4755-B1B8-E073B11C5CF2}"/>
              </a:ext>
            </a:extLst>
          </p:cNvPr>
          <p:cNvSpPr txBox="1"/>
          <p:nvPr/>
        </p:nvSpPr>
        <p:spPr>
          <a:xfrm>
            <a:off x="1219200" y="2882900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Both dashboards render with live Prometheus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09B0B0E-6820-4758-83AA-45FF538679A6}"/>
              </a:ext>
            </a:extLst>
          </p:cNvPr>
          <p:cNvSpPr/>
          <p:nvPr/>
        </p:nvSpPr>
        <p:spPr>
          <a:xfrm>
            <a:off x="863600" y="3302000"/>
            <a:ext cx="228600" cy="2286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12684A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7A29D-2A14-4FF6-BF20-F5C4BF963DAC}"/>
              </a:ext>
            </a:extLst>
          </p:cNvPr>
          <p:cNvSpPr txBox="1"/>
          <p:nvPr/>
        </p:nvSpPr>
        <p:spPr>
          <a:xfrm>
            <a:off x="1219200" y="3289300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Provisioned dashboards show "Cannot save" in UI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B973FD-D8B7-4291-8EF0-786238831AEA}"/>
              </a:ext>
            </a:extLst>
          </p:cNvPr>
          <p:cNvSpPr/>
          <p:nvPr/>
        </p:nvSpPr>
        <p:spPr>
          <a:xfrm>
            <a:off x="863600" y="3708400"/>
            <a:ext cx="228600" cy="2286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12684A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8E3CDE-318B-4D72-A497-85332547EF88}"/>
              </a:ext>
            </a:extLst>
          </p:cNvPr>
          <p:cNvSpPr txBox="1"/>
          <p:nvPr/>
        </p:nvSpPr>
        <p:spPr>
          <a:xfrm>
            <a:off x="1219200" y="3695700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Slowest panel query time reduced measurably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3A15E0-F003-42FD-AF26-9F9655AE9913}"/>
              </a:ext>
            </a:extLst>
          </p:cNvPr>
          <p:cNvSpPr/>
          <p:nvPr/>
        </p:nvSpPr>
        <p:spPr>
          <a:xfrm>
            <a:off x="863600" y="4114800"/>
            <a:ext cx="228600" cy="228600"/>
          </a:xfrm>
          <a:prstGeom prst="roundRect">
            <a:avLst/>
          </a:prstGeom>
          <a:solidFill>
            <a:srgbClr val="E8F7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12684A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BFC3F0-8B3A-4A04-A0FA-EEBFA5EC577D}"/>
              </a:ext>
            </a:extLst>
          </p:cNvPr>
          <p:cNvSpPr txBox="1"/>
          <p:nvPr/>
        </p:nvSpPr>
        <p:spPr>
          <a:xfrm>
            <a:off x="1219200" y="4102100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C4453"/>
                </a:solidFill>
                <a:latin typeface="Open Sans"/>
                <a:ea typeface="Open Sans"/>
                <a:cs typeface="Open Sans"/>
              </a:rPr>
              <a:t>Dashboard refresh no faster than 1m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28A7E21-A011-4366-A45A-4C0C3D1B4B28}"/>
              </a:ext>
            </a:extLst>
          </p:cNvPr>
          <p:cNvSpPr/>
          <p:nvPr/>
        </p:nvSpPr>
        <p:spPr>
          <a:xfrm>
            <a:off x="6248400" y="1498600"/>
            <a:ext cx="5334000" cy="31750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BE659F-FC35-4BF7-A46B-5899530B4456}"/>
              </a:ext>
            </a:extLst>
          </p:cNvPr>
          <p:cNvSpPr txBox="1"/>
          <p:nvPr/>
        </p:nvSpPr>
        <p:spPr>
          <a:xfrm>
            <a:off x="6553200" y="16510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Montserrat"/>
              </a:rPr>
              <a:t>If you get stuck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F68692-BC94-45C5-8050-60882A2498D7}"/>
              </a:ext>
            </a:extLst>
          </p:cNvPr>
          <p:cNvSpPr txBox="1"/>
          <p:nvPr/>
        </p:nvSpPr>
        <p:spPr>
          <a:xfrm>
            <a:off x="6553200" y="20320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b="1">
                <a:solidFill>
                  <a:srgbClr val="F2A93B"/>
                </a:solidFill>
                <a:latin typeface="Open Sans"/>
                <a:ea typeface="Open Sans"/>
                <a:cs typeface="Open Sans"/>
              </a:rPr>
              <a:t>Dashboard not appearing after provisioning?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B872DF-1DD7-4666-81C4-771CAC44BA31}"/>
              </a:ext>
            </a:extLst>
          </p:cNvPr>
          <p:cNvSpPr txBox="1"/>
          <p:nvPr/>
        </p:nvSpPr>
        <p:spPr>
          <a:xfrm>
            <a:off x="6553200" y="22606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Check container logs, YAML indentation and that the path is mounted read-write.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0AE2EC-7A05-49DE-8A6A-8BF7BAD9688E}"/>
              </a:ext>
            </a:extLst>
          </p:cNvPr>
          <p:cNvSpPr txBox="1"/>
          <p:nvPr/>
        </p:nvSpPr>
        <p:spPr>
          <a:xfrm>
            <a:off x="6553200" y="26797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b="1">
                <a:solidFill>
                  <a:srgbClr val="F2A93B"/>
                </a:solidFill>
                <a:latin typeface="Open Sans"/>
                <a:ea typeface="Open Sans"/>
                <a:cs typeface="Open Sans"/>
              </a:rPr>
              <a:t>Viewer still sees everything?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5177F6-2231-4487-8050-F44798433395}"/>
              </a:ext>
            </a:extLst>
          </p:cNvPr>
          <p:cNvSpPr txBox="1"/>
          <p:nvPr/>
        </p:nvSpPr>
        <p:spPr>
          <a:xfrm>
            <a:off x="6553200" y="29083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Org role Editor overrides folder ACLs - set the user's org role to Viewer.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77B0E6-C61E-4B3D-AB59-6FD299BD9E2E}"/>
              </a:ext>
            </a:extLst>
          </p:cNvPr>
          <p:cNvSpPr txBox="1"/>
          <p:nvPr/>
        </p:nvSpPr>
        <p:spPr>
          <a:xfrm>
            <a:off x="6553200" y="33274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b="1">
                <a:solidFill>
                  <a:srgbClr val="F2A93B"/>
                </a:solidFill>
                <a:latin typeface="Open Sans"/>
                <a:ea typeface="Open Sans"/>
                <a:cs typeface="Open Sans"/>
              </a:rPr>
              <a:t>SSO login loops?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A14269-344B-4C24-8E7A-8C466D871062}"/>
              </a:ext>
            </a:extLst>
          </p:cNvPr>
          <p:cNvSpPr txBox="1"/>
          <p:nvPr/>
        </p:nvSpPr>
        <p:spPr>
          <a:xfrm>
            <a:off x="6553200" y="35560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root_url mismatch or redirect URI typo in the provider app registration.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D612DB-1313-46F1-9495-6976D2937DF2}"/>
              </a:ext>
            </a:extLst>
          </p:cNvPr>
          <p:cNvSpPr txBox="1"/>
          <p:nvPr/>
        </p:nvSpPr>
        <p:spPr>
          <a:xfrm>
            <a:off x="6553200" y="3975100"/>
            <a:ext cx="4826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b="1">
                <a:solidFill>
                  <a:srgbClr val="F2A93B"/>
                </a:solidFill>
                <a:latin typeface="Open Sans"/>
                <a:ea typeface="Open Sans"/>
                <a:cs typeface="Open Sans"/>
              </a:rPr>
              <a:t>Import fails on data source?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EC2E32-0D7D-4419-95D0-A410C0926C76}"/>
              </a:ext>
            </a:extLst>
          </p:cNvPr>
          <p:cNvSpPr txBox="1"/>
          <p:nvPr/>
        </p:nvSpPr>
        <p:spPr>
          <a:xfrm>
            <a:off x="6553200" y="42037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The JSON uses a __inputs template - pick your data source in the import form.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F842CA9-20DA-4E65-A056-1BE512134F20}"/>
              </a:ext>
            </a:extLst>
          </p:cNvPr>
          <p:cNvSpPr/>
          <p:nvPr/>
        </p:nvSpPr>
        <p:spPr>
          <a:xfrm>
            <a:off x="609600" y="4902200"/>
            <a:ext cx="10972800" cy="1600200"/>
          </a:xfrm>
          <a:prstGeom prst="roundRect">
            <a:avLst/>
          </a:prstGeom>
          <a:solidFill>
            <a:srgbClr val="F1F3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D8E7EE-1D30-4D4C-AC40-681EE280C0AB}"/>
              </a:ext>
            </a:extLst>
          </p:cNvPr>
          <p:cNvSpPr txBox="1"/>
          <p:nvPr/>
        </p:nvSpPr>
        <p:spPr>
          <a:xfrm>
            <a:off x="914400" y="5054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6191F"/>
                </a:solidFill>
                <a:latin typeface="Montserrat"/>
              </a:rPr>
              <a:t>Stretch goals - if you finish early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752F618-B515-4B80-91DE-79DB329D9C2D}"/>
              </a:ext>
            </a:extLst>
          </p:cNvPr>
          <p:cNvSpPr/>
          <p:nvPr/>
        </p:nvSpPr>
        <p:spPr>
          <a:xfrm>
            <a:off x="914400" y="5410200"/>
            <a:ext cx="3251200" cy="939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4FCB23-CFEE-452E-AAB9-9F94572B8C4D}"/>
              </a:ext>
            </a:extLst>
          </p:cNvPr>
          <p:cNvSpPr txBox="1"/>
          <p:nvPr/>
        </p:nvSpPr>
        <p:spPr>
          <a:xfrm>
            <a:off x="1092200" y="5486400"/>
            <a:ext cx="2895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Service account + API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D16F0A-0E20-4091-A3B4-2F5A07C9D29D}"/>
              </a:ext>
            </a:extLst>
          </p:cNvPr>
          <p:cNvSpPr txBox="1"/>
          <p:nvPr/>
        </p:nvSpPr>
        <p:spPr>
          <a:xfrm>
            <a:off x="1092200" y="5740400"/>
            <a:ext cx="2895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Create a service account token
and POST a dashboard via the
/api/dashboards/db endpoint.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890B7E9-752D-4E30-B761-9C2ACF05C9AB}"/>
              </a:ext>
            </a:extLst>
          </p:cNvPr>
          <p:cNvSpPr/>
          <p:nvPr/>
        </p:nvSpPr>
        <p:spPr>
          <a:xfrm>
            <a:off x="4419600" y="5410200"/>
            <a:ext cx="3251200" cy="939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E48636-9FEE-45E3-AAFB-69958A319400}"/>
              </a:ext>
            </a:extLst>
          </p:cNvPr>
          <p:cNvSpPr txBox="1"/>
          <p:nvPr/>
        </p:nvSpPr>
        <p:spPr>
          <a:xfrm>
            <a:off x="4597400" y="5486400"/>
            <a:ext cx="2895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Enable query caching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8834A5-DAB7-4564-B17E-A3B6484ADE4C}"/>
              </a:ext>
            </a:extLst>
          </p:cNvPr>
          <p:cNvSpPr txBox="1"/>
          <p:nvPr/>
        </p:nvSpPr>
        <p:spPr>
          <a:xfrm>
            <a:off x="4597400" y="5740400"/>
            <a:ext cx="2895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Turn on caching for the
Prometheus data source with a
60s TTL and re-measure load.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9E8EC33-9681-40AF-A2E0-D2725A04888A}"/>
              </a:ext>
            </a:extLst>
          </p:cNvPr>
          <p:cNvSpPr/>
          <p:nvPr/>
        </p:nvSpPr>
        <p:spPr>
          <a:xfrm>
            <a:off x="7924800" y="5410200"/>
            <a:ext cx="3251200" cy="939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AFAD19-8549-4377-9545-E6F5667E3348}"/>
              </a:ext>
            </a:extLst>
          </p:cNvPr>
          <p:cNvSpPr txBox="1"/>
          <p:nvPr/>
        </p:nvSpPr>
        <p:spPr>
          <a:xfrm>
            <a:off x="8102600" y="5486400"/>
            <a:ext cx="2895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Break-glass drill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31B4E1-5F79-41FD-B076-11579F81EA5D}"/>
              </a:ext>
            </a:extLst>
          </p:cNvPr>
          <p:cNvSpPr txBox="1"/>
          <p:nvPr/>
        </p:nvSpPr>
        <p:spPr>
          <a:xfrm>
            <a:off x="8102600" y="5740400"/>
            <a:ext cx="2895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Disable local login, then recover
the instance using the vaulted
admin account and CLI.</a:t>
            </a:r>
          </a:p>
        </p:txBody>
      </p:sp>
    </p:spTree>
    <p:extLst>
      <p:ext uri="{BB962C8B-B14F-4D97-AF65-F5344CB8AC3E}">
        <p14:creationId xmlns:p14="http://schemas.microsoft.com/office/powerpoint/2010/main" val="6649336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EDB3C4-A60A-471F-8DE9-CE3AF02DA8FB}"/>
              </a:ext>
            </a:extLst>
          </p:cNvPr>
          <p:cNvSpPr txBox="1"/>
          <p:nvPr/>
        </p:nvSpPr>
        <p:spPr>
          <a:xfrm>
            <a:off x="609600" y="3556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DAY 4  ·  WRAP-UP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F6D52-36B7-44E6-9D30-9E49B316A0AB}"/>
              </a:ext>
            </a:extLst>
          </p:cNvPr>
          <p:cNvSpPr txBox="1"/>
          <p:nvPr/>
        </p:nvSpPr>
        <p:spPr>
          <a:xfrm>
            <a:off x="609600" y="6350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200" b="1">
                <a:solidFill>
                  <a:srgbClr val="16191F"/>
                </a:solidFill>
                <a:latin typeface="Montserrat"/>
              </a:rPr>
              <a:t>What You Can Now Do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C250C2-EBF2-4EB3-8B26-F6EA9CEBB726}"/>
              </a:ext>
            </a:extLst>
          </p:cNvPr>
          <p:cNvSpPr/>
          <p:nvPr/>
        </p:nvSpPr>
        <p:spPr>
          <a:xfrm>
            <a:off x="609600" y="1270000"/>
            <a:ext cx="1524000" cy="381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CC5ED5-B980-4522-8D7E-91EE73CBFE68}"/>
              </a:ext>
            </a:extLst>
          </p:cNvPr>
          <p:cNvSpPr/>
          <p:nvPr/>
        </p:nvSpPr>
        <p:spPr>
          <a:xfrm>
            <a:off x="609600" y="1600200"/>
            <a:ext cx="2641600" cy="2946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824D8A-3B86-4665-8379-7424ACF36DC5}"/>
              </a:ext>
            </a:extLst>
          </p:cNvPr>
          <p:cNvSpPr/>
          <p:nvPr/>
        </p:nvSpPr>
        <p:spPr>
          <a:xfrm>
            <a:off x="609600" y="1600200"/>
            <a:ext cx="2641600" cy="508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F3473E-2A5C-4554-A13C-CE39B72C3D91}"/>
              </a:ext>
            </a:extLst>
          </p:cNvPr>
          <p:cNvSpPr/>
          <p:nvPr/>
        </p:nvSpPr>
        <p:spPr>
          <a:xfrm>
            <a:off x="838200" y="1854200"/>
            <a:ext cx="558800" cy="381000"/>
          </a:xfrm>
          <a:prstGeom prst="round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AAD429-C988-4055-BAB5-371D7165CC5B}"/>
              </a:ext>
            </a:extLst>
          </p:cNvPr>
          <p:cNvSpPr txBox="1"/>
          <p:nvPr/>
        </p:nvSpPr>
        <p:spPr>
          <a:xfrm>
            <a:off x="838200" y="2362200"/>
            <a:ext cx="21844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6191F"/>
                </a:solidFill>
                <a:latin typeface="Montserrat"/>
              </a:rPr>
              <a:t>User Management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07AE8D-EF4B-4D63-AD91-20BB891A56BC}"/>
              </a:ext>
            </a:extLst>
          </p:cNvPr>
          <p:cNvSpPr/>
          <p:nvPr/>
        </p:nvSpPr>
        <p:spPr>
          <a:xfrm>
            <a:off x="838200" y="30353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D3DE2-9B57-4D4E-9BAC-3C65D3362514}"/>
              </a:ext>
            </a:extLst>
          </p:cNvPr>
          <p:cNvSpPr txBox="1"/>
          <p:nvPr/>
        </p:nvSpPr>
        <p:spPr>
          <a:xfrm>
            <a:off x="1041400" y="2971800"/>
            <a:ext cx="198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Model orgs, teams, users, roles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9C3FE03-5AA4-43CC-8401-CADAACF1C0EC}"/>
              </a:ext>
            </a:extLst>
          </p:cNvPr>
          <p:cNvSpPr/>
          <p:nvPr/>
        </p:nvSpPr>
        <p:spPr>
          <a:xfrm>
            <a:off x="838200" y="35687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804793-CB8C-4121-A25E-590F64DF25B2}"/>
              </a:ext>
            </a:extLst>
          </p:cNvPr>
          <p:cNvSpPr txBox="1"/>
          <p:nvPr/>
        </p:nvSpPr>
        <p:spPr>
          <a:xfrm>
            <a:off x="1041400" y="3505200"/>
            <a:ext cx="198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Design folder permissions that scale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56FDF8E-C19D-41A4-A34D-5984BED40C9E}"/>
              </a:ext>
            </a:extLst>
          </p:cNvPr>
          <p:cNvSpPr/>
          <p:nvPr/>
        </p:nvSpPr>
        <p:spPr>
          <a:xfrm>
            <a:off x="838200" y="41021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2B773-99BC-4919-9A6B-1B70FC337FE3}"/>
              </a:ext>
            </a:extLst>
          </p:cNvPr>
          <p:cNvSpPr txBox="1"/>
          <p:nvPr/>
        </p:nvSpPr>
        <p:spPr>
          <a:xfrm>
            <a:off x="1041400" y="4038600"/>
            <a:ext cx="198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Prefer teams over user grants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FBB967B-DF7A-4769-9885-95E59E471606}"/>
              </a:ext>
            </a:extLst>
          </p:cNvPr>
          <p:cNvSpPr/>
          <p:nvPr/>
        </p:nvSpPr>
        <p:spPr>
          <a:xfrm>
            <a:off x="3403600" y="1600200"/>
            <a:ext cx="2641600" cy="2946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F87900-ECF3-47B1-84A2-5F5DA4B02D33}"/>
              </a:ext>
            </a:extLst>
          </p:cNvPr>
          <p:cNvSpPr/>
          <p:nvPr/>
        </p:nvSpPr>
        <p:spPr>
          <a:xfrm>
            <a:off x="3403600" y="1600200"/>
            <a:ext cx="2641600" cy="50800"/>
          </a:xfrm>
          <a:prstGeom prst="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8EFF8AE-1B0A-4062-A0EB-7F815D51EA86}"/>
              </a:ext>
            </a:extLst>
          </p:cNvPr>
          <p:cNvSpPr/>
          <p:nvPr/>
        </p:nvSpPr>
        <p:spPr>
          <a:xfrm>
            <a:off x="3632200" y="1854200"/>
            <a:ext cx="558800" cy="381000"/>
          </a:xfrm>
          <a:prstGeom prst="roundRect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72B571-C2CD-4990-9B6E-84B624772C6A}"/>
              </a:ext>
            </a:extLst>
          </p:cNvPr>
          <p:cNvSpPr txBox="1"/>
          <p:nvPr/>
        </p:nvSpPr>
        <p:spPr>
          <a:xfrm>
            <a:off x="3632200" y="2362200"/>
            <a:ext cx="21844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6191F"/>
                </a:solidFill>
                <a:latin typeface="Montserrat"/>
              </a:rPr>
              <a:t>Authentication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52E050-7A88-4A96-9434-ED46AA8ED7A9}"/>
              </a:ext>
            </a:extLst>
          </p:cNvPr>
          <p:cNvSpPr/>
          <p:nvPr/>
        </p:nvSpPr>
        <p:spPr>
          <a:xfrm>
            <a:off x="3632200" y="3035300"/>
            <a:ext cx="88900" cy="889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67EEAA-C010-49A5-BDD1-B652F88C0053}"/>
              </a:ext>
            </a:extLst>
          </p:cNvPr>
          <p:cNvSpPr txBox="1"/>
          <p:nvPr/>
        </p:nvSpPr>
        <p:spPr>
          <a:xfrm>
            <a:off x="3835400" y="2971800"/>
            <a:ext cx="198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Configure LDAP, OAuth, SAML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BB94362-5825-45B3-A2AD-54ED712B04B5}"/>
              </a:ext>
            </a:extLst>
          </p:cNvPr>
          <p:cNvSpPr/>
          <p:nvPr/>
        </p:nvSpPr>
        <p:spPr>
          <a:xfrm>
            <a:off x="3632200" y="3568700"/>
            <a:ext cx="88900" cy="889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3E3D9C-2177-41E0-BF90-4CA34B87C8FF}"/>
              </a:ext>
            </a:extLst>
          </p:cNvPr>
          <p:cNvSpPr txBox="1"/>
          <p:nvPr/>
        </p:nvSpPr>
        <p:spPr>
          <a:xfrm>
            <a:off x="3835400" y="3505200"/>
            <a:ext cx="198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Map IdP groups to Grafana roles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4812BD-99C0-4997-95B4-302DADABC178}"/>
              </a:ext>
            </a:extLst>
          </p:cNvPr>
          <p:cNvSpPr/>
          <p:nvPr/>
        </p:nvSpPr>
        <p:spPr>
          <a:xfrm>
            <a:off x="3632200" y="4102100"/>
            <a:ext cx="88900" cy="88900"/>
          </a:xfrm>
          <a:prstGeom prst="ellipse">
            <a:avLst/>
          </a:prstGeom>
          <a:solidFill>
            <a:srgbClr val="2E5FA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B02F13-4B4D-4561-91A3-399E2548FB32}"/>
              </a:ext>
            </a:extLst>
          </p:cNvPr>
          <p:cNvSpPr txBox="1"/>
          <p:nvPr/>
        </p:nvSpPr>
        <p:spPr>
          <a:xfrm>
            <a:off x="3835400" y="4038600"/>
            <a:ext cx="198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Plan a safe SSO cutover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D731BFA-0676-45DC-88D6-317D65EE141A}"/>
              </a:ext>
            </a:extLst>
          </p:cNvPr>
          <p:cNvSpPr/>
          <p:nvPr/>
        </p:nvSpPr>
        <p:spPr>
          <a:xfrm>
            <a:off x="6197600" y="1600200"/>
            <a:ext cx="2641600" cy="2946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C55F1E-AE22-4752-AFFE-104BE6CDBF76}"/>
              </a:ext>
            </a:extLst>
          </p:cNvPr>
          <p:cNvSpPr/>
          <p:nvPr/>
        </p:nvSpPr>
        <p:spPr>
          <a:xfrm>
            <a:off x="6197600" y="1600200"/>
            <a:ext cx="2641600" cy="50800"/>
          </a:xfrm>
          <a:prstGeom prst="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2DF603B-7566-4285-87D7-1A1FF1BCC552}"/>
              </a:ext>
            </a:extLst>
          </p:cNvPr>
          <p:cNvSpPr/>
          <p:nvPr/>
        </p:nvSpPr>
        <p:spPr>
          <a:xfrm>
            <a:off x="6426200" y="1854200"/>
            <a:ext cx="558800" cy="381000"/>
          </a:xfrm>
          <a:prstGeom prst="roundRect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5DD1D4-E27A-4A38-B798-A026A26B78CB}"/>
              </a:ext>
            </a:extLst>
          </p:cNvPr>
          <p:cNvSpPr txBox="1"/>
          <p:nvPr/>
        </p:nvSpPr>
        <p:spPr>
          <a:xfrm>
            <a:off x="6426200" y="2362200"/>
            <a:ext cx="21844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6191F"/>
                </a:solidFill>
                <a:latin typeface="Montserrat"/>
              </a:rPr>
              <a:t>Dashboard Management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B71E89-59C3-4C9D-A2C7-BC04785BE5AC}"/>
              </a:ext>
            </a:extLst>
          </p:cNvPr>
          <p:cNvSpPr/>
          <p:nvPr/>
        </p:nvSpPr>
        <p:spPr>
          <a:xfrm>
            <a:off x="6426200" y="30353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883E78-69C2-4C57-9FF8-C3AD03317D06}"/>
              </a:ext>
            </a:extLst>
          </p:cNvPr>
          <p:cNvSpPr txBox="1"/>
          <p:nvPr/>
        </p:nvSpPr>
        <p:spPr>
          <a:xfrm>
            <a:off x="6629400" y="2971800"/>
            <a:ext cx="198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Version, export and import boards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F44501B-512B-490B-80AF-7B08557053F4}"/>
              </a:ext>
            </a:extLst>
          </p:cNvPr>
          <p:cNvSpPr/>
          <p:nvPr/>
        </p:nvSpPr>
        <p:spPr>
          <a:xfrm>
            <a:off x="6426200" y="35687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C16686-CBAE-44CA-99EA-98053A254023}"/>
              </a:ext>
            </a:extLst>
          </p:cNvPr>
          <p:cNvSpPr txBox="1"/>
          <p:nvPr/>
        </p:nvSpPr>
        <p:spPr>
          <a:xfrm>
            <a:off x="6629400" y="3505200"/>
            <a:ext cx="198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Read and edit the JSON model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74B9BB5-5D1F-4728-9D0C-1DBEA67E17C5}"/>
              </a:ext>
            </a:extLst>
          </p:cNvPr>
          <p:cNvSpPr/>
          <p:nvPr/>
        </p:nvSpPr>
        <p:spPr>
          <a:xfrm>
            <a:off x="6426200" y="4102100"/>
            <a:ext cx="88900" cy="88900"/>
          </a:xfrm>
          <a:prstGeom prst="ellipse">
            <a:avLst/>
          </a:prstGeom>
          <a:solidFill>
            <a:srgbClr val="1E9E6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9A625F-A24A-4CB3-AFD6-40A2A355D27F}"/>
              </a:ext>
            </a:extLst>
          </p:cNvPr>
          <p:cNvSpPr txBox="1"/>
          <p:nvPr/>
        </p:nvSpPr>
        <p:spPr>
          <a:xfrm>
            <a:off x="6629400" y="4038600"/>
            <a:ext cx="198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Provision dashboards as code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55929C7-65D6-4E7D-96E0-BA6C2386E2D4}"/>
              </a:ext>
            </a:extLst>
          </p:cNvPr>
          <p:cNvSpPr/>
          <p:nvPr/>
        </p:nvSpPr>
        <p:spPr>
          <a:xfrm>
            <a:off x="8991600" y="1600200"/>
            <a:ext cx="2641600" cy="2946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DCE0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169BF9-EDB0-4414-96A5-4DF12DD1EEA1}"/>
              </a:ext>
            </a:extLst>
          </p:cNvPr>
          <p:cNvSpPr/>
          <p:nvPr/>
        </p:nvSpPr>
        <p:spPr>
          <a:xfrm>
            <a:off x="8991600" y="1600200"/>
            <a:ext cx="2641600" cy="50800"/>
          </a:xfrm>
          <a:prstGeom prst="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9515178-BD52-409B-BC0A-DDCA62359411}"/>
              </a:ext>
            </a:extLst>
          </p:cNvPr>
          <p:cNvSpPr/>
          <p:nvPr/>
        </p:nvSpPr>
        <p:spPr>
          <a:xfrm>
            <a:off x="9220200" y="1854200"/>
            <a:ext cx="558800" cy="381000"/>
          </a:xfrm>
          <a:prstGeom prst="roundRect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841D34-FE70-4F29-8901-8542E634D765}"/>
              </a:ext>
            </a:extLst>
          </p:cNvPr>
          <p:cNvSpPr txBox="1"/>
          <p:nvPr/>
        </p:nvSpPr>
        <p:spPr>
          <a:xfrm>
            <a:off x="9220200" y="2362200"/>
            <a:ext cx="21844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6191F"/>
                </a:solidFill>
                <a:latin typeface="Montserrat"/>
              </a:rPr>
              <a:t>Performance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7C0ED68-EF62-4225-B077-BC3AD75C4092}"/>
              </a:ext>
            </a:extLst>
          </p:cNvPr>
          <p:cNvSpPr/>
          <p:nvPr/>
        </p:nvSpPr>
        <p:spPr>
          <a:xfrm>
            <a:off x="9220200" y="3035300"/>
            <a:ext cx="88900" cy="88900"/>
          </a:xfrm>
          <a:prstGeom prst="ellipse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61E298-80AA-4D56-8A82-D1632F29B22C}"/>
              </a:ext>
            </a:extLst>
          </p:cNvPr>
          <p:cNvSpPr txBox="1"/>
          <p:nvPr/>
        </p:nvSpPr>
        <p:spPr>
          <a:xfrm>
            <a:off x="9423400" y="2971800"/>
            <a:ext cx="198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Diagnose with Query Inspector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4CEEE2C-95B6-4114-848E-AECEBD61867F}"/>
              </a:ext>
            </a:extLst>
          </p:cNvPr>
          <p:cNvSpPr/>
          <p:nvPr/>
        </p:nvSpPr>
        <p:spPr>
          <a:xfrm>
            <a:off x="9220200" y="3568700"/>
            <a:ext cx="88900" cy="88900"/>
          </a:xfrm>
          <a:prstGeom prst="ellipse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8E537C-11E3-4F5D-8690-1756DF06CD30}"/>
              </a:ext>
            </a:extLst>
          </p:cNvPr>
          <p:cNvSpPr txBox="1"/>
          <p:nvPr/>
        </p:nvSpPr>
        <p:spPr>
          <a:xfrm>
            <a:off x="9423400" y="3505200"/>
            <a:ext cx="198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Tune queries and refresh rates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A682CE5-2B4B-427E-BE6E-AF119C57516B}"/>
              </a:ext>
            </a:extLst>
          </p:cNvPr>
          <p:cNvSpPr/>
          <p:nvPr/>
        </p:nvSpPr>
        <p:spPr>
          <a:xfrm>
            <a:off x="9220200" y="4102100"/>
            <a:ext cx="88900" cy="88900"/>
          </a:xfrm>
          <a:prstGeom prst="ellipse">
            <a:avLst/>
          </a:prstGeom>
          <a:solidFill>
            <a:srgbClr val="7B5E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8DF138-32F0-4BEE-BD32-C2EC1996EB78}"/>
              </a:ext>
            </a:extLst>
          </p:cNvPr>
          <p:cNvSpPr txBox="1"/>
          <p:nvPr/>
        </p:nvSpPr>
        <p:spPr>
          <a:xfrm>
            <a:off x="9423400" y="4038600"/>
            <a:ext cx="198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Cache at the right layer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B7F2438-E7DB-4FDA-A69C-F95FF4414DF0}"/>
              </a:ext>
            </a:extLst>
          </p:cNvPr>
          <p:cNvSpPr/>
          <p:nvPr/>
        </p:nvSpPr>
        <p:spPr>
          <a:xfrm>
            <a:off x="609600" y="4775200"/>
            <a:ext cx="5334000" cy="1727200"/>
          </a:xfrm>
          <a:prstGeom prst="round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A88F4A-D918-4981-B3D4-FB605E23F338}"/>
              </a:ext>
            </a:extLst>
          </p:cNvPr>
          <p:cNvSpPr txBox="1"/>
          <p:nvPr/>
        </p:nvSpPr>
        <p:spPr>
          <a:xfrm>
            <a:off x="914400" y="49530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Montserrat"/>
              </a:rPr>
              <a:t>Take this back to your instance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AAACB22-8740-420E-BFC3-CE02CD8524C5}"/>
              </a:ext>
            </a:extLst>
          </p:cNvPr>
          <p:cNvSpPr/>
          <p:nvPr/>
        </p:nvSpPr>
        <p:spPr>
          <a:xfrm>
            <a:off x="914400" y="5397500"/>
            <a:ext cx="88900" cy="88900"/>
          </a:xfrm>
          <a:prstGeom prst="ellipse">
            <a:avLst/>
          </a:prstGeom>
          <a:solidFill>
            <a:srgbClr val="F2A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2D8731-BBE0-4AA9-8AC9-5292B48535D6}"/>
              </a:ext>
            </a:extLst>
          </p:cNvPr>
          <p:cNvSpPr txBox="1"/>
          <p:nvPr/>
        </p:nvSpPr>
        <p:spPr>
          <a:xfrm>
            <a:off x="1117600" y="5334000"/>
            <a:ext cx="4622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Audit org roles and remove dashboard-level ACLs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647DA26-9EB2-48E1-96B4-A7C721FFA5AA}"/>
              </a:ext>
            </a:extLst>
          </p:cNvPr>
          <p:cNvSpPr/>
          <p:nvPr/>
        </p:nvSpPr>
        <p:spPr>
          <a:xfrm>
            <a:off x="914400" y="5676900"/>
            <a:ext cx="88900" cy="88900"/>
          </a:xfrm>
          <a:prstGeom prst="ellipse">
            <a:avLst/>
          </a:prstGeom>
          <a:solidFill>
            <a:srgbClr val="F2A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5FFFE6-E420-43DA-90D4-4C9929814DF8}"/>
              </a:ext>
            </a:extLst>
          </p:cNvPr>
          <p:cNvSpPr txBox="1"/>
          <p:nvPr/>
        </p:nvSpPr>
        <p:spPr>
          <a:xfrm>
            <a:off x="1117600" y="5613400"/>
            <a:ext cx="4622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Pick your IdP and pilot SSO with one team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D8DDE2E-EA7F-40F6-8245-9A06FF723AA8}"/>
              </a:ext>
            </a:extLst>
          </p:cNvPr>
          <p:cNvSpPr/>
          <p:nvPr/>
        </p:nvSpPr>
        <p:spPr>
          <a:xfrm>
            <a:off x="914400" y="5956300"/>
            <a:ext cx="88900" cy="88900"/>
          </a:xfrm>
          <a:prstGeom prst="ellipse">
            <a:avLst/>
          </a:prstGeom>
          <a:solidFill>
            <a:srgbClr val="F2A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3ADF98-15B8-45CE-9FB4-BC1D3379E1A7}"/>
              </a:ext>
            </a:extLst>
          </p:cNvPr>
          <p:cNvSpPr txBox="1"/>
          <p:nvPr/>
        </p:nvSpPr>
        <p:spPr>
          <a:xfrm>
            <a:off x="1117600" y="5892800"/>
            <a:ext cx="4622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Move your top 5 dashboards into git provisioning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684DC8-385B-483A-9ABB-72271687E005}"/>
              </a:ext>
            </a:extLst>
          </p:cNvPr>
          <p:cNvSpPr/>
          <p:nvPr/>
        </p:nvSpPr>
        <p:spPr>
          <a:xfrm>
            <a:off x="914400" y="6235700"/>
            <a:ext cx="88900" cy="88900"/>
          </a:xfrm>
          <a:prstGeom prst="ellipse">
            <a:avLst/>
          </a:prstGeom>
          <a:solidFill>
            <a:srgbClr val="F2A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73B290-D08F-4B77-AC72-72147D5EC64A}"/>
              </a:ext>
            </a:extLst>
          </p:cNvPr>
          <p:cNvSpPr txBox="1"/>
          <p:nvPr/>
        </p:nvSpPr>
        <p:spPr>
          <a:xfrm>
            <a:off x="1117600" y="6172200"/>
            <a:ext cx="4622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Set min_refresh_interval and review slow panels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56757B4-E582-4BC6-842C-81B758C27198}"/>
              </a:ext>
            </a:extLst>
          </p:cNvPr>
          <p:cNvSpPr/>
          <p:nvPr/>
        </p:nvSpPr>
        <p:spPr>
          <a:xfrm>
            <a:off x="6248400" y="4775200"/>
            <a:ext cx="5334000" cy="1727200"/>
          </a:xfrm>
          <a:prstGeom prst="roundRect">
            <a:avLst/>
          </a:prstGeom>
          <a:solidFill>
            <a:srgbClr val="FEF0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173B84-E861-42C0-80BF-658D3697BE0F}"/>
              </a:ext>
            </a:extLst>
          </p:cNvPr>
          <p:cNvSpPr txBox="1"/>
          <p:nvPr/>
        </p:nvSpPr>
        <p:spPr>
          <a:xfrm>
            <a:off x="6553200" y="49530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6191F"/>
                </a:solidFill>
                <a:latin typeface="Montserrat"/>
              </a:rPr>
              <a:t>Reference material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F59CC1A-5D9A-471F-9F1F-128F9BB5A8EA}"/>
              </a:ext>
            </a:extLst>
          </p:cNvPr>
          <p:cNvSpPr/>
          <p:nvPr/>
        </p:nvSpPr>
        <p:spPr>
          <a:xfrm>
            <a:off x="6553200" y="53975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A4ACD8-09F9-41F0-850B-8F15E6B2550D}"/>
              </a:ext>
            </a:extLst>
          </p:cNvPr>
          <p:cNvSpPr txBox="1"/>
          <p:nvPr/>
        </p:nvSpPr>
        <p:spPr>
          <a:xfrm>
            <a:off x="6756400" y="5334000"/>
            <a:ext cx="4622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dirty="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grafana.com/docs - Administration &amp; Authentication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A6A83FC-CFBE-466C-8D59-D7ABCD38365B}"/>
              </a:ext>
            </a:extLst>
          </p:cNvPr>
          <p:cNvSpPr/>
          <p:nvPr/>
        </p:nvSpPr>
        <p:spPr>
          <a:xfrm>
            <a:off x="6553200" y="56769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5FFDC8-6203-48F1-9FF2-1EFEA7B9E255}"/>
              </a:ext>
            </a:extLst>
          </p:cNvPr>
          <p:cNvSpPr txBox="1"/>
          <p:nvPr/>
        </p:nvSpPr>
        <p:spPr>
          <a:xfrm>
            <a:off x="6756400" y="5613400"/>
            <a:ext cx="4622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 dirty="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grafana.com/dashboards - community dashboards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7DB3732-F4EA-41FA-8159-D6B2C8921792}"/>
              </a:ext>
            </a:extLst>
          </p:cNvPr>
          <p:cNvSpPr/>
          <p:nvPr/>
        </p:nvSpPr>
        <p:spPr>
          <a:xfrm>
            <a:off x="6553200" y="59563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30ED22-E528-4FE1-B831-E4BE064FE816}"/>
              </a:ext>
            </a:extLst>
          </p:cNvPr>
          <p:cNvSpPr txBox="1"/>
          <p:nvPr/>
        </p:nvSpPr>
        <p:spPr>
          <a:xfrm>
            <a:off x="6756400" y="5892800"/>
            <a:ext cx="4622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Provisioning reference: docs &gt; Administration &gt; Provisioning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F61BBBB-6A84-4EDE-8CBE-9E30675128C1}"/>
              </a:ext>
            </a:extLst>
          </p:cNvPr>
          <p:cNvSpPr/>
          <p:nvPr/>
        </p:nvSpPr>
        <p:spPr>
          <a:xfrm>
            <a:off x="6553200" y="6235700"/>
            <a:ext cx="88900" cy="88900"/>
          </a:xfrm>
          <a:prstGeom prst="ellipse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2D7568-2D4A-4646-87D6-ECD8E49C909C}"/>
              </a:ext>
            </a:extLst>
          </p:cNvPr>
          <p:cNvSpPr txBox="1"/>
          <p:nvPr/>
        </p:nvSpPr>
        <p:spPr>
          <a:xfrm>
            <a:off x="6756400" y="6172200"/>
            <a:ext cx="4622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4A5261"/>
                </a:solidFill>
                <a:latin typeface="Open Sans"/>
                <a:ea typeface="Open Sans"/>
                <a:cs typeface="Open Sans"/>
              </a:rPr>
              <a:t>Query Inspector: Panel &gt; Inspect &gt; Query / Stats</a:t>
            </a:r>
          </a:p>
        </p:txBody>
      </p:sp>
    </p:spTree>
    <p:extLst>
      <p:ext uri="{BB962C8B-B14F-4D97-AF65-F5344CB8AC3E}">
        <p14:creationId xmlns:p14="http://schemas.microsoft.com/office/powerpoint/2010/main" val="15883551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D2B679-9C71-478F-8CA1-C76C77D9D7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9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B63608-3E0E-4E81-9EF9-59A7BBC27606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F696E-7FE4-4C58-B2F8-50C5E2B5B411}"/>
              </a:ext>
            </a:extLst>
          </p:cNvPr>
          <p:cNvSpPr txBox="1"/>
          <p:nvPr/>
        </p:nvSpPr>
        <p:spPr>
          <a:xfrm>
            <a:off x="1219200" y="19050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46800"/>
                </a:solidFill>
                <a:latin typeface="Open Sans"/>
                <a:ea typeface="Open Sans"/>
                <a:cs typeface="Open Sans"/>
              </a:rPr>
              <a:t>DAY 4 COMPLETE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312EAB-B773-4B5A-9553-B0E458B4E5EC}"/>
              </a:ext>
            </a:extLst>
          </p:cNvPr>
          <p:cNvSpPr txBox="1"/>
          <p:nvPr/>
        </p:nvSpPr>
        <p:spPr>
          <a:xfrm>
            <a:off x="1219200" y="2286000"/>
            <a:ext cx="7874000" cy="1143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6400" b="1">
                <a:solidFill>
                  <a:srgbClr val="FFFFFF"/>
                </a:solidFill>
                <a:latin typeface="Montserrat"/>
              </a:rPr>
              <a:t>Questions?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6D7F1-547A-4D61-8D05-892DB5965587}"/>
              </a:ext>
            </a:extLst>
          </p:cNvPr>
          <p:cNvSpPr txBox="1"/>
          <p:nvPr/>
        </p:nvSpPr>
        <p:spPr>
          <a:xfrm>
            <a:off x="1219200" y="3606800"/>
            <a:ext cx="7874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C7CCD6"/>
                </a:solidFill>
                <a:latin typeface="Open Sans"/>
                <a:ea typeface="Open Sans"/>
                <a:cs typeface="Open Sans"/>
              </a:rPr>
              <a:t>Security, Administration &amp; Best Practices  ·  Grafana Training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2DB19C-9D6A-437C-A08E-C1E0A284569D}"/>
              </a:ext>
            </a:extLst>
          </p:cNvPr>
          <p:cNvSpPr/>
          <p:nvPr/>
        </p:nvSpPr>
        <p:spPr>
          <a:xfrm>
            <a:off x="1219200" y="4191000"/>
            <a:ext cx="1524000" cy="38100"/>
          </a:xfrm>
          <a:prstGeom prst="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F87AA6-CD46-4BAD-A6C1-B26F6463BD2A}"/>
              </a:ext>
            </a:extLst>
          </p:cNvPr>
          <p:cNvSpPr/>
          <p:nvPr/>
        </p:nvSpPr>
        <p:spPr>
          <a:xfrm>
            <a:off x="1219200" y="4648200"/>
            <a:ext cx="2844800" cy="558800"/>
          </a:xfrm>
          <a:prstGeom prst="roundRect">
            <a:avLst/>
          </a:prstGeom>
          <a:solidFill>
            <a:srgbClr val="2328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5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Users, Teams &amp; Roles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9ECCC9-D855-4847-B9F6-42277037DA45}"/>
              </a:ext>
            </a:extLst>
          </p:cNvPr>
          <p:cNvSpPr/>
          <p:nvPr/>
        </p:nvSpPr>
        <p:spPr>
          <a:xfrm>
            <a:off x="4267200" y="4648200"/>
            <a:ext cx="2844800" cy="558800"/>
          </a:xfrm>
          <a:prstGeom prst="roundRect">
            <a:avLst/>
          </a:prstGeom>
          <a:solidFill>
            <a:srgbClr val="2328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5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SSO &amp; Role Mapping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CB4301-06EA-4BDF-A8E5-C8D0D2FDCE23}"/>
              </a:ext>
            </a:extLst>
          </p:cNvPr>
          <p:cNvSpPr/>
          <p:nvPr/>
        </p:nvSpPr>
        <p:spPr>
          <a:xfrm>
            <a:off x="1219200" y="5359400"/>
            <a:ext cx="2844800" cy="558800"/>
          </a:xfrm>
          <a:prstGeom prst="roundRect">
            <a:avLst/>
          </a:prstGeom>
          <a:solidFill>
            <a:srgbClr val="2328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5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Dashboards as Code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27940F-E246-4150-AA01-C6A404C9B926}"/>
              </a:ext>
            </a:extLst>
          </p:cNvPr>
          <p:cNvSpPr/>
          <p:nvPr/>
        </p:nvSpPr>
        <p:spPr>
          <a:xfrm>
            <a:off x="4267200" y="5359400"/>
            <a:ext cx="2844800" cy="558800"/>
          </a:xfrm>
          <a:prstGeom prst="roundRect">
            <a:avLst/>
          </a:prstGeom>
          <a:solidFill>
            <a:srgbClr val="2328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50">
                <a:solidFill>
                  <a:srgbClr val="E6E9EF"/>
                </a:solidFill>
                <a:latin typeface="Open Sans"/>
                <a:ea typeface="Open Sans"/>
                <a:cs typeface="Open Sans"/>
              </a:rPr>
              <a:t>Performance Tuning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E0BCC6-7FE4-4B07-B253-272A1315B5CC}"/>
              </a:ext>
            </a:extLst>
          </p:cNvPr>
          <p:cNvSpPr/>
          <p:nvPr/>
        </p:nvSpPr>
        <p:spPr>
          <a:xfrm>
            <a:off x="8128000" y="4648200"/>
            <a:ext cx="3302000" cy="1270000"/>
          </a:xfrm>
          <a:prstGeom prst="roundRect">
            <a:avLst/>
          </a:prstGeom>
          <a:solidFill>
            <a:srgbClr val="F46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B47C11-3319-4C6F-8246-4ABA21E39917}"/>
              </a:ext>
            </a:extLst>
          </p:cNvPr>
          <p:cNvSpPr txBox="1"/>
          <p:nvPr/>
        </p:nvSpPr>
        <p:spPr>
          <a:xfrm>
            <a:off x="8382000" y="4876800"/>
            <a:ext cx="27940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Next: bring your own
dashboards to the
follow-up clinic</a:t>
            </a:r>
          </a:p>
        </p:txBody>
      </p:sp>
    </p:spTree>
    <p:extLst>
      <p:ext uri="{BB962C8B-B14F-4D97-AF65-F5344CB8AC3E}">
        <p14:creationId xmlns:p14="http://schemas.microsoft.com/office/powerpoint/2010/main" val="2430182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5696026152]">
  <a:themeElements>
    <a:clrScheme name="Office">
      <a:dk1>
        <a:srgbClr val="16191F"/>
      </a:dk1>
      <a:lt1>
        <a:srgbClr val="FFFFFF"/>
      </a:lt1>
      <a:dk2>
        <a:srgbClr val="2F3542"/>
      </a:dk2>
      <a:lt2>
        <a:srgbClr val="F2F4F8"/>
      </a:lt2>
      <a:accent1>
        <a:srgbClr val="F46800"/>
      </a:accent1>
      <a:accent2>
        <a:srgbClr val="2E5FA3"/>
      </a:accent2>
      <a:accent3>
        <a:srgbClr val="1E9E6A"/>
      </a:accent3>
      <a:accent4>
        <a:srgbClr val="7B5EA7"/>
      </a:accent4>
      <a:accent5>
        <a:srgbClr val="D0453B"/>
      </a:accent5>
      <a:accent6>
        <a:srgbClr val="F2A93B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072DC1B-0B9A-4B95-97EA-E32FC516F8E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f5ca408-54af-4657-b9eb-44289f3c8a56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F9EEC2E-1138-442F-AB0A-C2DA4C071DE2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e21bb1c8-8ddf-4f01-a1dc-4e2d125577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7854</Words>
  <Application>Microsoft Office PowerPoint</Application>
  <PresentationFormat>Widescreen</PresentationFormat>
  <Paragraphs>862</Paragraphs>
  <Slides>46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Consolas</vt:lpstr>
      <vt:lpstr>Montserrat</vt:lpstr>
      <vt:lpstr>Open Sans</vt:lpstr>
      <vt:lpstr>Office Theme [1785696026152]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Vikash Verma</dc:creator>
  <cp:lastModifiedBy>Vikash Verma</cp:lastModifiedBy>
  <cp:revision>5</cp:revision>
  <dcterms:created xsi:type="dcterms:W3CDTF">2026-08-02T18:38:39Z</dcterms:created>
  <dcterms:modified xsi:type="dcterms:W3CDTF">2026-08-06T04:11:11Z</dcterms:modified>
</cp:coreProperties>
</file>