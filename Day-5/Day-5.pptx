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Pr>
        <a:solidFill>
          <a:srgbClr val="1112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E78AD-C424-696C-A5C5-632832BD42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80BBBA-A8EC-3113-F8CD-741C663525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67DAFC-BF20-3B2A-95D2-B3D0DE2AF80C}"/>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5" name="Footer Placeholder 4">
            <a:extLst>
              <a:ext uri="{FF2B5EF4-FFF2-40B4-BE49-F238E27FC236}">
                <a16:creationId xmlns:a16="http://schemas.microsoft.com/office/drawing/2014/main" id="{E226CE82-68D6-E128-C808-2D81C70E45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88F68C-6614-FD56-DB33-7EDC1BD10701}"/>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1343025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bg>
      <p:bgPr>
        <a:solidFill>
          <a:srgbClr val="1112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ACC3-0386-9FB9-4E68-413490C7A8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788A6-BFF5-9F25-90D8-A6CCE2399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7235AB-8AC4-D95A-0E15-1C4F07416747}"/>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5" name="Footer Placeholder 4">
            <a:extLst>
              <a:ext uri="{FF2B5EF4-FFF2-40B4-BE49-F238E27FC236}">
                <a16:creationId xmlns:a16="http://schemas.microsoft.com/office/drawing/2014/main" id="{A24D5236-C631-6F74-68C4-F496DF9299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04951E-E111-8E7C-3F03-66140330FBC6}"/>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173487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bg>
      <p:bgPr>
        <a:solidFill>
          <a:srgbClr val="1112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0214C-2229-7253-DA03-5D41378DFF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55FC2E-3EC9-C628-82BA-6BAA4FD793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D4F7B8-99B2-AE62-8B38-70E25AC684B5}"/>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5" name="Footer Placeholder 4">
            <a:extLst>
              <a:ext uri="{FF2B5EF4-FFF2-40B4-BE49-F238E27FC236}">
                <a16:creationId xmlns:a16="http://schemas.microsoft.com/office/drawing/2014/main" id="{BDC8D6EE-DE67-A8F8-BD84-88D6CC65B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A2CF30-B94E-B28F-DCD8-7C71E95F0812}"/>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2390078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bg>
      <p:bgPr>
        <a:solidFill>
          <a:srgbClr val="1112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FFE93-72E2-ADBE-8C25-3A43623450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12F893-A9A8-EE40-1E39-1C35203B26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09A985-6768-D981-D030-226FC1EEAF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10BCE8-409D-F04D-0D17-3BCC4EE0CD97}"/>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6" name="Footer Placeholder 5">
            <a:extLst>
              <a:ext uri="{FF2B5EF4-FFF2-40B4-BE49-F238E27FC236}">
                <a16:creationId xmlns:a16="http://schemas.microsoft.com/office/drawing/2014/main" id="{1F622215-1BD0-DDAC-1720-EA0E45BBCF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DD0313-6060-D8DC-CAC8-478C73535D20}"/>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2638800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bg>
      <p:bgPr>
        <a:solidFill>
          <a:srgbClr val="1112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FA3B-D3E8-999B-E77D-D48996F336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039DE6-F294-809E-27A2-966159398B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90B5AE-D1D2-0231-150D-504647E7E4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D7B813-8E29-180D-FD7F-60E73BC31E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DF0CB3-791A-345E-A841-20ECB48907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C6201F-260A-B863-ABE6-DB8D46509DCA}"/>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8" name="Footer Placeholder 7">
            <a:extLst>
              <a:ext uri="{FF2B5EF4-FFF2-40B4-BE49-F238E27FC236}">
                <a16:creationId xmlns:a16="http://schemas.microsoft.com/office/drawing/2014/main" id="{DF091479-CD4F-CEBF-7B57-E6EE2E5752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150BE4-E274-CFFD-81AB-D1BC14801B04}"/>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2123847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bg>
      <p:bgPr>
        <a:solidFill>
          <a:srgbClr val="1112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BFBB6-0D08-5552-DA6D-8E17445117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6B2D03-6EBD-8B08-985F-434BCE25873F}"/>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4" name="Footer Placeholder 3">
            <a:extLst>
              <a:ext uri="{FF2B5EF4-FFF2-40B4-BE49-F238E27FC236}">
                <a16:creationId xmlns:a16="http://schemas.microsoft.com/office/drawing/2014/main" id="{4BE95C5F-7434-D762-5552-3DD8218A28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8FE4FD-70FA-B881-73F8-799C8E34FE30}"/>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4214017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bg>
      <p:bgPr>
        <a:solidFill>
          <a:srgbClr val="111217"/>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A7F34E-5BD4-B10A-D6C7-B74E23EF8D05}"/>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3" name="Footer Placeholder 2">
            <a:extLst>
              <a:ext uri="{FF2B5EF4-FFF2-40B4-BE49-F238E27FC236}">
                <a16:creationId xmlns:a16="http://schemas.microsoft.com/office/drawing/2014/main" id="{D0D69926-8A6F-F7F1-F252-B7C07FC3CF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E41058-E38F-4D49-B69D-C13473FEE8B3}"/>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2797458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bg>
      <p:bgPr>
        <a:solidFill>
          <a:srgbClr val="1112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BE1C6-C473-A274-A77B-48C9094B23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FD9AC5-9E79-3EEB-7CBE-CCBAC043E8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1761EF-150C-FBD9-946F-5316F2524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3F5214-35E7-AE35-DFAF-10A527BD38B2}"/>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6" name="Footer Placeholder 5">
            <a:extLst>
              <a:ext uri="{FF2B5EF4-FFF2-40B4-BE49-F238E27FC236}">
                <a16:creationId xmlns:a16="http://schemas.microsoft.com/office/drawing/2014/main" id="{191A0551-EF0F-4075-5A2A-CE91D6C3DD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223066-649E-ADF4-521D-C70BC95FEC6D}"/>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1791452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bg>
      <p:bgPr>
        <a:solidFill>
          <a:srgbClr val="1112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6A278-0F95-BDF0-BBD0-1FEBDF5305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B491F4-B5F5-EF08-E7C3-E1B42626F7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BA3BCF-3BB7-68D2-3AAA-7BC0142B07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5F17C3-643F-0E8C-82FD-A6E201CF8AAA}"/>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6" name="Footer Placeholder 5">
            <a:extLst>
              <a:ext uri="{FF2B5EF4-FFF2-40B4-BE49-F238E27FC236}">
                <a16:creationId xmlns:a16="http://schemas.microsoft.com/office/drawing/2014/main" id="{BDC7C4DD-E33E-FE47-9023-BC67CE112E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B96721-B8D3-7AFE-7587-FBCA3946806A}"/>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1099494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bg>
      <p:bgPr>
        <a:solidFill>
          <a:srgbClr val="1112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44C3C-137E-5C3F-4826-939B8E6C32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BEDE47-99B2-B820-4057-3983A932B3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AE4946-AAB4-87E3-3D36-AE150958A738}"/>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5" name="Footer Placeholder 4">
            <a:extLst>
              <a:ext uri="{FF2B5EF4-FFF2-40B4-BE49-F238E27FC236}">
                <a16:creationId xmlns:a16="http://schemas.microsoft.com/office/drawing/2014/main" id="{1DB5BE8D-971D-8F14-A684-997783620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255483-AF9F-159B-A5D9-FA9CD96C4433}"/>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823582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bg>
      <p:bgPr>
        <a:solidFill>
          <a:srgbClr val="111217"/>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67A6F6-7972-2D88-7E24-9E312F3C59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E32BAE-38D4-85DD-0C77-6613D623AF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27ECBD-A5F7-DC90-831E-8D453C013E4B}"/>
              </a:ext>
            </a:extLst>
          </p:cNvPr>
          <p:cNvSpPr>
            <a:spLocks noGrp="1"/>
          </p:cNvSpPr>
          <p:nvPr>
            <p:ph type="dt" sz="half" idx="10"/>
          </p:nvPr>
        </p:nvSpPr>
        <p:spPr/>
        <p:txBody>
          <a:bodyPr/>
          <a:lstStyle/>
          <a:p>
            <a:fld id="{312968B2-312B-4294-89DD-1131F390772C}" type="datetimeFigureOut">
              <a:rPr lang="en-US" smtClean="0"/>
              <a:t>8/3/2026</a:t>
            </a:fld>
            <a:endParaRPr lang="en-US"/>
          </a:p>
        </p:txBody>
      </p:sp>
      <p:sp>
        <p:nvSpPr>
          <p:cNvPr id="5" name="Footer Placeholder 4">
            <a:extLst>
              <a:ext uri="{FF2B5EF4-FFF2-40B4-BE49-F238E27FC236}">
                <a16:creationId xmlns:a16="http://schemas.microsoft.com/office/drawing/2014/main" id="{C3B8D62B-6959-533A-8AB5-92FF7F518A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AE173F-48BF-E647-E756-EF2B20298589}"/>
              </a:ext>
            </a:extLst>
          </p:cNvPr>
          <p:cNvSpPr>
            <a:spLocks noGrp="1"/>
          </p:cNvSpPr>
          <p:nvPr>
            <p:ph type="sldNum" sz="quarter" idx="12"/>
          </p:nvPr>
        </p:nvSpPr>
        <p:spPr/>
        <p:txBody>
          <a:bodyPr/>
          <a:lstStyle/>
          <a:p>
            <a:fld id="{5E0233CC-B634-4ACA-B7A3-F1C88589EE1D}" type="slidenum">
              <a:rPr lang="en-US" smtClean="0"/>
              <a:t>‹#›</a:t>
            </a:fld>
            <a:endParaRPr lang="en-US"/>
          </a:p>
        </p:txBody>
      </p:sp>
    </p:spTree>
    <p:extLst>
      <p:ext uri="{BB962C8B-B14F-4D97-AF65-F5344CB8AC3E}">
        <p14:creationId xmlns:p14="http://schemas.microsoft.com/office/powerpoint/2010/main" val="2998989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1217"/>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085096-4563-C9B6-7729-7842D49E63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69EC47-CEFF-12D4-86F6-75634F5076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C15F26-F3DD-6808-445E-F96DBCD517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2968B2-312B-4294-89DD-1131F390772C}" type="datetimeFigureOut">
              <a:rPr lang="en-US" smtClean="0"/>
              <a:t>8/3/2026</a:t>
            </a:fld>
            <a:endParaRPr lang="en-US"/>
          </a:p>
        </p:txBody>
      </p:sp>
      <p:sp>
        <p:nvSpPr>
          <p:cNvPr id="5" name="Footer Placeholder 4">
            <a:extLst>
              <a:ext uri="{FF2B5EF4-FFF2-40B4-BE49-F238E27FC236}">
                <a16:creationId xmlns:a16="http://schemas.microsoft.com/office/drawing/2014/main" id="{142130A7-7C05-C093-7C6F-0EC2F22B8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9AB78CE-9CB4-E5C2-C7C1-F0B89E1518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0233CC-B634-4ACA-B7A3-F1C88589EE1D}" type="slidenum">
              <a:rPr lang="en-US" smtClean="0"/>
              <a:t>‹#›</a:t>
            </a:fld>
            <a:endParaRPr lang="en-US"/>
          </a:p>
        </p:txBody>
      </p:sp>
      <p:sp>
        <p:nvSpPr>
          <p:cNvPr id="91" name="BottomBar"/>
          <p:cNvSpPr/>
          <p:nvPr/>
        </p:nvSpPr>
        <p:spPr>
          <a:xfrm>
            <a:off x="0" y="6807200"/>
            <a:ext cx="12192000" cy="50800"/>
          </a:xfrm>
          <a:prstGeom prst="rect">
            <a:avLst/>
          </a:prstGeom>
          <a:gradFill>
            <a:gsLst>
              <a:gs pos="0">
                <a:srgbClr val="FF8800"/>
              </a:gs>
              <a:gs pos="55000">
                <a:srgbClr val="6E9FFF"/>
              </a:gs>
              <a:gs pos="100000">
                <a:srgbClr val="73BF69"/>
              </a:gs>
            </a:gsLst>
            <a:lin ang="0" scaled="1"/>
          </a:gradFill>
          <a:ln>
            <a:noFill/>
          </a:ln>
        </p:spPr>
        <p:txBody>
          <a:bodyPr/>
          <a:lstStyle/>
          <a:p>
            <a:endParaRPr/>
          </a:p>
        </p:txBody>
      </p:sp>
    </p:spTree>
    <p:extLst>
      <p:ext uri="{BB962C8B-B14F-4D97-AF65-F5344CB8AC3E}">
        <p14:creationId xmlns:p14="http://schemas.microsoft.com/office/powerpoint/2010/main" val="37957933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D2D6D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D2D6D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D2D6D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D2D6D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D2D6D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D2D6DB"/>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D2D6DB"/>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D2D6DB"/>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D2D6DB"/>
          </a:solidFill>
          <a:latin typeface="+mn-lt"/>
          <a:ea typeface="+mn-ea"/>
          <a:cs typeface="+mn-cs"/>
        </a:defRPr>
      </a:lvl9pPr>
    </p:bodyStyle>
    <p:otherStyle>
      <a:defPPr>
        <a:defRPr lang="en-US">
          <a:solidFill>
            <a:srgbClr val="D2D6DB"/>
          </a:solidFill>
        </a:defRPr>
      </a:defPPr>
      <a:lvl1pPr marL="0" algn="l" defTabSz="914400" rtl="0" eaLnBrk="1" latinLnBrk="0" hangingPunct="1">
        <a:defRPr sz="1800" kern="1200">
          <a:solidFill>
            <a:srgbClr val="D2D6DB"/>
          </a:solidFill>
          <a:latin typeface="+mn-lt"/>
          <a:ea typeface="+mn-ea"/>
          <a:cs typeface="+mn-cs"/>
        </a:defRPr>
      </a:lvl1pPr>
      <a:lvl2pPr marL="457200" algn="l" defTabSz="914400" rtl="0" eaLnBrk="1" latinLnBrk="0" hangingPunct="1">
        <a:defRPr sz="1800" kern="1200">
          <a:solidFill>
            <a:srgbClr val="D2D6DB"/>
          </a:solidFill>
          <a:latin typeface="+mn-lt"/>
          <a:ea typeface="+mn-ea"/>
          <a:cs typeface="+mn-cs"/>
        </a:defRPr>
      </a:lvl2pPr>
      <a:lvl3pPr marL="914400" algn="l" defTabSz="914400" rtl="0" eaLnBrk="1" latinLnBrk="0" hangingPunct="1">
        <a:defRPr sz="1800" kern="1200">
          <a:solidFill>
            <a:srgbClr val="D2D6DB"/>
          </a:solidFill>
          <a:latin typeface="+mn-lt"/>
          <a:ea typeface="+mn-ea"/>
          <a:cs typeface="+mn-cs"/>
        </a:defRPr>
      </a:lvl3pPr>
      <a:lvl4pPr marL="1371600" algn="l" defTabSz="914400" rtl="0" eaLnBrk="1" latinLnBrk="0" hangingPunct="1">
        <a:defRPr sz="1800" kern="1200">
          <a:solidFill>
            <a:srgbClr val="D2D6DB"/>
          </a:solidFill>
          <a:latin typeface="+mn-lt"/>
          <a:ea typeface="+mn-ea"/>
          <a:cs typeface="+mn-cs"/>
        </a:defRPr>
      </a:lvl4pPr>
      <a:lvl5pPr marL="1828800" algn="l" defTabSz="914400" rtl="0" eaLnBrk="1" latinLnBrk="0" hangingPunct="1">
        <a:defRPr sz="1800" kern="1200">
          <a:solidFill>
            <a:srgbClr val="D2D6DB"/>
          </a:solidFill>
          <a:latin typeface="+mn-lt"/>
          <a:ea typeface="+mn-ea"/>
          <a:cs typeface="+mn-cs"/>
        </a:defRPr>
      </a:lvl5pPr>
      <a:lvl6pPr marL="2286000" algn="l" defTabSz="914400" rtl="0" eaLnBrk="1" latinLnBrk="0" hangingPunct="1">
        <a:defRPr sz="1800" kern="1200">
          <a:solidFill>
            <a:srgbClr val="D2D6DB"/>
          </a:solidFill>
          <a:latin typeface="+mn-lt"/>
          <a:ea typeface="+mn-ea"/>
          <a:cs typeface="+mn-cs"/>
        </a:defRPr>
      </a:lvl6pPr>
      <a:lvl7pPr marL="2743200" algn="l" defTabSz="914400" rtl="0" eaLnBrk="1" latinLnBrk="0" hangingPunct="1">
        <a:defRPr sz="1800" kern="1200">
          <a:solidFill>
            <a:srgbClr val="D2D6DB"/>
          </a:solidFill>
          <a:latin typeface="+mn-lt"/>
          <a:ea typeface="+mn-ea"/>
          <a:cs typeface="+mn-cs"/>
        </a:defRPr>
      </a:lvl7pPr>
      <a:lvl8pPr marL="3200400" algn="l" defTabSz="914400" rtl="0" eaLnBrk="1" latinLnBrk="0" hangingPunct="1">
        <a:defRPr sz="1800" kern="1200">
          <a:solidFill>
            <a:srgbClr val="D2D6DB"/>
          </a:solidFill>
          <a:latin typeface="+mn-lt"/>
          <a:ea typeface="+mn-ea"/>
          <a:cs typeface="+mn-cs"/>
        </a:defRPr>
      </a:lvl8pPr>
      <a:lvl9pPr marL="3657600" algn="l" defTabSz="914400" rtl="0" eaLnBrk="1" latinLnBrk="0" hangingPunct="1">
        <a:defRPr sz="1800" kern="1200">
          <a:solidFill>
            <a:srgbClr val="D2D6DB"/>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546BEA1-F31F-4C0A-89CC-1D7AA1F5EDFC}"/>
              </a:ext>
            </a:extLst>
          </p:cNvPr>
          <p:cNvSpPr/>
          <p:nvPr/>
        </p:nvSpPr>
        <p:spPr>
          <a:xfrm>
            <a:off x="0" y="0"/>
            <a:ext cx="12192000" cy="2540000"/>
          </a:xfrm>
          <a:prstGeom prst="rect">
            <a:avLst/>
          </a:prstGeom>
          <a:solidFill>
            <a:srgbClr val="15181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C75FF64D-44FF-472D-8708-948D7D160E96}"/>
              </a:ext>
            </a:extLst>
          </p:cNvPr>
          <p:cNvSpPr txBox="1"/>
          <p:nvPr/>
        </p:nvSpPr>
        <p:spPr>
          <a:xfrm>
            <a:off x="762000" y="1778000"/>
            <a:ext cx="8890000" cy="1397000"/>
          </a:xfrm>
          <a:prstGeom prst="rect">
            <a:avLst/>
          </a:prstGeom>
          <a:noFill/>
        </p:spPr>
        <p:txBody>
          <a:bodyPr vertOverflow="overflow" vert="horz" wrap="square" rtlCol="0" anchor="t">
            <a:noAutofit/>
          </a:bodyPr>
          <a:lstStyle/>
          <a:p>
            <a:pPr algn="l"/>
            <a:r>
              <a:rPr lang="en-US" sz="4400" b="1">
                <a:solidFill>
                  <a:srgbClr val="FFFFFF"/>
                </a:solidFill>
                <a:latin typeface="Segoe UI"/>
                <a:cs typeface="Segoe UI"/>
              </a:rPr>
              <a:t>Automation, APIs
&amp; Capstone Project</a:t>
            </a:r>
          </a:p>
        </p:txBody>
      </p:sp>
      <p:sp>
        <p:nvSpPr>
          <p:cNvPr id="6" name="Rectangle 5">
            <a:extLst>
              <a:ext uri="{FF2B5EF4-FFF2-40B4-BE49-F238E27FC236}">
                <a16:creationId xmlns:a16="http://schemas.microsoft.com/office/drawing/2014/main" id="{0B639FE1-E920-4290-8E08-B0070B5EDEA2}"/>
              </a:ext>
            </a:extLst>
          </p:cNvPr>
          <p:cNvSpPr/>
          <p:nvPr/>
        </p:nvSpPr>
        <p:spPr>
          <a:xfrm>
            <a:off x="762000" y="3352800"/>
            <a:ext cx="1397000" cy="508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958FB5E9-D124-4877-B874-A3353D5F3633}"/>
              </a:ext>
            </a:extLst>
          </p:cNvPr>
          <p:cNvSpPr txBox="1"/>
          <p:nvPr/>
        </p:nvSpPr>
        <p:spPr>
          <a:xfrm>
            <a:off x="762000" y="3606800"/>
            <a:ext cx="9652000" cy="355600"/>
          </a:xfrm>
          <a:prstGeom prst="rect">
            <a:avLst/>
          </a:prstGeom>
          <a:noFill/>
        </p:spPr>
        <p:txBody>
          <a:bodyPr vertOverflow="overflow" vert="horz" wrap="square" rtlCol="0" anchor="t">
            <a:noAutofit/>
          </a:bodyPr>
          <a:lstStyle/>
          <a:p>
            <a:pPr algn="l"/>
            <a:r>
              <a:rPr lang="en-US">
                <a:solidFill>
                  <a:srgbClr val="B4BCC6"/>
                </a:solidFill>
                <a:latin typeface="Segoe UI"/>
                <a:cs typeface="Segoe UI"/>
              </a:rPr>
              <a:t>Grafana HTTP API  ·  Dashboard Provisioning  ·  Terraform  ·  Production Hardening</a:t>
            </a:r>
          </a:p>
        </p:txBody>
      </p:sp>
      <p:sp>
        <p:nvSpPr>
          <p:cNvPr id="8" name="Rectangle: Rounded Corners 7">
            <a:extLst>
              <a:ext uri="{FF2B5EF4-FFF2-40B4-BE49-F238E27FC236}">
                <a16:creationId xmlns:a16="http://schemas.microsoft.com/office/drawing/2014/main" id="{E2F7F86F-F3C9-412F-B36C-F58048CAD646}"/>
              </a:ext>
            </a:extLst>
          </p:cNvPr>
          <p:cNvSpPr/>
          <p:nvPr/>
        </p:nvSpPr>
        <p:spPr>
          <a:xfrm>
            <a:off x="762000" y="4318000"/>
            <a:ext cx="2540000" cy="1219200"/>
          </a:xfrm>
          <a:prstGeom prst="roundRect">
            <a:avLst/>
          </a:prstGeom>
          <a:solidFill>
            <a:srgbClr val="1B1E24"/>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FA72BD2B-2B18-48AB-8608-CE0543BBB423}"/>
              </a:ext>
            </a:extLst>
          </p:cNvPr>
          <p:cNvSpPr txBox="1"/>
          <p:nvPr/>
        </p:nvSpPr>
        <p:spPr>
          <a:xfrm>
            <a:off x="990600" y="4546600"/>
            <a:ext cx="2082800" cy="254000"/>
          </a:xfrm>
          <a:prstGeom prst="rect">
            <a:avLst/>
          </a:prstGeom>
          <a:noFill/>
        </p:spPr>
        <p:txBody>
          <a:bodyPr vertOverflow="overflow" vert="horz" wrap="square" rtlCol="0" anchor="t">
            <a:noAutofit/>
          </a:bodyPr>
          <a:lstStyle/>
          <a:p>
            <a:pPr algn="l"/>
            <a:r>
              <a:rPr lang="en-US" sz="1400" b="1">
                <a:solidFill>
                  <a:srgbClr val="FF8800"/>
                </a:solidFill>
                <a:latin typeface="Segoe UI"/>
                <a:cs typeface="Segoe UI"/>
              </a:rPr>
              <a:t>MODULE 17</a:t>
            </a:r>
          </a:p>
        </p:txBody>
      </p:sp>
      <p:sp>
        <p:nvSpPr>
          <p:cNvPr id="10" name="TextBox 9">
            <a:extLst>
              <a:ext uri="{FF2B5EF4-FFF2-40B4-BE49-F238E27FC236}">
                <a16:creationId xmlns:a16="http://schemas.microsoft.com/office/drawing/2014/main" id="{FAF7AFBC-A6D4-4336-AD85-3C210D88BAFD}"/>
              </a:ext>
            </a:extLst>
          </p:cNvPr>
          <p:cNvSpPr txBox="1"/>
          <p:nvPr/>
        </p:nvSpPr>
        <p:spPr>
          <a:xfrm>
            <a:off x="990600" y="4851400"/>
            <a:ext cx="2082800" cy="558800"/>
          </a:xfrm>
          <a:prstGeom prst="rect">
            <a:avLst/>
          </a:prstGeom>
          <a:noFill/>
        </p:spPr>
        <p:txBody>
          <a:bodyPr vertOverflow="overflow" vert="horz" wrap="square" rtlCol="0" anchor="t">
            <a:noAutofit/>
          </a:bodyPr>
          <a:lstStyle/>
          <a:p>
            <a:pPr algn="l"/>
            <a:r>
              <a:rPr lang="en-US" sz="1700" b="1">
                <a:solidFill>
                  <a:srgbClr val="FFFFFF"/>
                </a:solidFill>
                <a:latin typeface="Segoe UI"/>
                <a:cs typeface="Segoe UI"/>
              </a:rPr>
              <a:t>Grafana HTTP API</a:t>
            </a:r>
          </a:p>
        </p:txBody>
      </p:sp>
      <p:sp>
        <p:nvSpPr>
          <p:cNvPr id="11" name="Rectangle: Rounded Corners 10">
            <a:extLst>
              <a:ext uri="{FF2B5EF4-FFF2-40B4-BE49-F238E27FC236}">
                <a16:creationId xmlns:a16="http://schemas.microsoft.com/office/drawing/2014/main" id="{9177013C-1F0D-405C-9071-A0F63B896F02}"/>
              </a:ext>
            </a:extLst>
          </p:cNvPr>
          <p:cNvSpPr/>
          <p:nvPr/>
        </p:nvSpPr>
        <p:spPr>
          <a:xfrm>
            <a:off x="3556000" y="4318000"/>
            <a:ext cx="2540000" cy="12192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071E07CD-B8B7-4234-A299-0611B1B681E2}"/>
              </a:ext>
            </a:extLst>
          </p:cNvPr>
          <p:cNvSpPr txBox="1"/>
          <p:nvPr/>
        </p:nvSpPr>
        <p:spPr>
          <a:xfrm>
            <a:off x="3784600" y="4546600"/>
            <a:ext cx="2082800" cy="254000"/>
          </a:xfrm>
          <a:prstGeom prst="rect">
            <a:avLst/>
          </a:prstGeom>
          <a:noFill/>
        </p:spPr>
        <p:txBody>
          <a:bodyPr vertOverflow="overflow" vert="horz" wrap="square" rtlCol="0" anchor="t">
            <a:noAutofit/>
          </a:bodyPr>
          <a:lstStyle/>
          <a:p>
            <a:pPr algn="l"/>
            <a:r>
              <a:rPr lang="en-US" sz="1400" b="1">
                <a:solidFill>
                  <a:srgbClr val="6E9FFF"/>
                </a:solidFill>
                <a:latin typeface="Segoe UI"/>
                <a:cs typeface="Segoe UI"/>
              </a:rPr>
              <a:t>MODULE 18</a:t>
            </a:r>
          </a:p>
        </p:txBody>
      </p:sp>
      <p:sp>
        <p:nvSpPr>
          <p:cNvPr id="13" name="TextBox 12">
            <a:extLst>
              <a:ext uri="{FF2B5EF4-FFF2-40B4-BE49-F238E27FC236}">
                <a16:creationId xmlns:a16="http://schemas.microsoft.com/office/drawing/2014/main" id="{CE36F536-DF02-472D-B160-18D58E14427C}"/>
              </a:ext>
            </a:extLst>
          </p:cNvPr>
          <p:cNvSpPr txBox="1"/>
          <p:nvPr/>
        </p:nvSpPr>
        <p:spPr>
          <a:xfrm>
            <a:off x="3784600" y="4851400"/>
            <a:ext cx="2082800" cy="558800"/>
          </a:xfrm>
          <a:prstGeom prst="rect">
            <a:avLst/>
          </a:prstGeom>
          <a:noFill/>
        </p:spPr>
        <p:txBody>
          <a:bodyPr vertOverflow="overflow" vert="horz" wrap="square" rtlCol="0" anchor="t">
            <a:noAutofit/>
          </a:bodyPr>
          <a:lstStyle/>
          <a:p>
            <a:pPr algn="l"/>
            <a:r>
              <a:rPr lang="en-US" sz="1700" b="1">
                <a:solidFill>
                  <a:srgbClr val="FFFFFF"/>
                </a:solidFill>
                <a:latin typeface="Segoe UI"/>
                <a:cs typeface="Segoe UI"/>
              </a:rPr>
              <a:t>Dashboard Provisioning</a:t>
            </a:r>
          </a:p>
        </p:txBody>
      </p:sp>
      <p:sp>
        <p:nvSpPr>
          <p:cNvPr id="14" name="Rectangle: Rounded Corners 13">
            <a:extLst>
              <a:ext uri="{FF2B5EF4-FFF2-40B4-BE49-F238E27FC236}">
                <a16:creationId xmlns:a16="http://schemas.microsoft.com/office/drawing/2014/main" id="{224F28CD-4AE0-434A-B828-FD42921B84F4}"/>
              </a:ext>
            </a:extLst>
          </p:cNvPr>
          <p:cNvSpPr/>
          <p:nvPr/>
        </p:nvSpPr>
        <p:spPr>
          <a:xfrm>
            <a:off x="6350000" y="4318000"/>
            <a:ext cx="2540000" cy="12192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AD7EF776-9A5E-497E-A779-DF094B5845CC}"/>
              </a:ext>
            </a:extLst>
          </p:cNvPr>
          <p:cNvSpPr txBox="1"/>
          <p:nvPr/>
        </p:nvSpPr>
        <p:spPr>
          <a:xfrm>
            <a:off x="6578600" y="4546600"/>
            <a:ext cx="20828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MODULE 19</a:t>
            </a:r>
          </a:p>
        </p:txBody>
      </p:sp>
      <p:sp>
        <p:nvSpPr>
          <p:cNvPr id="16" name="TextBox 15">
            <a:extLst>
              <a:ext uri="{FF2B5EF4-FFF2-40B4-BE49-F238E27FC236}">
                <a16:creationId xmlns:a16="http://schemas.microsoft.com/office/drawing/2014/main" id="{A85DDBD5-0575-4927-88D7-F264E0D2CA5C}"/>
              </a:ext>
            </a:extLst>
          </p:cNvPr>
          <p:cNvSpPr txBox="1"/>
          <p:nvPr/>
        </p:nvSpPr>
        <p:spPr>
          <a:xfrm>
            <a:off x="6578600" y="4851400"/>
            <a:ext cx="2082800" cy="558800"/>
          </a:xfrm>
          <a:prstGeom prst="rect">
            <a:avLst/>
          </a:prstGeom>
          <a:noFill/>
        </p:spPr>
        <p:txBody>
          <a:bodyPr vertOverflow="overflow" vert="horz" wrap="square" rtlCol="0" anchor="t">
            <a:noAutofit/>
          </a:bodyPr>
          <a:lstStyle/>
          <a:p>
            <a:pPr algn="l"/>
            <a:r>
              <a:rPr lang="en-US" sz="1700" b="1">
                <a:solidFill>
                  <a:srgbClr val="FFFFFF"/>
                </a:solidFill>
                <a:latin typeface="Segoe UI"/>
                <a:cs typeface="Segoe UI"/>
              </a:rPr>
              <a:t>Infrastructure as Code</a:t>
            </a:r>
          </a:p>
        </p:txBody>
      </p:sp>
      <p:sp>
        <p:nvSpPr>
          <p:cNvPr id="17" name="Rectangle: Rounded Corners 16">
            <a:extLst>
              <a:ext uri="{FF2B5EF4-FFF2-40B4-BE49-F238E27FC236}">
                <a16:creationId xmlns:a16="http://schemas.microsoft.com/office/drawing/2014/main" id="{65F3B5F3-2E89-4509-8E01-6025444A9D84}"/>
              </a:ext>
            </a:extLst>
          </p:cNvPr>
          <p:cNvSpPr/>
          <p:nvPr/>
        </p:nvSpPr>
        <p:spPr>
          <a:xfrm>
            <a:off x="9144000" y="4318000"/>
            <a:ext cx="2540000" cy="1219200"/>
          </a:xfrm>
          <a:prstGeom prst="roundRect">
            <a:avLst/>
          </a:prstGeom>
          <a:solidFill>
            <a:srgbClr val="1B1E24"/>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6CCF5165-F930-46B3-B75F-1838A4BAEF8E}"/>
              </a:ext>
            </a:extLst>
          </p:cNvPr>
          <p:cNvSpPr txBox="1"/>
          <p:nvPr/>
        </p:nvSpPr>
        <p:spPr>
          <a:xfrm>
            <a:off x="9372600" y="4546600"/>
            <a:ext cx="2082800" cy="254000"/>
          </a:xfrm>
          <a:prstGeom prst="rect">
            <a:avLst/>
          </a:prstGeom>
          <a:noFill/>
        </p:spPr>
        <p:txBody>
          <a:bodyPr vertOverflow="overflow" vert="horz" wrap="square" rtlCol="0" anchor="t">
            <a:noAutofit/>
          </a:bodyPr>
          <a:lstStyle/>
          <a:p>
            <a:pPr algn="l"/>
            <a:r>
              <a:rPr lang="en-US" sz="1400" b="1">
                <a:solidFill>
                  <a:srgbClr val="B877D9"/>
                </a:solidFill>
                <a:latin typeface="Segoe UI"/>
                <a:cs typeface="Segoe UI"/>
              </a:rPr>
              <a:t>MODULE 20</a:t>
            </a:r>
          </a:p>
        </p:txBody>
      </p:sp>
      <p:sp>
        <p:nvSpPr>
          <p:cNvPr id="19" name="TextBox 18">
            <a:extLst>
              <a:ext uri="{FF2B5EF4-FFF2-40B4-BE49-F238E27FC236}">
                <a16:creationId xmlns:a16="http://schemas.microsoft.com/office/drawing/2014/main" id="{B3FC57E7-D4FD-4106-BB0F-76A9EA6960EA}"/>
              </a:ext>
            </a:extLst>
          </p:cNvPr>
          <p:cNvSpPr txBox="1"/>
          <p:nvPr/>
        </p:nvSpPr>
        <p:spPr>
          <a:xfrm>
            <a:off x="9372600" y="4851400"/>
            <a:ext cx="2082800" cy="558800"/>
          </a:xfrm>
          <a:prstGeom prst="rect">
            <a:avLst/>
          </a:prstGeom>
          <a:noFill/>
        </p:spPr>
        <p:txBody>
          <a:bodyPr vertOverflow="overflow" vert="horz" wrap="square" rtlCol="0" anchor="t">
            <a:noAutofit/>
          </a:bodyPr>
          <a:lstStyle/>
          <a:p>
            <a:pPr algn="l"/>
            <a:r>
              <a:rPr lang="en-US" sz="1700" b="1">
                <a:solidFill>
                  <a:srgbClr val="FFFFFF"/>
                </a:solidFill>
                <a:latin typeface="Segoe UI"/>
                <a:cs typeface="Segoe UI"/>
              </a:rPr>
              <a:t>Production Best Practices</a:t>
            </a:r>
          </a:p>
        </p:txBody>
      </p:sp>
      <p:sp>
        <p:nvSpPr>
          <p:cNvPr id="20" name="TextBox 19">
            <a:extLst>
              <a:ext uri="{FF2B5EF4-FFF2-40B4-BE49-F238E27FC236}">
                <a16:creationId xmlns:a16="http://schemas.microsoft.com/office/drawing/2014/main" id="{BF514F29-5C31-47DF-BCF9-B98934B2DC67}"/>
              </a:ext>
            </a:extLst>
          </p:cNvPr>
          <p:cNvSpPr txBox="1"/>
          <p:nvPr/>
        </p:nvSpPr>
        <p:spPr>
          <a:xfrm>
            <a:off x="762000" y="5867400"/>
            <a:ext cx="9652000" cy="304800"/>
          </a:xfrm>
          <a:prstGeom prst="rect">
            <a:avLst/>
          </a:prstGeom>
          <a:noFill/>
        </p:spPr>
        <p:txBody>
          <a:bodyPr vertOverflow="overflow" vert="horz" wrap="square" rtlCol="0" anchor="t">
            <a:noAutofit/>
          </a:bodyPr>
          <a:lstStyle/>
          <a:p>
            <a:pPr algn="l"/>
            <a:endParaRPr lang="en-US" sz="1500" dirty="0">
              <a:solidFill>
                <a:srgbClr val="8A929C"/>
              </a:solidFill>
              <a:latin typeface="Segoe UI"/>
              <a:cs typeface="Segoe UI"/>
            </a:endParaRPr>
          </a:p>
        </p:txBody>
      </p:sp>
    </p:spTree>
    <p:extLst>
      <p:ext uri="{BB962C8B-B14F-4D97-AF65-F5344CB8AC3E}">
        <p14:creationId xmlns:p14="http://schemas.microsoft.com/office/powerpoint/2010/main" val="1647255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A435B-4469-A495-36D1-DA9A312F9412}"/>
              </a:ext>
            </a:extLst>
          </p:cNvPr>
          <p:cNvSpPr>
            <a:spLocks noGrp="1"/>
          </p:cNvSpPr>
          <p:nvPr>
            <p:ph type="title"/>
          </p:nvPr>
        </p:nvSpPr>
        <p:spPr>
          <a:xfrm>
            <a:off x="762000" y="406400"/>
            <a:ext cx="10668000" cy="533400"/>
          </a:xfrm>
        </p:spPr>
        <p:txBody>
          <a:bodyPr>
            <a:normAutofit/>
          </a:bodyPr>
          <a:lstStyle/>
          <a:p>
            <a:r>
              <a:rPr lang="en-US" sz="3000" b="1"/>
              <a:t>From Clicking to Code</a:t>
            </a:r>
          </a:p>
        </p:txBody>
      </p:sp>
      <p:sp>
        <p:nvSpPr>
          <p:cNvPr id="3" name="Rectangle 2">
            <a:extLst>
              <a:ext uri="{FF2B5EF4-FFF2-40B4-BE49-F238E27FC236}">
                <a16:creationId xmlns:a16="http://schemas.microsoft.com/office/drawing/2014/main" id="{23525ABE-CEDE-4D15-B481-2E31EBD0DE02}"/>
              </a:ext>
            </a:extLst>
          </p:cNvPr>
          <p:cNvSpPr/>
          <p:nvPr/>
        </p:nvSpPr>
        <p:spPr>
          <a:xfrm>
            <a:off x="762000" y="1016000"/>
            <a:ext cx="889000" cy="381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39922F2D-F70C-4903-A7CE-153DCBFDEF6B}"/>
              </a:ext>
            </a:extLst>
          </p:cNvPr>
          <p:cNvSpPr txBox="1"/>
          <p:nvPr/>
        </p:nvSpPr>
        <p:spPr>
          <a:xfrm>
            <a:off x="762000" y="1143000"/>
            <a:ext cx="8890000" cy="279400"/>
          </a:xfrm>
          <a:prstGeom prst="rect">
            <a:avLst/>
          </a:prstGeom>
          <a:noFill/>
        </p:spPr>
        <p:txBody>
          <a:bodyPr vertOverflow="overflow" vert="horz" wrap="square" rtlCol="0" anchor="t">
            <a:noAutofit/>
          </a:bodyPr>
          <a:lstStyle/>
          <a:p>
            <a:pPr algn="l"/>
            <a:r>
              <a:rPr lang="en-US" sz="1500">
                <a:solidFill>
                  <a:srgbClr val="8A929C"/>
                </a:solidFill>
                <a:latin typeface="Segoe UI"/>
                <a:cs typeface="Segoe UI"/>
              </a:rPr>
              <a:t>Days 1–4 taught you what Grafana can do. Day 5 makes it reproducible.</a:t>
            </a:r>
          </a:p>
        </p:txBody>
      </p:sp>
      <p:sp>
        <p:nvSpPr>
          <p:cNvPr id="5" name="Rectangle: Rounded Corners 4">
            <a:extLst>
              <a:ext uri="{FF2B5EF4-FFF2-40B4-BE49-F238E27FC236}">
                <a16:creationId xmlns:a16="http://schemas.microsoft.com/office/drawing/2014/main" id="{E7D2C6A5-2E3B-4D93-B107-5ECC4054410B}"/>
              </a:ext>
            </a:extLst>
          </p:cNvPr>
          <p:cNvSpPr/>
          <p:nvPr/>
        </p:nvSpPr>
        <p:spPr>
          <a:xfrm>
            <a:off x="762000" y="1524000"/>
            <a:ext cx="2006600" cy="7874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591D69B7-24A2-4C1B-9815-BF53E09FA2DA}"/>
              </a:ext>
            </a:extLst>
          </p:cNvPr>
          <p:cNvSpPr txBox="1"/>
          <p:nvPr/>
        </p:nvSpPr>
        <p:spPr>
          <a:xfrm>
            <a:off x="939800" y="1651000"/>
            <a:ext cx="1651000" cy="254000"/>
          </a:xfrm>
          <a:prstGeom prst="rect">
            <a:avLst/>
          </a:prstGeom>
          <a:noFill/>
        </p:spPr>
        <p:txBody>
          <a:bodyPr vertOverflow="overflow" vert="horz" wrap="square" rtlCol="0" anchor="t">
            <a:noAutofit/>
          </a:bodyPr>
          <a:lstStyle/>
          <a:p>
            <a:pPr algn="l"/>
            <a:r>
              <a:rPr lang="en-US" sz="1500" b="1">
                <a:solidFill>
                  <a:srgbClr val="8A929C"/>
                </a:solidFill>
                <a:latin typeface="Segoe UI"/>
                <a:cs typeface="Segoe UI"/>
              </a:rPr>
              <a:t>Day 1</a:t>
            </a:r>
          </a:p>
        </p:txBody>
      </p:sp>
      <p:sp>
        <p:nvSpPr>
          <p:cNvPr id="7" name="TextBox 6">
            <a:extLst>
              <a:ext uri="{FF2B5EF4-FFF2-40B4-BE49-F238E27FC236}">
                <a16:creationId xmlns:a16="http://schemas.microsoft.com/office/drawing/2014/main" id="{AFBFD04F-0C39-45BD-8EC1-D6674700913C}"/>
              </a:ext>
            </a:extLst>
          </p:cNvPr>
          <p:cNvSpPr txBox="1"/>
          <p:nvPr/>
        </p:nvSpPr>
        <p:spPr>
          <a:xfrm>
            <a:off x="939800" y="1930400"/>
            <a:ext cx="1676400" cy="330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Install &amp; core concepts</a:t>
            </a:r>
          </a:p>
        </p:txBody>
      </p:sp>
      <p:sp>
        <p:nvSpPr>
          <p:cNvPr id="8" name="Rectangle: Rounded Corners 7">
            <a:extLst>
              <a:ext uri="{FF2B5EF4-FFF2-40B4-BE49-F238E27FC236}">
                <a16:creationId xmlns:a16="http://schemas.microsoft.com/office/drawing/2014/main" id="{BB2E8679-B783-4A0E-8B3B-9CE07EF452CE}"/>
              </a:ext>
            </a:extLst>
          </p:cNvPr>
          <p:cNvSpPr/>
          <p:nvPr/>
        </p:nvSpPr>
        <p:spPr>
          <a:xfrm>
            <a:off x="2921000" y="1524000"/>
            <a:ext cx="2006600" cy="7874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40128B99-12C6-4A6F-9EC5-F657DD42A390}"/>
              </a:ext>
            </a:extLst>
          </p:cNvPr>
          <p:cNvSpPr txBox="1"/>
          <p:nvPr/>
        </p:nvSpPr>
        <p:spPr>
          <a:xfrm>
            <a:off x="3098800" y="1651000"/>
            <a:ext cx="1651000" cy="254000"/>
          </a:xfrm>
          <a:prstGeom prst="rect">
            <a:avLst/>
          </a:prstGeom>
          <a:noFill/>
        </p:spPr>
        <p:txBody>
          <a:bodyPr vertOverflow="overflow" vert="horz" wrap="square" rtlCol="0" anchor="t">
            <a:noAutofit/>
          </a:bodyPr>
          <a:lstStyle/>
          <a:p>
            <a:pPr algn="l"/>
            <a:r>
              <a:rPr lang="en-US" sz="1500" b="1">
                <a:solidFill>
                  <a:srgbClr val="8A929C"/>
                </a:solidFill>
                <a:latin typeface="Segoe UI"/>
                <a:cs typeface="Segoe UI"/>
              </a:rPr>
              <a:t>Day 2</a:t>
            </a:r>
          </a:p>
        </p:txBody>
      </p:sp>
      <p:sp>
        <p:nvSpPr>
          <p:cNvPr id="10" name="TextBox 9">
            <a:extLst>
              <a:ext uri="{FF2B5EF4-FFF2-40B4-BE49-F238E27FC236}">
                <a16:creationId xmlns:a16="http://schemas.microsoft.com/office/drawing/2014/main" id="{98562F7A-675B-4D64-AF1B-A0837E5AA964}"/>
              </a:ext>
            </a:extLst>
          </p:cNvPr>
          <p:cNvSpPr txBox="1"/>
          <p:nvPr/>
        </p:nvSpPr>
        <p:spPr>
          <a:xfrm>
            <a:off x="3098800" y="1930400"/>
            <a:ext cx="1676400" cy="330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Data sources &amp; panels</a:t>
            </a:r>
          </a:p>
        </p:txBody>
      </p:sp>
      <p:sp>
        <p:nvSpPr>
          <p:cNvPr id="11" name="Rectangle: Rounded Corners 10">
            <a:extLst>
              <a:ext uri="{FF2B5EF4-FFF2-40B4-BE49-F238E27FC236}">
                <a16:creationId xmlns:a16="http://schemas.microsoft.com/office/drawing/2014/main" id="{32412BDA-9C3E-48B1-9B2B-F7B531D0D79F}"/>
              </a:ext>
            </a:extLst>
          </p:cNvPr>
          <p:cNvSpPr/>
          <p:nvPr/>
        </p:nvSpPr>
        <p:spPr>
          <a:xfrm>
            <a:off x="5080000" y="1524000"/>
            <a:ext cx="2006600" cy="7874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4DAFF26E-BE67-47E6-BC7C-6A609178F692}"/>
              </a:ext>
            </a:extLst>
          </p:cNvPr>
          <p:cNvSpPr txBox="1"/>
          <p:nvPr/>
        </p:nvSpPr>
        <p:spPr>
          <a:xfrm>
            <a:off x="5257800" y="1651000"/>
            <a:ext cx="1651000" cy="254000"/>
          </a:xfrm>
          <a:prstGeom prst="rect">
            <a:avLst/>
          </a:prstGeom>
          <a:noFill/>
        </p:spPr>
        <p:txBody>
          <a:bodyPr vertOverflow="overflow" vert="horz" wrap="square" rtlCol="0" anchor="t">
            <a:noAutofit/>
          </a:bodyPr>
          <a:lstStyle/>
          <a:p>
            <a:pPr algn="l"/>
            <a:r>
              <a:rPr lang="en-US" sz="1500" b="1">
                <a:solidFill>
                  <a:srgbClr val="8A929C"/>
                </a:solidFill>
                <a:latin typeface="Segoe UI"/>
                <a:cs typeface="Segoe UI"/>
              </a:rPr>
              <a:t>Day 3</a:t>
            </a:r>
          </a:p>
        </p:txBody>
      </p:sp>
      <p:sp>
        <p:nvSpPr>
          <p:cNvPr id="13" name="TextBox 12">
            <a:extLst>
              <a:ext uri="{FF2B5EF4-FFF2-40B4-BE49-F238E27FC236}">
                <a16:creationId xmlns:a16="http://schemas.microsoft.com/office/drawing/2014/main" id="{30C2C3D5-3254-423D-8B78-6A6C2292949D}"/>
              </a:ext>
            </a:extLst>
          </p:cNvPr>
          <p:cNvSpPr txBox="1"/>
          <p:nvPr/>
        </p:nvSpPr>
        <p:spPr>
          <a:xfrm>
            <a:off x="5257800" y="1930400"/>
            <a:ext cx="1676400" cy="330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Querying, transforms, alerting</a:t>
            </a:r>
          </a:p>
        </p:txBody>
      </p:sp>
      <p:sp>
        <p:nvSpPr>
          <p:cNvPr id="14" name="Rectangle: Rounded Corners 13">
            <a:extLst>
              <a:ext uri="{FF2B5EF4-FFF2-40B4-BE49-F238E27FC236}">
                <a16:creationId xmlns:a16="http://schemas.microsoft.com/office/drawing/2014/main" id="{F7944E90-D7B4-42A7-ACEA-EC8F5E1C2189}"/>
              </a:ext>
            </a:extLst>
          </p:cNvPr>
          <p:cNvSpPr/>
          <p:nvPr/>
        </p:nvSpPr>
        <p:spPr>
          <a:xfrm>
            <a:off x="7239000" y="1524000"/>
            <a:ext cx="2006600" cy="7874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E2E291D4-7679-48CC-8BC2-960C5965DB7A}"/>
              </a:ext>
            </a:extLst>
          </p:cNvPr>
          <p:cNvSpPr txBox="1"/>
          <p:nvPr/>
        </p:nvSpPr>
        <p:spPr>
          <a:xfrm>
            <a:off x="7416800" y="1651000"/>
            <a:ext cx="1651000" cy="254000"/>
          </a:xfrm>
          <a:prstGeom prst="rect">
            <a:avLst/>
          </a:prstGeom>
          <a:noFill/>
        </p:spPr>
        <p:txBody>
          <a:bodyPr vertOverflow="overflow" vert="horz" wrap="square" rtlCol="0" anchor="t">
            <a:noAutofit/>
          </a:bodyPr>
          <a:lstStyle/>
          <a:p>
            <a:pPr algn="l"/>
            <a:r>
              <a:rPr lang="en-US" sz="1500" b="1">
                <a:solidFill>
                  <a:srgbClr val="8A929C"/>
                </a:solidFill>
                <a:latin typeface="Segoe UI"/>
                <a:cs typeface="Segoe UI"/>
              </a:rPr>
              <a:t>Day 4</a:t>
            </a:r>
          </a:p>
        </p:txBody>
      </p:sp>
      <p:sp>
        <p:nvSpPr>
          <p:cNvPr id="16" name="TextBox 15">
            <a:extLst>
              <a:ext uri="{FF2B5EF4-FFF2-40B4-BE49-F238E27FC236}">
                <a16:creationId xmlns:a16="http://schemas.microsoft.com/office/drawing/2014/main" id="{6A0B1659-8500-47FC-8CA2-5CFA44AA4C29}"/>
              </a:ext>
            </a:extLst>
          </p:cNvPr>
          <p:cNvSpPr txBox="1"/>
          <p:nvPr/>
        </p:nvSpPr>
        <p:spPr>
          <a:xfrm>
            <a:off x="7416800" y="1930400"/>
            <a:ext cx="1676400" cy="330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Variables, permissions, tuning</a:t>
            </a:r>
          </a:p>
        </p:txBody>
      </p:sp>
      <p:sp>
        <p:nvSpPr>
          <p:cNvPr id="17" name="Rectangle: Rounded Corners 16">
            <a:extLst>
              <a:ext uri="{FF2B5EF4-FFF2-40B4-BE49-F238E27FC236}">
                <a16:creationId xmlns:a16="http://schemas.microsoft.com/office/drawing/2014/main" id="{F9F27A70-B6A0-4CE7-AD90-4C066FF8B08A}"/>
              </a:ext>
            </a:extLst>
          </p:cNvPr>
          <p:cNvSpPr/>
          <p:nvPr/>
        </p:nvSpPr>
        <p:spPr>
          <a:xfrm>
            <a:off x="9398000" y="1524000"/>
            <a:ext cx="2006600" cy="787400"/>
          </a:xfrm>
          <a:prstGeom prst="roundRect">
            <a:avLst/>
          </a:prstGeom>
          <a:solidFill>
            <a:srgbClr val="2A1C0B"/>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1C9DBC05-059F-4CA5-885E-6CD5BFC28C89}"/>
              </a:ext>
            </a:extLst>
          </p:cNvPr>
          <p:cNvSpPr txBox="1"/>
          <p:nvPr/>
        </p:nvSpPr>
        <p:spPr>
          <a:xfrm>
            <a:off x="9575800" y="1651000"/>
            <a:ext cx="1651000" cy="254000"/>
          </a:xfrm>
          <a:prstGeom prst="rect">
            <a:avLst/>
          </a:prstGeom>
          <a:noFill/>
        </p:spPr>
        <p:txBody>
          <a:bodyPr vertOverflow="overflow" vert="horz" wrap="square" rtlCol="0" anchor="t">
            <a:noAutofit/>
          </a:bodyPr>
          <a:lstStyle/>
          <a:p>
            <a:pPr algn="l"/>
            <a:r>
              <a:rPr lang="en-US" sz="1500" b="1">
                <a:solidFill>
                  <a:srgbClr val="FF8800"/>
                </a:solidFill>
                <a:latin typeface="Segoe UI"/>
                <a:cs typeface="Segoe UI"/>
              </a:rPr>
              <a:t>Day 5</a:t>
            </a:r>
          </a:p>
        </p:txBody>
      </p:sp>
      <p:sp>
        <p:nvSpPr>
          <p:cNvPr id="19" name="TextBox 18">
            <a:extLst>
              <a:ext uri="{FF2B5EF4-FFF2-40B4-BE49-F238E27FC236}">
                <a16:creationId xmlns:a16="http://schemas.microsoft.com/office/drawing/2014/main" id="{8271B1FA-BB46-49CE-A433-54B4298F8116}"/>
              </a:ext>
            </a:extLst>
          </p:cNvPr>
          <p:cNvSpPr txBox="1"/>
          <p:nvPr/>
        </p:nvSpPr>
        <p:spPr>
          <a:xfrm>
            <a:off x="9575800" y="1930400"/>
            <a:ext cx="1676400" cy="330200"/>
          </a:xfrm>
          <a:prstGeom prst="rect">
            <a:avLst/>
          </a:prstGeom>
          <a:noFill/>
        </p:spPr>
        <p:txBody>
          <a:bodyPr vertOverflow="overflow" vert="horz" wrap="square" rtlCol="0" anchor="t">
            <a:noAutofit/>
          </a:bodyPr>
          <a:lstStyle/>
          <a:p>
            <a:pPr algn="l"/>
            <a:r>
              <a:rPr lang="en-US" sz="1400">
                <a:solidFill>
                  <a:srgbClr val="FFD9A0"/>
                </a:solidFill>
                <a:latin typeface="Segoe UI"/>
                <a:cs typeface="Segoe UI"/>
              </a:rPr>
              <a:t>Automate all of it</a:t>
            </a:r>
          </a:p>
        </p:txBody>
      </p:sp>
      <p:sp>
        <p:nvSpPr>
          <p:cNvPr id="20" name="Rectangle: Rounded Corners 19">
            <a:extLst>
              <a:ext uri="{FF2B5EF4-FFF2-40B4-BE49-F238E27FC236}">
                <a16:creationId xmlns:a16="http://schemas.microsoft.com/office/drawing/2014/main" id="{0B595EB1-B25A-423A-9B69-710BE00390CB}"/>
              </a:ext>
            </a:extLst>
          </p:cNvPr>
          <p:cNvSpPr/>
          <p:nvPr/>
        </p:nvSpPr>
        <p:spPr>
          <a:xfrm>
            <a:off x="762000" y="2616200"/>
            <a:ext cx="4953000" cy="2489200"/>
          </a:xfrm>
          <a:prstGeom prst="roundRect">
            <a:avLst/>
          </a:prstGeom>
          <a:solidFill>
            <a:srgbClr val="1B1E24"/>
          </a:solidFill>
          <a:ln w="15875" cap="flat" cmpd="sng" algn="ctr">
            <a:solidFill>
              <a:srgbClr val="F249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62A4AA9E-774A-4730-AC83-F8FBA670CC02}"/>
              </a:ext>
            </a:extLst>
          </p:cNvPr>
          <p:cNvSpPr txBox="1"/>
          <p:nvPr/>
        </p:nvSpPr>
        <p:spPr>
          <a:xfrm>
            <a:off x="1016000" y="2819400"/>
            <a:ext cx="4445000" cy="279400"/>
          </a:xfrm>
          <a:prstGeom prst="rect">
            <a:avLst/>
          </a:prstGeom>
          <a:noFill/>
        </p:spPr>
        <p:txBody>
          <a:bodyPr vertOverflow="overflow" vert="horz" wrap="square" rtlCol="0" anchor="t">
            <a:noAutofit/>
          </a:bodyPr>
          <a:lstStyle/>
          <a:p>
            <a:pPr algn="l"/>
            <a:r>
              <a:rPr lang="en-US" sz="1700" b="1" dirty="0">
                <a:solidFill>
                  <a:srgbClr val="F2495C"/>
                </a:solidFill>
                <a:latin typeface="Segoe UI"/>
                <a:cs typeface="Segoe UI"/>
              </a:rPr>
              <a:t>Today's reality - the click path</a:t>
            </a:r>
          </a:p>
        </p:txBody>
      </p:sp>
      <p:sp>
        <p:nvSpPr>
          <p:cNvPr id="22" name="TextBox 21">
            <a:extLst>
              <a:ext uri="{FF2B5EF4-FFF2-40B4-BE49-F238E27FC236}">
                <a16:creationId xmlns:a16="http://schemas.microsoft.com/office/drawing/2014/main" id="{1E03360A-6A5C-4792-A6A3-7934E2B0607A}"/>
              </a:ext>
            </a:extLst>
          </p:cNvPr>
          <p:cNvSpPr txBox="1"/>
          <p:nvPr/>
        </p:nvSpPr>
        <p:spPr>
          <a:xfrm>
            <a:off x="1016000" y="3200400"/>
            <a:ext cx="4445000" cy="1727200"/>
          </a:xfrm>
          <a:prstGeom prst="rect">
            <a:avLst/>
          </a:prstGeom>
          <a:noFill/>
        </p:spPr>
        <p:txBody>
          <a:bodyPr vertOverflow="overflow" vert="horz" wrap="square" rtlCol="0" anchor="t">
            <a:noAutofit/>
          </a:bodyPr>
          <a:lstStyle/>
          <a:p>
            <a:pPr algn="l"/>
            <a:r>
              <a:rPr lang="en-US" sz="1500">
                <a:solidFill>
                  <a:srgbClr val="B4BCC6"/>
                </a:solidFill>
                <a:latin typeface="Segoe UI"/>
                <a:cs typeface="Segoe UI"/>
              </a:rPr>
              <a:t>•  Dashboards live only in the Grafana database
•  "Who changed this panel?" has no answer
•  Staging and production drift apart quietly
•  Rebuilding after a failure is a day of clicking
•  Onboarding a new team means repeating yourself</a:t>
            </a:r>
          </a:p>
        </p:txBody>
      </p:sp>
      <p:sp>
        <p:nvSpPr>
          <p:cNvPr id="23" name="Arrow: Right 22">
            <a:extLst>
              <a:ext uri="{FF2B5EF4-FFF2-40B4-BE49-F238E27FC236}">
                <a16:creationId xmlns:a16="http://schemas.microsoft.com/office/drawing/2014/main" id="{3A86E84C-77DB-41C5-A729-A7515AD16030}"/>
              </a:ext>
            </a:extLst>
          </p:cNvPr>
          <p:cNvSpPr/>
          <p:nvPr/>
        </p:nvSpPr>
        <p:spPr>
          <a:xfrm>
            <a:off x="5867400" y="3556000"/>
            <a:ext cx="711200" cy="558800"/>
          </a:xfrm>
          <a:prstGeom prst="rightArrow">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Rounded Corners 23">
            <a:extLst>
              <a:ext uri="{FF2B5EF4-FFF2-40B4-BE49-F238E27FC236}">
                <a16:creationId xmlns:a16="http://schemas.microsoft.com/office/drawing/2014/main" id="{C274D156-283E-4692-B156-0210B51E03FE}"/>
              </a:ext>
            </a:extLst>
          </p:cNvPr>
          <p:cNvSpPr/>
          <p:nvPr/>
        </p:nvSpPr>
        <p:spPr>
          <a:xfrm>
            <a:off x="6731000" y="2616200"/>
            <a:ext cx="4699000" cy="24892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C63F9A96-7DF7-4426-945F-4FEF3CCE3E23}"/>
              </a:ext>
            </a:extLst>
          </p:cNvPr>
          <p:cNvSpPr txBox="1"/>
          <p:nvPr/>
        </p:nvSpPr>
        <p:spPr>
          <a:xfrm>
            <a:off x="6985000" y="2819400"/>
            <a:ext cx="4191000" cy="279400"/>
          </a:xfrm>
          <a:prstGeom prst="rect">
            <a:avLst/>
          </a:prstGeom>
          <a:noFill/>
        </p:spPr>
        <p:txBody>
          <a:bodyPr vertOverflow="overflow" vert="horz" wrap="square" rtlCol="0" anchor="t">
            <a:noAutofit/>
          </a:bodyPr>
          <a:lstStyle/>
          <a:p>
            <a:pPr algn="l"/>
            <a:r>
              <a:rPr lang="en-US" sz="1700" b="1" dirty="0">
                <a:solidFill>
                  <a:srgbClr val="73BF69"/>
                </a:solidFill>
                <a:latin typeface="Segoe UI"/>
                <a:cs typeface="Segoe UI"/>
              </a:rPr>
              <a:t>After today - the code path</a:t>
            </a:r>
          </a:p>
        </p:txBody>
      </p:sp>
      <p:sp>
        <p:nvSpPr>
          <p:cNvPr id="26" name="TextBox 25">
            <a:extLst>
              <a:ext uri="{FF2B5EF4-FFF2-40B4-BE49-F238E27FC236}">
                <a16:creationId xmlns:a16="http://schemas.microsoft.com/office/drawing/2014/main" id="{7FD05BF7-4DAB-4FDC-BCFE-196499D86C56}"/>
              </a:ext>
            </a:extLst>
          </p:cNvPr>
          <p:cNvSpPr txBox="1"/>
          <p:nvPr/>
        </p:nvSpPr>
        <p:spPr>
          <a:xfrm>
            <a:off x="6985000" y="3200400"/>
            <a:ext cx="4191000" cy="1727200"/>
          </a:xfrm>
          <a:prstGeom prst="rect">
            <a:avLst/>
          </a:prstGeom>
          <a:noFill/>
        </p:spPr>
        <p:txBody>
          <a:bodyPr vertOverflow="overflow" vert="horz" wrap="square" rtlCol="0" anchor="t">
            <a:noAutofit/>
          </a:bodyPr>
          <a:lstStyle/>
          <a:p>
            <a:pPr algn="l"/>
            <a:r>
              <a:rPr lang="en-US" sz="1500">
                <a:solidFill>
                  <a:srgbClr val="B4BCC6"/>
                </a:solidFill>
                <a:latin typeface="Segoe UI"/>
                <a:cs typeface="Segoe UI"/>
              </a:rPr>
              <a:t>•  Dashboards are JSON files reviewed in pull requests
•  Git history is your audit log
•  One pipeline promotes dev → stage → prod
•  Disaster recovery is terraform apply
•  A new team gets a folder in minutes</a:t>
            </a:r>
          </a:p>
        </p:txBody>
      </p:sp>
      <p:sp>
        <p:nvSpPr>
          <p:cNvPr id="27" name="Rectangle: Rounded Corners 26">
            <a:extLst>
              <a:ext uri="{FF2B5EF4-FFF2-40B4-BE49-F238E27FC236}">
                <a16:creationId xmlns:a16="http://schemas.microsoft.com/office/drawing/2014/main" id="{BF682433-6387-4866-8519-4C70855689E0}"/>
              </a:ext>
            </a:extLst>
          </p:cNvPr>
          <p:cNvSpPr/>
          <p:nvPr/>
        </p:nvSpPr>
        <p:spPr>
          <a:xfrm>
            <a:off x="762000" y="5308600"/>
            <a:ext cx="10668000" cy="939800"/>
          </a:xfrm>
          <a:prstGeom prst="roundRect">
            <a:avLst/>
          </a:prstGeom>
          <a:solidFill>
            <a:srgbClr val="181B1F"/>
          </a:solidFill>
          <a:ln w="12700"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17412BF1-9C65-44B1-907C-6C150AC96A39}"/>
              </a:ext>
            </a:extLst>
          </p:cNvPr>
          <p:cNvSpPr txBox="1"/>
          <p:nvPr/>
        </p:nvSpPr>
        <p:spPr>
          <a:xfrm>
            <a:off x="1016000" y="5486400"/>
            <a:ext cx="5080000" cy="279400"/>
          </a:xfrm>
          <a:prstGeom prst="rect">
            <a:avLst/>
          </a:prstGeom>
          <a:noFill/>
        </p:spPr>
        <p:txBody>
          <a:bodyPr vertOverflow="overflow" vert="horz" wrap="square" rtlCol="0" anchor="t">
            <a:noAutofit/>
          </a:bodyPr>
          <a:lstStyle/>
          <a:p>
            <a:pPr algn="l"/>
            <a:r>
              <a:rPr lang="en-US" sz="1600" b="1">
                <a:solidFill>
                  <a:srgbClr val="FF8800"/>
                </a:solidFill>
                <a:latin typeface="Segoe UI"/>
                <a:cs typeface="Segoe UI"/>
              </a:rPr>
              <a:t>The rule for the rest of the course</a:t>
            </a:r>
          </a:p>
        </p:txBody>
      </p:sp>
      <p:sp>
        <p:nvSpPr>
          <p:cNvPr id="29" name="TextBox 28">
            <a:extLst>
              <a:ext uri="{FF2B5EF4-FFF2-40B4-BE49-F238E27FC236}">
                <a16:creationId xmlns:a16="http://schemas.microsoft.com/office/drawing/2014/main" id="{E3D99E6A-9189-4015-B182-EC6328CEA9BA}"/>
              </a:ext>
            </a:extLst>
          </p:cNvPr>
          <p:cNvSpPr txBox="1"/>
          <p:nvPr/>
        </p:nvSpPr>
        <p:spPr>
          <a:xfrm>
            <a:off x="1016000" y="5791200"/>
            <a:ext cx="10160000" cy="533400"/>
          </a:xfrm>
          <a:prstGeom prst="rect">
            <a:avLst/>
          </a:prstGeom>
          <a:noFill/>
        </p:spPr>
        <p:txBody>
          <a:bodyPr vertOverflow="overflow" vert="horz" wrap="square" rtlCol="0" anchor="t">
            <a:noAutofit/>
          </a:bodyPr>
          <a:lstStyle/>
          <a:p>
            <a:pPr algn="l"/>
            <a:r>
              <a:rPr lang="en-US" sz="1500" dirty="0">
                <a:solidFill>
                  <a:srgbClr val="D2D6DB"/>
                </a:solidFill>
                <a:latin typeface="Segoe UI"/>
                <a:cs typeface="Segoe UI"/>
              </a:rPr>
              <a:t>If you did it twice by hand, it belongs in a file. Every API call you learn today has a provisioning or Terraform equivalent - reach for the declarative one in production and the API for one-off operations.</a:t>
            </a:r>
          </a:p>
        </p:txBody>
      </p:sp>
    </p:spTree>
    <p:extLst>
      <p:ext uri="{BB962C8B-B14F-4D97-AF65-F5344CB8AC3E}">
        <p14:creationId xmlns:p14="http://schemas.microsoft.com/office/powerpoint/2010/main" val="3034461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E6D148-5926-460F-B589-D2A74BE6A316}"/>
              </a:ext>
            </a:extLst>
          </p:cNvPr>
          <p:cNvSpPr/>
          <p:nvPr/>
        </p:nvSpPr>
        <p:spPr>
          <a:xfrm>
            <a:off x="0" y="0"/>
            <a:ext cx="101600" cy="68580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B4802122-8897-4188-A9DF-2E113CE9D687}"/>
              </a:ext>
            </a:extLst>
          </p:cNvPr>
          <p:cNvSpPr/>
          <p:nvPr/>
        </p:nvSpPr>
        <p:spPr>
          <a:xfrm>
            <a:off x="762000" y="1524000"/>
            <a:ext cx="2794000" cy="1905000"/>
          </a:xfrm>
          <a:prstGeom prst="rect">
            <a:avLst/>
          </a:prstGeom>
          <a:solidFill>
            <a:srgbClr val="11121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0" b="1">
                <a:solidFill>
                  <a:srgbClr val="1C212A"/>
                </a:solidFill>
                <a:latin typeface="Segoe UI"/>
                <a:cs typeface="Segoe UI"/>
              </a:rPr>
              <a:t>17</a:t>
            </a:r>
          </a:p>
        </p:txBody>
      </p:sp>
      <p:sp>
        <p:nvSpPr>
          <p:cNvPr id="4" name="TextBox 3">
            <a:extLst>
              <a:ext uri="{FF2B5EF4-FFF2-40B4-BE49-F238E27FC236}">
                <a16:creationId xmlns:a16="http://schemas.microsoft.com/office/drawing/2014/main" id="{DDB4D9C5-82BC-4187-B439-F67CD8A3D983}"/>
              </a:ext>
            </a:extLst>
          </p:cNvPr>
          <p:cNvSpPr txBox="1"/>
          <p:nvPr/>
        </p:nvSpPr>
        <p:spPr>
          <a:xfrm>
            <a:off x="762000" y="1219200"/>
            <a:ext cx="5080000" cy="279400"/>
          </a:xfrm>
          <a:prstGeom prst="rect">
            <a:avLst/>
          </a:prstGeom>
          <a:noFill/>
        </p:spPr>
        <p:txBody>
          <a:bodyPr vertOverflow="overflow" vert="horz" wrap="square" rtlCol="0" anchor="t">
            <a:noAutofit/>
          </a:bodyPr>
          <a:lstStyle/>
          <a:p>
            <a:pPr algn="l"/>
            <a:r>
              <a:rPr lang="en-US" sz="1500" b="1">
                <a:solidFill>
                  <a:srgbClr val="FF8800"/>
                </a:solidFill>
                <a:latin typeface="Segoe UI"/>
                <a:cs typeface="Segoe UI"/>
              </a:rPr>
              <a:t>MODULE 17  ·  55 MINUTES</a:t>
            </a:r>
          </a:p>
        </p:txBody>
      </p:sp>
      <p:sp>
        <p:nvSpPr>
          <p:cNvPr id="5" name="TextBox 4">
            <a:extLst>
              <a:ext uri="{FF2B5EF4-FFF2-40B4-BE49-F238E27FC236}">
                <a16:creationId xmlns:a16="http://schemas.microsoft.com/office/drawing/2014/main" id="{C61BB737-AB08-470D-B721-796EEF1F5587}"/>
              </a:ext>
            </a:extLst>
          </p:cNvPr>
          <p:cNvSpPr txBox="1"/>
          <p:nvPr/>
        </p:nvSpPr>
        <p:spPr>
          <a:xfrm>
            <a:off x="762000" y="1905000"/>
            <a:ext cx="6604000" cy="736600"/>
          </a:xfrm>
          <a:prstGeom prst="rect">
            <a:avLst/>
          </a:prstGeom>
          <a:noFill/>
        </p:spPr>
        <p:txBody>
          <a:bodyPr vertOverflow="overflow" vert="horz" wrap="square" rtlCol="0" anchor="t">
            <a:noAutofit/>
          </a:bodyPr>
          <a:lstStyle/>
          <a:p>
            <a:pPr algn="l"/>
            <a:r>
              <a:rPr lang="en-US" sz="4000" b="1">
                <a:solidFill>
                  <a:srgbClr val="FFFFFF"/>
                </a:solidFill>
                <a:latin typeface="Segoe UI"/>
                <a:cs typeface="Segoe UI"/>
              </a:rPr>
              <a:t>Grafana HTTP API</a:t>
            </a:r>
          </a:p>
        </p:txBody>
      </p:sp>
      <p:sp>
        <p:nvSpPr>
          <p:cNvPr id="6" name="Rectangle 5">
            <a:extLst>
              <a:ext uri="{FF2B5EF4-FFF2-40B4-BE49-F238E27FC236}">
                <a16:creationId xmlns:a16="http://schemas.microsoft.com/office/drawing/2014/main" id="{4164572B-31BF-4C7E-BCD6-C4E2C5DD7779}"/>
              </a:ext>
            </a:extLst>
          </p:cNvPr>
          <p:cNvSpPr/>
          <p:nvPr/>
        </p:nvSpPr>
        <p:spPr>
          <a:xfrm>
            <a:off x="762000" y="2743200"/>
            <a:ext cx="1143000" cy="508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089B56A8-FA6B-4210-B475-8016E351BB89}"/>
              </a:ext>
            </a:extLst>
          </p:cNvPr>
          <p:cNvSpPr txBox="1"/>
          <p:nvPr/>
        </p:nvSpPr>
        <p:spPr>
          <a:xfrm>
            <a:off x="762000" y="2997200"/>
            <a:ext cx="6604000" cy="736600"/>
          </a:xfrm>
          <a:prstGeom prst="rect">
            <a:avLst/>
          </a:prstGeom>
          <a:noFill/>
        </p:spPr>
        <p:txBody>
          <a:bodyPr vertOverflow="overflow" vert="horz" wrap="square" rtlCol="0" anchor="t">
            <a:noAutofit/>
          </a:bodyPr>
          <a:lstStyle/>
          <a:p>
            <a:pPr algn="l"/>
            <a:r>
              <a:rPr lang="en-US" sz="1700">
                <a:solidFill>
                  <a:srgbClr val="B4BCC6"/>
                </a:solidFill>
                <a:latin typeface="Segoe UI"/>
                <a:cs typeface="Segoe UI"/>
              </a:rPr>
              <a:t>Everything the Grafana UI does, it does by calling its own REST API. Once you can call it, you can script it.</a:t>
            </a:r>
          </a:p>
        </p:txBody>
      </p:sp>
      <p:sp>
        <p:nvSpPr>
          <p:cNvPr id="8" name="Rectangle: Rounded Corners 7">
            <a:extLst>
              <a:ext uri="{FF2B5EF4-FFF2-40B4-BE49-F238E27FC236}">
                <a16:creationId xmlns:a16="http://schemas.microsoft.com/office/drawing/2014/main" id="{AF719972-3322-4BD5-99A1-9E7EE0E1CA29}"/>
              </a:ext>
            </a:extLst>
          </p:cNvPr>
          <p:cNvSpPr/>
          <p:nvPr/>
        </p:nvSpPr>
        <p:spPr>
          <a:xfrm>
            <a:off x="7112000" y="1270000"/>
            <a:ext cx="4318000" cy="812800"/>
          </a:xfrm>
          <a:prstGeom prst="roundRect">
            <a:avLst/>
          </a:prstGeom>
          <a:solidFill>
            <a:srgbClr val="1B1E24"/>
          </a:solidFill>
          <a:ln w="12700"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9232CF7C-7448-4E58-92A9-7E12E93E3891}"/>
              </a:ext>
            </a:extLst>
          </p:cNvPr>
          <p:cNvSpPr/>
          <p:nvPr/>
        </p:nvSpPr>
        <p:spPr>
          <a:xfrm>
            <a:off x="7340600" y="1587500"/>
            <a:ext cx="152400" cy="152400"/>
          </a:xfrm>
          <a:prstGeom prst="ellipse">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144F613D-850F-40A6-A5ED-B6BC9619D172}"/>
              </a:ext>
            </a:extLst>
          </p:cNvPr>
          <p:cNvSpPr txBox="1"/>
          <p:nvPr/>
        </p:nvSpPr>
        <p:spPr>
          <a:xfrm>
            <a:off x="7645400" y="1422400"/>
            <a:ext cx="3556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Authentication</a:t>
            </a:r>
          </a:p>
        </p:txBody>
      </p:sp>
      <p:sp>
        <p:nvSpPr>
          <p:cNvPr id="11" name="TextBox 10">
            <a:extLst>
              <a:ext uri="{FF2B5EF4-FFF2-40B4-BE49-F238E27FC236}">
                <a16:creationId xmlns:a16="http://schemas.microsoft.com/office/drawing/2014/main" id="{3293F9CA-E4C1-47AC-949F-5CA835EA3B0D}"/>
              </a:ext>
            </a:extLst>
          </p:cNvPr>
          <p:cNvSpPr txBox="1"/>
          <p:nvPr/>
        </p:nvSpPr>
        <p:spPr>
          <a:xfrm>
            <a:off x="7645400" y="17018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Service accounts, tokens, basic auth</a:t>
            </a:r>
          </a:p>
        </p:txBody>
      </p:sp>
      <p:sp>
        <p:nvSpPr>
          <p:cNvPr id="12" name="Rectangle: Rounded Corners 11">
            <a:extLst>
              <a:ext uri="{FF2B5EF4-FFF2-40B4-BE49-F238E27FC236}">
                <a16:creationId xmlns:a16="http://schemas.microsoft.com/office/drawing/2014/main" id="{C54821B4-8EF2-429B-9ECB-1D3D16469831}"/>
              </a:ext>
            </a:extLst>
          </p:cNvPr>
          <p:cNvSpPr/>
          <p:nvPr/>
        </p:nvSpPr>
        <p:spPr>
          <a:xfrm>
            <a:off x="7112000" y="2133600"/>
            <a:ext cx="4318000" cy="812800"/>
          </a:xfrm>
          <a:prstGeom prst="roundRect">
            <a:avLst/>
          </a:prstGeom>
          <a:solidFill>
            <a:srgbClr val="1B1E24"/>
          </a:solidFill>
          <a:ln w="12700"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AEA407E7-31F1-4812-A45A-5E54E5CBF290}"/>
              </a:ext>
            </a:extLst>
          </p:cNvPr>
          <p:cNvSpPr/>
          <p:nvPr/>
        </p:nvSpPr>
        <p:spPr>
          <a:xfrm>
            <a:off x="7340600" y="2451100"/>
            <a:ext cx="152400" cy="152400"/>
          </a:xfrm>
          <a:prstGeom prst="ellipse">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F302DBB9-07FD-4900-9CF3-5F12654770AE}"/>
              </a:ext>
            </a:extLst>
          </p:cNvPr>
          <p:cNvSpPr txBox="1"/>
          <p:nvPr/>
        </p:nvSpPr>
        <p:spPr>
          <a:xfrm>
            <a:off x="7645400" y="2286000"/>
            <a:ext cx="3556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Dashboard API</a:t>
            </a:r>
          </a:p>
        </p:txBody>
      </p:sp>
      <p:sp>
        <p:nvSpPr>
          <p:cNvPr id="15" name="TextBox 14">
            <a:extLst>
              <a:ext uri="{FF2B5EF4-FFF2-40B4-BE49-F238E27FC236}">
                <a16:creationId xmlns:a16="http://schemas.microsoft.com/office/drawing/2014/main" id="{6F9D6907-D199-40BB-93A9-8A4F7F80478E}"/>
              </a:ext>
            </a:extLst>
          </p:cNvPr>
          <p:cNvSpPr txBox="1"/>
          <p:nvPr/>
        </p:nvSpPr>
        <p:spPr>
          <a:xfrm>
            <a:off x="7645400" y="25654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Create, read, update, delete, search</a:t>
            </a:r>
          </a:p>
        </p:txBody>
      </p:sp>
      <p:sp>
        <p:nvSpPr>
          <p:cNvPr id="16" name="Rectangle: Rounded Corners 15">
            <a:extLst>
              <a:ext uri="{FF2B5EF4-FFF2-40B4-BE49-F238E27FC236}">
                <a16:creationId xmlns:a16="http://schemas.microsoft.com/office/drawing/2014/main" id="{B2607ACD-B032-401C-8F47-D5AB885DA31B}"/>
              </a:ext>
            </a:extLst>
          </p:cNvPr>
          <p:cNvSpPr/>
          <p:nvPr/>
        </p:nvSpPr>
        <p:spPr>
          <a:xfrm>
            <a:off x="7112000" y="2997200"/>
            <a:ext cx="4318000" cy="812800"/>
          </a:xfrm>
          <a:prstGeom prst="roundRect">
            <a:avLst/>
          </a:prstGeom>
          <a:solidFill>
            <a:srgbClr val="1B1E24"/>
          </a:solidFill>
          <a:ln w="12700"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a:extLst>
              <a:ext uri="{FF2B5EF4-FFF2-40B4-BE49-F238E27FC236}">
                <a16:creationId xmlns:a16="http://schemas.microsoft.com/office/drawing/2014/main" id="{D028FAD1-5DA3-4F7E-AEAD-C226F1121CCE}"/>
              </a:ext>
            </a:extLst>
          </p:cNvPr>
          <p:cNvSpPr/>
          <p:nvPr/>
        </p:nvSpPr>
        <p:spPr>
          <a:xfrm>
            <a:off x="7340600" y="3314700"/>
            <a:ext cx="152400" cy="152400"/>
          </a:xfrm>
          <a:prstGeom prst="ellipse">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2EBB2BF7-E8D5-4660-A3E8-B6ACAD59EE07}"/>
              </a:ext>
            </a:extLst>
          </p:cNvPr>
          <p:cNvSpPr txBox="1"/>
          <p:nvPr/>
        </p:nvSpPr>
        <p:spPr>
          <a:xfrm>
            <a:off x="7645400" y="3149600"/>
            <a:ext cx="3556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Folder API</a:t>
            </a:r>
          </a:p>
        </p:txBody>
      </p:sp>
      <p:sp>
        <p:nvSpPr>
          <p:cNvPr id="19" name="TextBox 18">
            <a:extLst>
              <a:ext uri="{FF2B5EF4-FFF2-40B4-BE49-F238E27FC236}">
                <a16:creationId xmlns:a16="http://schemas.microsoft.com/office/drawing/2014/main" id="{9363E6F7-699C-4964-82BD-FBF7C989F7EF}"/>
              </a:ext>
            </a:extLst>
          </p:cNvPr>
          <p:cNvSpPr txBox="1"/>
          <p:nvPr/>
        </p:nvSpPr>
        <p:spPr>
          <a:xfrm>
            <a:off x="7645400" y="34290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Structure and permissions</a:t>
            </a:r>
          </a:p>
        </p:txBody>
      </p:sp>
      <p:sp>
        <p:nvSpPr>
          <p:cNvPr id="20" name="Rectangle: Rounded Corners 19">
            <a:extLst>
              <a:ext uri="{FF2B5EF4-FFF2-40B4-BE49-F238E27FC236}">
                <a16:creationId xmlns:a16="http://schemas.microsoft.com/office/drawing/2014/main" id="{1C1E151A-EE43-45A5-99E1-2178ABDC79F6}"/>
              </a:ext>
            </a:extLst>
          </p:cNvPr>
          <p:cNvSpPr/>
          <p:nvPr/>
        </p:nvSpPr>
        <p:spPr>
          <a:xfrm>
            <a:off x="7112000" y="3860800"/>
            <a:ext cx="4318000" cy="812800"/>
          </a:xfrm>
          <a:prstGeom prst="roundRect">
            <a:avLst/>
          </a:prstGeom>
          <a:solidFill>
            <a:srgbClr val="1B1E24"/>
          </a:solidFill>
          <a:ln w="12700"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Oval 20">
            <a:extLst>
              <a:ext uri="{FF2B5EF4-FFF2-40B4-BE49-F238E27FC236}">
                <a16:creationId xmlns:a16="http://schemas.microsoft.com/office/drawing/2014/main" id="{AC8AE4DC-4F4B-463E-B9F2-8E75560C57A8}"/>
              </a:ext>
            </a:extLst>
          </p:cNvPr>
          <p:cNvSpPr/>
          <p:nvPr/>
        </p:nvSpPr>
        <p:spPr>
          <a:xfrm>
            <a:off x="7340600" y="4178300"/>
            <a:ext cx="152400" cy="152400"/>
          </a:xfrm>
          <a:prstGeom prst="ellipse">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3D169C7B-3972-480E-BA41-100D69568E3D}"/>
              </a:ext>
            </a:extLst>
          </p:cNvPr>
          <p:cNvSpPr txBox="1"/>
          <p:nvPr/>
        </p:nvSpPr>
        <p:spPr>
          <a:xfrm>
            <a:off x="7645400" y="4013200"/>
            <a:ext cx="3556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User &amp; Org API</a:t>
            </a:r>
          </a:p>
        </p:txBody>
      </p:sp>
      <p:sp>
        <p:nvSpPr>
          <p:cNvPr id="23" name="TextBox 22">
            <a:extLst>
              <a:ext uri="{FF2B5EF4-FFF2-40B4-BE49-F238E27FC236}">
                <a16:creationId xmlns:a16="http://schemas.microsoft.com/office/drawing/2014/main" id="{0D734E00-14B2-47DC-9441-EE0AF0CDDA25}"/>
              </a:ext>
            </a:extLst>
          </p:cNvPr>
          <p:cNvSpPr txBox="1"/>
          <p:nvPr/>
        </p:nvSpPr>
        <p:spPr>
          <a:xfrm>
            <a:off x="7645400" y="42926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Users, teams, memberships</a:t>
            </a:r>
          </a:p>
        </p:txBody>
      </p:sp>
      <p:sp>
        <p:nvSpPr>
          <p:cNvPr id="24" name="Rectangle: Rounded Corners 23">
            <a:extLst>
              <a:ext uri="{FF2B5EF4-FFF2-40B4-BE49-F238E27FC236}">
                <a16:creationId xmlns:a16="http://schemas.microsoft.com/office/drawing/2014/main" id="{42EEA6B7-B53F-465F-8BDE-8CCE51D6C22A}"/>
              </a:ext>
            </a:extLst>
          </p:cNvPr>
          <p:cNvSpPr/>
          <p:nvPr/>
        </p:nvSpPr>
        <p:spPr>
          <a:xfrm>
            <a:off x="7112000" y="4724400"/>
            <a:ext cx="4318000" cy="812800"/>
          </a:xfrm>
          <a:prstGeom prst="roundRect">
            <a:avLst/>
          </a:prstGeom>
          <a:solidFill>
            <a:srgbClr val="1B1E24"/>
          </a:solidFill>
          <a:ln w="12700"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Oval 24">
            <a:extLst>
              <a:ext uri="{FF2B5EF4-FFF2-40B4-BE49-F238E27FC236}">
                <a16:creationId xmlns:a16="http://schemas.microsoft.com/office/drawing/2014/main" id="{9A94CE98-4B10-4076-806F-74F168660A7F}"/>
              </a:ext>
            </a:extLst>
          </p:cNvPr>
          <p:cNvSpPr/>
          <p:nvPr/>
        </p:nvSpPr>
        <p:spPr>
          <a:xfrm>
            <a:off x="7340600" y="5041900"/>
            <a:ext cx="152400" cy="152400"/>
          </a:xfrm>
          <a:prstGeom prst="ellipse">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2CB0E949-5F6B-4BC3-B1AA-2618148294EF}"/>
              </a:ext>
            </a:extLst>
          </p:cNvPr>
          <p:cNvSpPr txBox="1"/>
          <p:nvPr/>
        </p:nvSpPr>
        <p:spPr>
          <a:xfrm>
            <a:off x="7645400" y="4876800"/>
            <a:ext cx="3556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Data Source API</a:t>
            </a:r>
          </a:p>
        </p:txBody>
      </p:sp>
      <p:sp>
        <p:nvSpPr>
          <p:cNvPr id="27" name="TextBox 26">
            <a:extLst>
              <a:ext uri="{FF2B5EF4-FFF2-40B4-BE49-F238E27FC236}">
                <a16:creationId xmlns:a16="http://schemas.microsoft.com/office/drawing/2014/main" id="{E1ABF9BF-2AD8-4FC5-BA97-9DD1A7F7AD7E}"/>
              </a:ext>
            </a:extLst>
          </p:cNvPr>
          <p:cNvSpPr txBox="1"/>
          <p:nvPr/>
        </p:nvSpPr>
        <p:spPr>
          <a:xfrm>
            <a:off x="7645400" y="51562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Register and update connections</a:t>
            </a:r>
          </a:p>
        </p:txBody>
      </p:sp>
      <p:sp>
        <p:nvSpPr>
          <p:cNvPr id="28" name="Rectangle: Rounded Corners 27">
            <a:extLst>
              <a:ext uri="{FF2B5EF4-FFF2-40B4-BE49-F238E27FC236}">
                <a16:creationId xmlns:a16="http://schemas.microsoft.com/office/drawing/2014/main" id="{61CC13A9-B1F0-448A-8EA9-68A1DE01E7FD}"/>
              </a:ext>
            </a:extLst>
          </p:cNvPr>
          <p:cNvSpPr/>
          <p:nvPr/>
        </p:nvSpPr>
        <p:spPr>
          <a:xfrm>
            <a:off x="762000" y="5029200"/>
            <a:ext cx="5588000" cy="1219200"/>
          </a:xfrm>
          <a:prstGeom prst="roundRect">
            <a:avLst/>
          </a:prstGeom>
          <a:solidFill>
            <a:srgbClr val="2A1C0B"/>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a:extLst>
              <a:ext uri="{FF2B5EF4-FFF2-40B4-BE49-F238E27FC236}">
                <a16:creationId xmlns:a16="http://schemas.microsoft.com/office/drawing/2014/main" id="{F88EF289-1230-41A2-9582-DE1763554498}"/>
              </a:ext>
            </a:extLst>
          </p:cNvPr>
          <p:cNvSpPr txBox="1"/>
          <p:nvPr/>
        </p:nvSpPr>
        <p:spPr>
          <a:xfrm>
            <a:off x="1016000" y="5207000"/>
            <a:ext cx="2540000" cy="254000"/>
          </a:xfrm>
          <a:prstGeom prst="rect">
            <a:avLst/>
          </a:prstGeom>
          <a:noFill/>
        </p:spPr>
        <p:txBody>
          <a:bodyPr vertOverflow="overflow" vert="horz" wrap="square" rtlCol="0" anchor="t">
            <a:noAutofit/>
          </a:bodyPr>
          <a:lstStyle/>
          <a:p>
            <a:pPr algn="l"/>
            <a:r>
              <a:rPr lang="en-US" sz="1500" b="1">
                <a:solidFill>
                  <a:srgbClr val="FF8800"/>
                </a:solidFill>
                <a:latin typeface="Segoe UI"/>
                <a:cs typeface="Segoe UI"/>
              </a:rPr>
              <a:t>LAB 1  ·  20 min</a:t>
            </a:r>
          </a:p>
        </p:txBody>
      </p:sp>
      <p:sp>
        <p:nvSpPr>
          <p:cNvPr id="30" name="TextBox 29">
            <a:extLst>
              <a:ext uri="{FF2B5EF4-FFF2-40B4-BE49-F238E27FC236}">
                <a16:creationId xmlns:a16="http://schemas.microsoft.com/office/drawing/2014/main" id="{F830AB55-5376-4AFD-9AF4-C0D1077CA15A}"/>
              </a:ext>
            </a:extLst>
          </p:cNvPr>
          <p:cNvSpPr txBox="1"/>
          <p:nvPr/>
        </p:nvSpPr>
        <p:spPr>
          <a:xfrm>
            <a:off x="1016000" y="5511800"/>
            <a:ext cx="5080000" cy="660400"/>
          </a:xfrm>
          <a:prstGeom prst="rect">
            <a:avLst/>
          </a:prstGeom>
          <a:noFill/>
        </p:spPr>
        <p:txBody>
          <a:bodyPr vertOverflow="overflow" vert="horz" wrap="square" rtlCol="0" anchor="t">
            <a:noAutofit/>
          </a:bodyPr>
          <a:lstStyle/>
          <a:p>
            <a:pPr algn="l"/>
            <a:r>
              <a:rPr lang="en-US" sz="1500" dirty="0">
                <a:solidFill>
                  <a:srgbClr val="E8D2B4"/>
                </a:solidFill>
                <a:latin typeface="Segoe UI"/>
                <a:cs typeface="Segoe UI"/>
              </a:rPr>
              <a:t>Drive Grafana entirely from curl - mint a service account token, then create a folder, a data source and a dashboard without touching the UI.</a:t>
            </a:r>
          </a:p>
        </p:txBody>
      </p:sp>
    </p:spTree>
    <p:extLst>
      <p:ext uri="{BB962C8B-B14F-4D97-AF65-F5344CB8AC3E}">
        <p14:creationId xmlns:p14="http://schemas.microsoft.com/office/powerpoint/2010/main" val="1321640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C4CBA-AF4A-79E1-5F85-E82290F26EA0}"/>
              </a:ext>
            </a:extLst>
          </p:cNvPr>
          <p:cNvSpPr>
            <a:spLocks noGrp="1"/>
          </p:cNvSpPr>
          <p:nvPr>
            <p:ph type="title"/>
          </p:nvPr>
        </p:nvSpPr>
        <p:spPr>
          <a:xfrm>
            <a:off x="762000" y="406400"/>
            <a:ext cx="10668000" cy="533400"/>
          </a:xfrm>
        </p:spPr>
        <p:txBody>
          <a:bodyPr>
            <a:normAutofit/>
          </a:bodyPr>
          <a:lstStyle/>
          <a:p>
            <a:r>
              <a:rPr lang="en-US" sz="3000" b="1"/>
              <a:t>How the Grafana HTTP API Fits Together</a:t>
            </a:r>
          </a:p>
        </p:txBody>
      </p:sp>
      <p:sp>
        <p:nvSpPr>
          <p:cNvPr id="3" name="Rectangle 2">
            <a:extLst>
              <a:ext uri="{FF2B5EF4-FFF2-40B4-BE49-F238E27FC236}">
                <a16:creationId xmlns:a16="http://schemas.microsoft.com/office/drawing/2014/main" id="{6936DC05-DF24-472B-8512-845C079C3B7C}"/>
              </a:ext>
            </a:extLst>
          </p:cNvPr>
          <p:cNvSpPr/>
          <p:nvPr/>
        </p:nvSpPr>
        <p:spPr>
          <a:xfrm>
            <a:off x="762000" y="1016000"/>
            <a:ext cx="889000" cy="381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318A0D2C-0A84-4E56-A7CF-D3D8EABE229F}"/>
              </a:ext>
            </a:extLst>
          </p:cNvPr>
          <p:cNvSpPr txBox="1"/>
          <p:nvPr/>
        </p:nvSpPr>
        <p:spPr>
          <a:xfrm>
            <a:off x="762000" y="1143000"/>
            <a:ext cx="8890000" cy="279400"/>
          </a:xfrm>
          <a:prstGeom prst="rect">
            <a:avLst/>
          </a:prstGeom>
          <a:noFill/>
        </p:spPr>
        <p:txBody>
          <a:bodyPr vertOverflow="overflow" vert="horz" wrap="square" rtlCol="0" anchor="t">
            <a:noAutofit/>
          </a:bodyPr>
          <a:lstStyle/>
          <a:p>
            <a:pPr algn="l"/>
            <a:r>
              <a:rPr lang="en-US" sz="1500" dirty="0">
                <a:solidFill>
                  <a:srgbClr val="8A929C"/>
                </a:solidFill>
                <a:latin typeface="Segoe UI"/>
                <a:cs typeface="Segoe UI"/>
              </a:rPr>
              <a:t>The UI is just another API client - anything you can click, a script can do.</a:t>
            </a:r>
          </a:p>
        </p:txBody>
      </p:sp>
      <p:sp>
        <p:nvSpPr>
          <p:cNvPr id="5" name="Rectangle: Rounded Corners 4">
            <a:extLst>
              <a:ext uri="{FF2B5EF4-FFF2-40B4-BE49-F238E27FC236}">
                <a16:creationId xmlns:a16="http://schemas.microsoft.com/office/drawing/2014/main" id="{520A34D7-C599-4CE2-853E-0F65DB75B599}"/>
              </a:ext>
            </a:extLst>
          </p:cNvPr>
          <p:cNvSpPr/>
          <p:nvPr/>
        </p:nvSpPr>
        <p:spPr>
          <a:xfrm>
            <a:off x="762000" y="1574800"/>
            <a:ext cx="2286000" cy="660400"/>
          </a:xfrm>
          <a:prstGeom prst="roundRect">
            <a:avLst/>
          </a:prstGeom>
          <a:solidFill>
            <a:srgbClr val="1B1E24"/>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D2958901-B9D0-4353-87E5-4007FB8EBA1B}"/>
              </a:ext>
            </a:extLst>
          </p:cNvPr>
          <p:cNvSpPr txBox="1"/>
          <p:nvPr/>
        </p:nvSpPr>
        <p:spPr>
          <a:xfrm>
            <a:off x="965200" y="1778000"/>
            <a:ext cx="1905000" cy="4572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curl / shell scripts</a:t>
            </a:r>
          </a:p>
        </p:txBody>
      </p:sp>
      <p:sp>
        <p:nvSpPr>
          <p:cNvPr id="7" name="Arrow: Right 6">
            <a:extLst>
              <a:ext uri="{FF2B5EF4-FFF2-40B4-BE49-F238E27FC236}">
                <a16:creationId xmlns:a16="http://schemas.microsoft.com/office/drawing/2014/main" id="{83A91CC0-405E-4699-A21A-7DC93480CA62}"/>
              </a:ext>
            </a:extLst>
          </p:cNvPr>
          <p:cNvSpPr/>
          <p:nvPr/>
        </p:nvSpPr>
        <p:spPr>
          <a:xfrm>
            <a:off x="3149600" y="1803400"/>
            <a:ext cx="4318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Rounded Corners 7">
            <a:extLst>
              <a:ext uri="{FF2B5EF4-FFF2-40B4-BE49-F238E27FC236}">
                <a16:creationId xmlns:a16="http://schemas.microsoft.com/office/drawing/2014/main" id="{452DD399-1863-4298-B3F3-277549E1650C}"/>
              </a:ext>
            </a:extLst>
          </p:cNvPr>
          <p:cNvSpPr/>
          <p:nvPr/>
        </p:nvSpPr>
        <p:spPr>
          <a:xfrm>
            <a:off x="762000" y="2311400"/>
            <a:ext cx="2286000" cy="6604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D65FB0A7-8FA2-4434-A247-BC54C8C07CCF}"/>
              </a:ext>
            </a:extLst>
          </p:cNvPr>
          <p:cNvSpPr txBox="1"/>
          <p:nvPr/>
        </p:nvSpPr>
        <p:spPr>
          <a:xfrm>
            <a:off x="965200" y="2514600"/>
            <a:ext cx="1905000" cy="4572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CI pipeline</a:t>
            </a:r>
          </a:p>
        </p:txBody>
      </p:sp>
      <p:sp>
        <p:nvSpPr>
          <p:cNvPr id="10" name="Arrow: Right 9">
            <a:extLst>
              <a:ext uri="{FF2B5EF4-FFF2-40B4-BE49-F238E27FC236}">
                <a16:creationId xmlns:a16="http://schemas.microsoft.com/office/drawing/2014/main" id="{0A4792B5-7917-410B-AFAC-59B84C304BE2}"/>
              </a:ext>
            </a:extLst>
          </p:cNvPr>
          <p:cNvSpPr/>
          <p:nvPr/>
        </p:nvSpPr>
        <p:spPr>
          <a:xfrm>
            <a:off x="3149600" y="2540000"/>
            <a:ext cx="4318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Rounded Corners 10">
            <a:extLst>
              <a:ext uri="{FF2B5EF4-FFF2-40B4-BE49-F238E27FC236}">
                <a16:creationId xmlns:a16="http://schemas.microsoft.com/office/drawing/2014/main" id="{28EC1E01-B604-4A62-9E4F-8E14EA117B07}"/>
              </a:ext>
            </a:extLst>
          </p:cNvPr>
          <p:cNvSpPr/>
          <p:nvPr/>
        </p:nvSpPr>
        <p:spPr>
          <a:xfrm>
            <a:off x="762000" y="3048000"/>
            <a:ext cx="2286000" cy="6604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F88CE08C-E073-4E82-BD7E-95F8A8A722D0}"/>
              </a:ext>
            </a:extLst>
          </p:cNvPr>
          <p:cNvSpPr txBox="1"/>
          <p:nvPr/>
        </p:nvSpPr>
        <p:spPr>
          <a:xfrm>
            <a:off x="965200" y="3251200"/>
            <a:ext cx="1905000" cy="4572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Terraform provider</a:t>
            </a:r>
          </a:p>
        </p:txBody>
      </p:sp>
      <p:sp>
        <p:nvSpPr>
          <p:cNvPr id="13" name="Arrow: Right 12">
            <a:extLst>
              <a:ext uri="{FF2B5EF4-FFF2-40B4-BE49-F238E27FC236}">
                <a16:creationId xmlns:a16="http://schemas.microsoft.com/office/drawing/2014/main" id="{E1FCFE19-BFC9-42DF-92AF-6DB20087DEF5}"/>
              </a:ext>
            </a:extLst>
          </p:cNvPr>
          <p:cNvSpPr/>
          <p:nvPr/>
        </p:nvSpPr>
        <p:spPr>
          <a:xfrm>
            <a:off x="3149600" y="3276600"/>
            <a:ext cx="4318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Rounded Corners 13">
            <a:extLst>
              <a:ext uri="{FF2B5EF4-FFF2-40B4-BE49-F238E27FC236}">
                <a16:creationId xmlns:a16="http://schemas.microsoft.com/office/drawing/2014/main" id="{37E3EF3D-9436-49A0-B9B7-251FD59AA093}"/>
              </a:ext>
            </a:extLst>
          </p:cNvPr>
          <p:cNvSpPr/>
          <p:nvPr/>
        </p:nvSpPr>
        <p:spPr>
          <a:xfrm>
            <a:off x="762000" y="3784600"/>
            <a:ext cx="2286000" cy="660400"/>
          </a:xfrm>
          <a:prstGeom prst="roundRect">
            <a:avLst/>
          </a:prstGeom>
          <a:solidFill>
            <a:srgbClr val="1B1E24"/>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178B7C0F-B5C6-437C-8476-3B001405430B}"/>
              </a:ext>
            </a:extLst>
          </p:cNvPr>
          <p:cNvSpPr txBox="1"/>
          <p:nvPr/>
        </p:nvSpPr>
        <p:spPr>
          <a:xfrm>
            <a:off x="965200" y="3987800"/>
            <a:ext cx="1905000" cy="4572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Grafana UI (same API)</a:t>
            </a:r>
          </a:p>
        </p:txBody>
      </p:sp>
      <p:sp>
        <p:nvSpPr>
          <p:cNvPr id="16" name="Arrow: Right 15">
            <a:extLst>
              <a:ext uri="{FF2B5EF4-FFF2-40B4-BE49-F238E27FC236}">
                <a16:creationId xmlns:a16="http://schemas.microsoft.com/office/drawing/2014/main" id="{C87B54ED-1899-4110-87A1-E3C4897A4439}"/>
              </a:ext>
            </a:extLst>
          </p:cNvPr>
          <p:cNvSpPr/>
          <p:nvPr/>
        </p:nvSpPr>
        <p:spPr>
          <a:xfrm>
            <a:off x="3149600" y="4013200"/>
            <a:ext cx="4318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Rounded Corners 16">
            <a:extLst>
              <a:ext uri="{FF2B5EF4-FFF2-40B4-BE49-F238E27FC236}">
                <a16:creationId xmlns:a16="http://schemas.microsoft.com/office/drawing/2014/main" id="{74E77DEA-F419-4455-AE28-2C57287566BB}"/>
              </a:ext>
            </a:extLst>
          </p:cNvPr>
          <p:cNvSpPr/>
          <p:nvPr/>
        </p:nvSpPr>
        <p:spPr>
          <a:xfrm>
            <a:off x="3810000" y="1498600"/>
            <a:ext cx="4191000" cy="3175000"/>
          </a:xfrm>
          <a:prstGeom prst="roundRect">
            <a:avLst/>
          </a:prstGeom>
          <a:solidFill>
            <a:srgbClr val="15181D"/>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53B603F6-98AC-4D75-932F-942672F518AC}"/>
              </a:ext>
            </a:extLst>
          </p:cNvPr>
          <p:cNvSpPr txBox="1"/>
          <p:nvPr/>
        </p:nvSpPr>
        <p:spPr>
          <a:xfrm>
            <a:off x="4038600" y="1651000"/>
            <a:ext cx="3733800" cy="279400"/>
          </a:xfrm>
          <a:prstGeom prst="rect">
            <a:avLst/>
          </a:prstGeom>
          <a:noFill/>
        </p:spPr>
        <p:txBody>
          <a:bodyPr vertOverflow="overflow" vert="horz" wrap="square" rtlCol="0" anchor="t">
            <a:noAutofit/>
          </a:bodyPr>
          <a:lstStyle/>
          <a:p>
            <a:pPr algn="l"/>
            <a:r>
              <a:rPr lang="en-US" sz="1700" b="1">
                <a:solidFill>
                  <a:srgbClr val="FF8800"/>
                </a:solidFill>
                <a:latin typeface="Segoe UI"/>
                <a:cs typeface="Segoe UI"/>
              </a:rPr>
              <a:t>Grafana Server  ·  :3000</a:t>
            </a:r>
          </a:p>
        </p:txBody>
      </p:sp>
      <p:sp>
        <p:nvSpPr>
          <p:cNvPr id="19" name="Rectangle: Rounded Corners 18">
            <a:extLst>
              <a:ext uri="{FF2B5EF4-FFF2-40B4-BE49-F238E27FC236}">
                <a16:creationId xmlns:a16="http://schemas.microsoft.com/office/drawing/2014/main" id="{417904F7-7B7D-4BDB-B9DD-D32C8C7FF34F}"/>
              </a:ext>
            </a:extLst>
          </p:cNvPr>
          <p:cNvSpPr/>
          <p:nvPr/>
        </p:nvSpPr>
        <p:spPr>
          <a:xfrm>
            <a:off x="4038600" y="2006600"/>
            <a:ext cx="3733800" cy="558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3A692291-4617-4197-B605-845AAFF27045}"/>
              </a:ext>
            </a:extLst>
          </p:cNvPr>
          <p:cNvSpPr txBox="1"/>
          <p:nvPr/>
        </p:nvSpPr>
        <p:spPr>
          <a:xfrm>
            <a:off x="4216400" y="2070100"/>
            <a:ext cx="3378200" cy="228600"/>
          </a:xfrm>
          <a:prstGeom prst="rect">
            <a:avLst/>
          </a:prstGeom>
          <a:noFill/>
        </p:spPr>
        <p:txBody>
          <a:bodyPr vertOverflow="overflow" vert="horz" wrap="square" rtlCol="0" anchor="t">
            <a:noAutofit/>
          </a:bodyPr>
          <a:lstStyle/>
          <a:p>
            <a:pPr algn="l"/>
            <a:r>
              <a:rPr lang="en-US" sz="1400" b="1">
                <a:solidFill>
                  <a:srgbClr val="FFFFFF"/>
                </a:solidFill>
                <a:latin typeface="Segoe UI"/>
                <a:cs typeface="Segoe UI"/>
              </a:rPr>
              <a:t>Auth middleware</a:t>
            </a:r>
          </a:p>
        </p:txBody>
      </p:sp>
      <p:sp>
        <p:nvSpPr>
          <p:cNvPr id="21" name="TextBox 20">
            <a:extLst>
              <a:ext uri="{FF2B5EF4-FFF2-40B4-BE49-F238E27FC236}">
                <a16:creationId xmlns:a16="http://schemas.microsoft.com/office/drawing/2014/main" id="{4E09AB3D-BF9A-45A9-87E1-D933BA030571}"/>
              </a:ext>
            </a:extLst>
          </p:cNvPr>
          <p:cNvSpPr txBox="1"/>
          <p:nvPr/>
        </p:nvSpPr>
        <p:spPr>
          <a:xfrm>
            <a:off x="4216400" y="2311400"/>
            <a:ext cx="3378200" cy="203200"/>
          </a:xfrm>
          <a:prstGeom prst="rect">
            <a:avLst/>
          </a:prstGeom>
          <a:noFill/>
        </p:spPr>
        <p:txBody>
          <a:bodyPr vertOverflow="overflow" vert="horz" wrap="square" rtlCol="0" anchor="t">
            <a:noAutofit/>
          </a:bodyPr>
          <a:lstStyle/>
          <a:p>
            <a:pPr algn="l"/>
            <a:r>
              <a:rPr lang="en-US" sz="1400">
                <a:solidFill>
                  <a:srgbClr val="8A929C"/>
                </a:solidFill>
                <a:latin typeface="Segoe UI"/>
                <a:cs typeface="Segoe UI"/>
              </a:rPr>
              <a:t>Bearer token · basic auth · session cookie</a:t>
            </a:r>
          </a:p>
        </p:txBody>
      </p:sp>
      <p:sp>
        <p:nvSpPr>
          <p:cNvPr id="22" name="Rectangle: Rounded Corners 21">
            <a:extLst>
              <a:ext uri="{FF2B5EF4-FFF2-40B4-BE49-F238E27FC236}">
                <a16:creationId xmlns:a16="http://schemas.microsoft.com/office/drawing/2014/main" id="{E89FEC2E-FD2A-4A91-9D18-12841AD439E4}"/>
              </a:ext>
            </a:extLst>
          </p:cNvPr>
          <p:cNvSpPr/>
          <p:nvPr/>
        </p:nvSpPr>
        <p:spPr>
          <a:xfrm>
            <a:off x="4038600" y="2667000"/>
            <a:ext cx="3733800" cy="558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ED127B81-537C-4508-8FCE-A7FE37F9CBDF}"/>
              </a:ext>
            </a:extLst>
          </p:cNvPr>
          <p:cNvSpPr txBox="1"/>
          <p:nvPr/>
        </p:nvSpPr>
        <p:spPr>
          <a:xfrm>
            <a:off x="4216400" y="2730500"/>
            <a:ext cx="3378200" cy="228600"/>
          </a:xfrm>
          <a:prstGeom prst="rect">
            <a:avLst/>
          </a:prstGeom>
          <a:noFill/>
        </p:spPr>
        <p:txBody>
          <a:bodyPr vertOverflow="overflow" vert="horz" wrap="square" rtlCol="0" anchor="t">
            <a:noAutofit/>
          </a:bodyPr>
          <a:lstStyle/>
          <a:p>
            <a:pPr algn="l"/>
            <a:r>
              <a:rPr lang="en-US" sz="1400" b="1">
                <a:solidFill>
                  <a:srgbClr val="FFFFFF"/>
                </a:solidFill>
                <a:latin typeface="Segoe UI"/>
                <a:cs typeface="Segoe UI"/>
              </a:rPr>
              <a:t>HTTP API router  /api/*</a:t>
            </a:r>
          </a:p>
        </p:txBody>
      </p:sp>
      <p:sp>
        <p:nvSpPr>
          <p:cNvPr id="24" name="TextBox 23">
            <a:extLst>
              <a:ext uri="{FF2B5EF4-FFF2-40B4-BE49-F238E27FC236}">
                <a16:creationId xmlns:a16="http://schemas.microsoft.com/office/drawing/2014/main" id="{C5D6BDD9-0F81-4904-AB43-B9CC0A00ACFC}"/>
              </a:ext>
            </a:extLst>
          </p:cNvPr>
          <p:cNvSpPr txBox="1"/>
          <p:nvPr/>
        </p:nvSpPr>
        <p:spPr>
          <a:xfrm>
            <a:off x="4216400" y="2971800"/>
            <a:ext cx="3378200" cy="203200"/>
          </a:xfrm>
          <a:prstGeom prst="rect">
            <a:avLst/>
          </a:prstGeom>
          <a:noFill/>
        </p:spPr>
        <p:txBody>
          <a:bodyPr vertOverflow="overflow" vert="horz" wrap="square" rtlCol="0" anchor="t">
            <a:noAutofit/>
          </a:bodyPr>
          <a:lstStyle/>
          <a:p>
            <a:pPr algn="l"/>
            <a:r>
              <a:rPr lang="en-US" sz="1400">
                <a:solidFill>
                  <a:srgbClr val="8A929C"/>
                </a:solidFill>
                <a:latin typeface="Segoe UI"/>
                <a:cs typeface="Segoe UI"/>
              </a:rPr>
              <a:t>Versioned REST endpoints, JSON in / JSON out</a:t>
            </a:r>
          </a:p>
        </p:txBody>
      </p:sp>
      <p:sp>
        <p:nvSpPr>
          <p:cNvPr id="25" name="Rectangle: Rounded Corners 24">
            <a:extLst>
              <a:ext uri="{FF2B5EF4-FFF2-40B4-BE49-F238E27FC236}">
                <a16:creationId xmlns:a16="http://schemas.microsoft.com/office/drawing/2014/main" id="{8B6392D8-4533-4252-A1F0-D80FE6B91B57}"/>
              </a:ext>
            </a:extLst>
          </p:cNvPr>
          <p:cNvSpPr/>
          <p:nvPr/>
        </p:nvSpPr>
        <p:spPr>
          <a:xfrm>
            <a:off x="4038600" y="3327400"/>
            <a:ext cx="3733800" cy="558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3221EB70-230D-4E29-9552-3707736AEEB3}"/>
              </a:ext>
            </a:extLst>
          </p:cNvPr>
          <p:cNvSpPr txBox="1"/>
          <p:nvPr/>
        </p:nvSpPr>
        <p:spPr>
          <a:xfrm>
            <a:off x="4216400" y="3390900"/>
            <a:ext cx="3378200" cy="228600"/>
          </a:xfrm>
          <a:prstGeom prst="rect">
            <a:avLst/>
          </a:prstGeom>
          <a:noFill/>
        </p:spPr>
        <p:txBody>
          <a:bodyPr vertOverflow="overflow" vert="horz" wrap="square" rtlCol="0" anchor="t">
            <a:noAutofit/>
          </a:bodyPr>
          <a:lstStyle/>
          <a:p>
            <a:pPr algn="l"/>
            <a:r>
              <a:rPr lang="en-US" sz="1400" b="1">
                <a:solidFill>
                  <a:srgbClr val="FFFFFF"/>
                </a:solidFill>
                <a:latin typeface="Segoe UI"/>
                <a:cs typeface="Segoe UI"/>
              </a:rPr>
              <a:t>Service layer</a:t>
            </a:r>
          </a:p>
        </p:txBody>
      </p:sp>
      <p:sp>
        <p:nvSpPr>
          <p:cNvPr id="27" name="TextBox 26">
            <a:extLst>
              <a:ext uri="{FF2B5EF4-FFF2-40B4-BE49-F238E27FC236}">
                <a16:creationId xmlns:a16="http://schemas.microsoft.com/office/drawing/2014/main" id="{AAEBCDA4-E7C1-450A-81AA-13D004417C2E}"/>
              </a:ext>
            </a:extLst>
          </p:cNvPr>
          <p:cNvSpPr txBox="1"/>
          <p:nvPr/>
        </p:nvSpPr>
        <p:spPr>
          <a:xfrm>
            <a:off x="4216400" y="3632200"/>
            <a:ext cx="3378200" cy="203200"/>
          </a:xfrm>
          <a:prstGeom prst="rect">
            <a:avLst/>
          </a:prstGeom>
          <a:noFill/>
        </p:spPr>
        <p:txBody>
          <a:bodyPr vertOverflow="overflow" vert="horz" wrap="square" rtlCol="0" anchor="t">
            <a:noAutofit/>
          </a:bodyPr>
          <a:lstStyle/>
          <a:p>
            <a:pPr algn="l"/>
            <a:r>
              <a:rPr lang="en-US" sz="1400">
                <a:solidFill>
                  <a:srgbClr val="8A929C"/>
                </a:solidFill>
                <a:latin typeface="Segoe UI"/>
                <a:cs typeface="Segoe UI"/>
              </a:rPr>
              <a:t>dashboards · folders · users · datasources</a:t>
            </a:r>
          </a:p>
        </p:txBody>
      </p:sp>
      <p:sp>
        <p:nvSpPr>
          <p:cNvPr id="28" name="TextBox 27">
            <a:extLst>
              <a:ext uri="{FF2B5EF4-FFF2-40B4-BE49-F238E27FC236}">
                <a16:creationId xmlns:a16="http://schemas.microsoft.com/office/drawing/2014/main" id="{9F6EAC29-EEBF-43D6-8107-CC3004CBF1DF}"/>
              </a:ext>
            </a:extLst>
          </p:cNvPr>
          <p:cNvSpPr txBox="1"/>
          <p:nvPr/>
        </p:nvSpPr>
        <p:spPr>
          <a:xfrm>
            <a:off x="4038600" y="4038600"/>
            <a:ext cx="3733800" cy="254000"/>
          </a:xfrm>
          <a:prstGeom prst="rect">
            <a:avLst/>
          </a:prstGeom>
          <a:noFill/>
        </p:spPr>
        <p:txBody>
          <a:bodyPr vertOverflow="overflow" vert="horz" wrap="square" rtlCol="0" anchor="t">
            <a:noAutofit/>
          </a:bodyPr>
          <a:lstStyle/>
          <a:p>
            <a:pPr algn="l"/>
            <a:r>
              <a:rPr lang="en-US" sz="1400">
                <a:solidFill>
                  <a:srgbClr val="73BF69"/>
                </a:solidFill>
                <a:latin typeface="Segoe UI"/>
                <a:cs typeface="Segoe UI"/>
              </a:rPr>
              <a:t>Audit trail: every write is versioned</a:t>
            </a:r>
          </a:p>
        </p:txBody>
      </p:sp>
      <p:sp>
        <p:nvSpPr>
          <p:cNvPr id="29" name="Arrow: Right 28">
            <a:extLst>
              <a:ext uri="{FF2B5EF4-FFF2-40B4-BE49-F238E27FC236}">
                <a16:creationId xmlns:a16="http://schemas.microsoft.com/office/drawing/2014/main" id="{525ED30C-9043-4C00-9A16-0E43427BF2EB}"/>
              </a:ext>
            </a:extLst>
          </p:cNvPr>
          <p:cNvSpPr/>
          <p:nvPr/>
        </p:nvSpPr>
        <p:spPr>
          <a:xfrm>
            <a:off x="8051800" y="1803400"/>
            <a:ext cx="2794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Rounded Corners 29">
            <a:extLst>
              <a:ext uri="{FF2B5EF4-FFF2-40B4-BE49-F238E27FC236}">
                <a16:creationId xmlns:a16="http://schemas.microsoft.com/office/drawing/2014/main" id="{DF01B59B-E146-49AD-8762-FCAD61E8451A}"/>
              </a:ext>
            </a:extLst>
          </p:cNvPr>
          <p:cNvSpPr/>
          <p:nvPr/>
        </p:nvSpPr>
        <p:spPr>
          <a:xfrm>
            <a:off x="8407400" y="1574800"/>
            <a:ext cx="3022600" cy="6604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FC22739B-8529-425C-A0EE-E2ECF456D709}"/>
              </a:ext>
            </a:extLst>
          </p:cNvPr>
          <p:cNvSpPr txBox="1"/>
          <p:nvPr/>
        </p:nvSpPr>
        <p:spPr>
          <a:xfrm>
            <a:off x="8610600" y="1676400"/>
            <a:ext cx="2667000" cy="2286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Grafana database</a:t>
            </a:r>
          </a:p>
        </p:txBody>
      </p:sp>
      <p:sp>
        <p:nvSpPr>
          <p:cNvPr id="32" name="TextBox 31">
            <a:extLst>
              <a:ext uri="{FF2B5EF4-FFF2-40B4-BE49-F238E27FC236}">
                <a16:creationId xmlns:a16="http://schemas.microsoft.com/office/drawing/2014/main" id="{768388DB-6C1E-41A9-B32B-7E0C39FD7392}"/>
              </a:ext>
            </a:extLst>
          </p:cNvPr>
          <p:cNvSpPr txBox="1"/>
          <p:nvPr/>
        </p:nvSpPr>
        <p:spPr>
          <a:xfrm>
            <a:off x="8610600" y="1930400"/>
            <a:ext cx="2667000" cy="203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SQLite · MySQL · Postgres</a:t>
            </a:r>
          </a:p>
        </p:txBody>
      </p:sp>
      <p:sp>
        <p:nvSpPr>
          <p:cNvPr id="33" name="Arrow: Right 32">
            <a:extLst>
              <a:ext uri="{FF2B5EF4-FFF2-40B4-BE49-F238E27FC236}">
                <a16:creationId xmlns:a16="http://schemas.microsoft.com/office/drawing/2014/main" id="{6B31D04F-E7DB-4B65-8F14-780A6B707424}"/>
              </a:ext>
            </a:extLst>
          </p:cNvPr>
          <p:cNvSpPr/>
          <p:nvPr/>
        </p:nvSpPr>
        <p:spPr>
          <a:xfrm>
            <a:off x="8051800" y="2540000"/>
            <a:ext cx="2794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Rounded Corners 33">
            <a:extLst>
              <a:ext uri="{FF2B5EF4-FFF2-40B4-BE49-F238E27FC236}">
                <a16:creationId xmlns:a16="http://schemas.microsoft.com/office/drawing/2014/main" id="{C6EC5EF0-C7AE-4BDD-86A5-B8B0DB26467A}"/>
              </a:ext>
            </a:extLst>
          </p:cNvPr>
          <p:cNvSpPr/>
          <p:nvPr/>
        </p:nvSpPr>
        <p:spPr>
          <a:xfrm>
            <a:off x="8407400" y="2311400"/>
            <a:ext cx="3022600" cy="6604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AD6F3CD8-7CFF-4876-85F4-2B6D7091D584}"/>
              </a:ext>
            </a:extLst>
          </p:cNvPr>
          <p:cNvSpPr txBox="1"/>
          <p:nvPr/>
        </p:nvSpPr>
        <p:spPr>
          <a:xfrm>
            <a:off x="8610600" y="2413000"/>
            <a:ext cx="2667000" cy="2286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Provisioning files</a:t>
            </a:r>
          </a:p>
        </p:txBody>
      </p:sp>
      <p:sp>
        <p:nvSpPr>
          <p:cNvPr id="36" name="TextBox 35">
            <a:extLst>
              <a:ext uri="{FF2B5EF4-FFF2-40B4-BE49-F238E27FC236}">
                <a16:creationId xmlns:a16="http://schemas.microsoft.com/office/drawing/2014/main" id="{173F3BC3-D92A-4510-82E7-CCC505F71A5C}"/>
              </a:ext>
            </a:extLst>
          </p:cNvPr>
          <p:cNvSpPr txBox="1"/>
          <p:nvPr/>
        </p:nvSpPr>
        <p:spPr>
          <a:xfrm>
            <a:off x="8610600" y="2667000"/>
            <a:ext cx="2667000" cy="203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YAML + JSON on disk</a:t>
            </a:r>
          </a:p>
        </p:txBody>
      </p:sp>
      <p:sp>
        <p:nvSpPr>
          <p:cNvPr id="37" name="Arrow: Right 36">
            <a:extLst>
              <a:ext uri="{FF2B5EF4-FFF2-40B4-BE49-F238E27FC236}">
                <a16:creationId xmlns:a16="http://schemas.microsoft.com/office/drawing/2014/main" id="{57ED3BA2-3DB8-49E9-B93C-8BBFFD41AA65}"/>
              </a:ext>
            </a:extLst>
          </p:cNvPr>
          <p:cNvSpPr/>
          <p:nvPr/>
        </p:nvSpPr>
        <p:spPr>
          <a:xfrm>
            <a:off x="8051800" y="3276600"/>
            <a:ext cx="2794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Rectangle: Rounded Corners 37">
            <a:extLst>
              <a:ext uri="{FF2B5EF4-FFF2-40B4-BE49-F238E27FC236}">
                <a16:creationId xmlns:a16="http://schemas.microsoft.com/office/drawing/2014/main" id="{D8C80429-BEBC-4F58-B06F-E1B2C3FF0FEA}"/>
              </a:ext>
            </a:extLst>
          </p:cNvPr>
          <p:cNvSpPr/>
          <p:nvPr/>
        </p:nvSpPr>
        <p:spPr>
          <a:xfrm>
            <a:off x="8407400" y="3048000"/>
            <a:ext cx="3022600" cy="660400"/>
          </a:xfrm>
          <a:prstGeom prst="roundRect">
            <a:avLst/>
          </a:prstGeom>
          <a:solidFill>
            <a:srgbClr val="1B1E24"/>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TextBox 38">
            <a:extLst>
              <a:ext uri="{FF2B5EF4-FFF2-40B4-BE49-F238E27FC236}">
                <a16:creationId xmlns:a16="http://schemas.microsoft.com/office/drawing/2014/main" id="{AF45E3BA-48B9-4E05-B614-240BF8E14435}"/>
              </a:ext>
            </a:extLst>
          </p:cNvPr>
          <p:cNvSpPr txBox="1"/>
          <p:nvPr/>
        </p:nvSpPr>
        <p:spPr>
          <a:xfrm>
            <a:off x="8610600" y="3149600"/>
            <a:ext cx="2667000" cy="2286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Data source backends</a:t>
            </a:r>
          </a:p>
        </p:txBody>
      </p:sp>
      <p:sp>
        <p:nvSpPr>
          <p:cNvPr id="40" name="TextBox 39">
            <a:extLst>
              <a:ext uri="{FF2B5EF4-FFF2-40B4-BE49-F238E27FC236}">
                <a16:creationId xmlns:a16="http://schemas.microsoft.com/office/drawing/2014/main" id="{7D67AF86-CB3B-44AC-B1E8-4983317E19EE}"/>
              </a:ext>
            </a:extLst>
          </p:cNvPr>
          <p:cNvSpPr txBox="1"/>
          <p:nvPr/>
        </p:nvSpPr>
        <p:spPr>
          <a:xfrm>
            <a:off x="8610600" y="3403600"/>
            <a:ext cx="2667000" cy="203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Prometheus · Loki · SQL</a:t>
            </a:r>
          </a:p>
        </p:txBody>
      </p:sp>
      <p:sp>
        <p:nvSpPr>
          <p:cNvPr id="41" name="Rectangle: Rounded Corners 40">
            <a:extLst>
              <a:ext uri="{FF2B5EF4-FFF2-40B4-BE49-F238E27FC236}">
                <a16:creationId xmlns:a16="http://schemas.microsoft.com/office/drawing/2014/main" id="{2EA6039F-A5BD-4AAD-B54E-3FAB79D4EF67}"/>
              </a:ext>
            </a:extLst>
          </p:cNvPr>
          <p:cNvSpPr/>
          <p:nvPr/>
        </p:nvSpPr>
        <p:spPr>
          <a:xfrm>
            <a:off x="762000" y="4978400"/>
            <a:ext cx="2590800" cy="1244600"/>
          </a:xfrm>
          <a:prstGeom prst="roundRect">
            <a:avLst/>
          </a:prstGeom>
          <a:solidFill>
            <a:srgbClr val="181B1F"/>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TextBox 41">
            <a:extLst>
              <a:ext uri="{FF2B5EF4-FFF2-40B4-BE49-F238E27FC236}">
                <a16:creationId xmlns:a16="http://schemas.microsoft.com/office/drawing/2014/main" id="{748E03B0-27B0-4D52-A5BD-8AC4280855A3}"/>
              </a:ext>
            </a:extLst>
          </p:cNvPr>
          <p:cNvSpPr txBox="1"/>
          <p:nvPr/>
        </p:nvSpPr>
        <p:spPr>
          <a:xfrm>
            <a:off x="965200" y="5130800"/>
            <a:ext cx="2184400" cy="254000"/>
          </a:xfrm>
          <a:prstGeom prst="rect">
            <a:avLst/>
          </a:prstGeom>
          <a:noFill/>
        </p:spPr>
        <p:txBody>
          <a:bodyPr vertOverflow="overflow" vert="horz" wrap="square" rtlCol="0" anchor="t">
            <a:noAutofit/>
          </a:bodyPr>
          <a:lstStyle/>
          <a:p>
            <a:pPr algn="l"/>
            <a:r>
              <a:rPr lang="en-US" sz="1500" b="1">
                <a:solidFill>
                  <a:srgbClr val="FF8800"/>
                </a:solidFill>
                <a:latin typeface="Segoe UI"/>
                <a:cs typeface="Segoe UI"/>
              </a:rPr>
              <a:t>Base path</a:t>
            </a:r>
          </a:p>
        </p:txBody>
      </p:sp>
      <p:sp>
        <p:nvSpPr>
          <p:cNvPr id="43" name="TextBox 42">
            <a:extLst>
              <a:ext uri="{FF2B5EF4-FFF2-40B4-BE49-F238E27FC236}">
                <a16:creationId xmlns:a16="http://schemas.microsoft.com/office/drawing/2014/main" id="{2CA9AFB0-2444-4E19-BDE4-4F6983BE3073}"/>
              </a:ext>
            </a:extLst>
          </p:cNvPr>
          <p:cNvSpPr txBox="1"/>
          <p:nvPr/>
        </p:nvSpPr>
        <p:spPr>
          <a:xfrm>
            <a:off x="965200" y="5435600"/>
            <a:ext cx="2209800" cy="7112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All endpoints hang off  /</a:t>
            </a:r>
            <a:r>
              <a:rPr lang="en-US" sz="1400" dirty="0" err="1">
                <a:solidFill>
                  <a:srgbClr val="B4BCC6"/>
                </a:solidFill>
                <a:latin typeface="Segoe UI"/>
                <a:cs typeface="Segoe UI"/>
              </a:rPr>
              <a:t>api</a:t>
            </a:r>
            <a:r>
              <a:rPr lang="en-US" sz="1400" dirty="0">
                <a:solidFill>
                  <a:srgbClr val="B4BCC6"/>
                </a:solidFill>
                <a:latin typeface="Segoe UI"/>
                <a:cs typeface="Segoe UI"/>
              </a:rPr>
              <a:t>  -  e.g.  /</a:t>
            </a:r>
            <a:r>
              <a:rPr lang="en-US" sz="1400" dirty="0" err="1">
                <a:solidFill>
                  <a:srgbClr val="B4BCC6"/>
                </a:solidFill>
                <a:latin typeface="Segoe UI"/>
                <a:cs typeface="Segoe UI"/>
              </a:rPr>
              <a:t>api</a:t>
            </a:r>
            <a:r>
              <a:rPr lang="en-US" sz="1400" dirty="0">
                <a:solidFill>
                  <a:srgbClr val="B4BCC6"/>
                </a:solidFill>
                <a:latin typeface="Segoe UI"/>
                <a:cs typeface="Segoe UI"/>
              </a:rPr>
              <a:t>/dashboards/</a:t>
            </a:r>
            <a:r>
              <a:rPr lang="en-US" sz="1400" dirty="0" err="1">
                <a:solidFill>
                  <a:srgbClr val="B4BCC6"/>
                </a:solidFill>
                <a:latin typeface="Segoe UI"/>
                <a:cs typeface="Segoe UI"/>
              </a:rPr>
              <a:t>db</a:t>
            </a:r>
            <a:endParaRPr lang="en-US" sz="1400" dirty="0">
              <a:solidFill>
                <a:srgbClr val="B4BCC6"/>
              </a:solidFill>
              <a:latin typeface="Segoe UI"/>
              <a:cs typeface="Segoe UI"/>
            </a:endParaRPr>
          </a:p>
        </p:txBody>
      </p:sp>
      <p:sp>
        <p:nvSpPr>
          <p:cNvPr id="44" name="Rectangle: Rounded Corners 43">
            <a:extLst>
              <a:ext uri="{FF2B5EF4-FFF2-40B4-BE49-F238E27FC236}">
                <a16:creationId xmlns:a16="http://schemas.microsoft.com/office/drawing/2014/main" id="{F5F97C50-759B-4765-996B-5D243388E63A}"/>
              </a:ext>
            </a:extLst>
          </p:cNvPr>
          <p:cNvSpPr/>
          <p:nvPr/>
        </p:nvSpPr>
        <p:spPr>
          <a:xfrm>
            <a:off x="3479800" y="4978400"/>
            <a:ext cx="2590800" cy="1244600"/>
          </a:xfrm>
          <a:prstGeom prst="roundRect">
            <a:avLst/>
          </a:prstGeom>
          <a:solidFill>
            <a:srgbClr val="181B1F"/>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TextBox 44">
            <a:extLst>
              <a:ext uri="{FF2B5EF4-FFF2-40B4-BE49-F238E27FC236}">
                <a16:creationId xmlns:a16="http://schemas.microsoft.com/office/drawing/2014/main" id="{AA5C182D-3A8F-4B9A-8DD5-FE99E898EE84}"/>
              </a:ext>
            </a:extLst>
          </p:cNvPr>
          <p:cNvSpPr txBox="1"/>
          <p:nvPr/>
        </p:nvSpPr>
        <p:spPr>
          <a:xfrm>
            <a:off x="3683000" y="5130800"/>
            <a:ext cx="21844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Auth header</a:t>
            </a:r>
          </a:p>
        </p:txBody>
      </p:sp>
      <p:sp>
        <p:nvSpPr>
          <p:cNvPr id="46" name="TextBox 45">
            <a:extLst>
              <a:ext uri="{FF2B5EF4-FFF2-40B4-BE49-F238E27FC236}">
                <a16:creationId xmlns:a16="http://schemas.microsoft.com/office/drawing/2014/main" id="{C6183573-838F-4096-B9DE-9CE349589CA3}"/>
              </a:ext>
            </a:extLst>
          </p:cNvPr>
          <p:cNvSpPr txBox="1"/>
          <p:nvPr/>
        </p:nvSpPr>
        <p:spPr>
          <a:xfrm>
            <a:off x="3683000" y="5435600"/>
            <a:ext cx="2209800" cy="711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Authorization: Bearer glsa_xxx  on every request</a:t>
            </a:r>
          </a:p>
        </p:txBody>
      </p:sp>
      <p:sp>
        <p:nvSpPr>
          <p:cNvPr id="47" name="Rectangle: Rounded Corners 46">
            <a:extLst>
              <a:ext uri="{FF2B5EF4-FFF2-40B4-BE49-F238E27FC236}">
                <a16:creationId xmlns:a16="http://schemas.microsoft.com/office/drawing/2014/main" id="{89048E75-2ECE-4FF1-80A5-659568AD15C6}"/>
              </a:ext>
            </a:extLst>
          </p:cNvPr>
          <p:cNvSpPr/>
          <p:nvPr/>
        </p:nvSpPr>
        <p:spPr>
          <a:xfrm>
            <a:off x="6197600" y="4978400"/>
            <a:ext cx="2590800" cy="1244600"/>
          </a:xfrm>
          <a:prstGeom prst="roundRect">
            <a:avLst/>
          </a:prstGeom>
          <a:solidFill>
            <a:srgbClr val="181B1F"/>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TextBox 47">
            <a:extLst>
              <a:ext uri="{FF2B5EF4-FFF2-40B4-BE49-F238E27FC236}">
                <a16:creationId xmlns:a16="http://schemas.microsoft.com/office/drawing/2014/main" id="{AF403DC4-CEAE-4F9B-BD18-32119914F859}"/>
              </a:ext>
            </a:extLst>
          </p:cNvPr>
          <p:cNvSpPr txBox="1"/>
          <p:nvPr/>
        </p:nvSpPr>
        <p:spPr>
          <a:xfrm>
            <a:off x="6400800" y="5130800"/>
            <a:ext cx="21844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Payloads</a:t>
            </a:r>
          </a:p>
        </p:txBody>
      </p:sp>
      <p:sp>
        <p:nvSpPr>
          <p:cNvPr id="49" name="TextBox 48">
            <a:extLst>
              <a:ext uri="{FF2B5EF4-FFF2-40B4-BE49-F238E27FC236}">
                <a16:creationId xmlns:a16="http://schemas.microsoft.com/office/drawing/2014/main" id="{FE7EEB55-7B96-46D5-A0D7-3256D3591BBD}"/>
              </a:ext>
            </a:extLst>
          </p:cNvPr>
          <p:cNvSpPr txBox="1"/>
          <p:nvPr/>
        </p:nvSpPr>
        <p:spPr>
          <a:xfrm>
            <a:off x="6400800" y="5435600"/>
            <a:ext cx="2209800" cy="711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JSON in, JSON out. Always send Content-Type: application/json</a:t>
            </a:r>
          </a:p>
        </p:txBody>
      </p:sp>
      <p:sp>
        <p:nvSpPr>
          <p:cNvPr id="50" name="Rectangle: Rounded Corners 49">
            <a:extLst>
              <a:ext uri="{FF2B5EF4-FFF2-40B4-BE49-F238E27FC236}">
                <a16:creationId xmlns:a16="http://schemas.microsoft.com/office/drawing/2014/main" id="{8E06AF03-6217-494B-AF97-239DBDFD9B29}"/>
              </a:ext>
            </a:extLst>
          </p:cNvPr>
          <p:cNvSpPr/>
          <p:nvPr/>
        </p:nvSpPr>
        <p:spPr>
          <a:xfrm>
            <a:off x="8915400" y="4978400"/>
            <a:ext cx="2590800" cy="1244600"/>
          </a:xfrm>
          <a:prstGeom prst="roundRect">
            <a:avLst/>
          </a:prstGeom>
          <a:solidFill>
            <a:srgbClr val="181B1F"/>
          </a:solidFill>
          <a:ln w="15875" cap="flat" cmpd="sng" algn="ctr">
            <a:solidFill>
              <a:srgbClr val="F249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1" name="TextBox 50">
            <a:extLst>
              <a:ext uri="{FF2B5EF4-FFF2-40B4-BE49-F238E27FC236}">
                <a16:creationId xmlns:a16="http://schemas.microsoft.com/office/drawing/2014/main" id="{A27AADAF-9EE6-4576-9CF5-624D9D8F13DB}"/>
              </a:ext>
            </a:extLst>
          </p:cNvPr>
          <p:cNvSpPr txBox="1"/>
          <p:nvPr/>
        </p:nvSpPr>
        <p:spPr>
          <a:xfrm>
            <a:off x="9118600" y="5130800"/>
            <a:ext cx="2184400" cy="254000"/>
          </a:xfrm>
          <a:prstGeom prst="rect">
            <a:avLst/>
          </a:prstGeom>
          <a:noFill/>
        </p:spPr>
        <p:txBody>
          <a:bodyPr vertOverflow="overflow" vert="horz" wrap="square" rtlCol="0" anchor="t">
            <a:noAutofit/>
          </a:bodyPr>
          <a:lstStyle/>
          <a:p>
            <a:pPr algn="l"/>
            <a:r>
              <a:rPr lang="en-US" sz="1500" b="1">
                <a:solidFill>
                  <a:srgbClr val="F2495C"/>
                </a:solidFill>
                <a:latin typeface="Segoe UI"/>
                <a:cs typeface="Segoe UI"/>
              </a:rPr>
              <a:t>Codes to know</a:t>
            </a:r>
          </a:p>
        </p:txBody>
      </p:sp>
      <p:sp>
        <p:nvSpPr>
          <p:cNvPr id="52" name="TextBox 51">
            <a:extLst>
              <a:ext uri="{FF2B5EF4-FFF2-40B4-BE49-F238E27FC236}">
                <a16:creationId xmlns:a16="http://schemas.microsoft.com/office/drawing/2014/main" id="{47038372-0CF7-4AF1-84D9-2FCCFF66D79B}"/>
              </a:ext>
            </a:extLst>
          </p:cNvPr>
          <p:cNvSpPr txBox="1"/>
          <p:nvPr/>
        </p:nvSpPr>
        <p:spPr>
          <a:xfrm>
            <a:off x="9118600" y="5435600"/>
            <a:ext cx="2209800" cy="711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200 ok · 401 bad token · 403 no permission · 412 version conflict</a:t>
            </a:r>
          </a:p>
        </p:txBody>
      </p:sp>
    </p:spTree>
    <p:extLst>
      <p:ext uri="{BB962C8B-B14F-4D97-AF65-F5344CB8AC3E}">
        <p14:creationId xmlns:p14="http://schemas.microsoft.com/office/powerpoint/2010/main" val="1308153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E4905-9C27-0E81-CD64-3408211C71AC}"/>
              </a:ext>
            </a:extLst>
          </p:cNvPr>
          <p:cNvSpPr>
            <a:spLocks noGrp="1"/>
          </p:cNvSpPr>
          <p:nvPr>
            <p:ph type="title"/>
          </p:nvPr>
        </p:nvSpPr>
        <p:spPr>
          <a:xfrm>
            <a:off x="762000" y="406400"/>
            <a:ext cx="10668000" cy="533400"/>
          </a:xfrm>
        </p:spPr>
        <p:txBody>
          <a:bodyPr>
            <a:normAutofit/>
          </a:bodyPr>
          <a:lstStyle/>
          <a:p>
            <a:r>
              <a:rPr lang="en-US" sz="3000" b="1" dirty="0"/>
              <a:t>Authentication - Who Is Calling?</a:t>
            </a:r>
          </a:p>
        </p:txBody>
      </p:sp>
      <p:sp>
        <p:nvSpPr>
          <p:cNvPr id="3" name="Rectangle 2">
            <a:extLst>
              <a:ext uri="{FF2B5EF4-FFF2-40B4-BE49-F238E27FC236}">
                <a16:creationId xmlns:a16="http://schemas.microsoft.com/office/drawing/2014/main" id="{CB82A3E2-F87F-430C-8D9B-60BDB7D01C2E}"/>
              </a:ext>
            </a:extLst>
          </p:cNvPr>
          <p:cNvSpPr/>
          <p:nvPr/>
        </p:nvSpPr>
        <p:spPr>
          <a:xfrm>
            <a:off x="762000" y="1016000"/>
            <a:ext cx="889000" cy="381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C6C1A34F-1B19-4B2B-92B1-4739374EB927}"/>
              </a:ext>
            </a:extLst>
          </p:cNvPr>
          <p:cNvSpPr txBox="1"/>
          <p:nvPr/>
        </p:nvSpPr>
        <p:spPr>
          <a:xfrm>
            <a:off x="762000" y="1143000"/>
            <a:ext cx="8890000" cy="279400"/>
          </a:xfrm>
          <a:prstGeom prst="rect">
            <a:avLst/>
          </a:prstGeom>
          <a:noFill/>
        </p:spPr>
        <p:txBody>
          <a:bodyPr vertOverflow="overflow" vert="horz" wrap="square" rtlCol="0" anchor="t">
            <a:noAutofit/>
          </a:bodyPr>
          <a:lstStyle/>
          <a:p>
            <a:pPr algn="l"/>
            <a:r>
              <a:rPr lang="en-US" sz="1500">
                <a:solidFill>
                  <a:srgbClr val="8A929C"/>
                </a:solidFill>
                <a:latin typeface="Segoe UI"/>
                <a:cs typeface="Segoe UI"/>
              </a:rPr>
              <a:t>Pick the weakest credential that still does the job, and give it an expiry.</a:t>
            </a:r>
          </a:p>
        </p:txBody>
      </p:sp>
      <p:sp>
        <p:nvSpPr>
          <p:cNvPr id="5" name="Rectangle: Rounded Corners 4">
            <a:extLst>
              <a:ext uri="{FF2B5EF4-FFF2-40B4-BE49-F238E27FC236}">
                <a16:creationId xmlns:a16="http://schemas.microsoft.com/office/drawing/2014/main" id="{CF7685AD-1C28-421C-9EE9-ABDA027F5140}"/>
              </a:ext>
            </a:extLst>
          </p:cNvPr>
          <p:cNvSpPr/>
          <p:nvPr/>
        </p:nvSpPr>
        <p:spPr>
          <a:xfrm>
            <a:off x="762000" y="1422400"/>
            <a:ext cx="4191000" cy="12192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2E5A5B97-A652-4529-88F2-A2E5920BC937}"/>
              </a:ext>
            </a:extLst>
          </p:cNvPr>
          <p:cNvSpPr txBox="1"/>
          <p:nvPr/>
        </p:nvSpPr>
        <p:spPr>
          <a:xfrm>
            <a:off x="990600" y="1549400"/>
            <a:ext cx="3683000" cy="2540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Service account token</a:t>
            </a:r>
          </a:p>
        </p:txBody>
      </p:sp>
      <p:sp>
        <p:nvSpPr>
          <p:cNvPr id="7" name="TextBox 6">
            <a:extLst>
              <a:ext uri="{FF2B5EF4-FFF2-40B4-BE49-F238E27FC236}">
                <a16:creationId xmlns:a16="http://schemas.microsoft.com/office/drawing/2014/main" id="{8102CE6C-852F-4DC7-A101-27BBD9814EDB}"/>
              </a:ext>
            </a:extLst>
          </p:cNvPr>
          <p:cNvSpPr txBox="1"/>
          <p:nvPr/>
        </p:nvSpPr>
        <p:spPr>
          <a:xfrm>
            <a:off x="990600" y="1828800"/>
            <a:ext cx="3733800" cy="457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A named non-human identity with a role and revocable tokens. Use this for every script.</a:t>
            </a:r>
          </a:p>
        </p:txBody>
      </p:sp>
      <p:sp>
        <p:nvSpPr>
          <p:cNvPr id="8" name="TextBox 7">
            <a:extLst>
              <a:ext uri="{FF2B5EF4-FFF2-40B4-BE49-F238E27FC236}">
                <a16:creationId xmlns:a16="http://schemas.microsoft.com/office/drawing/2014/main" id="{A02824C3-9891-4148-BBF3-D87DBA35200F}"/>
              </a:ext>
            </a:extLst>
          </p:cNvPr>
          <p:cNvSpPr txBox="1"/>
          <p:nvPr/>
        </p:nvSpPr>
        <p:spPr>
          <a:xfrm>
            <a:off x="990600" y="2311400"/>
            <a:ext cx="3733800" cy="228600"/>
          </a:xfrm>
          <a:prstGeom prst="rect">
            <a:avLst/>
          </a:prstGeom>
          <a:noFill/>
        </p:spPr>
        <p:txBody>
          <a:bodyPr vertOverflow="overflow" vert="horz" wrap="none" rtlCol="0" anchor="t">
            <a:noAutofit/>
          </a:bodyPr>
          <a:lstStyle/>
          <a:p>
            <a:pPr algn="l"/>
            <a:r>
              <a:rPr lang="en-US" sz="1400">
                <a:solidFill>
                  <a:srgbClr val="8A929C"/>
                </a:solidFill>
                <a:latin typeface="Consolas"/>
              </a:rPr>
              <a:t>Authorization: Bearer glsa_…</a:t>
            </a:r>
          </a:p>
        </p:txBody>
      </p:sp>
      <p:sp>
        <p:nvSpPr>
          <p:cNvPr id="9" name="Rectangle: Rounded Corners 8">
            <a:extLst>
              <a:ext uri="{FF2B5EF4-FFF2-40B4-BE49-F238E27FC236}">
                <a16:creationId xmlns:a16="http://schemas.microsoft.com/office/drawing/2014/main" id="{9D3504A5-07F9-477E-B608-C8A2ED7D7E28}"/>
              </a:ext>
            </a:extLst>
          </p:cNvPr>
          <p:cNvSpPr/>
          <p:nvPr/>
        </p:nvSpPr>
        <p:spPr>
          <a:xfrm>
            <a:off x="762000" y="2667000"/>
            <a:ext cx="4191000" cy="1219200"/>
          </a:xfrm>
          <a:prstGeom prst="roundRect">
            <a:avLst/>
          </a:prstGeom>
          <a:solidFill>
            <a:srgbClr val="1B1E24"/>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75005887-970F-4049-B424-88D059390661}"/>
              </a:ext>
            </a:extLst>
          </p:cNvPr>
          <p:cNvSpPr txBox="1"/>
          <p:nvPr/>
        </p:nvSpPr>
        <p:spPr>
          <a:xfrm>
            <a:off x="990600" y="2794000"/>
            <a:ext cx="3683000" cy="254000"/>
          </a:xfrm>
          <a:prstGeom prst="rect">
            <a:avLst/>
          </a:prstGeom>
          <a:noFill/>
        </p:spPr>
        <p:txBody>
          <a:bodyPr vertOverflow="overflow" vert="horz" wrap="square" rtlCol="0" anchor="t">
            <a:noAutofit/>
          </a:bodyPr>
          <a:lstStyle/>
          <a:p>
            <a:pPr algn="l"/>
            <a:r>
              <a:rPr lang="en-US" sz="1600" b="1">
                <a:solidFill>
                  <a:srgbClr val="FADE2A"/>
                </a:solidFill>
                <a:latin typeface="Segoe UI"/>
                <a:cs typeface="Segoe UI"/>
              </a:rPr>
              <a:t>Basic auth</a:t>
            </a:r>
          </a:p>
        </p:txBody>
      </p:sp>
      <p:sp>
        <p:nvSpPr>
          <p:cNvPr id="11" name="TextBox 10">
            <a:extLst>
              <a:ext uri="{FF2B5EF4-FFF2-40B4-BE49-F238E27FC236}">
                <a16:creationId xmlns:a16="http://schemas.microsoft.com/office/drawing/2014/main" id="{1234CE3A-F2C3-4D97-ACB8-F4A19EBA3E16}"/>
              </a:ext>
            </a:extLst>
          </p:cNvPr>
          <p:cNvSpPr txBox="1"/>
          <p:nvPr/>
        </p:nvSpPr>
        <p:spPr>
          <a:xfrm>
            <a:off x="990600" y="3073400"/>
            <a:ext cx="3733800" cy="457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admin:password over HTTPS. Fine for the very first bootstrap call, never for a pipeline.</a:t>
            </a:r>
          </a:p>
        </p:txBody>
      </p:sp>
      <p:sp>
        <p:nvSpPr>
          <p:cNvPr id="12" name="TextBox 11">
            <a:extLst>
              <a:ext uri="{FF2B5EF4-FFF2-40B4-BE49-F238E27FC236}">
                <a16:creationId xmlns:a16="http://schemas.microsoft.com/office/drawing/2014/main" id="{1B2EFE68-9BD7-4E37-85A9-CC5D76A64B46}"/>
              </a:ext>
            </a:extLst>
          </p:cNvPr>
          <p:cNvSpPr txBox="1"/>
          <p:nvPr/>
        </p:nvSpPr>
        <p:spPr>
          <a:xfrm>
            <a:off x="990600" y="3556000"/>
            <a:ext cx="3733800" cy="228600"/>
          </a:xfrm>
          <a:prstGeom prst="rect">
            <a:avLst/>
          </a:prstGeom>
          <a:noFill/>
        </p:spPr>
        <p:txBody>
          <a:bodyPr vertOverflow="overflow" vert="horz" wrap="none" rtlCol="0" anchor="t">
            <a:noAutofit/>
          </a:bodyPr>
          <a:lstStyle/>
          <a:p>
            <a:pPr algn="l"/>
            <a:r>
              <a:rPr lang="en-US" sz="1400">
                <a:solidFill>
                  <a:srgbClr val="8A929C"/>
                </a:solidFill>
                <a:latin typeface="Consolas"/>
              </a:rPr>
              <a:t>-u admin:admin</a:t>
            </a:r>
          </a:p>
        </p:txBody>
      </p:sp>
      <p:sp>
        <p:nvSpPr>
          <p:cNvPr id="13" name="Rectangle: Rounded Corners 12">
            <a:extLst>
              <a:ext uri="{FF2B5EF4-FFF2-40B4-BE49-F238E27FC236}">
                <a16:creationId xmlns:a16="http://schemas.microsoft.com/office/drawing/2014/main" id="{5173F858-A588-4873-B714-ECDB5A7280CF}"/>
              </a:ext>
            </a:extLst>
          </p:cNvPr>
          <p:cNvSpPr/>
          <p:nvPr/>
        </p:nvSpPr>
        <p:spPr>
          <a:xfrm>
            <a:off x="762000" y="3911600"/>
            <a:ext cx="4191000" cy="1219200"/>
          </a:xfrm>
          <a:prstGeom prst="roundRect">
            <a:avLst/>
          </a:prstGeom>
          <a:solidFill>
            <a:srgbClr val="1B1E24"/>
          </a:solidFill>
          <a:ln w="15875" cap="flat" cmpd="sng" algn="ctr">
            <a:solidFill>
              <a:srgbClr val="F249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CB6F67FA-99F0-4E5E-863C-C747ED263B8A}"/>
              </a:ext>
            </a:extLst>
          </p:cNvPr>
          <p:cNvSpPr txBox="1"/>
          <p:nvPr/>
        </p:nvSpPr>
        <p:spPr>
          <a:xfrm>
            <a:off x="990600" y="4038600"/>
            <a:ext cx="3683000" cy="254000"/>
          </a:xfrm>
          <a:prstGeom prst="rect">
            <a:avLst/>
          </a:prstGeom>
          <a:noFill/>
        </p:spPr>
        <p:txBody>
          <a:bodyPr vertOverflow="overflow" vert="horz" wrap="square" rtlCol="0" anchor="t">
            <a:noAutofit/>
          </a:bodyPr>
          <a:lstStyle/>
          <a:p>
            <a:pPr algn="l"/>
            <a:r>
              <a:rPr lang="en-US" sz="1600" b="1">
                <a:solidFill>
                  <a:srgbClr val="F2495C"/>
                </a:solidFill>
                <a:latin typeface="Segoe UI"/>
                <a:cs typeface="Segoe UI"/>
              </a:rPr>
              <a:t>Legacy API keys</a:t>
            </a:r>
          </a:p>
        </p:txBody>
      </p:sp>
      <p:sp>
        <p:nvSpPr>
          <p:cNvPr id="15" name="TextBox 14">
            <a:extLst>
              <a:ext uri="{FF2B5EF4-FFF2-40B4-BE49-F238E27FC236}">
                <a16:creationId xmlns:a16="http://schemas.microsoft.com/office/drawing/2014/main" id="{3DD103AC-DDAC-4472-A51A-89BAE91AE933}"/>
              </a:ext>
            </a:extLst>
          </p:cNvPr>
          <p:cNvSpPr txBox="1"/>
          <p:nvPr/>
        </p:nvSpPr>
        <p:spPr>
          <a:xfrm>
            <a:off x="990600" y="4318000"/>
            <a:ext cx="3733800" cy="457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Deprecated since Grafana 9. Migrate old keys to service accounts.</a:t>
            </a:r>
          </a:p>
        </p:txBody>
      </p:sp>
      <p:sp>
        <p:nvSpPr>
          <p:cNvPr id="16" name="TextBox 15">
            <a:extLst>
              <a:ext uri="{FF2B5EF4-FFF2-40B4-BE49-F238E27FC236}">
                <a16:creationId xmlns:a16="http://schemas.microsoft.com/office/drawing/2014/main" id="{928608CC-0B04-4C33-ABED-FC6AFA4FC180}"/>
              </a:ext>
            </a:extLst>
          </p:cNvPr>
          <p:cNvSpPr txBox="1"/>
          <p:nvPr/>
        </p:nvSpPr>
        <p:spPr>
          <a:xfrm>
            <a:off x="990600" y="4800600"/>
            <a:ext cx="3733800" cy="228600"/>
          </a:xfrm>
          <a:prstGeom prst="rect">
            <a:avLst/>
          </a:prstGeom>
          <a:noFill/>
        </p:spPr>
        <p:txBody>
          <a:bodyPr vertOverflow="overflow" vert="horz" wrap="none" rtlCol="0" anchor="t">
            <a:noAutofit/>
          </a:bodyPr>
          <a:lstStyle/>
          <a:p>
            <a:pPr algn="l"/>
            <a:r>
              <a:rPr lang="en-US" sz="1400">
                <a:solidFill>
                  <a:srgbClr val="8A929C"/>
                </a:solidFill>
                <a:latin typeface="Consolas"/>
              </a:rPr>
              <a:t>Authorization: Bearer eyJrIj…</a:t>
            </a:r>
          </a:p>
        </p:txBody>
      </p:sp>
      <p:sp>
        <p:nvSpPr>
          <p:cNvPr id="17" name="Rectangle: Rounded Corners 16">
            <a:extLst>
              <a:ext uri="{FF2B5EF4-FFF2-40B4-BE49-F238E27FC236}">
                <a16:creationId xmlns:a16="http://schemas.microsoft.com/office/drawing/2014/main" id="{2C38F8FC-1071-4A47-BD2D-3DC32610B02E}"/>
              </a:ext>
            </a:extLst>
          </p:cNvPr>
          <p:cNvSpPr/>
          <p:nvPr/>
        </p:nvSpPr>
        <p:spPr>
          <a:xfrm>
            <a:off x="5207000" y="1422400"/>
            <a:ext cx="6223000" cy="3683000"/>
          </a:xfrm>
          <a:prstGeom prst="roundRect">
            <a:avLst/>
          </a:prstGeom>
          <a:solidFill>
            <a:srgbClr val="0B0C0E"/>
          </a:solidFill>
          <a:ln w="12700"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6AAC56CA-B27F-434D-BCC5-C457A5AC219F}"/>
              </a:ext>
            </a:extLst>
          </p:cNvPr>
          <p:cNvSpPr txBox="1"/>
          <p:nvPr/>
        </p:nvSpPr>
        <p:spPr>
          <a:xfrm>
            <a:off x="5384800" y="1828800"/>
            <a:ext cx="5867400" cy="3124200"/>
          </a:xfrm>
          <a:prstGeom prst="rect">
            <a:avLst/>
          </a:prstGeom>
          <a:noFill/>
        </p:spPr>
        <p:txBody>
          <a:bodyPr vertOverflow="overflow" vert="horz" wrap="none" rtlCol="0" anchor="t">
            <a:noAutofit/>
          </a:bodyPr>
          <a:lstStyle/>
          <a:p>
            <a:pPr algn="l"/>
            <a:r>
              <a:rPr lang="en-US" sz="1400">
                <a:solidFill>
                  <a:srgbClr val="C8CDD4"/>
                </a:solidFill>
                <a:latin typeface="Consolas"/>
              </a:rPr>
              <a:t># 1 · create the service account
curl -u admin:admin -X POST \
  http://localhost:3000/api/serviceaccounts \
  -H "Content-Type: application/json" \
  -d '{"name":"automation","role":"Admin"}'
# 2 · mint a token for it (id came back above)
curl -u admin:admin -X POST \
  http://localhost:3000/api/serviceaccounts/2/tokens \
  -H "Content-Type: application/json" \
  -d '{"name":"ci-token"}'
# 3 · from now on, only the token
curl -H "Authorization: Bearer glsa_xxx" \
  http://localhost:3000/api/folders | jq -r '.[].title'</a:t>
            </a:r>
          </a:p>
        </p:txBody>
      </p:sp>
      <p:sp>
        <p:nvSpPr>
          <p:cNvPr id="19" name="TextBox 18">
            <a:extLst>
              <a:ext uri="{FF2B5EF4-FFF2-40B4-BE49-F238E27FC236}">
                <a16:creationId xmlns:a16="http://schemas.microsoft.com/office/drawing/2014/main" id="{C815310F-C92C-49E8-BAA3-FEDE89EE9316}"/>
              </a:ext>
            </a:extLst>
          </p:cNvPr>
          <p:cNvSpPr txBox="1"/>
          <p:nvPr/>
        </p:nvSpPr>
        <p:spPr>
          <a:xfrm>
            <a:off x="5384800" y="1524000"/>
            <a:ext cx="58674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Bootstrap once, then use the token</a:t>
            </a:r>
          </a:p>
        </p:txBody>
      </p:sp>
      <p:sp>
        <p:nvSpPr>
          <p:cNvPr id="20" name="Rectangle: Rounded Corners 19">
            <a:extLst>
              <a:ext uri="{FF2B5EF4-FFF2-40B4-BE49-F238E27FC236}">
                <a16:creationId xmlns:a16="http://schemas.microsoft.com/office/drawing/2014/main" id="{1AAEC7C5-D7C9-465B-B34B-C810E9540A27}"/>
              </a:ext>
            </a:extLst>
          </p:cNvPr>
          <p:cNvSpPr/>
          <p:nvPr/>
        </p:nvSpPr>
        <p:spPr>
          <a:xfrm>
            <a:off x="762000" y="5257800"/>
            <a:ext cx="10668000" cy="965200"/>
          </a:xfrm>
          <a:prstGeom prst="roundRect">
            <a:avLst/>
          </a:prstGeom>
          <a:solidFill>
            <a:srgbClr val="181B1F"/>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B1BC8B17-1C3A-4956-8757-7878A91993AA}"/>
              </a:ext>
            </a:extLst>
          </p:cNvPr>
          <p:cNvSpPr txBox="1"/>
          <p:nvPr/>
        </p:nvSpPr>
        <p:spPr>
          <a:xfrm>
            <a:off x="1016000" y="5410200"/>
            <a:ext cx="5080000" cy="254000"/>
          </a:xfrm>
          <a:prstGeom prst="rect">
            <a:avLst/>
          </a:prstGeom>
          <a:noFill/>
        </p:spPr>
        <p:txBody>
          <a:bodyPr vertOverflow="overflow" vert="horz" wrap="square" rtlCol="0" anchor="t">
            <a:noAutofit/>
          </a:bodyPr>
          <a:lstStyle/>
          <a:p>
            <a:pPr algn="l"/>
            <a:r>
              <a:rPr lang="en-US" sz="1600" b="1">
                <a:solidFill>
                  <a:srgbClr val="FF8800"/>
                </a:solidFill>
                <a:latin typeface="Segoe UI"/>
                <a:cs typeface="Segoe UI"/>
              </a:rPr>
              <a:t>Rules that keep you out of trouble</a:t>
            </a:r>
          </a:p>
        </p:txBody>
      </p:sp>
      <p:sp>
        <p:nvSpPr>
          <p:cNvPr id="22" name="TextBox 21">
            <a:extLst>
              <a:ext uri="{FF2B5EF4-FFF2-40B4-BE49-F238E27FC236}">
                <a16:creationId xmlns:a16="http://schemas.microsoft.com/office/drawing/2014/main" id="{177A1BEE-BE9C-4678-B45D-CE1CF92CB940}"/>
              </a:ext>
            </a:extLst>
          </p:cNvPr>
          <p:cNvSpPr txBox="1"/>
          <p:nvPr/>
        </p:nvSpPr>
        <p:spPr>
          <a:xfrm>
            <a:off x="1016000" y="5715000"/>
            <a:ext cx="10160000" cy="431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One token per pipeline so you can revoke just that one  ·  Set an expiry and rotate on a calendar  ·  Keep tokens in a secret manager, never in the repo  ·  Use the lowest role that works.</a:t>
            </a:r>
          </a:p>
        </p:txBody>
      </p:sp>
    </p:spTree>
    <p:extLst>
      <p:ext uri="{BB962C8B-B14F-4D97-AF65-F5344CB8AC3E}">
        <p14:creationId xmlns:p14="http://schemas.microsoft.com/office/powerpoint/2010/main" val="2134912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C1697-B621-9F74-941A-9D443845D2BA}"/>
              </a:ext>
            </a:extLst>
          </p:cNvPr>
          <p:cNvSpPr>
            <a:spLocks noGrp="1"/>
          </p:cNvSpPr>
          <p:nvPr>
            <p:ph type="title"/>
          </p:nvPr>
        </p:nvSpPr>
        <p:spPr>
          <a:xfrm>
            <a:off x="762000" y="406400"/>
            <a:ext cx="10668000" cy="533400"/>
          </a:xfrm>
        </p:spPr>
        <p:txBody>
          <a:bodyPr>
            <a:normAutofit/>
          </a:bodyPr>
          <a:lstStyle/>
          <a:p>
            <a:r>
              <a:rPr lang="en-US" sz="3000" b="1"/>
              <a:t>Dashboard API</a:t>
            </a:r>
          </a:p>
        </p:txBody>
      </p:sp>
      <p:sp>
        <p:nvSpPr>
          <p:cNvPr id="3" name="Rectangle 2">
            <a:extLst>
              <a:ext uri="{FF2B5EF4-FFF2-40B4-BE49-F238E27FC236}">
                <a16:creationId xmlns:a16="http://schemas.microsoft.com/office/drawing/2014/main" id="{00B8843D-B0C4-455D-9C4E-3246B541273F}"/>
              </a:ext>
            </a:extLst>
          </p:cNvPr>
          <p:cNvSpPr/>
          <p:nvPr/>
        </p:nvSpPr>
        <p:spPr>
          <a:xfrm>
            <a:off x="762000" y="1016000"/>
            <a:ext cx="889000" cy="381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41540190-BA81-44EF-BB42-C21BC8A44437}"/>
              </a:ext>
            </a:extLst>
          </p:cNvPr>
          <p:cNvSpPr txBox="1"/>
          <p:nvPr/>
        </p:nvSpPr>
        <p:spPr>
          <a:xfrm>
            <a:off x="762000" y="1143000"/>
            <a:ext cx="8890000" cy="279400"/>
          </a:xfrm>
          <a:prstGeom prst="rect">
            <a:avLst/>
          </a:prstGeom>
          <a:noFill/>
        </p:spPr>
        <p:txBody>
          <a:bodyPr vertOverflow="overflow" vert="horz" wrap="square" rtlCol="0" anchor="t">
            <a:noAutofit/>
          </a:bodyPr>
          <a:lstStyle/>
          <a:p>
            <a:pPr algn="l"/>
            <a:r>
              <a:rPr lang="en-US" sz="1500" dirty="0">
                <a:solidFill>
                  <a:srgbClr val="8A929C"/>
                </a:solidFill>
                <a:latin typeface="Segoe UI"/>
                <a:cs typeface="Segoe UI"/>
              </a:rPr>
              <a:t>One endpoint does both create and update - the </a:t>
            </a:r>
            <a:r>
              <a:rPr lang="en-US" sz="1500" dirty="0" err="1">
                <a:solidFill>
                  <a:srgbClr val="8A929C"/>
                </a:solidFill>
                <a:latin typeface="Segoe UI"/>
                <a:cs typeface="Segoe UI"/>
              </a:rPr>
              <a:t>uid</a:t>
            </a:r>
            <a:r>
              <a:rPr lang="en-US" sz="1500" dirty="0">
                <a:solidFill>
                  <a:srgbClr val="8A929C"/>
                </a:solidFill>
                <a:latin typeface="Segoe UI"/>
                <a:cs typeface="Segoe UI"/>
              </a:rPr>
              <a:t> decides which.</a:t>
            </a:r>
          </a:p>
        </p:txBody>
      </p:sp>
      <p:graphicFrame>
        <p:nvGraphicFramePr>
          <p:cNvPr id="6" name="Table 5">
            <a:extLst>
              <a:ext uri="{FF2B5EF4-FFF2-40B4-BE49-F238E27FC236}">
                <a16:creationId xmlns:a16="http://schemas.microsoft.com/office/drawing/2014/main" id="{F7924535-4BB4-4DC5-A517-978E70290517}"/>
              </a:ext>
            </a:extLst>
          </p:cNvPr>
          <p:cNvGraphicFramePr>
            <a:graphicFrameLocks noGrp="1"/>
          </p:cNvGraphicFramePr>
          <p:nvPr>
            <p:extLst>
              <p:ext uri="{D42A27DB-BD31-4B8C-83A1-F6EECF244321}">
                <p14:modId xmlns:p14="http://schemas.microsoft.com/office/powerpoint/2010/main" val="301826159"/>
              </p:ext>
            </p:extLst>
          </p:nvPr>
        </p:nvGraphicFramePr>
        <p:xfrm>
          <a:off x="762000" y="1498600"/>
          <a:ext cx="10668000" cy="231140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134330243"/>
                    </a:ext>
                  </a:extLst>
                </a:gridCol>
                <a:gridCol w="4064000">
                  <a:extLst>
                    <a:ext uri="{9D8B030D-6E8A-4147-A177-3AD203B41FA5}">
                      <a16:colId xmlns:a16="http://schemas.microsoft.com/office/drawing/2014/main" val="423927953"/>
                    </a:ext>
                  </a:extLst>
                </a:gridCol>
                <a:gridCol w="5334000">
                  <a:extLst>
                    <a:ext uri="{9D8B030D-6E8A-4147-A177-3AD203B41FA5}">
                      <a16:colId xmlns:a16="http://schemas.microsoft.com/office/drawing/2014/main" val="495645163"/>
                    </a:ext>
                  </a:extLst>
                </a:gridCol>
              </a:tblGrid>
              <a:tr h="330200">
                <a:tc>
                  <a:txBody>
                    <a:bodyPr/>
                    <a:lstStyle/>
                    <a:p>
                      <a:pPr algn="l"/>
                      <a:r>
                        <a:rPr lang="en-US" sz="1500" b="1" dirty="0">
                          <a:solidFill>
                            <a:srgbClr val="FF8800"/>
                          </a:solidFill>
                        </a:rPr>
                        <a:t>Method</a:t>
                      </a:r>
                    </a:p>
                  </a:txBody>
                  <a:tcPr anchor="ctr">
                    <a:solidFill>
                      <a:srgbClr val="2A1C0B"/>
                    </a:solidFill>
                  </a:tcPr>
                </a:tc>
                <a:tc>
                  <a:txBody>
                    <a:bodyPr/>
                    <a:lstStyle/>
                    <a:p>
                      <a:pPr algn="l"/>
                      <a:r>
                        <a:rPr lang="en-US" sz="1500" b="1">
                          <a:solidFill>
                            <a:srgbClr val="FF8800"/>
                          </a:solidFill>
                        </a:rPr>
                        <a:t>Endpoint</a:t>
                      </a:r>
                    </a:p>
                  </a:txBody>
                  <a:tcPr anchor="ctr">
                    <a:solidFill>
                      <a:srgbClr val="2A1C0B"/>
                    </a:solidFill>
                  </a:tcPr>
                </a:tc>
                <a:tc>
                  <a:txBody>
                    <a:bodyPr/>
                    <a:lstStyle/>
                    <a:p>
                      <a:pPr algn="l"/>
                      <a:r>
                        <a:rPr lang="en-US" sz="1500" b="1">
                          <a:solidFill>
                            <a:srgbClr val="FF8800"/>
                          </a:solidFill>
                        </a:rPr>
                        <a:t>What it does</a:t>
                      </a:r>
                    </a:p>
                  </a:txBody>
                  <a:tcPr anchor="ctr">
                    <a:solidFill>
                      <a:srgbClr val="2A1C0B"/>
                    </a:solidFill>
                  </a:tcPr>
                </a:tc>
                <a:extLst>
                  <a:ext uri="{0D108BD9-81ED-4DB2-BD59-A6C34878D82A}">
                    <a16:rowId xmlns:a16="http://schemas.microsoft.com/office/drawing/2014/main" val="3304891540"/>
                  </a:ext>
                </a:extLst>
              </a:tr>
              <a:tr h="330200">
                <a:tc>
                  <a:txBody>
                    <a:bodyPr/>
                    <a:lstStyle/>
                    <a:p>
                      <a:pPr algn="l"/>
                      <a:r>
                        <a:rPr lang="en-US" sz="1400" b="1">
                          <a:solidFill>
                            <a:srgbClr val="FFFFFF"/>
                          </a:solidFill>
                          <a:latin typeface="Segoe UI"/>
                          <a:cs typeface="Segoe UI"/>
                        </a:rPr>
                        <a:t>POST</a:t>
                      </a:r>
                    </a:p>
                  </a:txBody>
                  <a:tcPr anchor="ctr">
                    <a:solidFill>
                      <a:srgbClr val="1B1E24"/>
                    </a:solidFill>
                  </a:tcPr>
                </a:tc>
                <a:tc>
                  <a:txBody>
                    <a:bodyPr/>
                    <a:lstStyle/>
                    <a:p>
                      <a:pPr algn="l"/>
                      <a:r>
                        <a:rPr lang="en-US" sz="1400" b="0">
                          <a:solidFill>
                            <a:srgbClr val="FFFFFF"/>
                          </a:solidFill>
                          <a:latin typeface="Consolas"/>
                        </a:rPr>
                        <a:t>/api/dashboards/db</a:t>
                      </a:r>
                    </a:p>
                  </a:txBody>
                  <a:tcPr anchor="ctr">
                    <a:solidFill>
                      <a:srgbClr val="1B1E24"/>
                    </a:solidFill>
                  </a:tcPr>
                </a:tc>
                <a:tc>
                  <a:txBody>
                    <a:bodyPr/>
                    <a:lstStyle/>
                    <a:p>
                      <a:pPr algn="l"/>
                      <a:r>
                        <a:rPr lang="en-US" sz="1400" b="0" dirty="0">
                          <a:solidFill>
                            <a:srgbClr val="B4BCC6"/>
                          </a:solidFill>
                          <a:latin typeface="Segoe UI"/>
                          <a:cs typeface="Segoe UI"/>
                        </a:rPr>
                        <a:t>Create or update - the workhorse call</a:t>
                      </a:r>
                    </a:p>
                  </a:txBody>
                  <a:tcPr anchor="ctr">
                    <a:solidFill>
                      <a:srgbClr val="1B1E24"/>
                    </a:solidFill>
                  </a:tcPr>
                </a:tc>
                <a:extLst>
                  <a:ext uri="{0D108BD9-81ED-4DB2-BD59-A6C34878D82A}">
                    <a16:rowId xmlns:a16="http://schemas.microsoft.com/office/drawing/2014/main" val="2714326573"/>
                  </a:ext>
                </a:extLst>
              </a:tr>
              <a:tr h="330200">
                <a:tc>
                  <a:txBody>
                    <a:bodyPr/>
                    <a:lstStyle/>
                    <a:p>
                      <a:pPr algn="l"/>
                      <a:r>
                        <a:rPr lang="en-US" sz="1400" b="1">
                          <a:solidFill>
                            <a:srgbClr val="FFFFFF"/>
                          </a:solidFill>
                          <a:latin typeface="Segoe UI"/>
                          <a:cs typeface="Segoe UI"/>
                        </a:rPr>
                        <a:t>GET</a:t>
                      </a:r>
                    </a:p>
                  </a:txBody>
                  <a:tcPr anchor="ctr">
                    <a:solidFill>
                      <a:srgbClr val="181B1F"/>
                    </a:solidFill>
                  </a:tcPr>
                </a:tc>
                <a:tc>
                  <a:txBody>
                    <a:bodyPr/>
                    <a:lstStyle/>
                    <a:p>
                      <a:pPr algn="l"/>
                      <a:r>
                        <a:rPr lang="en-US" sz="1400" b="0">
                          <a:solidFill>
                            <a:srgbClr val="FFFFFF"/>
                          </a:solidFill>
                          <a:latin typeface="Consolas"/>
                        </a:rPr>
                        <a:t>/api/dashboards/uid/:uid</a:t>
                      </a:r>
                    </a:p>
                  </a:txBody>
                  <a:tcPr anchor="ctr">
                    <a:solidFill>
                      <a:srgbClr val="181B1F"/>
                    </a:solidFill>
                  </a:tcPr>
                </a:tc>
                <a:tc>
                  <a:txBody>
                    <a:bodyPr/>
                    <a:lstStyle/>
                    <a:p>
                      <a:pPr algn="l"/>
                      <a:r>
                        <a:rPr lang="en-US" sz="1400" b="0">
                          <a:solidFill>
                            <a:srgbClr val="B4BCC6"/>
                          </a:solidFill>
                          <a:latin typeface="Segoe UI"/>
                          <a:cs typeface="Segoe UI"/>
                        </a:rPr>
                        <a:t>Fetch the full dashboard JSON</a:t>
                      </a:r>
                    </a:p>
                  </a:txBody>
                  <a:tcPr anchor="ctr">
                    <a:solidFill>
                      <a:srgbClr val="181B1F"/>
                    </a:solidFill>
                  </a:tcPr>
                </a:tc>
                <a:extLst>
                  <a:ext uri="{0D108BD9-81ED-4DB2-BD59-A6C34878D82A}">
                    <a16:rowId xmlns:a16="http://schemas.microsoft.com/office/drawing/2014/main" val="57842535"/>
                  </a:ext>
                </a:extLst>
              </a:tr>
              <a:tr h="330200">
                <a:tc>
                  <a:txBody>
                    <a:bodyPr/>
                    <a:lstStyle/>
                    <a:p>
                      <a:pPr algn="l"/>
                      <a:r>
                        <a:rPr lang="en-US" sz="1400" b="1">
                          <a:solidFill>
                            <a:srgbClr val="FFFFFF"/>
                          </a:solidFill>
                          <a:latin typeface="Segoe UI"/>
                          <a:cs typeface="Segoe UI"/>
                        </a:rPr>
                        <a:t>DELETE</a:t>
                      </a:r>
                    </a:p>
                  </a:txBody>
                  <a:tcPr anchor="ctr">
                    <a:solidFill>
                      <a:srgbClr val="1B1E24"/>
                    </a:solidFill>
                  </a:tcPr>
                </a:tc>
                <a:tc>
                  <a:txBody>
                    <a:bodyPr/>
                    <a:lstStyle/>
                    <a:p>
                      <a:pPr algn="l"/>
                      <a:r>
                        <a:rPr lang="en-US" sz="1400" b="0">
                          <a:solidFill>
                            <a:srgbClr val="FFFFFF"/>
                          </a:solidFill>
                          <a:latin typeface="Consolas"/>
                        </a:rPr>
                        <a:t>/api/dashboards/uid/:uid</a:t>
                      </a:r>
                    </a:p>
                  </a:txBody>
                  <a:tcPr anchor="ctr">
                    <a:solidFill>
                      <a:srgbClr val="1B1E24"/>
                    </a:solidFill>
                  </a:tcPr>
                </a:tc>
                <a:tc>
                  <a:txBody>
                    <a:bodyPr/>
                    <a:lstStyle/>
                    <a:p>
                      <a:pPr algn="l"/>
                      <a:r>
                        <a:rPr lang="en-US" sz="1400" b="0">
                          <a:solidFill>
                            <a:srgbClr val="B4BCC6"/>
                          </a:solidFill>
                          <a:latin typeface="Segoe UI"/>
                          <a:cs typeface="Segoe UI"/>
                        </a:rPr>
                        <a:t>Delete a dashboard by uid</a:t>
                      </a:r>
                    </a:p>
                  </a:txBody>
                  <a:tcPr anchor="ctr">
                    <a:solidFill>
                      <a:srgbClr val="1B1E24"/>
                    </a:solidFill>
                  </a:tcPr>
                </a:tc>
                <a:extLst>
                  <a:ext uri="{0D108BD9-81ED-4DB2-BD59-A6C34878D82A}">
                    <a16:rowId xmlns:a16="http://schemas.microsoft.com/office/drawing/2014/main" val="1141649734"/>
                  </a:ext>
                </a:extLst>
              </a:tr>
              <a:tr h="330200">
                <a:tc>
                  <a:txBody>
                    <a:bodyPr/>
                    <a:lstStyle/>
                    <a:p>
                      <a:pPr algn="l"/>
                      <a:r>
                        <a:rPr lang="en-US" sz="1400" b="1">
                          <a:solidFill>
                            <a:srgbClr val="FFFFFF"/>
                          </a:solidFill>
                          <a:latin typeface="Segoe UI"/>
                          <a:cs typeface="Segoe UI"/>
                        </a:rPr>
                        <a:t>GET</a:t>
                      </a:r>
                    </a:p>
                  </a:txBody>
                  <a:tcPr anchor="ctr">
                    <a:solidFill>
                      <a:srgbClr val="181B1F"/>
                    </a:solidFill>
                  </a:tcPr>
                </a:tc>
                <a:tc>
                  <a:txBody>
                    <a:bodyPr/>
                    <a:lstStyle/>
                    <a:p>
                      <a:pPr algn="l"/>
                      <a:r>
                        <a:rPr lang="en-US" sz="1400" b="0">
                          <a:solidFill>
                            <a:srgbClr val="FFFFFF"/>
                          </a:solidFill>
                          <a:latin typeface="Consolas"/>
                        </a:rPr>
                        <a:t>/api/search?type=dash-db</a:t>
                      </a:r>
                    </a:p>
                  </a:txBody>
                  <a:tcPr anchor="ctr">
                    <a:solidFill>
                      <a:srgbClr val="181B1F"/>
                    </a:solidFill>
                  </a:tcPr>
                </a:tc>
                <a:tc>
                  <a:txBody>
                    <a:bodyPr/>
                    <a:lstStyle/>
                    <a:p>
                      <a:pPr algn="l"/>
                      <a:r>
                        <a:rPr lang="en-US" sz="1400" b="0">
                          <a:solidFill>
                            <a:srgbClr val="B4BCC6"/>
                          </a:solidFill>
                          <a:latin typeface="Segoe UI"/>
                          <a:cs typeface="Segoe UI"/>
                        </a:rPr>
                        <a:t>List and filter dashboards</a:t>
                      </a:r>
                    </a:p>
                  </a:txBody>
                  <a:tcPr anchor="ctr">
                    <a:solidFill>
                      <a:srgbClr val="181B1F"/>
                    </a:solidFill>
                  </a:tcPr>
                </a:tc>
                <a:extLst>
                  <a:ext uri="{0D108BD9-81ED-4DB2-BD59-A6C34878D82A}">
                    <a16:rowId xmlns:a16="http://schemas.microsoft.com/office/drawing/2014/main" val="620050292"/>
                  </a:ext>
                </a:extLst>
              </a:tr>
              <a:tr h="330200">
                <a:tc>
                  <a:txBody>
                    <a:bodyPr/>
                    <a:lstStyle/>
                    <a:p>
                      <a:pPr algn="l"/>
                      <a:r>
                        <a:rPr lang="en-US" sz="1400" b="1">
                          <a:solidFill>
                            <a:srgbClr val="FFFFFF"/>
                          </a:solidFill>
                          <a:latin typeface="Segoe UI"/>
                          <a:cs typeface="Segoe UI"/>
                        </a:rPr>
                        <a:t>GET</a:t>
                      </a:r>
                    </a:p>
                  </a:txBody>
                  <a:tcPr anchor="ctr">
                    <a:solidFill>
                      <a:srgbClr val="1B1E24"/>
                    </a:solidFill>
                  </a:tcPr>
                </a:tc>
                <a:tc>
                  <a:txBody>
                    <a:bodyPr/>
                    <a:lstStyle/>
                    <a:p>
                      <a:pPr algn="l"/>
                      <a:r>
                        <a:rPr lang="en-US" sz="1400" b="0">
                          <a:solidFill>
                            <a:srgbClr val="FFFFFF"/>
                          </a:solidFill>
                          <a:latin typeface="Consolas"/>
                        </a:rPr>
                        <a:t>/api/dashboards/uid/:uid/versions</a:t>
                      </a:r>
                    </a:p>
                  </a:txBody>
                  <a:tcPr anchor="ctr">
                    <a:solidFill>
                      <a:srgbClr val="1B1E24"/>
                    </a:solidFill>
                  </a:tcPr>
                </a:tc>
                <a:tc>
                  <a:txBody>
                    <a:bodyPr/>
                    <a:lstStyle/>
                    <a:p>
                      <a:pPr algn="l"/>
                      <a:r>
                        <a:rPr lang="en-US" sz="1400" b="0">
                          <a:solidFill>
                            <a:srgbClr val="B4BCC6"/>
                          </a:solidFill>
                          <a:latin typeface="Segoe UI"/>
                          <a:cs typeface="Segoe UI"/>
                        </a:rPr>
                        <a:t>Version history for audit or rollback</a:t>
                      </a:r>
                    </a:p>
                  </a:txBody>
                  <a:tcPr anchor="ctr">
                    <a:solidFill>
                      <a:srgbClr val="1B1E24"/>
                    </a:solidFill>
                  </a:tcPr>
                </a:tc>
                <a:extLst>
                  <a:ext uri="{0D108BD9-81ED-4DB2-BD59-A6C34878D82A}">
                    <a16:rowId xmlns:a16="http://schemas.microsoft.com/office/drawing/2014/main" val="93389490"/>
                  </a:ext>
                </a:extLst>
              </a:tr>
              <a:tr h="330200">
                <a:tc>
                  <a:txBody>
                    <a:bodyPr/>
                    <a:lstStyle/>
                    <a:p>
                      <a:pPr algn="l"/>
                      <a:r>
                        <a:rPr lang="en-US" sz="1400" b="1">
                          <a:solidFill>
                            <a:srgbClr val="FFFFFF"/>
                          </a:solidFill>
                          <a:latin typeface="Segoe UI"/>
                          <a:cs typeface="Segoe UI"/>
                        </a:rPr>
                        <a:t>GET</a:t>
                      </a:r>
                    </a:p>
                  </a:txBody>
                  <a:tcPr anchor="ctr">
                    <a:solidFill>
                      <a:srgbClr val="181B1F"/>
                    </a:solidFill>
                  </a:tcPr>
                </a:tc>
                <a:tc>
                  <a:txBody>
                    <a:bodyPr/>
                    <a:lstStyle/>
                    <a:p>
                      <a:pPr algn="l"/>
                      <a:r>
                        <a:rPr lang="en-US" sz="1400" b="0">
                          <a:solidFill>
                            <a:srgbClr val="FFFFFF"/>
                          </a:solidFill>
                          <a:latin typeface="Consolas"/>
                        </a:rPr>
                        <a:t>/api/dashboards/home</a:t>
                      </a:r>
                    </a:p>
                  </a:txBody>
                  <a:tcPr anchor="ctr">
                    <a:solidFill>
                      <a:srgbClr val="181B1F"/>
                    </a:solidFill>
                  </a:tcPr>
                </a:tc>
                <a:tc>
                  <a:txBody>
                    <a:bodyPr/>
                    <a:lstStyle/>
                    <a:p>
                      <a:pPr algn="l"/>
                      <a:r>
                        <a:rPr lang="en-US" sz="1400" b="0">
                          <a:solidFill>
                            <a:srgbClr val="B4BCC6"/>
                          </a:solidFill>
                          <a:latin typeface="Segoe UI"/>
                          <a:cs typeface="Segoe UI"/>
                        </a:rPr>
                        <a:t>Whatever is set as the home dashboard</a:t>
                      </a:r>
                    </a:p>
                  </a:txBody>
                  <a:tcPr anchor="ctr">
                    <a:solidFill>
                      <a:srgbClr val="181B1F"/>
                    </a:solidFill>
                  </a:tcPr>
                </a:tc>
                <a:extLst>
                  <a:ext uri="{0D108BD9-81ED-4DB2-BD59-A6C34878D82A}">
                    <a16:rowId xmlns:a16="http://schemas.microsoft.com/office/drawing/2014/main" val="2488555171"/>
                  </a:ext>
                </a:extLst>
              </a:tr>
            </a:tbl>
          </a:graphicData>
        </a:graphic>
      </p:graphicFrame>
      <p:sp>
        <p:nvSpPr>
          <p:cNvPr id="7" name="Rectangle: Rounded Corners 6">
            <a:extLst>
              <a:ext uri="{FF2B5EF4-FFF2-40B4-BE49-F238E27FC236}">
                <a16:creationId xmlns:a16="http://schemas.microsoft.com/office/drawing/2014/main" id="{0D3C42C3-DA99-48D0-BBFF-001211DC7286}"/>
              </a:ext>
            </a:extLst>
          </p:cNvPr>
          <p:cNvSpPr/>
          <p:nvPr/>
        </p:nvSpPr>
        <p:spPr>
          <a:xfrm>
            <a:off x="762000" y="4368800"/>
            <a:ext cx="6604000" cy="18542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5DCB1FA1-8AAC-4FD5-983A-2ABD4FBB946C}"/>
              </a:ext>
            </a:extLst>
          </p:cNvPr>
          <p:cNvSpPr txBox="1"/>
          <p:nvPr/>
        </p:nvSpPr>
        <p:spPr>
          <a:xfrm>
            <a:off x="939800" y="4470400"/>
            <a:ext cx="60960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Create or update in one shot</a:t>
            </a:r>
          </a:p>
        </p:txBody>
      </p:sp>
      <p:sp>
        <p:nvSpPr>
          <p:cNvPr id="9" name="TextBox 8">
            <a:extLst>
              <a:ext uri="{FF2B5EF4-FFF2-40B4-BE49-F238E27FC236}">
                <a16:creationId xmlns:a16="http://schemas.microsoft.com/office/drawing/2014/main" id="{FCE840E3-2A99-463A-9B19-BD18736838CA}"/>
              </a:ext>
            </a:extLst>
          </p:cNvPr>
          <p:cNvSpPr txBox="1"/>
          <p:nvPr/>
        </p:nvSpPr>
        <p:spPr>
          <a:xfrm>
            <a:off x="939800" y="4775200"/>
            <a:ext cx="6248400" cy="1346200"/>
          </a:xfrm>
          <a:prstGeom prst="rect">
            <a:avLst/>
          </a:prstGeom>
          <a:noFill/>
        </p:spPr>
        <p:txBody>
          <a:bodyPr vertOverflow="overflow" vert="horz" wrap="none" rtlCol="0" anchor="t">
            <a:noAutofit/>
          </a:bodyPr>
          <a:lstStyle/>
          <a:p>
            <a:pPr algn="l"/>
            <a:r>
              <a:rPr lang="en-US" sz="1400">
                <a:solidFill>
                  <a:srgbClr val="C8CDD4"/>
                </a:solidFill>
                <a:latin typeface="Consolas"/>
              </a:rPr>
              <a:t>curl -X POST http://localhost:3000/api/dashboards/db \
  -H "Authorization: Bearer $TOKEN" \
  -H "Content-Type: application/json" \
  -d '{"dashboard":{"uid":"api-demo","title":"Built by API",
        "panels":[],"schemaVersion":39},
       "folderUid":"ops","message":"via CI","overwrite":true}'</a:t>
            </a:r>
          </a:p>
        </p:txBody>
      </p:sp>
      <p:sp>
        <p:nvSpPr>
          <p:cNvPr id="10" name="Rectangle: Rounded Corners 9">
            <a:extLst>
              <a:ext uri="{FF2B5EF4-FFF2-40B4-BE49-F238E27FC236}">
                <a16:creationId xmlns:a16="http://schemas.microsoft.com/office/drawing/2014/main" id="{1F1D8FDA-F249-4600-98E1-4C00EAF0B835}"/>
              </a:ext>
            </a:extLst>
          </p:cNvPr>
          <p:cNvSpPr/>
          <p:nvPr/>
        </p:nvSpPr>
        <p:spPr>
          <a:xfrm>
            <a:off x="7620000" y="4368800"/>
            <a:ext cx="3810000" cy="863600"/>
          </a:xfrm>
          <a:prstGeom prst="roundRect">
            <a:avLst/>
          </a:prstGeom>
          <a:solidFill>
            <a:srgbClr val="1B1E24"/>
          </a:solidFill>
          <a:ln w="15875" cap="flat" cmpd="sng" algn="ctr">
            <a:solidFill>
              <a:srgbClr val="F249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9483EF3D-0D00-48A3-BE29-A95E8F5BE1C9}"/>
              </a:ext>
            </a:extLst>
          </p:cNvPr>
          <p:cNvSpPr txBox="1"/>
          <p:nvPr/>
        </p:nvSpPr>
        <p:spPr>
          <a:xfrm>
            <a:off x="7848600" y="4495800"/>
            <a:ext cx="3352800" cy="254000"/>
          </a:xfrm>
          <a:prstGeom prst="rect">
            <a:avLst/>
          </a:prstGeom>
          <a:noFill/>
        </p:spPr>
        <p:txBody>
          <a:bodyPr vertOverflow="overflow" vert="horz" wrap="square" rtlCol="0" anchor="t">
            <a:noAutofit/>
          </a:bodyPr>
          <a:lstStyle/>
          <a:p>
            <a:pPr algn="l"/>
            <a:r>
              <a:rPr lang="en-US" sz="1500" b="1">
                <a:solidFill>
                  <a:srgbClr val="F2495C"/>
                </a:solidFill>
                <a:latin typeface="Segoe UI"/>
                <a:cs typeface="Segoe UI"/>
              </a:rPr>
              <a:t>412 Precondition Failed</a:t>
            </a:r>
          </a:p>
        </p:txBody>
      </p:sp>
      <p:sp>
        <p:nvSpPr>
          <p:cNvPr id="12" name="TextBox 11">
            <a:extLst>
              <a:ext uri="{FF2B5EF4-FFF2-40B4-BE49-F238E27FC236}">
                <a16:creationId xmlns:a16="http://schemas.microsoft.com/office/drawing/2014/main" id="{66A44DA7-04C6-4382-ABE7-77CA4ADCDCAC}"/>
              </a:ext>
            </a:extLst>
          </p:cNvPr>
          <p:cNvSpPr txBox="1"/>
          <p:nvPr/>
        </p:nvSpPr>
        <p:spPr>
          <a:xfrm>
            <a:off x="7848600" y="4775200"/>
            <a:ext cx="3352800" cy="406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Someone edited it since your read. Re-fetch, or send overwrite:true.</a:t>
            </a:r>
          </a:p>
        </p:txBody>
      </p:sp>
      <p:sp>
        <p:nvSpPr>
          <p:cNvPr id="13" name="Rectangle: Rounded Corners 12">
            <a:extLst>
              <a:ext uri="{FF2B5EF4-FFF2-40B4-BE49-F238E27FC236}">
                <a16:creationId xmlns:a16="http://schemas.microsoft.com/office/drawing/2014/main" id="{7D38D909-BE12-4BE7-A3C1-AEA4C2D1C652}"/>
              </a:ext>
            </a:extLst>
          </p:cNvPr>
          <p:cNvSpPr/>
          <p:nvPr/>
        </p:nvSpPr>
        <p:spPr>
          <a:xfrm>
            <a:off x="7620000" y="5359400"/>
            <a:ext cx="3810000" cy="8636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19106902-5C96-4735-B00B-AB750C20D425}"/>
              </a:ext>
            </a:extLst>
          </p:cNvPr>
          <p:cNvSpPr txBox="1"/>
          <p:nvPr/>
        </p:nvSpPr>
        <p:spPr>
          <a:xfrm>
            <a:off x="7848600" y="5486400"/>
            <a:ext cx="33528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uid is the contract</a:t>
            </a:r>
          </a:p>
        </p:txBody>
      </p:sp>
      <p:sp>
        <p:nvSpPr>
          <p:cNvPr id="15" name="TextBox 14">
            <a:extLst>
              <a:ext uri="{FF2B5EF4-FFF2-40B4-BE49-F238E27FC236}">
                <a16:creationId xmlns:a16="http://schemas.microsoft.com/office/drawing/2014/main" id="{066D9011-4769-49EB-8874-EA7ED7CBCF16}"/>
              </a:ext>
            </a:extLst>
          </p:cNvPr>
          <p:cNvSpPr txBox="1"/>
          <p:nvPr/>
        </p:nvSpPr>
        <p:spPr>
          <a:xfrm>
            <a:off x="7848600" y="5765800"/>
            <a:ext cx="3352800" cy="406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Set uid yourself so the same file always lands on the same dashboard.</a:t>
            </a:r>
          </a:p>
        </p:txBody>
      </p:sp>
    </p:spTree>
    <p:extLst>
      <p:ext uri="{BB962C8B-B14F-4D97-AF65-F5344CB8AC3E}">
        <p14:creationId xmlns:p14="http://schemas.microsoft.com/office/powerpoint/2010/main" val="1126558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6F6EF-0057-518E-B673-5E65B9593639}"/>
              </a:ext>
            </a:extLst>
          </p:cNvPr>
          <p:cNvSpPr>
            <a:spLocks noGrp="1"/>
          </p:cNvSpPr>
          <p:nvPr>
            <p:ph type="title"/>
          </p:nvPr>
        </p:nvSpPr>
        <p:spPr>
          <a:xfrm>
            <a:off x="762000" y="406400"/>
            <a:ext cx="10668000" cy="533400"/>
          </a:xfrm>
        </p:spPr>
        <p:txBody>
          <a:bodyPr>
            <a:normAutofit/>
          </a:bodyPr>
          <a:lstStyle/>
          <a:p>
            <a:r>
              <a:rPr lang="en-US" sz="3000" b="1"/>
              <a:t>Folder API</a:t>
            </a:r>
          </a:p>
        </p:txBody>
      </p:sp>
      <p:sp>
        <p:nvSpPr>
          <p:cNvPr id="3" name="Rectangle 2">
            <a:extLst>
              <a:ext uri="{FF2B5EF4-FFF2-40B4-BE49-F238E27FC236}">
                <a16:creationId xmlns:a16="http://schemas.microsoft.com/office/drawing/2014/main" id="{A20CCB59-E70C-498C-8542-D8E544F12F23}"/>
              </a:ext>
            </a:extLst>
          </p:cNvPr>
          <p:cNvSpPr/>
          <p:nvPr/>
        </p:nvSpPr>
        <p:spPr>
          <a:xfrm>
            <a:off x="762000" y="1016000"/>
            <a:ext cx="889000" cy="381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E258AFA0-E7FD-4F9C-B09D-21ADE5B4432D}"/>
              </a:ext>
            </a:extLst>
          </p:cNvPr>
          <p:cNvSpPr txBox="1"/>
          <p:nvPr/>
        </p:nvSpPr>
        <p:spPr>
          <a:xfrm>
            <a:off x="762000" y="1143000"/>
            <a:ext cx="8890000" cy="279400"/>
          </a:xfrm>
          <a:prstGeom prst="rect">
            <a:avLst/>
          </a:prstGeom>
          <a:noFill/>
        </p:spPr>
        <p:txBody>
          <a:bodyPr vertOverflow="overflow" vert="horz" wrap="square" rtlCol="0" anchor="t">
            <a:noAutofit/>
          </a:bodyPr>
          <a:lstStyle/>
          <a:p>
            <a:pPr algn="l"/>
            <a:r>
              <a:rPr lang="en-US" sz="1500" dirty="0">
                <a:solidFill>
                  <a:srgbClr val="8A929C"/>
                </a:solidFill>
                <a:latin typeface="Segoe UI"/>
                <a:cs typeface="Segoe UI"/>
              </a:rPr>
              <a:t>Folders are where permissions live - get the tree right and access control follows.</a:t>
            </a:r>
          </a:p>
        </p:txBody>
      </p:sp>
      <p:sp>
        <p:nvSpPr>
          <p:cNvPr id="5" name="Rectangle: Rounded Corners 4">
            <a:extLst>
              <a:ext uri="{FF2B5EF4-FFF2-40B4-BE49-F238E27FC236}">
                <a16:creationId xmlns:a16="http://schemas.microsoft.com/office/drawing/2014/main" id="{8E17ECBC-542E-4A71-9659-75529AA90ABB}"/>
              </a:ext>
            </a:extLst>
          </p:cNvPr>
          <p:cNvSpPr/>
          <p:nvPr/>
        </p:nvSpPr>
        <p:spPr>
          <a:xfrm>
            <a:off x="762000" y="1498600"/>
            <a:ext cx="5461000" cy="24384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AAE68AB2-74FE-44B6-AA4E-E2F934A200C2}"/>
              </a:ext>
            </a:extLst>
          </p:cNvPr>
          <p:cNvSpPr txBox="1"/>
          <p:nvPr/>
        </p:nvSpPr>
        <p:spPr>
          <a:xfrm>
            <a:off x="990600" y="1651000"/>
            <a:ext cx="4826000" cy="279400"/>
          </a:xfrm>
          <a:prstGeom prst="rect">
            <a:avLst/>
          </a:prstGeom>
          <a:noFill/>
        </p:spPr>
        <p:txBody>
          <a:bodyPr vertOverflow="overflow" vert="horz" wrap="square" rtlCol="0" anchor="t">
            <a:noAutofit/>
          </a:bodyPr>
          <a:lstStyle/>
          <a:p>
            <a:pPr algn="l"/>
            <a:r>
              <a:rPr lang="en-US" sz="1700" b="1">
                <a:solidFill>
                  <a:srgbClr val="6E9FFF"/>
                </a:solidFill>
                <a:latin typeface="Segoe UI"/>
                <a:cs typeface="Segoe UI"/>
              </a:rPr>
              <a:t>A folder tree is a permission tree</a:t>
            </a:r>
          </a:p>
        </p:txBody>
      </p:sp>
      <p:sp>
        <p:nvSpPr>
          <p:cNvPr id="7" name="TextBox 6">
            <a:extLst>
              <a:ext uri="{FF2B5EF4-FFF2-40B4-BE49-F238E27FC236}">
                <a16:creationId xmlns:a16="http://schemas.microsoft.com/office/drawing/2014/main" id="{32DC6FA6-5844-4D9A-9F3D-F267847D4B6D}"/>
              </a:ext>
            </a:extLst>
          </p:cNvPr>
          <p:cNvSpPr txBox="1"/>
          <p:nvPr/>
        </p:nvSpPr>
        <p:spPr>
          <a:xfrm>
            <a:off x="990600" y="2032000"/>
            <a:ext cx="5080000" cy="1905000"/>
          </a:xfrm>
          <a:prstGeom prst="rect">
            <a:avLst/>
          </a:prstGeom>
          <a:noFill/>
        </p:spPr>
        <p:txBody>
          <a:bodyPr vertOverflow="overflow" vert="horz" wrap="none" rtlCol="0" anchor="t">
            <a:noAutofit/>
          </a:bodyPr>
          <a:lstStyle/>
          <a:p>
            <a:pPr algn="l"/>
            <a:r>
              <a:rPr lang="en-US" sz="1400">
                <a:solidFill>
                  <a:srgbClr val="C8CDD4"/>
                </a:solidFill>
                <a:latin typeface="Consolas"/>
              </a:rPr>
              <a:t>Main Org.
├── General              default, keep it empty
├── Platform            Team Platform → Editor
│   ├── Node health
│   └── K8s overview
└── Payments            Team Payments → Editor
    ├── Latency SLO      On-call → Viewer
    └── Error budget</a:t>
            </a:r>
          </a:p>
        </p:txBody>
      </p:sp>
      <p:graphicFrame>
        <p:nvGraphicFramePr>
          <p:cNvPr id="9" name="Table 8">
            <a:extLst>
              <a:ext uri="{FF2B5EF4-FFF2-40B4-BE49-F238E27FC236}">
                <a16:creationId xmlns:a16="http://schemas.microsoft.com/office/drawing/2014/main" id="{ADCD6CB9-9446-4B72-B054-EFF269CA7DAB}"/>
              </a:ext>
            </a:extLst>
          </p:cNvPr>
          <p:cNvGraphicFramePr>
            <a:graphicFrameLocks noGrp="1"/>
          </p:cNvGraphicFramePr>
          <p:nvPr>
            <p:extLst>
              <p:ext uri="{D42A27DB-BD31-4B8C-83A1-F6EECF244321}">
                <p14:modId xmlns:p14="http://schemas.microsoft.com/office/powerpoint/2010/main" val="3238255843"/>
              </p:ext>
            </p:extLst>
          </p:nvPr>
        </p:nvGraphicFramePr>
        <p:xfrm>
          <a:off x="6477000" y="1498600"/>
          <a:ext cx="4953000" cy="419608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1116555038"/>
                    </a:ext>
                  </a:extLst>
                </a:gridCol>
                <a:gridCol w="2413000">
                  <a:extLst>
                    <a:ext uri="{9D8B030D-6E8A-4147-A177-3AD203B41FA5}">
                      <a16:colId xmlns:a16="http://schemas.microsoft.com/office/drawing/2014/main" val="82257716"/>
                    </a:ext>
                  </a:extLst>
                </a:gridCol>
              </a:tblGrid>
              <a:tr h="330200">
                <a:tc>
                  <a:txBody>
                    <a:bodyPr/>
                    <a:lstStyle/>
                    <a:p>
                      <a:r>
                        <a:rPr lang="en-US" sz="1500" b="1" dirty="0">
                          <a:solidFill>
                            <a:srgbClr val="FF8800"/>
                          </a:solidFill>
                        </a:rPr>
                        <a:t>Endpoint</a:t>
                      </a:r>
                    </a:p>
                  </a:txBody>
                  <a:tcPr anchor="ctr">
                    <a:solidFill>
                      <a:srgbClr val="2A1C0B"/>
                    </a:solidFill>
                  </a:tcPr>
                </a:tc>
                <a:tc>
                  <a:txBody>
                    <a:bodyPr/>
                    <a:lstStyle/>
                    <a:p>
                      <a:r>
                        <a:rPr lang="en-US" sz="1500" b="1">
                          <a:solidFill>
                            <a:srgbClr val="FF8800"/>
                          </a:solidFill>
                        </a:rPr>
                        <a:t>What it does</a:t>
                      </a:r>
                    </a:p>
                  </a:txBody>
                  <a:tcPr anchor="ctr">
                    <a:solidFill>
                      <a:srgbClr val="2A1C0B"/>
                    </a:solidFill>
                  </a:tcPr>
                </a:tc>
                <a:extLst>
                  <a:ext uri="{0D108BD9-81ED-4DB2-BD59-A6C34878D82A}">
                    <a16:rowId xmlns:a16="http://schemas.microsoft.com/office/drawing/2014/main" val="4219910033"/>
                  </a:ext>
                </a:extLst>
              </a:tr>
              <a:tr h="330200">
                <a:tc>
                  <a:txBody>
                    <a:bodyPr/>
                    <a:lstStyle/>
                    <a:p>
                      <a:r>
                        <a:rPr lang="en-US" sz="1400">
                          <a:solidFill>
                            <a:srgbClr val="FFFFFF"/>
                          </a:solidFill>
                          <a:latin typeface="Consolas"/>
                        </a:rPr>
                        <a:t>GET /api/folders</a:t>
                      </a:r>
                    </a:p>
                  </a:txBody>
                  <a:tcPr anchor="ctr">
                    <a:solidFill>
                      <a:srgbClr val="1B1E24"/>
                    </a:solidFill>
                  </a:tcPr>
                </a:tc>
                <a:tc>
                  <a:txBody>
                    <a:bodyPr/>
                    <a:lstStyle/>
                    <a:p>
                      <a:r>
                        <a:rPr lang="en-US" sz="1400">
                          <a:solidFill>
                            <a:srgbClr val="B4BCC6"/>
                          </a:solidFill>
                          <a:latin typeface="Segoe UI"/>
                          <a:cs typeface="Segoe UI"/>
                        </a:rPr>
                        <a:t>List folders you are allowed to see</a:t>
                      </a:r>
                    </a:p>
                  </a:txBody>
                  <a:tcPr anchor="ctr">
                    <a:solidFill>
                      <a:srgbClr val="1B1E24"/>
                    </a:solidFill>
                  </a:tcPr>
                </a:tc>
                <a:extLst>
                  <a:ext uri="{0D108BD9-81ED-4DB2-BD59-A6C34878D82A}">
                    <a16:rowId xmlns:a16="http://schemas.microsoft.com/office/drawing/2014/main" val="2413265"/>
                  </a:ext>
                </a:extLst>
              </a:tr>
              <a:tr h="330200">
                <a:tc>
                  <a:txBody>
                    <a:bodyPr/>
                    <a:lstStyle/>
                    <a:p>
                      <a:r>
                        <a:rPr lang="en-US" sz="1400">
                          <a:solidFill>
                            <a:srgbClr val="FFFFFF"/>
                          </a:solidFill>
                          <a:latin typeface="Consolas"/>
                        </a:rPr>
                        <a:t>POST /api/folders</a:t>
                      </a:r>
                    </a:p>
                  </a:txBody>
                  <a:tcPr anchor="ctr">
                    <a:solidFill>
                      <a:srgbClr val="181B1F"/>
                    </a:solidFill>
                  </a:tcPr>
                </a:tc>
                <a:tc>
                  <a:txBody>
                    <a:bodyPr/>
                    <a:lstStyle/>
                    <a:p>
                      <a:r>
                        <a:rPr lang="en-US" sz="1400" dirty="0">
                          <a:solidFill>
                            <a:srgbClr val="B4BCC6"/>
                          </a:solidFill>
                          <a:latin typeface="Segoe UI"/>
                          <a:cs typeface="Segoe UI"/>
                        </a:rPr>
                        <a:t>Create - {</a:t>
                      </a:r>
                      <a:r>
                        <a:rPr lang="en-US" sz="1400" dirty="0" err="1">
                          <a:solidFill>
                            <a:srgbClr val="B4BCC6"/>
                          </a:solidFill>
                          <a:latin typeface="Segoe UI"/>
                          <a:cs typeface="Segoe UI"/>
                        </a:rPr>
                        <a:t>uid</a:t>
                      </a:r>
                      <a:r>
                        <a:rPr lang="en-US" sz="1400" dirty="0">
                          <a:solidFill>
                            <a:srgbClr val="B4BCC6"/>
                          </a:solidFill>
                          <a:latin typeface="Segoe UI"/>
                          <a:cs typeface="Segoe UI"/>
                        </a:rPr>
                        <a:t>, title, </a:t>
                      </a:r>
                      <a:r>
                        <a:rPr lang="en-US" sz="1400" dirty="0" err="1">
                          <a:solidFill>
                            <a:srgbClr val="B4BCC6"/>
                          </a:solidFill>
                          <a:latin typeface="Segoe UI"/>
                          <a:cs typeface="Segoe UI"/>
                        </a:rPr>
                        <a:t>parentUid</a:t>
                      </a:r>
                      <a:r>
                        <a:rPr lang="en-US" sz="1400" dirty="0">
                          <a:solidFill>
                            <a:srgbClr val="B4BCC6"/>
                          </a:solidFill>
                          <a:latin typeface="Segoe UI"/>
                          <a:cs typeface="Segoe UI"/>
                        </a:rPr>
                        <a:t>}</a:t>
                      </a:r>
                    </a:p>
                  </a:txBody>
                  <a:tcPr anchor="ctr">
                    <a:solidFill>
                      <a:srgbClr val="181B1F"/>
                    </a:solidFill>
                  </a:tcPr>
                </a:tc>
                <a:extLst>
                  <a:ext uri="{0D108BD9-81ED-4DB2-BD59-A6C34878D82A}">
                    <a16:rowId xmlns:a16="http://schemas.microsoft.com/office/drawing/2014/main" val="3252426846"/>
                  </a:ext>
                </a:extLst>
              </a:tr>
              <a:tr h="330200">
                <a:tc>
                  <a:txBody>
                    <a:bodyPr/>
                    <a:lstStyle/>
                    <a:p>
                      <a:r>
                        <a:rPr lang="en-US" sz="1400">
                          <a:solidFill>
                            <a:srgbClr val="FFFFFF"/>
                          </a:solidFill>
                          <a:latin typeface="Consolas"/>
                        </a:rPr>
                        <a:t>GET /api/folders/:uid</a:t>
                      </a:r>
                    </a:p>
                  </a:txBody>
                  <a:tcPr anchor="ctr">
                    <a:solidFill>
                      <a:srgbClr val="1B1E24"/>
                    </a:solidFill>
                  </a:tcPr>
                </a:tc>
                <a:tc>
                  <a:txBody>
                    <a:bodyPr/>
                    <a:lstStyle/>
                    <a:p>
                      <a:r>
                        <a:rPr lang="en-US" sz="1400">
                          <a:solidFill>
                            <a:srgbClr val="B4BCC6"/>
                          </a:solidFill>
                          <a:latin typeface="Segoe UI"/>
                          <a:cs typeface="Segoe UI"/>
                        </a:rPr>
                        <a:t>Read one folder</a:t>
                      </a:r>
                    </a:p>
                  </a:txBody>
                  <a:tcPr anchor="ctr">
                    <a:solidFill>
                      <a:srgbClr val="1B1E24"/>
                    </a:solidFill>
                  </a:tcPr>
                </a:tc>
                <a:extLst>
                  <a:ext uri="{0D108BD9-81ED-4DB2-BD59-A6C34878D82A}">
                    <a16:rowId xmlns:a16="http://schemas.microsoft.com/office/drawing/2014/main" val="1039464726"/>
                  </a:ext>
                </a:extLst>
              </a:tr>
              <a:tr h="330200">
                <a:tc>
                  <a:txBody>
                    <a:bodyPr/>
                    <a:lstStyle/>
                    <a:p>
                      <a:r>
                        <a:rPr lang="en-US" sz="1400">
                          <a:solidFill>
                            <a:srgbClr val="FFFFFF"/>
                          </a:solidFill>
                          <a:latin typeface="Consolas"/>
                        </a:rPr>
                        <a:t>PUT /api/folders/:uid</a:t>
                      </a:r>
                    </a:p>
                  </a:txBody>
                  <a:tcPr anchor="ctr">
                    <a:solidFill>
                      <a:srgbClr val="181B1F"/>
                    </a:solidFill>
                  </a:tcPr>
                </a:tc>
                <a:tc>
                  <a:txBody>
                    <a:bodyPr/>
                    <a:lstStyle/>
                    <a:p>
                      <a:r>
                        <a:rPr lang="en-US" sz="1400">
                          <a:solidFill>
                            <a:srgbClr val="B4BCC6"/>
                          </a:solidFill>
                          <a:latin typeface="Segoe UI"/>
                          <a:cs typeface="Segoe UI"/>
                        </a:rPr>
                        <a:t>Rename or move (send version)</a:t>
                      </a:r>
                    </a:p>
                  </a:txBody>
                  <a:tcPr anchor="ctr">
                    <a:solidFill>
                      <a:srgbClr val="181B1F"/>
                    </a:solidFill>
                  </a:tcPr>
                </a:tc>
                <a:extLst>
                  <a:ext uri="{0D108BD9-81ED-4DB2-BD59-A6C34878D82A}">
                    <a16:rowId xmlns:a16="http://schemas.microsoft.com/office/drawing/2014/main" val="1063628460"/>
                  </a:ext>
                </a:extLst>
              </a:tr>
              <a:tr h="330200">
                <a:tc>
                  <a:txBody>
                    <a:bodyPr/>
                    <a:lstStyle/>
                    <a:p>
                      <a:r>
                        <a:rPr lang="en-US" sz="1400">
                          <a:solidFill>
                            <a:srgbClr val="FFFFFF"/>
                          </a:solidFill>
                          <a:latin typeface="Consolas"/>
                        </a:rPr>
                        <a:t>DELETE /api/folders/:uid</a:t>
                      </a:r>
                    </a:p>
                  </a:txBody>
                  <a:tcPr anchor="ctr">
                    <a:solidFill>
                      <a:srgbClr val="1B1E24"/>
                    </a:solidFill>
                  </a:tcPr>
                </a:tc>
                <a:tc>
                  <a:txBody>
                    <a:bodyPr/>
                    <a:lstStyle/>
                    <a:p>
                      <a:r>
                        <a:rPr lang="en-US" sz="1400">
                          <a:solidFill>
                            <a:srgbClr val="B4BCC6"/>
                          </a:solidFill>
                          <a:latin typeface="Segoe UI"/>
                          <a:cs typeface="Segoe UI"/>
                        </a:rPr>
                        <a:t>Delete folder and everything in it</a:t>
                      </a:r>
                    </a:p>
                  </a:txBody>
                  <a:tcPr anchor="ctr">
                    <a:solidFill>
                      <a:srgbClr val="1B1E24"/>
                    </a:solidFill>
                  </a:tcPr>
                </a:tc>
                <a:extLst>
                  <a:ext uri="{0D108BD9-81ED-4DB2-BD59-A6C34878D82A}">
                    <a16:rowId xmlns:a16="http://schemas.microsoft.com/office/drawing/2014/main" val="2138510707"/>
                  </a:ext>
                </a:extLst>
              </a:tr>
              <a:tr h="330200">
                <a:tc>
                  <a:txBody>
                    <a:bodyPr/>
                    <a:lstStyle/>
                    <a:p>
                      <a:r>
                        <a:rPr lang="en-US" sz="1400">
                          <a:solidFill>
                            <a:srgbClr val="FFFFFF"/>
                          </a:solidFill>
                          <a:latin typeface="Consolas"/>
                        </a:rPr>
                        <a:t>GET /api/folders/:uid/permissions</a:t>
                      </a:r>
                    </a:p>
                  </a:txBody>
                  <a:tcPr anchor="ctr">
                    <a:solidFill>
                      <a:srgbClr val="181B1F"/>
                    </a:solidFill>
                  </a:tcPr>
                </a:tc>
                <a:tc>
                  <a:txBody>
                    <a:bodyPr/>
                    <a:lstStyle/>
                    <a:p>
                      <a:r>
                        <a:rPr lang="en-US" sz="1400">
                          <a:solidFill>
                            <a:srgbClr val="B4BCC6"/>
                          </a:solidFill>
                          <a:latin typeface="Segoe UI"/>
                          <a:cs typeface="Segoe UI"/>
                        </a:rPr>
                        <a:t>Read the access list</a:t>
                      </a:r>
                    </a:p>
                  </a:txBody>
                  <a:tcPr anchor="ctr">
                    <a:solidFill>
                      <a:srgbClr val="181B1F"/>
                    </a:solidFill>
                  </a:tcPr>
                </a:tc>
                <a:extLst>
                  <a:ext uri="{0D108BD9-81ED-4DB2-BD59-A6C34878D82A}">
                    <a16:rowId xmlns:a16="http://schemas.microsoft.com/office/drawing/2014/main" val="2244784026"/>
                  </a:ext>
                </a:extLst>
              </a:tr>
              <a:tr h="330200">
                <a:tc>
                  <a:txBody>
                    <a:bodyPr/>
                    <a:lstStyle/>
                    <a:p>
                      <a:r>
                        <a:rPr lang="en-US" sz="1400">
                          <a:solidFill>
                            <a:srgbClr val="FFFFFF"/>
                          </a:solidFill>
                          <a:latin typeface="Consolas"/>
                        </a:rPr>
                        <a:t>POST /api/folders/:uid/permissions</a:t>
                      </a:r>
                    </a:p>
                  </a:txBody>
                  <a:tcPr anchor="ctr">
                    <a:solidFill>
                      <a:srgbClr val="1B1E24"/>
                    </a:solidFill>
                  </a:tcPr>
                </a:tc>
                <a:tc>
                  <a:txBody>
                    <a:bodyPr/>
                    <a:lstStyle/>
                    <a:p>
                      <a:r>
                        <a:rPr lang="en-US" sz="1400">
                          <a:solidFill>
                            <a:srgbClr val="B4BCC6"/>
                          </a:solidFill>
                          <a:latin typeface="Segoe UI"/>
                          <a:cs typeface="Segoe UI"/>
                        </a:rPr>
                        <a:t>Replace the access list</a:t>
                      </a:r>
                    </a:p>
                  </a:txBody>
                  <a:tcPr anchor="ctr">
                    <a:solidFill>
                      <a:srgbClr val="1B1E24"/>
                    </a:solidFill>
                  </a:tcPr>
                </a:tc>
                <a:extLst>
                  <a:ext uri="{0D108BD9-81ED-4DB2-BD59-A6C34878D82A}">
                    <a16:rowId xmlns:a16="http://schemas.microsoft.com/office/drawing/2014/main" val="502432171"/>
                  </a:ext>
                </a:extLst>
              </a:tr>
            </a:tbl>
          </a:graphicData>
        </a:graphic>
      </p:graphicFrame>
      <p:sp>
        <p:nvSpPr>
          <p:cNvPr id="19" name="Rectangle: Rounded Corners 18">
            <a:extLst>
              <a:ext uri="{FF2B5EF4-FFF2-40B4-BE49-F238E27FC236}">
                <a16:creationId xmlns:a16="http://schemas.microsoft.com/office/drawing/2014/main" id="{7EF1F1FD-E440-402D-B93F-C767EC75CFE3}"/>
              </a:ext>
            </a:extLst>
          </p:cNvPr>
          <p:cNvSpPr/>
          <p:nvPr/>
        </p:nvSpPr>
        <p:spPr>
          <a:xfrm>
            <a:off x="762000" y="4140200"/>
            <a:ext cx="5461000" cy="2082800"/>
          </a:xfrm>
          <a:prstGeom prst="roundRect">
            <a:avLst/>
          </a:prstGeom>
          <a:solidFill>
            <a:srgbClr val="181B1F"/>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BFFC37F1-9EB4-4507-ABA1-DF98528E06CA}"/>
              </a:ext>
            </a:extLst>
          </p:cNvPr>
          <p:cNvSpPr txBox="1"/>
          <p:nvPr/>
        </p:nvSpPr>
        <p:spPr>
          <a:xfrm>
            <a:off x="990600" y="4292600"/>
            <a:ext cx="4826000" cy="279400"/>
          </a:xfrm>
          <a:prstGeom prst="rect">
            <a:avLst/>
          </a:prstGeom>
          <a:noFill/>
        </p:spPr>
        <p:txBody>
          <a:bodyPr vertOverflow="overflow" vert="horz" wrap="square" rtlCol="0" anchor="t">
            <a:noAutofit/>
          </a:bodyPr>
          <a:lstStyle/>
          <a:p>
            <a:pPr algn="l"/>
            <a:r>
              <a:rPr lang="en-US" sz="1600" b="1">
                <a:solidFill>
                  <a:srgbClr val="FF8800"/>
                </a:solidFill>
                <a:latin typeface="Segoe UI"/>
                <a:cs typeface="Segoe UI"/>
              </a:rPr>
              <a:t>Three things that surprise people</a:t>
            </a:r>
          </a:p>
        </p:txBody>
      </p:sp>
      <p:sp>
        <p:nvSpPr>
          <p:cNvPr id="21" name="Oval 20">
            <a:extLst>
              <a:ext uri="{FF2B5EF4-FFF2-40B4-BE49-F238E27FC236}">
                <a16:creationId xmlns:a16="http://schemas.microsoft.com/office/drawing/2014/main" id="{A162EF15-BAF4-430D-A668-DDA10EBA82F1}"/>
              </a:ext>
            </a:extLst>
          </p:cNvPr>
          <p:cNvSpPr/>
          <p:nvPr/>
        </p:nvSpPr>
        <p:spPr>
          <a:xfrm>
            <a:off x="1016000" y="4711700"/>
            <a:ext cx="127000" cy="127000"/>
          </a:xfrm>
          <a:prstGeom prst="ellipse">
            <a:avLst/>
          </a:prstGeom>
          <a:solidFill>
            <a:srgbClr val="F249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B75257C8-7C0C-42CD-9A1C-A231E8B842F5}"/>
              </a:ext>
            </a:extLst>
          </p:cNvPr>
          <p:cNvSpPr txBox="1"/>
          <p:nvPr/>
        </p:nvSpPr>
        <p:spPr>
          <a:xfrm>
            <a:off x="1244600" y="4648200"/>
            <a:ext cx="4572000" cy="254000"/>
          </a:xfrm>
          <a:prstGeom prst="rect">
            <a:avLst/>
          </a:prstGeom>
          <a:noFill/>
        </p:spPr>
        <p:txBody>
          <a:bodyPr vertOverflow="overflow" vert="horz" wrap="square" rtlCol="0" anchor="t">
            <a:noAutofit/>
          </a:bodyPr>
          <a:lstStyle/>
          <a:p>
            <a:pPr algn="l"/>
            <a:r>
              <a:rPr lang="en-US" sz="1500" b="1">
                <a:solidFill>
                  <a:srgbClr val="F2495C"/>
                </a:solidFill>
                <a:latin typeface="Segoe UI"/>
                <a:cs typeface="Segoe UI"/>
              </a:rPr>
              <a:t>Delete is recursive</a:t>
            </a:r>
          </a:p>
        </p:txBody>
      </p:sp>
      <p:sp>
        <p:nvSpPr>
          <p:cNvPr id="23" name="TextBox 22">
            <a:extLst>
              <a:ext uri="{FF2B5EF4-FFF2-40B4-BE49-F238E27FC236}">
                <a16:creationId xmlns:a16="http://schemas.microsoft.com/office/drawing/2014/main" id="{B65D6979-8ED3-40CC-AF18-B6355FD8F3BA}"/>
              </a:ext>
            </a:extLst>
          </p:cNvPr>
          <p:cNvSpPr txBox="1"/>
          <p:nvPr/>
        </p:nvSpPr>
        <p:spPr>
          <a:xfrm>
            <a:off x="1244600" y="4927600"/>
            <a:ext cx="4775200" cy="2286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Removing a folder removes every dashboard inside it - there is no recycle bin.</a:t>
            </a:r>
          </a:p>
        </p:txBody>
      </p:sp>
      <p:sp>
        <p:nvSpPr>
          <p:cNvPr id="24" name="Oval 23">
            <a:extLst>
              <a:ext uri="{FF2B5EF4-FFF2-40B4-BE49-F238E27FC236}">
                <a16:creationId xmlns:a16="http://schemas.microsoft.com/office/drawing/2014/main" id="{91ADB30F-0A79-4ED1-8894-D4F953324069}"/>
              </a:ext>
            </a:extLst>
          </p:cNvPr>
          <p:cNvSpPr/>
          <p:nvPr/>
        </p:nvSpPr>
        <p:spPr>
          <a:xfrm>
            <a:off x="1016000" y="5245100"/>
            <a:ext cx="127000" cy="127000"/>
          </a:xfrm>
          <a:prstGeom prst="ellipse">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7F3A4869-C38F-4E89-9B89-6D939BE702F8}"/>
              </a:ext>
            </a:extLst>
          </p:cNvPr>
          <p:cNvSpPr txBox="1"/>
          <p:nvPr/>
        </p:nvSpPr>
        <p:spPr>
          <a:xfrm>
            <a:off x="1244600" y="5181600"/>
            <a:ext cx="45720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Permissions live here</a:t>
            </a:r>
          </a:p>
        </p:txBody>
      </p:sp>
      <p:sp>
        <p:nvSpPr>
          <p:cNvPr id="26" name="TextBox 25">
            <a:extLst>
              <a:ext uri="{FF2B5EF4-FFF2-40B4-BE49-F238E27FC236}">
                <a16:creationId xmlns:a16="http://schemas.microsoft.com/office/drawing/2014/main" id="{14A5B484-3938-480B-BC6A-AF8E269C0B46}"/>
              </a:ext>
            </a:extLst>
          </p:cNvPr>
          <p:cNvSpPr txBox="1"/>
          <p:nvPr/>
        </p:nvSpPr>
        <p:spPr>
          <a:xfrm>
            <a:off x="1244600" y="5461000"/>
            <a:ext cx="47752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Grant a team Editor on the folder, not on each dashboard.</a:t>
            </a:r>
          </a:p>
        </p:txBody>
      </p:sp>
      <p:sp>
        <p:nvSpPr>
          <p:cNvPr id="27" name="Oval 26">
            <a:extLst>
              <a:ext uri="{FF2B5EF4-FFF2-40B4-BE49-F238E27FC236}">
                <a16:creationId xmlns:a16="http://schemas.microsoft.com/office/drawing/2014/main" id="{04EB9C27-C6F1-42E2-A80E-BD391E494C79}"/>
              </a:ext>
            </a:extLst>
          </p:cNvPr>
          <p:cNvSpPr/>
          <p:nvPr/>
        </p:nvSpPr>
        <p:spPr>
          <a:xfrm>
            <a:off x="1016000" y="5778500"/>
            <a:ext cx="127000" cy="1270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CD06E4F1-ECE6-4840-ABD5-AB9D1FFAE88F}"/>
              </a:ext>
            </a:extLst>
          </p:cNvPr>
          <p:cNvSpPr txBox="1"/>
          <p:nvPr/>
        </p:nvSpPr>
        <p:spPr>
          <a:xfrm>
            <a:off x="1244600" y="5715000"/>
            <a:ext cx="45720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Provisioned folders are read-only</a:t>
            </a:r>
          </a:p>
        </p:txBody>
      </p:sp>
      <p:sp>
        <p:nvSpPr>
          <p:cNvPr id="29" name="TextBox 28">
            <a:extLst>
              <a:ext uri="{FF2B5EF4-FFF2-40B4-BE49-F238E27FC236}">
                <a16:creationId xmlns:a16="http://schemas.microsoft.com/office/drawing/2014/main" id="{C03857AA-2F7A-4CEF-96DB-BA8944A627E4}"/>
              </a:ext>
            </a:extLst>
          </p:cNvPr>
          <p:cNvSpPr txBox="1"/>
          <p:nvPr/>
        </p:nvSpPr>
        <p:spPr>
          <a:xfrm>
            <a:off x="1244600" y="5994400"/>
            <a:ext cx="47752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Rename them in the file, not in the UI.</a:t>
            </a:r>
          </a:p>
        </p:txBody>
      </p:sp>
    </p:spTree>
    <p:extLst>
      <p:ext uri="{BB962C8B-B14F-4D97-AF65-F5344CB8AC3E}">
        <p14:creationId xmlns:p14="http://schemas.microsoft.com/office/powerpoint/2010/main" val="1341069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1006-6A17-A303-1B7C-70E41134E5A6}"/>
              </a:ext>
            </a:extLst>
          </p:cNvPr>
          <p:cNvSpPr>
            <a:spLocks noGrp="1"/>
          </p:cNvSpPr>
          <p:nvPr>
            <p:ph type="title"/>
          </p:nvPr>
        </p:nvSpPr>
        <p:spPr>
          <a:xfrm>
            <a:off x="762000" y="406400"/>
            <a:ext cx="10668000" cy="533400"/>
          </a:xfrm>
        </p:spPr>
        <p:txBody>
          <a:bodyPr>
            <a:normAutofit/>
          </a:bodyPr>
          <a:lstStyle/>
          <a:p>
            <a:r>
              <a:rPr lang="en-US" sz="3000" b="1"/>
              <a:t>User, Org &amp; Team API</a:t>
            </a:r>
          </a:p>
        </p:txBody>
      </p:sp>
      <p:sp>
        <p:nvSpPr>
          <p:cNvPr id="3" name="Rectangle 2">
            <a:extLst>
              <a:ext uri="{FF2B5EF4-FFF2-40B4-BE49-F238E27FC236}">
                <a16:creationId xmlns:a16="http://schemas.microsoft.com/office/drawing/2014/main" id="{BB1972CE-992A-4FA0-857C-E059CCDDCF77}"/>
              </a:ext>
            </a:extLst>
          </p:cNvPr>
          <p:cNvSpPr/>
          <p:nvPr/>
        </p:nvSpPr>
        <p:spPr>
          <a:xfrm>
            <a:off x="762000" y="1016000"/>
            <a:ext cx="889000" cy="381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426A0141-09B8-49A2-9A97-C4E31FD15071}"/>
              </a:ext>
            </a:extLst>
          </p:cNvPr>
          <p:cNvSpPr txBox="1"/>
          <p:nvPr/>
        </p:nvSpPr>
        <p:spPr>
          <a:xfrm>
            <a:off x="762000" y="1143000"/>
            <a:ext cx="8890000" cy="279400"/>
          </a:xfrm>
          <a:prstGeom prst="rect">
            <a:avLst/>
          </a:prstGeom>
          <a:noFill/>
        </p:spPr>
        <p:txBody>
          <a:bodyPr vertOverflow="overflow" vert="horz" wrap="square" rtlCol="0" anchor="t">
            <a:noAutofit/>
          </a:bodyPr>
          <a:lstStyle/>
          <a:p>
            <a:pPr algn="l"/>
            <a:r>
              <a:rPr lang="en-US" sz="1500">
                <a:solidFill>
                  <a:srgbClr val="8A929C"/>
                </a:solidFill>
                <a:latin typeface="Segoe UI"/>
                <a:cs typeface="Segoe UI"/>
              </a:rPr>
              <a:t>Onboarding and offboarding are the two scripts every Grafana admin should own.</a:t>
            </a:r>
          </a:p>
        </p:txBody>
      </p:sp>
      <p:sp>
        <p:nvSpPr>
          <p:cNvPr id="5" name="Rectangle: Rounded Corners 4">
            <a:extLst>
              <a:ext uri="{FF2B5EF4-FFF2-40B4-BE49-F238E27FC236}">
                <a16:creationId xmlns:a16="http://schemas.microsoft.com/office/drawing/2014/main" id="{D8298160-17D2-43A0-A33C-BE732C739CE4}"/>
              </a:ext>
            </a:extLst>
          </p:cNvPr>
          <p:cNvSpPr/>
          <p:nvPr/>
        </p:nvSpPr>
        <p:spPr>
          <a:xfrm>
            <a:off x="762000" y="1498600"/>
            <a:ext cx="5080000" cy="2387600"/>
          </a:xfrm>
          <a:prstGeom prst="roundRect">
            <a:avLst/>
          </a:prstGeom>
          <a:solidFill>
            <a:srgbClr val="1B1E24"/>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F35C850-99DF-4E4F-84A6-DAFAF813A973}"/>
              </a:ext>
            </a:extLst>
          </p:cNvPr>
          <p:cNvSpPr txBox="1"/>
          <p:nvPr/>
        </p:nvSpPr>
        <p:spPr>
          <a:xfrm>
            <a:off x="990600" y="1625600"/>
            <a:ext cx="4318000" cy="279400"/>
          </a:xfrm>
          <a:prstGeom prst="rect">
            <a:avLst/>
          </a:prstGeom>
          <a:noFill/>
        </p:spPr>
        <p:txBody>
          <a:bodyPr vertOverflow="overflow" vert="horz" wrap="square" rtlCol="0" anchor="t">
            <a:noAutofit/>
          </a:bodyPr>
          <a:lstStyle/>
          <a:p>
            <a:pPr algn="l"/>
            <a:r>
              <a:rPr lang="en-US" sz="1700" b="1">
                <a:solidFill>
                  <a:srgbClr val="B877D9"/>
                </a:solidFill>
                <a:latin typeface="Segoe UI"/>
                <a:cs typeface="Segoe UI"/>
              </a:rPr>
              <a:t>How identity is layered</a:t>
            </a:r>
          </a:p>
        </p:txBody>
      </p:sp>
      <p:sp>
        <p:nvSpPr>
          <p:cNvPr id="7" name="Rectangle: Rounded Corners 6">
            <a:extLst>
              <a:ext uri="{FF2B5EF4-FFF2-40B4-BE49-F238E27FC236}">
                <a16:creationId xmlns:a16="http://schemas.microsoft.com/office/drawing/2014/main" id="{E067598E-96A6-4A72-9BC6-36324F1A5C44}"/>
              </a:ext>
            </a:extLst>
          </p:cNvPr>
          <p:cNvSpPr/>
          <p:nvPr/>
        </p:nvSpPr>
        <p:spPr>
          <a:xfrm>
            <a:off x="990600" y="1981200"/>
            <a:ext cx="4622800" cy="3810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DEE8F480-C1C9-4A43-B615-D33D3E62F617}"/>
              </a:ext>
            </a:extLst>
          </p:cNvPr>
          <p:cNvSpPr txBox="1"/>
          <p:nvPr/>
        </p:nvSpPr>
        <p:spPr>
          <a:xfrm>
            <a:off x="1168400" y="2057400"/>
            <a:ext cx="38100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Organisation  ·  Main Org.</a:t>
            </a:r>
          </a:p>
        </p:txBody>
      </p:sp>
      <p:sp>
        <p:nvSpPr>
          <p:cNvPr id="9" name="Rectangle: Rounded Corners 8">
            <a:extLst>
              <a:ext uri="{FF2B5EF4-FFF2-40B4-BE49-F238E27FC236}">
                <a16:creationId xmlns:a16="http://schemas.microsoft.com/office/drawing/2014/main" id="{3159753F-89EE-4A44-BCEE-01D6DEA0EDD1}"/>
              </a:ext>
            </a:extLst>
          </p:cNvPr>
          <p:cNvSpPr/>
          <p:nvPr/>
        </p:nvSpPr>
        <p:spPr>
          <a:xfrm>
            <a:off x="990600" y="2463800"/>
            <a:ext cx="2235200" cy="736600"/>
          </a:xfrm>
          <a:prstGeom prst="roundRect">
            <a:avLst/>
          </a:prstGeom>
          <a:solidFill>
            <a:srgbClr val="151A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A430E162-6C4F-44F3-8149-8FCC8008AACF}"/>
              </a:ext>
            </a:extLst>
          </p:cNvPr>
          <p:cNvSpPr txBox="1"/>
          <p:nvPr/>
        </p:nvSpPr>
        <p:spPr>
          <a:xfrm>
            <a:off x="1168400" y="2540000"/>
            <a:ext cx="1879600" cy="228600"/>
          </a:xfrm>
          <a:prstGeom prst="rect">
            <a:avLst/>
          </a:prstGeom>
          <a:noFill/>
        </p:spPr>
        <p:txBody>
          <a:bodyPr vertOverflow="overflow" vert="horz" wrap="square" rtlCol="0" anchor="t">
            <a:noAutofit/>
          </a:bodyPr>
          <a:lstStyle/>
          <a:p>
            <a:pPr algn="l"/>
            <a:r>
              <a:rPr lang="en-US" sz="1400" b="1">
                <a:solidFill>
                  <a:srgbClr val="FFFFFF"/>
                </a:solidFill>
                <a:latin typeface="Segoe UI"/>
                <a:cs typeface="Segoe UI"/>
              </a:rPr>
              <a:t>Team Platform</a:t>
            </a:r>
          </a:p>
        </p:txBody>
      </p:sp>
      <p:sp>
        <p:nvSpPr>
          <p:cNvPr id="11" name="TextBox 10">
            <a:extLst>
              <a:ext uri="{FF2B5EF4-FFF2-40B4-BE49-F238E27FC236}">
                <a16:creationId xmlns:a16="http://schemas.microsoft.com/office/drawing/2014/main" id="{5ABBB2FF-6F29-49E9-B3A6-59FEA47E8E3C}"/>
              </a:ext>
            </a:extLst>
          </p:cNvPr>
          <p:cNvSpPr txBox="1"/>
          <p:nvPr/>
        </p:nvSpPr>
        <p:spPr>
          <a:xfrm>
            <a:off x="1168400" y="2819400"/>
            <a:ext cx="18796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alice · bob</a:t>
            </a:r>
          </a:p>
        </p:txBody>
      </p:sp>
      <p:sp>
        <p:nvSpPr>
          <p:cNvPr id="12" name="Rectangle: Rounded Corners 11">
            <a:extLst>
              <a:ext uri="{FF2B5EF4-FFF2-40B4-BE49-F238E27FC236}">
                <a16:creationId xmlns:a16="http://schemas.microsoft.com/office/drawing/2014/main" id="{CD63C085-53D0-4CE9-93B8-117E56A91720}"/>
              </a:ext>
            </a:extLst>
          </p:cNvPr>
          <p:cNvSpPr/>
          <p:nvPr/>
        </p:nvSpPr>
        <p:spPr>
          <a:xfrm>
            <a:off x="3378200" y="2463800"/>
            <a:ext cx="2235200" cy="736600"/>
          </a:xfrm>
          <a:prstGeom prst="roundRect">
            <a:avLst/>
          </a:prstGeom>
          <a:solidFill>
            <a:srgbClr val="151A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7B3E1118-DA1E-4456-AEA1-D87E09EF684A}"/>
              </a:ext>
            </a:extLst>
          </p:cNvPr>
          <p:cNvSpPr txBox="1"/>
          <p:nvPr/>
        </p:nvSpPr>
        <p:spPr>
          <a:xfrm>
            <a:off x="3556000" y="2540000"/>
            <a:ext cx="1879600" cy="228600"/>
          </a:xfrm>
          <a:prstGeom prst="rect">
            <a:avLst/>
          </a:prstGeom>
          <a:noFill/>
        </p:spPr>
        <p:txBody>
          <a:bodyPr vertOverflow="overflow" vert="horz" wrap="square" rtlCol="0" anchor="t">
            <a:noAutofit/>
          </a:bodyPr>
          <a:lstStyle/>
          <a:p>
            <a:pPr algn="l"/>
            <a:r>
              <a:rPr lang="en-US" sz="1400" b="1">
                <a:solidFill>
                  <a:srgbClr val="FFFFFF"/>
                </a:solidFill>
                <a:latin typeface="Segoe UI"/>
                <a:cs typeface="Segoe UI"/>
              </a:rPr>
              <a:t>Team Payments</a:t>
            </a:r>
          </a:p>
        </p:txBody>
      </p:sp>
      <p:sp>
        <p:nvSpPr>
          <p:cNvPr id="14" name="TextBox 13">
            <a:extLst>
              <a:ext uri="{FF2B5EF4-FFF2-40B4-BE49-F238E27FC236}">
                <a16:creationId xmlns:a16="http://schemas.microsoft.com/office/drawing/2014/main" id="{3F395DCF-3713-4C84-B7DE-FA8D9ED2FFF6}"/>
              </a:ext>
            </a:extLst>
          </p:cNvPr>
          <p:cNvSpPr txBox="1"/>
          <p:nvPr/>
        </p:nvSpPr>
        <p:spPr>
          <a:xfrm>
            <a:off x="3556000" y="2819400"/>
            <a:ext cx="18796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carol · dana</a:t>
            </a:r>
          </a:p>
        </p:txBody>
      </p:sp>
      <p:sp>
        <p:nvSpPr>
          <p:cNvPr id="15" name="TextBox 14">
            <a:extLst>
              <a:ext uri="{FF2B5EF4-FFF2-40B4-BE49-F238E27FC236}">
                <a16:creationId xmlns:a16="http://schemas.microsoft.com/office/drawing/2014/main" id="{12B9CBBB-3A44-4B99-9D10-A09F36402E16}"/>
              </a:ext>
            </a:extLst>
          </p:cNvPr>
          <p:cNvSpPr txBox="1"/>
          <p:nvPr/>
        </p:nvSpPr>
        <p:spPr>
          <a:xfrm>
            <a:off x="990600" y="3302000"/>
            <a:ext cx="4622800" cy="508000"/>
          </a:xfrm>
          <a:prstGeom prst="rect">
            <a:avLst/>
          </a:prstGeom>
          <a:noFill/>
        </p:spPr>
        <p:txBody>
          <a:bodyPr vertOverflow="overflow" vert="horz" wrap="square" rtlCol="0" anchor="t">
            <a:noAutofit/>
          </a:bodyPr>
          <a:lstStyle/>
          <a:p>
            <a:pPr algn="l"/>
            <a:r>
              <a:rPr lang="en-US" sz="1400">
                <a:solidFill>
                  <a:srgbClr val="8A929C"/>
                </a:solidFill>
                <a:latin typeface="Segoe UI"/>
                <a:cs typeface="Segoe UI"/>
              </a:rPr>
              <a:t>Org role (Admin / Editor / Viewer) sets the floor. Team membership plus folder permissions give the real, day-to-day access.</a:t>
            </a:r>
          </a:p>
        </p:txBody>
      </p:sp>
      <p:graphicFrame>
        <p:nvGraphicFramePr>
          <p:cNvPr id="17" name="Table 16">
            <a:extLst>
              <a:ext uri="{FF2B5EF4-FFF2-40B4-BE49-F238E27FC236}">
                <a16:creationId xmlns:a16="http://schemas.microsoft.com/office/drawing/2014/main" id="{71EEA153-FDAB-41FB-B1B0-00E313AFF92F}"/>
              </a:ext>
            </a:extLst>
          </p:cNvPr>
          <p:cNvGraphicFramePr>
            <a:graphicFrameLocks noGrp="1"/>
          </p:cNvGraphicFramePr>
          <p:nvPr>
            <p:extLst>
              <p:ext uri="{D42A27DB-BD31-4B8C-83A1-F6EECF244321}">
                <p14:modId xmlns:p14="http://schemas.microsoft.com/office/powerpoint/2010/main" val="3322509734"/>
              </p:ext>
            </p:extLst>
          </p:nvPr>
        </p:nvGraphicFramePr>
        <p:xfrm>
          <a:off x="6159500" y="1498600"/>
          <a:ext cx="5270500" cy="2545080"/>
        </p:xfrm>
        <a:graphic>
          <a:graphicData uri="http://schemas.openxmlformats.org/drawingml/2006/table">
            <a:tbl>
              <a:tblPr firstRow="1" bandRow="1">
                <a:tableStyleId>{5C22544A-7EE6-4342-B048-85BDC9FD1C3A}</a:tableStyleId>
              </a:tblPr>
              <a:tblGrid>
                <a:gridCol w="2603500">
                  <a:extLst>
                    <a:ext uri="{9D8B030D-6E8A-4147-A177-3AD203B41FA5}">
                      <a16:colId xmlns:a16="http://schemas.microsoft.com/office/drawing/2014/main" val="3776657070"/>
                    </a:ext>
                  </a:extLst>
                </a:gridCol>
                <a:gridCol w="2667000">
                  <a:extLst>
                    <a:ext uri="{9D8B030D-6E8A-4147-A177-3AD203B41FA5}">
                      <a16:colId xmlns:a16="http://schemas.microsoft.com/office/drawing/2014/main" val="3810047645"/>
                    </a:ext>
                  </a:extLst>
                </a:gridCol>
              </a:tblGrid>
              <a:tr h="330200">
                <a:tc>
                  <a:txBody>
                    <a:bodyPr/>
                    <a:lstStyle/>
                    <a:p>
                      <a:r>
                        <a:rPr lang="en-US" sz="1500" b="1" dirty="0">
                          <a:solidFill>
                            <a:srgbClr val="FF8800"/>
                          </a:solidFill>
                        </a:rPr>
                        <a:t>Endpoint</a:t>
                      </a:r>
                    </a:p>
                  </a:txBody>
                  <a:tcPr anchor="ctr">
                    <a:solidFill>
                      <a:srgbClr val="2A1C0B"/>
                    </a:solidFill>
                  </a:tcPr>
                </a:tc>
                <a:tc>
                  <a:txBody>
                    <a:bodyPr/>
                    <a:lstStyle/>
                    <a:p>
                      <a:r>
                        <a:rPr lang="en-US" sz="1500" b="1">
                          <a:solidFill>
                            <a:srgbClr val="FF8800"/>
                          </a:solidFill>
                        </a:rPr>
                        <a:t>What it does</a:t>
                      </a:r>
                    </a:p>
                  </a:txBody>
                  <a:tcPr anchor="ctr">
                    <a:solidFill>
                      <a:srgbClr val="2A1C0B"/>
                    </a:solidFill>
                  </a:tcPr>
                </a:tc>
                <a:extLst>
                  <a:ext uri="{0D108BD9-81ED-4DB2-BD59-A6C34878D82A}">
                    <a16:rowId xmlns:a16="http://schemas.microsoft.com/office/drawing/2014/main" val="1624239205"/>
                  </a:ext>
                </a:extLst>
              </a:tr>
              <a:tr h="330200">
                <a:tc>
                  <a:txBody>
                    <a:bodyPr/>
                    <a:lstStyle/>
                    <a:p>
                      <a:r>
                        <a:rPr lang="en-US" sz="1400">
                          <a:solidFill>
                            <a:srgbClr val="FFFFFF"/>
                          </a:solidFill>
                          <a:latin typeface="Consolas"/>
                        </a:rPr>
                        <a:t>GET /api/users</a:t>
                      </a:r>
                    </a:p>
                  </a:txBody>
                  <a:tcPr anchor="ctr">
                    <a:solidFill>
                      <a:srgbClr val="1B1E24"/>
                    </a:solidFill>
                  </a:tcPr>
                </a:tc>
                <a:tc>
                  <a:txBody>
                    <a:bodyPr/>
                    <a:lstStyle/>
                    <a:p>
                      <a:r>
                        <a:rPr lang="en-US" sz="1400" dirty="0">
                          <a:solidFill>
                            <a:srgbClr val="B4BCC6"/>
                          </a:solidFill>
                          <a:latin typeface="Segoe UI"/>
                          <a:cs typeface="Segoe UI"/>
                        </a:rPr>
                        <a:t>Search all users - admin only</a:t>
                      </a:r>
                    </a:p>
                  </a:txBody>
                  <a:tcPr anchor="ctr">
                    <a:solidFill>
                      <a:srgbClr val="1B1E24"/>
                    </a:solidFill>
                  </a:tcPr>
                </a:tc>
                <a:extLst>
                  <a:ext uri="{0D108BD9-81ED-4DB2-BD59-A6C34878D82A}">
                    <a16:rowId xmlns:a16="http://schemas.microsoft.com/office/drawing/2014/main" val="4133893801"/>
                  </a:ext>
                </a:extLst>
              </a:tr>
              <a:tr h="330200">
                <a:tc>
                  <a:txBody>
                    <a:bodyPr/>
                    <a:lstStyle/>
                    <a:p>
                      <a:r>
                        <a:rPr lang="en-US" sz="1400">
                          <a:solidFill>
                            <a:srgbClr val="FFFFFF"/>
                          </a:solidFill>
                          <a:latin typeface="Consolas"/>
                        </a:rPr>
                        <a:t>POST /api/admin/users</a:t>
                      </a:r>
                    </a:p>
                  </a:txBody>
                  <a:tcPr anchor="ctr">
                    <a:solidFill>
                      <a:srgbClr val="181B1F"/>
                    </a:solidFill>
                  </a:tcPr>
                </a:tc>
                <a:tc>
                  <a:txBody>
                    <a:bodyPr/>
                    <a:lstStyle/>
                    <a:p>
                      <a:r>
                        <a:rPr lang="en-US" sz="1400">
                          <a:solidFill>
                            <a:srgbClr val="B4BCC6"/>
                          </a:solidFill>
                          <a:latin typeface="Segoe UI"/>
                          <a:cs typeface="Segoe UI"/>
                        </a:rPr>
                        <a:t>Create a local user</a:t>
                      </a:r>
                    </a:p>
                  </a:txBody>
                  <a:tcPr anchor="ctr">
                    <a:solidFill>
                      <a:srgbClr val="181B1F"/>
                    </a:solidFill>
                  </a:tcPr>
                </a:tc>
                <a:extLst>
                  <a:ext uri="{0D108BD9-81ED-4DB2-BD59-A6C34878D82A}">
                    <a16:rowId xmlns:a16="http://schemas.microsoft.com/office/drawing/2014/main" val="1887136519"/>
                  </a:ext>
                </a:extLst>
              </a:tr>
              <a:tr h="330200">
                <a:tc>
                  <a:txBody>
                    <a:bodyPr/>
                    <a:lstStyle/>
                    <a:p>
                      <a:r>
                        <a:rPr lang="en-US" sz="1400">
                          <a:solidFill>
                            <a:srgbClr val="FFFFFF"/>
                          </a:solidFill>
                          <a:latin typeface="Consolas"/>
                        </a:rPr>
                        <a:t>GET /api/orgs</a:t>
                      </a:r>
                    </a:p>
                  </a:txBody>
                  <a:tcPr anchor="ctr">
                    <a:solidFill>
                      <a:srgbClr val="1B1E24"/>
                    </a:solidFill>
                  </a:tcPr>
                </a:tc>
                <a:tc>
                  <a:txBody>
                    <a:bodyPr/>
                    <a:lstStyle/>
                    <a:p>
                      <a:r>
                        <a:rPr lang="en-US" sz="1400">
                          <a:solidFill>
                            <a:srgbClr val="B4BCC6"/>
                          </a:solidFill>
                          <a:latin typeface="Segoe UI"/>
                          <a:cs typeface="Segoe UI"/>
                        </a:rPr>
                        <a:t>List organisations (multi-tenant)</a:t>
                      </a:r>
                    </a:p>
                  </a:txBody>
                  <a:tcPr anchor="ctr">
                    <a:solidFill>
                      <a:srgbClr val="1B1E24"/>
                    </a:solidFill>
                  </a:tcPr>
                </a:tc>
                <a:extLst>
                  <a:ext uri="{0D108BD9-81ED-4DB2-BD59-A6C34878D82A}">
                    <a16:rowId xmlns:a16="http://schemas.microsoft.com/office/drawing/2014/main" val="4221168533"/>
                  </a:ext>
                </a:extLst>
              </a:tr>
              <a:tr h="330200">
                <a:tc>
                  <a:txBody>
                    <a:bodyPr/>
                    <a:lstStyle/>
                    <a:p>
                      <a:r>
                        <a:rPr lang="en-US" sz="1400">
                          <a:solidFill>
                            <a:srgbClr val="FFFFFF"/>
                          </a:solidFill>
                          <a:latin typeface="Consolas"/>
                        </a:rPr>
                        <a:t>POST /api/orgs/:id/users</a:t>
                      </a:r>
                    </a:p>
                  </a:txBody>
                  <a:tcPr anchor="ctr">
                    <a:solidFill>
                      <a:srgbClr val="181B1F"/>
                    </a:solidFill>
                  </a:tcPr>
                </a:tc>
                <a:tc>
                  <a:txBody>
                    <a:bodyPr/>
                    <a:lstStyle/>
                    <a:p>
                      <a:r>
                        <a:rPr lang="en-US" sz="1400">
                          <a:solidFill>
                            <a:srgbClr val="B4BCC6"/>
                          </a:solidFill>
                          <a:latin typeface="Segoe UI"/>
                          <a:cs typeface="Segoe UI"/>
                        </a:rPr>
                        <a:t>Add a user to an org with a role</a:t>
                      </a:r>
                    </a:p>
                  </a:txBody>
                  <a:tcPr anchor="ctr">
                    <a:solidFill>
                      <a:srgbClr val="181B1F"/>
                    </a:solidFill>
                  </a:tcPr>
                </a:tc>
                <a:extLst>
                  <a:ext uri="{0D108BD9-81ED-4DB2-BD59-A6C34878D82A}">
                    <a16:rowId xmlns:a16="http://schemas.microsoft.com/office/drawing/2014/main" val="4190373265"/>
                  </a:ext>
                </a:extLst>
              </a:tr>
              <a:tr h="330200">
                <a:tc>
                  <a:txBody>
                    <a:bodyPr/>
                    <a:lstStyle/>
                    <a:p>
                      <a:r>
                        <a:rPr lang="en-US" sz="1400">
                          <a:solidFill>
                            <a:srgbClr val="FFFFFF"/>
                          </a:solidFill>
                          <a:latin typeface="Consolas"/>
                        </a:rPr>
                        <a:t>POST /api/teams/:id/members</a:t>
                      </a:r>
                    </a:p>
                  </a:txBody>
                  <a:tcPr anchor="ctr">
                    <a:solidFill>
                      <a:srgbClr val="1B1E24"/>
                    </a:solidFill>
                  </a:tcPr>
                </a:tc>
                <a:tc>
                  <a:txBody>
                    <a:bodyPr/>
                    <a:lstStyle/>
                    <a:p>
                      <a:r>
                        <a:rPr lang="en-US" sz="1400">
                          <a:solidFill>
                            <a:srgbClr val="B4BCC6"/>
                          </a:solidFill>
                          <a:latin typeface="Segoe UI"/>
                          <a:cs typeface="Segoe UI"/>
                        </a:rPr>
                        <a:t>Add a user to a team</a:t>
                      </a:r>
                    </a:p>
                  </a:txBody>
                  <a:tcPr anchor="ctr">
                    <a:solidFill>
                      <a:srgbClr val="1B1E24"/>
                    </a:solidFill>
                  </a:tcPr>
                </a:tc>
                <a:extLst>
                  <a:ext uri="{0D108BD9-81ED-4DB2-BD59-A6C34878D82A}">
                    <a16:rowId xmlns:a16="http://schemas.microsoft.com/office/drawing/2014/main" val="3824917534"/>
                  </a:ext>
                </a:extLst>
              </a:tr>
            </a:tbl>
          </a:graphicData>
        </a:graphic>
      </p:graphicFrame>
      <p:sp>
        <p:nvSpPr>
          <p:cNvPr id="18" name="Rectangle: Rounded Corners 17">
            <a:extLst>
              <a:ext uri="{FF2B5EF4-FFF2-40B4-BE49-F238E27FC236}">
                <a16:creationId xmlns:a16="http://schemas.microsoft.com/office/drawing/2014/main" id="{7902B28A-0CEC-4A34-B71C-AE789E5595B5}"/>
              </a:ext>
            </a:extLst>
          </p:cNvPr>
          <p:cNvSpPr/>
          <p:nvPr/>
        </p:nvSpPr>
        <p:spPr>
          <a:xfrm>
            <a:off x="762000" y="4064000"/>
            <a:ext cx="10668000" cy="21590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901556DF-2AE6-42A1-AE42-651C63D79E90}"/>
              </a:ext>
            </a:extLst>
          </p:cNvPr>
          <p:cNvSpPr txBox="1"/>
          <p:nvPr/>
        </p:nvSpPr>
        <p:spPr>
          <a:xfrm>
            <a:off x="990600" y="4191000"/>
            <a:ext cx="63500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Onboard an engineer in three calls</a:t>
            </a:r>
          </a:p>
        </p:txBody>
      </p:sp>
      <p:sp>
        <p:nvSpPr>
          <p:cNvPr id="20" name="TextBox 19">
            <a:extLst>
              <a:ext uri="{FF2B5EF4-FFF2-40B4-BE49-F238E27FC236}">
                <a16:creationId xmlns:a16="http://schemas.microsoft.com/office/drawing/2014/main" id="{B75AF53D-DCCD-4D4E-B576-3D61BE341DCB}"/>
              </a:ext>
            </a:extLst>
          </p:cNvPr>
          <p:cNvSpPr txBox="1"/>
          <p:nvPr/>
        </p:nvSpPr>
        <p:spPr>
          <a:xfrm>
            <a:off x="990600" y="4495800"/>
            <a:ext cx="10312400" cy="1600200"/>
          </a:xfrm>
          <a:prstGeom prst="rect">
            <a:avLst/>
          </a:prstGeom>
          <a:noFill/>
        </p:spPr>
        <p:txBody>
          <a:bodyPr vertOverflow="overflow" vert="horz" wrap="none" rtlCol="0" anchor="t">
            <a:noAutofit/>
          </a:bodyPr>
          <a:lstStyle/>
          <a:p>
            <a:pPr algn="l"/>
            <a:r>
              <a:rPr lang="en-US" sz="1400">
                <a:solidFill>
                  <a:srgbClr val="C8CDD4"/>
                </a:solidFill>
                <a:latin typeface="Consolas"/>
              </a:rPr>
              <a:t>H="Authorization: Bearer $TOKEN"   # service account with Admin role
# 1 · create the user
curl -H "$H" -X POST http://localhost:3000/api/admin/users \
  -d '{"name":"Dana","login":"dana","email":"dana@corp.io","password":"Chg-Me-1"}'
# 2 · put her in the Platform team        # 3 · let that team edit a folder
curl -H "$H" -X POST .../api/teams/3/members -d '{"userId":7}'
curl -H "$H" -X POST .../api/folders/payments/permissions \
  -d '{"items":[{"teamId":3,"permission":2}]}'   # 1=View 2=Edit 4=Admin</a:t>
            </a:r>
          </a:p>
        </p:txBody>
      </p:sp>
    </p:spTree>
    <p:extLst>
      <p:ext uri="{BB962C8B-B14F-4D97-AF65-F5344CB8AC3E}">
        <p14:creationId xmlns:p14="http://schemas.microsoft.com/office/powerpoint/2010/main" val="1626894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8B16-951A-0CB3-FC45-5F9D882118BA}"/>
              </a:ext>
            </a:extLst>
          </p:cNvPr>
          <p:cNvSpPr>
            <a:spLocks noGrp="1"/>
          </p:cNvSpPr>
          <p:nvPr>
            <p:ph type="title"/>
          </p:nvPr>
        </p:nvSpPr>
        <p:spPr>
          <a:xfrm>
            <a:off x="762000" y="406400"/>
            <a:ext cx="10668000" cy="533400"/>
          </a:xfrm>
        </p:spPr>
        <p:txBody>
          <a:bodyPr>
            <a:normAutofit/>
          </a:bodyPr>
          <a:lstStyle/>
          <a:p>
            <a:r>
              <a:rPr lang="en-US" sz="3000" b="1"/>
              <a:t>Data Source API</a:t>
            </a:r>
          </a:p>
        </p:txBody>
      </p:sp>
      <p:sp>
        <p:nvSpPr>
          <p:cNvPr id="3" name="Rectangle 2">
            <a:extLst>
              <a:ext uri="{FF2B5EF4-FFF2-40B4-BE49-F238E27FC236}">
                <a16:creationId xmlns:a16="http://schemas.microsoft.com/office/drawing/2014/main" id="{D6FA83C8-052F-4854-8B41-E40F67146B74}"/>
              </a:ext>
            </a:extLst>
          </p:cNvPr>
          <p:cNvSpPr/>
          <p:nvPr/>
        </p:nvSpPr>
        <p:spPr>
          <a:xfrm>
            <a:off x="762000" y="1016000"/>
            <a:ext cx="889000" cy="381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5F28B870-7732-4D04-ABB6-19E3FD7EF9E1}"/>
              </a:ext>
            </a:extLst>
          </p:cNvPr>
          <p:cNvSpPr txBox="1"/>
          <p:nvPr/>
        </p:nvSpPr>
        <p:spPr>
          <a:xfrm>
            <a:off x="762000" y="1143000"/>
            <a:ext cx="8890000" cy="279400"/>
          </a:xfrm>
          <a:prstGeom prst="rect">
            <a:avLst/>
          </a:prstGeom>
          <a:noFill/>
        </p:spPr>
        <p:txBody>
          <a:bodyPr vertOverflow="overflow" vert="horz" wrap="square" rtlCol="0" anchor="t">
            <a:noAutofit/>
          </a:bodyPr>
          <a:lstStyle/>
          <a:p>
            <a:pPr algn="l"/>
            <a:r>
              <a:rPr lang="en-US" sz="1500" dirty="0">
                <a:solidFill>
                  <a:srgbClr val="8A929C"/>
                </a:solidFill>
                <a:latin typeface="Segoe UI"/>
                <a:cs typeface="Segoe UI"/>
              </a:rPr>
              <a:t>Same shape as the dashboard API - the interesting part is where secrets go.</a:t>
            </a:r>
          </a:p>
        </p:txBody>
      </p:sp>
      <p:sp>
        <p:nvSpPr>
          <p:cNvPr id="5" name="Rectangle: Rounded Corners 4">
            <a:extLst>
              <a:ext uri="{FF2B5EF4-FFF2-40B4-BE49-F238E27FC236}">
                <a16:creationId xmlns:a16="http://schemas.microsoft.com/office/drawing/2014/main" id="{EC892BB3-9126-424C-B1FE-3B983AF0DBEE}"/>
              </a:ext>
            </a:extLst>
          </p:cNvPr>
          <p:cNvSpPr/>
          <p:nvPr/>
        </p:nvSpPr>
        <p:spPr>
          <a:xfrm>
            <a:off x="762000" y="1498600"/>
            <a:ext cx="5842000" cy="31750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56F0DE77-1300-43E5-8C03-7513AEBC0B11}"/>
              </a:ext>
            </a:extLst>
          </p:cNvPr>
          <p:cNvSpPr txBox="1"/>
          <p:nvPr/>
        </p:nvSpPr>
        <p:spPr>
          <a:xfrm>
            <a:off x="990600" y="1625600"/>
            <a:ext cx="50800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Register Prometheus as a data source</a:t>
            </a:r>
          </a:p>
        </p:txBody>
      </p:sp>
      <p:sp>
        <p:nvSpPr>
          <p:cNvPr id="7" name="TextBox 6">
            <a:extLst>
              <a:ext uri="{FF2B5EF4-FFF2-40B4-BE49-F238E27FC236}">
                <a16:creationId xmlns:a16="http://schemas.microsoft.com/office/drawing/2014/main" id="{BD094580-1EAE-4282-88CA-4A24ACCEF52F}"/>
              </a:ext>
            </a:extLst>
          </p:cNvPr>
          <p:cNvSpPr txBox="1"/>
          <p:nvPr/>
        </p:nvSpPr>
        <p:spPr>
          <a:xfrm>
            <a:off x="990600" y="1930400"/>
            <a:ext cx="5461000" cy="2641600"/>
          </a:xfrm>
          <a:prstGeom prst="rect">
            <a:avLst/>
          </a:prstGeom>
          <a:noFill/>
        </p:spPr>
        <p:txBody>
          <a:bodyPr vertOverflow="overflow" vert="horz" wrap="none" rtlCol="0" anchor="t">
            <a:noAutofit/>
          </a:bodyPr>
          <a:lstStyle/>
          <a:p>
            <a:pPr algn="l"/>
            <a:r>
              <a:rPr lang="en-US" sz="1400">
                <a:solidFill>
                  <a:srgbClr val="C8CDD4"/>
                </a:solidFill>
                <a:latin typeface="Consolas"/>
              </a:rPr>
              <a:t>curl -H "Authorization: Bearer $TOKEN" -X POST \
  -H "Content-Type: application/json" \
  http://localhost:3000/api/datasources -d '{
    "uid":      "prom-main",
    "name":     "Prometheus",
    "type":     "prometheus",
    "url":      "http://prometheus:9090",
    "access":   "proxy",
    "isDefault": true,
    "jsonData": {"httpMethod":"POST",
                 "timeInterval":"30s"},
    "secureJsonData": {"httpHeaderValue1":"…"}
  }'</a:t>
            </a:r>
          </a:p>
        </p:txBody>
      </p:sp>
      <p:graphicFrame>
        <p:nvGraphicFramePr>
          <p:cNvPr id="9" name="Table 8">
            <a:extLst>
              <a:ext uri="{FF2B5EF4-FFF2-40B4-BE49-F238E27FC236}">
                <a16:creationId xmlns:a16="http://schemas.microsoft.com/office/drawing/2014/main" id="{3F87D69A-5E54-4349-B71A-986032EFA68D}"/>
              </a:ext>
            </a:extLst>
          </p:cNvPr>
          <p:cNvGraphicFramePr>
            <a:graphicFrameLocks noGrp="1"/>
          </p:cNvGraphicFramePr>
          <p:nvPr>
            <p:extLst>
              <p:ext uri="{D42A27DB-BD31-4B8C-83A1-F6EECF244321}">
                <p14:modId xmlns:p14="http://schemas.microsoft.com/office/powerpoint/2010/main" val="1823212589"/>
              </p:ext>
            </p:extLst>
          </p:nvPr>
        </p:nvGraphicFramePr>
        <p:xfrm>
          <a:off x="6858000" y="1498600"/>
          <a:ext cx="4572000" cy="4104640"/>
        </p:xfrm>
        <a:graphic>
          <a:graphicData uri="http://schemas.openxmlformats.org/drawingml/2006/table">
            <a:tbl>
              <a:tblPr firstRow="1" bandRow="1">
                <a:tableStyleId>{5C22544A-7EE6-4342-B048-85BDC9FD1C3A}</a:tableStyleId>
              </a:tblPr>
              <a:tblGrid>
                <a:gridCol w="2476500">
                  <a:extLst>
                    <a:ext uri="{9D8B030D-6E8A-4147-A177-3AD203B41FA5}">
                      <a16:colId xmlns:a16="http://schemas.microsoft.com/office/drawing/2014/main" val="3217924794"/>
                    </a:ext>
                  </a:extLst>
                </a:gridCol>
                <a:gridCol w="2095500">
                  <a:extLst>
                    <a:ext uri="{9D8B030D-6E8A-4147-A177-3AD203B41FA5}">
                      <a16:colId xmlns:a16="http://schemas.microsoft.com/office/drawing/2014/main" val="3166328019"/>
                    </a:ext>
                  </a:extLst>
                </a:gridCol>
              </a:tblGrid>
              <a:tr h="330200">
                <a:tc>
                  <a:txBody>
                    <a:bodyPr/>
                    <a:lstStyle/>
                    <a:p>
                      <a:r>
                        <a:rPr lang="en-US" sz="1500" b="1" dirty="0">
                          <a:solidFill>
                            <a:srgbClr val="FF8800"/>
                          </a:solidFill>
                        </a:rPr>
                        <a:t>Endpoint</a:t>
                      </a:r>
                    </a:p>
                  </a:txBody>
                  <a:tcPr anchor="ctr">
                    <a:solidFill>
                      <a:srgbClr val="2A1C0B"/>
                    </a:solidFill>
                  </a:tcPr>
                </a:tc>
                <a:tc>
                  <a:txBody>
                    <a:bodyPr/>
                    <a:lstStyle/>
                    <a:p>
                      <a:r>
                        <a:rPr lang="en-US" sz="1500" b="1">
                          <a:solidFill>
                            <a:srgbClr val="FF8800"/>
                          </a:solidFill>
                        </a:rPr>
                        <a:t>What it does</a:t>
                      </a:r>
                    </a:p>
                  </a:txBody>
                  <a:tcPr anchor="ctr">
                    <a:solidFill>
                      <a:srgbClr val="2A1C0B"/>
                    </a:solidFill>
                  </a:tcPr>
                </a:tc>
                <a:extLst>
                  <a:ext uri="{0D108BD9-81ED-4DB2-BD59-A6C34878D82A}">
                    <a16:rowId xmlns:a16="http://schemas.microsoft.com/office/drawing/2014/main" val="1050706926"/>
                  </a:ext>
                </a:extLst>
              </a:tr>
              <a:tr h="330200">
                <a:tc>
                  <a:txBody>
                    <a:bodyPr/>
                    <a:lstStyle/>
                    <a:p>
                      <a:r>
                        <a:rPr lang="en-US" sz="1400">
                          <a:solidFill>
                            <a:srgbClr val="FFFFFF"/>
                          </a:solidFill>
                          <a:latin typeface="Consolas"/>
                        </a:rPr>
                        <a:t>GET /api/datasources</a:t>
                      </a:r>
                    </a:p>
                  </a:txBody>
                  <a:tcPr anchor="ctr">
                    <a:solidFill>
                      <a:srgbClr val="1B1E24"/>
                    </a:solidFill>
                  </a:tcPr>
                </a:tc>
                <a:tc>
                  <a:txBody>
                    <a:bodyPr/>
                    <a:lstStyle/>
                    <a:p>
                      <a:r>
                        <a:rPr lang="en-US" sz="1400">
                          <a:solidFill>
                            <a:srgbClr val="B4BCC6"/>
                          </a:solidFill>
                          <a:latin typeface="Segoe UI"/>
                          <a:cs typeface="Segoe UI"/>
                        </a:rPr>
                        <a:t>List every data source</a:t>
                      </a:r>
                    </a:p>
                  </a:txBody>
                  <a:tcPr anchor="ctr">
                    <a:solidFill>
                      <a:srgbClr val="1B1E24"/>
                    </a:solidFill>
                  </a:tcPr>
                </a:tc>
                <a:extLst>
                  <a:ext uri="{0D108BD9-81ED-4DB2-BD59-A6C34878D82A}">
                    <a16:rowId xmlns:a16="http://schemas.microsoft.com/office/drawing/2014/main" val="17468369"/>
                  </a:ext>
                </a:extLst>
              </a:tr>
              <a:tr h="330200">
                <a:tc>
                  <a:txBody>
                    <a:bodyPr/>
                    <a:lstStyle/>
                    <a:p>
                      <a:r>
                        <a:rPr lang="en-US" sz="1400">
                          <a:solidFill>
                            <a:srgbClr val="FFFFFF"/>
                          </a:solidFill>
                          <a:latin typeface="Consolas"/>
                        </a:rPr>
                        <a:t>GET /api/datasources/uid/:uid</a:t>
                      </a:r>
                    </a:p>
                  </a:txBody>
                  <a:tcPr anchor="ctr">
                    <a:solidFill>
                      <a:srgbClr val="181B1F"/>
                    </a:solidFill>
                  </a:tcPr>
                </a:tc>
                <a:tc>
                  <a:txBody>
                    <a:bodyPr/>
                    <a:lstStyle/>
                    <a:p>
                      <a:r>
                        <a:rPr lang="en-US" sz="1400">
                          <a:solidFill>
                            <a:srgbClr val="B4BCC6"/>
                          </a:solidFill>
                          <a:latin typeface="Segoe UI"/>
                          <a:cs typeface="Segoe UI"/>
                        </a:rPr>
                        <a:t>Read one by uid</a:t>
                      </a:r>
                    </a:p>
                  </a:txBody>
                  <a:tcPr anchor="ctr">
                    <a:solidFill>
                      <a:srgbClr val="181B1F"/>
                    </a:solidFill>
                  </a:tcPr>
                </a:tc>
                <a:extLst>
                  <a:ext uri="{0D108BD9-81ED-4DB2-BD59-A6C34878D82A}">
                    <a16:rowId xmlns:a16="http://schemas.microsoft.com/office/drawing/2014/main" val="1254114379"/>
                  </a:ext>
                </a:extLst>
              </a:tr>
              <a:tr h="330200">
                <a:tc>
                  <a:txBody>
                    <a:bodyPr/>
                    <a:lstStyle/>
                    <a:p>
                      <a:r>
                        <a:rPr lang="en-US" sz="1400">
                          <a:solidFill>
                            <a:srgbClr val="FFFFFF"/>
                          </a:solidFill>
                          <a:latin typeface="Consolas"/>
                        </a:rPr>
                        <a:t>POST /api/datasources</a:t>
                      </a:r>
                    </a:p>
                  </a:txBody>
                  <a:tcPr anchor="ctr">
                    <a:solidFill>
                      <a:srgbClr val="1B1E24"/>
                    </a:solidFill>
                  </a:tcPr>
                </a:tc>
                <a:tc>
                  <a:txBody>
                    <a:bodyPr/>
                    <a:lstStyle/>
                    <a:p>
                      <a:r>
                        <a:rPr lang="en-US" sz="1400">
                          <a:solidFill>
                            <a:srgbClr val="B4BCC6"/>
                          </a:solidFill>
                          <a:latin typeface="Segoe UI"/>
                          <a:cs typeface="Segoe UI"/>
                        </a:rPr>
                        <a:t>Create a new connection</a:t>
                      </a:r>
                    </a:p>
                  </a:txBody>
                  <a:tcPr anchor="ctr">
                    <a:solidFill>
                      <a:srgbClr val="1B1E24"/>
                    </a:solidFill>
                  </a:tcPr>
                </a:tc>
                <a:extLst>
                  <a:ext uri="{0D108BD9-81ED-4DB2-BD59-A6C34878D82A}">
                    <a16:rowId xmlns:a16="http://schemas.microsoft.com/office/drawing/2014/main" val="2969574664"/>
                  </a:ext>
                </a:extLst>
              </a:tr>
              <a:tr h="330200">
                <a:tc>
                  <a:txBody>
                    <a:bodyPr/>
                    <a:lstStyle/>
                    <a:p>
                      <a:r>
                        <a:rPr lang="en-US" sz="1400">
                          <a:solidFill>
                            <a:srgbClr val="FFFFFF"/>
                          </a:solidFill>
                          <a:latin typeface="Consolas"/>
                        </a:rPr>
                        <a:t>PUT /api/datasources/uid/:uid</a:t>
                      </a:r>
                    </a:p>
                  </a:txBody>
                  <a:tcPr anchor="ctr">
                    <a:solidFill>
                      <a:srgbClr val="181B1F"/>
                    </a:solidFill>
                  </a:tcPr>
                </a:tc>
                <a:tc>
                  <a:txBody>
                    <a:bodyPr/>
                    <a:lstStyle/>
                    <a:p>
                      <a:r>
                        <a:rPr lang="en-US" sz="1400">
                          <a:solidFill>
                            <a:srgbClr val="B4BCC6"/>
                          </a:solidFill>
                          <a:latin typeface="Segoe UI"/>
                          <a:cs typeface="Segoe UI"/>
                        </a:rPr>
                        <a:t>Update url, auth, settings</a:t>
                      </a:r>
                    </a:p>
                  </a:txBody>
                  <a:tcPr anchor="ctr">
                    <a:solidFill>
                      <a:srgbClr val="181B1F"/>
                    </a:solidFill>
                  </a:tcPr>
                </a:tc>
                <a:extLst>
                  <a:ext uri="{0D108BD9-81ED-4DB2-BD59-A6C34878D82A}">
                    <a16:rowId xmlns:a16="http://schemas.microsoft.com/office/drawing/2014/main" val="3192194903"/>
                  </a:ext>
                </a:extLst>
              </a:tr>
              <a:tr h="330200">
                <a:tc>
                  <a:txBody>
                    <a:bodyPr/>
                    <a:lstStyle/>
                    <a:p>
                      <a:r>
                        <a:rPr lang="en-US" sz="1400">
                          <a:solidFill>
                            <a:srgbClr val="FFFFFF"/>
                          </a:solidFill>
                          <a:latin typeface="Consolas"/>
                        </a:rPr>
                        <a:t>DELETE /api/datasources/uid/:uid</a:t>
                      </a:r>
                    </a:p>
                  </a:txBody>
                  <a:tcPr anchor="ctr">
                    <a:solidFill>
                      <a:srgbClr val="1B1E24"/>
                    </a:solidFill>
                  </a:tcPr>
                </a:tc>
                <a:tc>
                  <a:txBody>
                    <a:bodyPr/>
                    <a:lstStyle/>
                    <a:p>
                      <a:r>
                        <a:rPr lang="en-US" sz="1400">
                          <a:solidFill>
                            <a:srgbClr val="B4BCC6"/>
                          </a:solidFill>
                          <a:latin typeface="Segoe UI"/>
                          <a:cs typeface="Segoe UI"/>
                        </a:rPr>
                        <a:t>Remove it</a:t>
                      </a:r>
                    </a:p>
                  </a:txBody>
                  <a:tcPr anchor="ctr">
                    <a:solidFill>
                      <a:srgbClr val="1B1E24"/>
                    </a:solidFill>
                  </a:tcPr>
                </a:tc>
                <a:extLst>
                  <a:ext uri="{0D108BD9-81ED-4DB2-BD59-A6C34878D82A}">
                    <a16:rowId xmlns:a16="http://schemas.microsoft.com/office/drawing/2014/main" val="1322565847"/>
                  </a:ext>
                </a:extLst>
              </a:tr>
              <a:tr h="330200">
                <a:tc>
                  <a:txBody>
                    <a:bodyPr/>
                    <a:lstStyle/>
                    <a:p>
                      <a:r>
                        <a:rPr lang="en-US" sz="1400">
                          <a:solidFill>
                            <a:srgbClr val="FFFFFF"/>
                          </a:solidFill>
                          <a:latin typeface="Consolas"/>
                        </a:rPr>
                        <a:t>GET /api/datasources/uid/:uid/health</a:t>
                      </a:r>
                    </a:p>
                  </a:txBody>
                  <a:tcPr anchor="ctr">
                    <a:solidFill>
                      <a:srgbClr val="181B1F"/>
                    </a:solidFill>
                  </a:tcPr>
                </a:tc>
                <a:tc>
                  <a:txBody>
                    <a:bodyPr/>
                    <a:lstStyle/>
                    <a:p>
                      <a:r>
                        <a:rPr lang="en-US" sz="1400" dirty="0">
                          <a:solidFill>
                            <a:srgbClr val="B4BCC6"/>
                          </a:solidFill>
                          <a:latin typeface="Segoe UI"/>
                          <a:cs typeface="Segoe UI"/>
                        </a:rPr>
                        <a:t>Test - does it actually answer?</a:t>
                      </a:r>
                    </a:p>
                  </a:txBody>
                  <a:tcPr anchor="ctr">
                    <a:solidFill>
                      <a:srgbClr val="181B1F"/>
                    </a:solidFill>
                  </a:tcPr>
                </a:tc>
                <a:extLst>
                  <a:ext uri="{0D108BD9-81ED-4DB2-BD59-A6C34878D82A}">
                    <a16:rowId xmlns:a16="http://schemas.microsoft.com/office/drawing/2014/main" val="4052657508"/>
                  </a:ext>
                </a:extLst>
              </a:tr>
            </a:tbl>
          </a:graphicData>
        </a:graphic>
      </p:graphicFrame>
      <p:sp>
        <p:nvSpPr>
          <p:cNvPr id="16" name="Rectangle: Rounded Corners 15">
            <a:extLst>
              <a:ext uri="{FF2B5EF4-FFF2-40B4-BE49-F238E27FC236}">
                <a16:creationId xmlns:a16="http://schemas.microsoft.com/office/drawing/2014/main" id="{858257F0-81CC-4F42-BA15-46259B4E9B5D}"/>
              </a:ext>
            </a:extLst>
          </p:cNvPr>
          <p:cNvSpPr/>
          <p:nvPr/>
        </p:nvSpPr>
        <p:spPr>
          <a:xfrm>
            <a:off x="762000" y="4851400"/>
            <a:ext cx="5842000" cy="1371600"/>
          </a:xfrm>
          <a:prstGeom prst="roundRect">
            <a:avLst/>
          </a:prstGeom>
          <a:solidFill>
            <a:srgbClr val="181B1F"/>
          </a:solidFill>
          <a:ln w="15875" cap="flat" cmpd="sng" algn="ctr">
            <a:solidFill>
              <a:srgbClr val="F249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CED1791A-F061-4563-B459-54DF17FAEBD5}"/>
              </a:ext>
            </a:extLst>
          </p:cNvPr>
          <p:cNvSpPr txBox="1"/>
          <p:nvPr/>
        </p:nvSpPr>
        <p:spPr>
          <a:xfrm>
            <a:off x="990600" y="4978400"/>
            <a:ext cx="5080000" cy="279400"/>
          </a:xfrm>
          <a:prstGeom prst="rect">
            <a:avLst/>
          </a:prstGeom>
          <a:noFill/>
        </p:spPr>
        <p:txBody>
          <a:bodyPr vertOverflow="overflow" vert="horz" wrap="square" rtlCol="0" anchor="t">
            <a:noAutofit/>
          </a:bodyPr>
          <a:lstStyle/>
          <a:p>
            <a:pPr algn="l"/>
            <a:r>
              <a:rPr lang="en-US" sz="1600" b="1">
                <a:solidFill>
                  <a:srgbClr val="F2495C"/>
                </a:solidFill>
                <a:latin typeface="Segoe UI"/>
                <a:cs typeface="Segoe UI"/>
              </a:rPr>
              <a:t>Secrets are write-only</a:t>
            </a:r>
          </a:p>
        </p:txBody>
      </p:sp>
      <p:sp>
        <p:nvSpPr>
          <p:cNvPr id="18" name="TextBox 17">
            <a:extLst>
              <a:ext uri="{FF2B5EF4-FFF2-40B4-BE49-F238E27FC236}">
                <a16:creationId xmlns:a16="http://schemas.microsoft.com/office/drawing/2014/main" id="{762AFADA-4F53-46DA-992F-BC0FCB725982}"/>
              </a:ext>
            </a:extLst>
          </p:cNvPr>
          <p:cNvSpPr txBox="1"/>
          <p:nvPr/>
        </p:nvSpPr>
        <p:spPr>
          <a:xfrm>
            <a:off x="990600" y="5308600"/>
            <a:ext cx="5384800" cy="838200"/>
          </a:xfrm>
          <a:prstGeom prst="rect">
            <a:avLst/>
          </a:prstGeom>
          <a:noFill/>
        </p:spPr>
        <p:txBody>
          <a:bodyPr vertOverflow="overflow" vert="horz" wrap="square" rtlCol="0" anchor="t">
            <a:noAutofit/>
          </a:bodyPr>
          <a:lstStyle/>
          <a:p>
            <a:pPr algn="l"/>
            <a:r>
              <a:rPr lang="en-US" sz="1400" dirty="0">
                <a:solidFill>
                  <a:srgbClr val="D2D6DB"/>
                </a:solidFill>
                <a:latin typeface="Segoe UI"/>
                <a:cs typeface="Segoe UI"/>
              </a:rPr>
              <a:t>Anything inside </a:t>
            </a:r>
            <a:r>
              <a:rPr lang="en-US" sz="1400" dirty="0" err="1">
                <a:solidFill>
                  <a:srgbClr val="D2D6DB"/>
                </a:solidFill>
                <a:latin typeface="Segoe UI"/>
                <a:cs typeface="Segoe UI"/>
              </a:rPr>
              <a:t>secureJsonData</a:t>
            </a:r>
            <a:r>
              <a:rPr lang="en-US" sz="1400" dirty="0">
                <a:solidFill>
                  <a:srgbClr val="D2D6DB"/>
                </a:solidFill>
                <a:latin typeface="Segoe UI"/>
                <a:cs typeface="Segoe UI"/>
              </a:rPr>
              <a:t> is encrypted with the instance secret key and never returned by a GET - your code can overwrite it, never diff it. That is why data sources belong in provisioning files, with values read from environment variables.</a:t>
            </a:r>
          </a:p>
        </p:txBody>
      </p:sp>
    </p:spTree>
    <p:extLst>
      <p:ext uri="{BB962C8B-B14F-4D97-AF65-F5344CB8AC3E}">
        <p14:creationId xmlns:p14="http://schemas.microsoft.com/office/powerpoint/2010/main" val="1871348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6612-67B0-584C-F844-E6D611996B41}"/>
              </a:ext>
            </a:extLst>
          </p:cNvPr>
          <p:cNvSpPr>
            <a:spLocks noGrp="1"/>
          </p:cNvSpPr>
          <p:nvPr>
            <p:ph type="title"/>
          </p:nvPr>
        </p:nvSpPr>
        <p:spPr>
          <a:xfrm>
            <a:off x="2159000" y="406400"/>
            <a:ext cx="9271000" cy="533400"/>
          </a:xfrm>
        </p:spPr>
        <p:txBody>
          <a:bodyPr>
            <a:normAutofit/>
          </a:bodyPr>
          <a:lstStyle/>
          <a:p>
            <a:r>
              <a:rPr lang="en-US" sz="3000" b="1"/>
              <a:t>Drive Grafana from the Command Line</a:t>
            </a:r>
          </a:p>
        </p:txBody>
      </p:sp>
      <p:sp>
        <p:nvSpPr>
          <p:cNvPr id="3" name="Rectangle 2">
            <a:extLst>
              <a:ext uri="{FF2B5EF4-FFF2-40B4-BE49-F238E27FC236}">
                <a16:creationId xmlns:a16="http://schemas.microsoft.com/office/drawing/2014/main" id="{A5B28823-DC55-4990-9DE1-24EE5B7190A4}"/>
              </a:ext>
            </a:extLst>
          </p:cNvPr>
          <p:cNvSpPr/>
          <p:nvPr/>
        </p:nvSpPr>
        <p:spPr>
          <a:xfrm>
            <a:off x="0" y="0"/>
            <a:ext cx="101600" cy="68580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Rounded Corners 3">
            <a:extLst>
              <a:ext uri="{FF2B5EF4-FFF2-40B4-BE49-F238E27FC236}">
                <a16:creationId xmlns:a16="http://schemas.microsoft.com/office/drawing/2014/main" id="{52FB5E8D-B6C3-41DF-AA20-E7EAB736C777}"/>
              </a:ext>
            </a:extLst>
          </p:cNvPr>
          <p:cNvSpPr/>
          <p:nvPr/>
        </p:nvSpPr>
        <p:spPr>
          <a:xfrm>
            <a:off x="762000" y="406400"/>
            <a:ext cx="1219200" cy="533400"/>
          </a:xfrm>
          <a:prstGeom prst="roundRect">
            <a:avLst/>
          </a:prstGeom>
          <a:solidFill>
            <a:srgbClr val="2A1C0B"/>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000" b="1">
                <a:solidFill>
                  <a:srgbClr val="FF8800"/>
                </a:solidFill>
                <a:latin typeface="Segoe UI"/>
                <a:cs typeface="Segoe UI"/>
              </a:rPr>
              <a:t>LAB 1</a:t>
            </a:r>
          </a:p>
        </p:txBody>
      </p:sp>
      <p:sp>
        <p:nvSpPr>
          <p:cNvPr id="5" name="TextBox 4">
            <a:extLst>
              <a:ext uri="{FF2B5EF4-FFF2-40B4-BE49-F238E27FC236}">
                <a16:creationId xmlns:a16="http://schemas.microsoft.com/office/drawing/2014/main" id="{B0C7DCD0-3C2C-4075-91F9-6FE2061102D7}"/>
              </a:ext>
            </a:extLst>
          </p:cNvPr>
          <p:cNvSpPr txBox="1"/>
          <p:nvPr/>
        </p:nvSpPr>
        <p:spPr>
          <a:xfrm>
            <a:off x="2159000" y="990600"/>
            <a:ext cx="7620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20 minutes  ·  Module 17  ·  work in pairs if you like</a:t>
            </a:r>
          </a:p>
        </p:txBody>
      </p:sp>
      <p:sp>
        <p:nvSpPr>
          <p:cNvPr id="6" name="Rectangle: Rounded Corners 5">
            <a:extLst>
              <a:ext uri="{FF2B5EF4-FFF2-40B4-BE49-F238E27FC236}">
                <a16:creationId xmlns:a16="http://schemas.microsoft.com/office/drawing/2014/main" id="{635F49B1-5FDA-438C-A57D-11F8D61F4037}"/>
              </a:ext>
            </a:extLst>
          </p:cNvPr>
          <p:cNvSpPr/>
          <p:nvPr/>
        </p:nvSpPr>
        <p:spPr>
          <a:xfrm>
            <a:off x="762000" y="1422400"/>
            <a:ext cx="6604000" cy="41402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37E0B48F-9764-43DE-8DCE-AA8ED8BD67B4}"/>
              </a:ext>
            </a:extLst>
          </p:cNvPr>
          <p:cNvSpPr txBox="1"/>
          <p:nvPr/>
        </p:nvSpPr>
        <p:spPr>
          <a:xfrm>
            <a:off x="1016000" y="1549400"/>
            <a:ext cx="2540000" cy="279400"/>
          </a:xfrm>
          <a:prstGeom prst="rect">
            <a:avLst/>
          </a:prstGeom>
          <a:noFill/>
        </p:spPr>
        <p:txBody>
          <a:bodyPr vertOverflow="overflow" vert="horz" wrap="square" rtlCol="0" anchor="t">
            <a:noAutofit/>
          </a:bodyPr>
          <a:lstStyle/>
          <a:p>
            <a:pPr algn="l"/>
            <a:r>
              <a:rPr lang="en-US" sz="1700" b="1">
                <a:solidFill>
                  <a:srgbClr val="FFFFFF"/>
                </a:solidFill>
                <a:latin typeface="Segoe UI"/>
                <a:cs typeface="Segoe UI"/>
              </a:rPr>
              <a:t>Steps</a:t>
            </a:r>
          </a:p>
        </p:txBody>
      </p:sp>
      <p:sp>
        <p:nvSpPr>
          <p:cNvPr id="8" name="Rectangle: Rounded Corners 7">
            <a:extLst>
              <a:ext uri="{FF2B5EF4-FFF2-40B4-BE49-F238E27FC236}">
                <a16:creationId xmlns:a16="http://schemas.microsoft.com/office/drawing/2014/main" id="{0AF61F34-CC12-4861-B720-280240079B98}"/>
              </a:ext>
            </a:extLst>
          </p:cNvPr>
          <p:cNvSpPr/>
          <p:nvPr/>
        </p:nvSpPr>
        <p:spPr>
          <a:xfrm>
            <a:off x="1016000" y="1930400"/>
            <a:ext cx="355600" cy="330200"/>
          </a:xfrm>
          <a:prstGeom prst="roundRect">
            <a:avLst/>
          </a:prstGeom>
          <a:solidFill>
            <a:srgbClr val="151A22"/>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FF8800"/>
                </a:solidFill>
                <a:latin typeface="Segoe UI"/>
                <a:cs typeface="Segoe UI"/>
              </a:rPr>
              <a:t>1</a:t>
            </a:r>
          </a:p>
        </p:txBody>
      </p:sp>
      <p:sp>
        <p:nvSpPr>
          <p:cNvPr id="9" name="TextBox 8">
            <a:extLst>
              <a:ext uri="{FF2B5EF4-FFF2-40B4-BE49-F238E27FC236}">
                <a16:creationId xmlns:a16="http://schemas.microsoft.com/office/drawing/2014/main" id="{57461916-2151-4EA5-AF3A-7AF65400BA0E}"/>
              </a:ext>
            </a:extLst>
          </p:cNvPr>
          <p:cNvSpPr txBox="1"/>
          <p:nvPr/>
        </p:nvSpPr>
        <p:spPr>
          <a:xfrm>
            <a:off x="1524000" y="1955800"/>
            <a:ext cx="5588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Create a service account named automation with the Admin role, mint a token, export it as $TOKEN.</a:t>
            </a:r>
          </a:p>
        </p:txBody>
      </p:sp>
      <p:sp>
        <p:nvSpPr>
          <p:cNvPr id="10" name="Rectangle: Rounded Corners 9">
            <a:extLst>
              <a:ext uri="{FF2B5EF4-FFF2-40B4-BE49-F238E27FC236}">
                <a16:creationId xmlns:a16="http://schemas.microsoft.com/office/drawing/2014/main" id="{079FFB57-5090-4B9A-B5CA-5C59B180E4AD}"/>
              </a:ext>
            </a:extLst>
          </p:cNvPr>
          <p:cNvSpPr/>
          <p:nvPr/>
        </p:nvSpPr>
        <p:spPr>
          <a:xfrm>
            <a:off x="1016000" y="2514600"/>
            <a:ext cx="355600" cy="330200"/>
          </a:xfrm>
          <a:prstGeom prst="roundRect">
            <a:avLst/>
          </a:prstGeom>
          <a:solidFill>
            <a:srgbClr val="151A22"/>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FF8800"/>
                </a:solidFill>
                <a:latin typeface="Segoe UI"/>
                <a:cs typeface="Segoe UI"/>
              </a:rPr>
              <a:t>2</a:t>
            </a:r>
          </a:p>
        </p:txBody>
      </p:sp>
      <p:sp>
        <p:nvSpPr>
          <p:cNvPr id="11" name="TextBox 10">
            <a:extLst>
              <a:ext uri="{FF2B5EF4-FFF2-40B4-BE49-F238E27FC236}">
                <a16:creationId xmlns:a16="http://schemas.microsoft.com/office/drawing/2014/main" id="{7E33F0DD-0F32-44B0-A858-58AFF2A20156}"/>
              </a:ext>
            </a:extLst>
          </p:cNvPr>
          <p:cNvSpPr txBox="1"/>
          <p:nvPr/>
        </p:nvSpPr>
        <p:spPr>
          <a:xfrm>
            <a:off x="1524000" y="2540000"/>
            <a:ext cx="5588000" cy="558800"/>
          </a:xfrm>
          <a:prstGeom prst="rect">
            <a:avLst/>
          </a:prstGeom>
          <a:noFill/>
        </p:spPr>
        <p:txBody>
          <a:bodyPr vertOverflow="overflow" vert="horz" wrap="square" rtlCol="0" anchor="t">
            <a:noAutofit/>
          </a:bodyPr>
          <a:lstStyle/>
          <a:p>
            <a:pPr algn="l"/>
            <a:r>
              <a:rPr lang="en-US" sz="1500" dirty="0">
                <a:solidFill>
                  <a:srgbClr val="D2D6DB"/>
                </a:solidFill>
                <a:latin typeface="Segoe UI"/>
                <a:cs typeface="Segoe UI"/>
              </a:rPr>
              <a:t>Prove the token works: GET /</a:t>
            </a:r>
            <a:r>
              <a:rPr lang="en-US" sz="1500" dirty="0" err="1">
                <a:solidFill>
                  <a:srgbClr val="D2D6DB"/>
                </a:solidFill>
                <a:latin typeface="Segoe UI"/>
                <a:cs typeface="Segoe UI"/>
              </a:rPr>
              <a:t>api</a:t>
            </a:r>
            <a:r>
              <a:rPr lang="en-US" sz="1500" dirty="0">
                <a:solidFill>
                  <a:srgbClr val="D2D6DB"/>
                </a:solidFill>
                <a:latin typeface="Segoe UI"/>
                <a:cs typeface="Segoe UI"/>
              </a:rPr>
              <a:t>/org and GET /</a:t>
            </a:r>
            <a:r>
              <a:rPr lang="en-US" sz="1500" dirty="0" err="1">
                <a:solidFill>
                  <a:srgbClr val="D2D6DB"/>
                </a:solidFill>
                <a:latin typeface="Segoe UI"/>
                <a:cs typeface="Segoe UI"/>
              </a:rPr>
              <a:t>api</a:t>
            </a:r>
            <a:r>
              <a:rPr lang="en-US" sz="1500" dirty="0">
                <a:solidFill>
                  <a:srgbClr val="D2D6DB"/>
                </a:solidFill>
                <a:latin typeface="Segoe UI"/>
                <a:cs typeface="Segoe UI"/>
              </a:rPr>
              <a:t>/health - both should return 200.</a:t>
            </a:r>
          </a:p>
        </p:txBody>
      </p:sp>
      <p:sp>
        <p:nvSpPr>
          <p:cNvPr id="12" name="Rectangle: Rounded Corners 11">
            <a:extLst>
              <a:ext uri="{FF2B5EF4-FFF2-40B4-BE49-F238E27FC236}">
                <a16:creationId xmlns:a16="http://schemas.microsoft.com/office/drawing/2014/main" id="{531B6B5F-E588-4083-86FA-0A756A9DA936}"/>
              </a:ext>
            </a:extLst>
          </p:cNvPr>
          <p:cNvSpPr/>
          <p:nvPr/>
        </p:nvSpPr>
        <p:spPr>
          <a:xfrm>
            <a:off x="1016000" y="3098800"/>
            <a:ext cx="355600" cy="330200"/>
          </a:xfrm>
          <a:prstGeom prst="roundRect">
            <a:avLst/>
          </a:prstGeom>
          <a:solidFill>
            <a:srgbClr val="151A22"/>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FF8800"/>
                </a:solidFill>
                <a:latin typeface="Segoe UI"/>
                <a:cs typeface="Segoe UI"/>
              </a:rPr>
              <a:t>3</a:t>
            </a:r>
          </a:p>
        </p:txBody>
      </p:sp>
      <p:sp>
        <p:nvSpPr>
          <p:cNvPr id="13" name="TextBox 12">
            <a:extLst>
              <a:ext uri="{FF2B5EF4-FFF2-40B4-BE49-F238E27FC236}">
                <a16:creationId xmlns:a16="http://schemas.microsoft.com/office/drawing/2014/main" id="{B33981AB-226F-4F40-ABC4-2950920012D0}"/>
              </a:ext>
            </a:extLst>
          </p:cNvPr>
          <p:cNvSpPr txBox="1"/>
          <p:nvPr/>
        </p:nvSpPr>
        <p:spPr>
          <a:xfrm>
            <a:off x="1524000" y="3175000"/>
            <a:ext cx="5588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Create a folder with uid lab-api and title "Lab · API".</a:t>
            </a:r>
          </a:p>
        </p:txBody>
      </p:sp>
      <p:sp>
        <p:nvSpPr>
          <p:cNvPr id="14" name="Rectangle: Rounded Corners 13">
            <a:extLst>
              <a:ext uri="{FF2B5EF4-FFF2-40B4-BE49-F238E27FC236}">
                <a16:creationId xmlns:a16="http://schemas.microsoft.com/office/drawing/2014/main" id="{A5AF8C3C-8ADD-4948-99E1-12A57CD3737A}"/>
              </a:ext>
            </a:extLst>
          </p:cNvPr>
          <p:cNvSpPr/>
          <p:nvPr/>
        </p:nvSpPr>
        <p:spPr>
          <a:xfrm>
            <a:off x="1016000" y="3683000"/>
            <a:ext cx="355600" cy="330200"/>
          </a:xfrm>
          <a:prstGeom prst="roundRect">
            <a:avLst/>
          </a:prstGeom>
          <a:solidFill>
            <a:srgbClr val="151A22"/>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FF8800"/>
                </a:solidFill>
                <a:latin typeface="Segoe UI"/>
                <a:cs typeface="Segoe UI"/>
              </a:rPr>
              <a:t>4</a:t>
            </a:r>
          </a:p>
        </p:txBody>
      </p:sp>
      <p:sp>
        <p:nvSpPr>
          <p:cNvPr id="15" name="TextBox 14">
            <a:extLst>
              <a:ext uri="{FF2B5EF4-FFF2-40B4-BE49-F238E27FC236}">
                <a16:creationId xmlns:a16="http://schemas.microsoft.com/office/drawing/2014/main" id="{29984296-1A8B-41D1-A1F0-2F71D3B77820}"/>
              </a:ext>
            </a:extLst>
          </p:cNvPr>
          <p:cNvSpPr txBox="1"/>
          <p:nvPr/>
        </p:nvSpPr>
        <p:spPr>
          <a:xfrm>
            <a:off x="1524000" y="3708400"/>
            <a:ext cx="5588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Register a Prometheus data source with uid prom-lab, then call its /health endpoint.</a:t>
            </a:r>
          </a:p>
        </p:txBody>
      </p:sp>
      <p:sp>
        <p:nvSpPr>
          <p:cNvPr id="16" name="Rectangle: Rounded Corners 15">
            <a:extLst>
              <a:ext uri="{FF2B5EF4-FFF2-40B4-BE49-F238E27FC236}">
                <a16:creationId xmlns:a16="http://schemas.microsoft.com/office/drawing/2014/main" id="{1A326D83-CB6D-447F-90F0-F65BF1C76816}"/>
              </a:ext>
            </a:extLst>
          </p:cNvPr>
          <p:cNvSpPr/>
          <p:nvPr/>
        </p:nvSpPr>
        <p:spPr>
          <a:xfrm>
            <a:off x="1016000" y="4267200"/>
            <a:ext cx="355600" cy="330200"/>
          </a:xfrm>
          <a:prstGeom prst="roundRect">
            <a:avLst/>
          </a:prstGeom>
          <a:solidFill>
            <a:srgbClr val="151A22"/>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FF8800"/>
                </a:solidFill>
                <a:latin typeface="Segoe UI"/>
                <a:cs typeface="Segoe UI"/>
              </a:rPr>
              <a:t>5</a:t>
            </a:r>
          </a:p>
        </p:txBody>
      </p:sp>
      <p:sp>
        <p:nvSpPr>
          <p:cNvPr id="17" name="TextBox 16">
            <a:extLst>
              <a:ext uri="{FF2B5EF4-FFF2-40B4-BE49-F238E27FC236}">
                <a16:creationId xmlns:a16="http://schemas.microsoft.com/office/drawing/2014/main" id="{54994618-CCF6-4E88-AACD-3401716BE527}"/>
              </a:ext>
            </a:extLst>
          </p:cNvPr>
          <p:cNvSpPr txBox="1"/>
          <p:nvPr/>
        </p:nvSpPr>
        <p:spPr>
          <a:xfrm>
            <a:off x="1524000" y="4292600"/>
            <a:ext cx="5588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POST a one-panel dashboard into that folder with uid lab-api-1 and overwrite:true.</a:t>
            </a:r>
          </a:p>
        </p:txBody>
      </p:sp>
      <p:sp>
        <p:nvSpPr>
          <p:cNvPr id="18" name="Rectangle: Rounded Corners 17">
            <a:extLst>
              <a:ext uri="{FF2B5EF4-FFF2-40B4-BE49-F238E27FC236}">
                <a16:creationId xmlns:a16="http://schemas.microsoft.com/office/drawing/2014/main" id="{5102D74D-A6D9-4856-97F1-E8FC0913F597}"/>
              </a:ext>
            </a:extLst>
          </p:cNvPr>
          <p:cNvSpPr/>
          <p:nvPr/>
        </p:nvSpPr>
        <p:spPr>
          <a:xfrm>
            <a:off x="1016000" y="4851400"/>
            <a:ext cx="355600" cy="330200"/>
          </a:xfrm>
          <a:prstGeom prst="roundRect">
            <a:avLst/>
          </a:prstGeom>
          <a:solidFill>
            <a:srgbClr val="151A22"/>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FF8800"/>
                </a:solidFill>
                <a:latin typeface="Segoe UI"/>
                <a:cs typeface="Segoe UI"/>
              </a:rPr>
              <a:t>6</a:t>
            </a:r>
          </a:p>
        </p:txBody>
      </p:sp>
      <p:sp>
        <p:nvSpPr>
          <p:cNvPr id="19" name="TextBox 18">
            <a:extLst>
              <a:ext uri="{FF2B5EF4-FFF2-40B4-BE49-F238E27FC236}">
                <a16:creationId xmlns:a16="http://schemas.microsoft.com/office/drawing/2014/main" id="{5235B8CC-8350-4FBF-87B0-F4CC1FD5EBEC}"/>
              </a:ext>
            </a:extLst>
          </p:cNvPr>
          <p:cNvSpPr txBox="1"/>
          <p:nvPr/>
        </p:nvSpPr>
        <p:spPr>
          <a:xfrm>
            <a:off x="1524000" y="4876800"/>
            <a:ext cx="5588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Change the title, POST the same payload again, then read /versions to see version 2.</a:t>
            </a:r>
          </a:p>
        </p:txBody>
      </p:sp>
      <p:sp>
        <p:nvSpPr>
          <p:cNvPr id="20" name="Rectangle: Rounded Corners 19">
            <a:extLst>
              <a:ext uri="{FF2B5EF4-FFF2-40B4-BE49-F238E27FC236}">
                <a16:creationId xmlns:a16="http://schemas.microsoft.com/office/drawing/2014/main" id="{3D6FCB12-9B32-4982-98B2-CDDA3B492396}"/>
              </a:ext>
            </a:extLst>
          </p:cNvPr>
          <p:cNvSpPr/>
          <p:nvPr/>
        </p:nvSpPr>
        <p:spPr>
          <a:xfrm>
            <a:off x="7620000" y="1422400"/>
            <a:ext cx="3810000" cy="13208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848DD00E-66A8-4BB1-9A7E-5206597C3745}"/>
              </a:ext>
            </a:extLst>
          </p:cNvPr>
          <p:cNvSpPr txBox="1"/>
          <p:nvPr/>
        </p:nvSpPr>
        <p:spPr>
          <a:xfrm>
            <a:off x="7848600" y="1549400"/>
            <a:ext cx="3352800" cy="2540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Why this matters</a:t>
            </a:r>
          </a:p>
        </p:txBody>
      </p:sp>
      <p:sp>
        <p:nvSpPr>
          <p:cNvPr id="22" name="TextBox 21">
            <a:extLst>
              <a:ext uri="{FF2B5EF4-FFF2-40B4-BE49-F238E27FC236}">
                <a16:creationId xmlns:a16="http://schemas.microsoft.com/office/drawing/2014/main" id="{44EEB802-5EE0-493E-8B18-A17DE7FDA99C}"/>
              </a:ext>
            </a:extLst>
          </p:cNvPr>
          <p:cNvSpPr txBox="1"/>
          <p:nvPr/>
        </p:nvSpPr>
        <p:spPr>
          <a:xfrm>
            <a:off x="7848600" y="1854200"/>
            <a:ext cx="3378200" cy="8382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This is the exact sequence your CI pipeline will run later - today you run it by hand so you recognize the failures.</a:t>
            </a:r>
          </a:p>
        </p:txBody>
      </p:sp>
      <p:sp>
        <p:nvSpPr>
          <p:cNvPr id="23" name="Rectangle: Rounded Corners 22">
            <a:extLst>
              <a:ext uri="{FF2B5EF4-FFF2-40B4-BE49-F238E27FC236}">
                <a16:creationId xmlns:a16="http://schemas.microsoft.com/office/drawing/2014/main" id="{1D6684A0-2BA8-49E7-B8A9-8CDAFCD981B0}"/>
              </a:ext>
            </a:extLst>
          </p:cNvPr>
          <p:cNvSpPr/>
          <p:nvPr/>
        </p:nvSpPr>
        <p:spPr>
          <a:xfrm>
            <a:off x="7620000" y="2895600"/>
            <a:ext cx="3810000" cy="13208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488BC648-6E54-41A6-A162-B4A13E81FB03}"/>
              </a:ext>
            </a:extLst>
          </p:cNvPr>
          <p:cNvSpPr txBox="1"/>
          <p:nvPr/>
        </p:nvSpPr>
        <p:spPr>
          <a:xfrm>
            <a:off x="7848600" y="3022600"/>
            <a:ext cx="3352800" cy="254000"/>
          </a:xfrm>
          <a:prstGeom prst="rect">
            <a:avLst/>
          </a:prstGeom>
          <a:noFill/>
        </p:spPr>
        <p:txBody>
          <a:bodyPr vertOverflow="overflow" vert="horz" wrap="square" rtlCol="0" anchor="t">
            <a:noAutofit/>
          </a:bodyPr>
          <a:lstStyle/>
          <a:p>
            <a:pPr algn="l"/>
            <a:r>
              <a:rPr lang="en-US" sz="1600" b="1">
                <a:solidFill>
                  <a:srgbClr val="6E9FFF"/>
                </a:solidFill>
                <a:latin typeface="Segoe UI"/>
                <a:cs typeface="Segoe UI"/>
              </a:rPr>
              <a:t>You are done when…</a:t>
            </a:r>
          </a:p>
        </p:txBody>
      </p:sp>
      <p:sp>
        <p:nvSpPr>
          <p:cNvPr id="25" name="TextBox 24">
            <a:extLst>
              <a:ext uri="{FF2B5EF4-FFF2-40B4-BE49-F238E27FC236}">
                <a16:creationId xmlns:a16="http://schemas.microsoft.com/office/drawing/2014/main" id="{F692726F-FCFA-40DA-8CC8-CE8A88C19F55}"/>
              </a:ext>
            </a:extLst>
          </p:cNvPr>
          <p:cNvSpPr txBox="1"/>
          <p:nvPr/>
        </p:nvSpPr>
        <p:spPr>
          <a:xfrm>
            <a:off x="7848600" y="3327400"/>
            <a:ext cx="3378200" cy="812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The dashboard appears in the Lab · API folder, /versions shows 2, and you never opened the Grafana UI to create it.</a:t>
            </a:r>
          </a:p>
        </p:txBody>
      </p:sp>
      <p:sp>
        <p:nvSpPr>
          <p:cNvPr id="26" name="Rectangle: Rounded Corners 25">
            <a:extLst>
              <a:ext uri="{FF2B5EF4-FFF2-40B4-BE49-F238E27FC236}">
                <a16:creationId xmlns:a16="http://schemas.microsoft.com/office/drawing/2014/main" id="{EB2E593D-FA21-40D7-A696-F4A56B9932F3}"/>
              </a:ext>
            </a:extLst>
          </p:cNvPr>
          <p:cNvSpPr/>
          <p:nvPr/>
        </p:nvSpPr>
        <p:spPr>
          <a:xfrm>
            <a:off x="7620000" y="4368800"/>
            <a:ext cx="3810000" cy="1193800"/>
          </a:xfrm>
          <a:prstGeom prst="roundRect">
            <a:avLst/>
          </a:prstGeom>
          <a:solidFill>
            <a:srgbClr val="1B1E24"/>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CD8F32A9-6116-452F-BCE8-534BAAFC7142}"/>
              </a:ext>
            </a:extLst>
          </p:cNvPr>
          <p:cNvSpPr txBox="1"/>
          <p:nvPr/>
        </p:nvSpPr>
        <p:spPr>
          <a:xfrm>
            <a:off x="7848600" y="4495800"/>
            <a:ext cx="3352800" cy="254000"/>
          </a:xfrm>
          <a:prstGeom prst="rect">
            <a:avLst/>
          </a:prstGeom>
          <a:noFill/>
        </p:spPr>
        <p:txBody>
          <a:bodyPr vertOverflow="overflow" vert="horz" wrap="square" rtlCol="0" anchor="t">
            <a:noAutofit/>
          </a:bodyPr>
          <a:lstStyle/>
          <a:p>
            <a:pPr algn="l"/>
            <a:r>
              <a:rPr lang="en-US" sz="1600" b="1">
                <a:solidFill>
                  <a:srgbClr val="FADE2A"/>
                </a:solidFill>
                <a:latin typeface="Segoe UI"/>
                <a:cs typeface="Segoe UI"/>
              </a:rPr>
              <a:t>Stretch goal</a:t>
            </a:r>
          </a:p>
        </p:txBody>
      </p:sp>
      <p:sp>
        <p:nvSpPr>
          <p:cNvPr id="28" name="TextBox 27">
            <a:extLst>
              <a:ext uri="{FF2B5EF4-FFF2-40B4-BE49-F238E27FC236}">
                <a16:creationId xmlns:a16="http://schemas.microsoft.com/office/drawing/2014/main" id="{571D84A8-5D86-4BBE-B418-38261CA30DC4}"/>
              </a:ext>
            </a:extLst>
          </p:cNvPr>
          <p:cNvSpPr txBox="1"/>
          <p:nvPr/>
        </p:nvSpPr>
        <p:spPr>
          <a:xfrm>
            <a:off x="7848600" y="4800600"/>
            <a:ext cx="3378200" cy="660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Wrap steps 3–5 in a shell script that is safe to run twice. Idempotency is the whole point.</a:t>
            </a:r>
          </a:p>
        </p:txBody>
      </p:sp>
      <p:sp>
        <p:nvSpPr>
          <p:cNvPr id="29" name="TextBox 28">
            <a:extLst>
              <a:ext uri="{FF2B5EF4-FFF2-40B4-BE49-F238E27FC236}">
                <a16:creationId xmlns:a16="http://schemas.microsoft.com/office/drawing/2014/main" id="{5049BE36-BF2E-4191-9904-162E0B243148}"/>
              </a:ext>
            </a:extLst>
          </p:cNvPr>
          <p:cNvSpPr txBox="1"/>
          <p:nvPr/>
        </p:nvSpPr>
        <p:spPr>
          <a:xfrm>
            <a:off x="762000" y="5740400"/>
            <a:ext cx="10668000" cy="279400"/>
          </a:xfrm>
          <a:prstGeom prst="rect">
            <a:avLst/>
          </a:prstGeom>
          <a:noFill/>
        </p:spPr>
        <p:txBody>
          <a:bodyPr vertOverflow="overflow" vert="horz" wrap="square" rtlCol="0" anchor="t">
            <a:noAutofit/>
          </a:bodyPr>
          <a:lstStyle/>
          <a:p>
            <a:pPr algn="l"/>
            <a:r>
              <a:rPr lang="en-US" sz="1500" dirty="0">
                <a:solidFill>
                  <a:srgbClr val="A8B0BA"/>
                </a:solidFill>
                <a:latin typeface="Segoe UI"/>
                <a:cs typeface="Segoe UI"/>
              </a:rPr>
              <a:t>Stuck? Check the token header spelling first - 401 means auth, 403 means role, 404 means wrong </a:t>
            </a:r>
            <a:r>
              <a:rPr lang="en-US" sz="1500" dirty="0" err="1">
                <a:solidFill>
                  <a:srgbClr val="A8B0BA"/>
                </a:solidFill>
                <a:latin typeface="Segoe UI"/>
                <a:cs typeface="Segoe UI"/>
              </a:rPr>
              <a:t>uid</a:t>
            </a:r>
            <a:r>
              <a:rPr lang="en-US" sz="1500" dirty="0">
                <a:solidFill>
                  <a:srgbClr val="A8B0BA"/>
                </a:solidFill>
                <a:latin typeface="Segoe UI"/>
                <a:cs typeface="Segoe UI"/>
              </a:rPr>
              <a:t>.</a:t>
            </a:r>
          </a:p>
        </p:txBody>
      </p:sp>
    </p:spTree>
    <p:extLst>
      <p:ext uri="{BB962C8B-B14F-4D97-AF65-F5344CB8AC3E}">
        <p14:creationId xmlns:p14="http://schemas.microsoft.com/office/powerpoint/2010/main" val="2242588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FF17CD-8E07-46A0-B65E-72FC84D4CDF7}"/>
              </a:ext>
            </a:extLst>
          </p:cNvPr>
          <p:cNvSpPr/>
          <p:nvPr/>
        </p:nvSpPr>
        <p:spPr>
          <a:xfrm>
            <a:off x="0" y="0"/>
            <a:ext cx="101600" cy="68580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3E47AABD-16CE-4243-B4F6-81BB2E76B786}"/>
              </a:ext>
            </a:extLst>
          </p:cNvPr>
          <p:cNvSpPr/>
          <p:nvPr/>
        </p:nvSpPr>
        <p:spPr>
          <a:xfrm>
            <a:off x="762000" y="1524000"/>
            <a:ext cx="2794000" cy="1905000"/>
          </a:xfrm>
          <a:prstGeom prst="rect">
            <a:avLst/>
          </a:prstGeom>
          <a:solidFill>
            <a:srgbClr val="11121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0" b="1">
                <a:solidFill>
                  <a:srgbClr val="1C212A"/>
                </a:solidFill>
                <a:latin typeface="Segoe UI"/>
                <a:cs typeface="Segoe UI"/>
              </a:rPr>
              <a:t>18</a:t>
            </a:r>
          </a:p>
        </p:txBody>
      </p:sp>
      <p:sp>
        <p:nvSpPr>
          <p:cNvPr id="4" name="TextBox 3">
            <a:extLst>
              <a:ext uri="{FF2B5EF4-FFF2-40B4-BE49-F238E27FC236}">
                <a16:creationId xmlns:a16="http://schemas.microsoft.com/office/drawing/2014/main" id="{DFF3F20F-BCD5-4179-9033-DFE8FC460FB1}"/>
              </a:ext>
            </a:extLst>
          </p:cNvPr>
          <p:cNvSpPr txBox="1"/>
          <p:nvPr/>
        </p:nvSpPr>
        <p:spPr>
          <a:xfrm>
            <a:off x="762000" y="1219200"/>
            <a:ext cx="5080000" cy="279400"/>
          </a:xfrm>
          <a:prstGeom prst="rect">
            <a:avLst/>
          </a:prstGeom>
          <a:noFill/>
        </p:spPr>
        <p:txBody>
          <a:bodyPr vertOverflow="overflow" vert="horz" wrap="square" rtlCol="0" anchor="t">
            <a:noAutofit/>
          </a:bodyPr>
          <a:lstStyle/>
          <a:p>
            <a:pPr algn="l"/>
            <a:r>
              <a:rPr lang="en-US" sz="1500" b="1" dirty="0">
                <a:solidFill>
                  <a:srgbClr val="6E9FFF"/>
                </a:solidFill>
                <a:latin typeface="Segoe UI"/>
                <a:cs typeface="Segoe UI"/>
              </a:rPr>
              <a:t>MODULE 18</a:t>
            </a:r>
          </a:p>
        </p:txBody>
      </p:sp>
      <p:sp>
        <p:nvSpPr>
          <p:cNvPr id="5" name="TextBox 4">
            <a:extLst>
              <a:ext uri="{FF2B5EF4-FFF2-40B4-BE49-F238E27FC236}">
                <a16:creationId xmlns:a16="http://schemas.microsoft.com/office/drawing/2014/main" id="{AB0854B4-0396-45CF-ADF6-C53A9E28B6D0}"/>
              </a:ext>
            </a:extLst>
          </p:cNvPr>
          <p:cNvSpPr txBox="1"/>
          <p:nvPr/>
        </p:nvSpPr>
        <p:spPr>
          <a:xfrm>
            <a:off x="762000" y="1905000"/>
            <a:ext cx="6604000" cy="736600"/>
          </a:xfrm>
          <a:prstGeom prst="rect">
            <a:avLst/>
          </a:prstGeom>
          <a:noFill/>
        </p:spPr>
        <p:txBody>
          <a:bodyPr vertOverflow="overflow" vert="horz" wrap="square" rtlCol="0" anchor="t">
            <a:noAutofit/>
          </a:bodyPr>
          <a:lstStyle/>
          <a:p>
            <a:pPr algn="l"/>
            <a:r>
              <a:rPr lang="en-US" sz="4000" b="1">
                <a:solidFill>
                  <a:srgbClr val="FFFFFF"/>
                </a:solidFill>
                <a:latin typeface="Segoe UI"/>
                <a:cs typeface="Segoe UI"/>
              </a:rPr>
              <a:t>Dashboard Provisioning</a:t>
            </a:r>
          </a:p>
        </p:txBody>
      </p:sp>
      <p:sp>
        <p:nvSpPr>
          <p:cNvPr id="6" name="Rectangle 5">
            <a:extLst>
              <a:ext uri="{FF2B5EF4-FFF2-40B4-BE49-F238E27FC236}">
                <a16:creationId xmlns:a16="http://schemas.microsoft.com/office/drawing/2014/main" id="{D3890D7E-2326-4131-9B14-55158DBC8B3F}"/>
              </a:ext>
            </a:extLst>
          </p:cNvPr>
          <p:cNvSpPr/>
          <p:nvPr/>
        </p:nvSpPr>
        <p:spPr>
          <a:xfrm>
            <a:off x="762000" y="2743200"/>
            <a:ext cx="1143000" cy="508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1A0E19D6-F687-46A8-B5EF-8F93A2B083CA}"/>
              </a:ext>
            </a:extLst>
          </p:cNvPr>
          <p:cNvSpPr txBox="1"/>
          <p:nvPr/>
        </p:nvSpPr>
        <p:spPr>
          <a:xfrm>
            <a:off x="762000" y="2997200"/>
            <a:ext cx="6604000" cy="736600"/>
          </a:xfrm>
          <a:prstGeom prst="rect">
            <a:avLst/>
          </a:prstGeom>
          <a:noFill/>
        </p:spPr>
        <p:txBody>
          <a:bodyPr vertOverflow="overflow" vert="horz" wrap="square" rtlCol="0" anchor="t">
            <a:noAutofit/>
          </a:bodyPr>
          <a:lstStyle/>
          <a:p>
            <a:pPr algn="l"/>
            <a:r>
              <a:rPr lang="en-US" sz="1700">
                <a:solidFill>
                  <a:srgbClr val="B4BCC6"/>
                </a:solidFill>
                <a:latin typeface="Segoe UI"/>
                <a:cs typeface="Segoe UI"/>
              </a:rPr>
              <a:t>Files on disk, read by Grafana at startup and on a timer. No API calls, no bootstrap order, no forgotten steps.</a:t>
            </a:r>
          </a:p>
        </p:txBody>
      </p:sp>
      <p:sp>
        <p:nvSpPr>
          <p:cNvPr id="8" name="Rectangle: Rounded Corners 7">
            <a:extLst>
              <a:ext uri="{FF2B5EF4-FFF2-40B4-BE49-F238E27FC236}">
                <a16:creationId xmlns:a16="http://schemas.microsoft.com/office/drawing/2014/main" id="{2C518E24-B1E6-42C0-8363-24DFEB732BB5}"/>
              </a:ext>
            </a:extLst>
          </p:cNvPr>
          <p:cNvSpPr/>
          <p:nvPr/>
        </p:nvSpPr>
        <p:spPr>
          <a:xfrm>
            <a:off x="7112000" y="1270000"/>
            <a:ext cx="4318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E8552200-7CE2-43FD-8209-158232542673}"/>
              </a:ext>
            </a:extLst>
          </p:cNvPr>
          <p:cNvSpPr/>
          <p:nvPr/>
        </p:nvSpPr>
        <p:spPr>
          <a:xfrm>
            <a:off x="7340600" y="1587500"/>
            <a:ext cx="152400" cy="152400"/>
          </a:xfrm>
          <a:prstGeom prst="ellipse">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878CA3B0-082F-409A-8C48-F90689F29C47}"/>
              </a:ext>
            </a:extLst>
          </p:cNvPr>
          <p:cNvSpPr txBox="1"/>
          <p:nvPr/>
        </p:nvSpPr>
        <p:spPr>
          <a:xfrm>
            <a:off x="7645400" y="1422400"/>
            <a:ext cx="3556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JSON provisioning</a:t>
            </a:r>
          </a:p>
        </p:txBody>
      </p:sp>
      <p:sp>
        <p:nvSpPr>
          <p:cNvPr id="11" name="TextBox 10">
            <a:extLst>
              <a:ext uri="{FF2B5EF4-FFF2-40B4-BE49-F238E27FC236}">
                <a16:creationId xmlns:a16="http://schemas.microsoft.com/office/drawing/2014/main" id="{DE267923-F0B9-40F4-9411-24E139BCFCEC}"/>
              </a:ext>
            </a:extLst>
          </p:cNvPr>
          <p:cNvSpPr txBox="1"/>
          <p:nvPr/>
        </p:nvSpPr>
        <p:spPr>
          <a:xfrm>
            <a:off x="7645400" y="17018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Dashboards as files Grafana loads for you</a:t>
            </a:r>
          </a:p>
        </p:txBody>
      </p:sp>
      <p:sp>
        <p:nvSpPr>
          <p:cNvPr id="12" name="Rectangle: Rounded Corners 11">
            <a:extLst>
              <a:ext uri="{FF2B5EF4-FFF2-40B4-BE49-F238E27FC236}">
                <a16:creationId xmlns:a16="http://schemas.microsoft.com/office/drawing/2014/main" id="{C3AC0916-81C4-42DF-8C21-3A0724C6110E}"/>
              </a:ext>
            </a:extLst>
          </p:cNvPr>
          <p:cNvSpPr/>
          <p:nvPr/>
        </p:nvSpPr>
        <p:spPr>
          <a:xfrm>
            <a:off x="7112000" y="2133600"/>
            <a:ext cx="4318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1AAE5C54-873D-4FE9-A477-9CAF12BBC721}"/>
              </a:ext>
            </a:extLst>
          </p:cNvPr>
          <p:cNvSpPr/>
          <p:nvPr/>
        </p:nvSpPr>
        <p:spPr>
          <a:xfrm>
            <a:off x="7340600" y="2451100"/>
            <a:ext cx="152400" cy="152400"/>
          </a:xfrm>
          <a:prstGeom prst="ellipse">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6CE3BAEB-5323-4567-9AC6-3A3E0B447661}"/>
              </a:ext>
            </a:extLst>
          </p:cNvPr>
          <p:cNvSpPr txBox="1"/>
          <p:nvPr/>
        </p:nvSpPr>
        <p:spPr>
          <a:xfrm>
            <a:off x="7645400" y="2286000"/>
            <a:ext cx="3556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YAML configuration</a:t>
            </a:r>
          </a:p>
        </p:txBody>
      </p:sp>
      <p:sp>
        <p:nvSpPr>
          <p:cNvPr id="15" name="TextBox 14">
            <a:extLst>
              <a:ext uri="{FF2B5EF4-FFF2-40B4-BE49-F238E27FC236}">
                <a16:creationId xmlns:a16="http://schemas.microsoft.com/office/drawing/2014/main" id="{AF66F825-72C9-4BE9-B5F6-E79415FF8D74}"/>
              </a:ext>
            </a:extLst>
          </p:cNvPr>
          <p:cNvSpPr txBox="1"/>
          <p:nvPr/>
        </p:nvSpPr>
        <p:spPr>
          <a:xfrm>
            <a:off x="7645400" y="25654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Providers, paths, folders, update interval</a:t>
            </a:r>
          </a:p>
        </p:txBody>
      </p:sp>
      <p:sp>
        <p:nvSpPr>
          <p:cNvPr id="16" name="Rectangle: Rounded Corners 15">
            <a:extLst>
              <a:ext uri="{FF2B5EF4-FFF2-40B4-BE49-F238E27FC236}">
                <a16:creationId xmlns:a16="http://schemas.microsoft.com/office/drawing/2014/main" id="{1CBE7663-68F1-4A57-8CF5-7AE2FF0C5264}"/>
              </a:ext>
            </a:extLst>
          </p:cNvPr>
          <p:cNvSpPr/>
          <p:nvPr/>
        </p:nvSpPr>
        <p:spPr>
          <a:xfrm>
            <a:off x="7112000" y="2997200"/>
            <a:ext cx="4318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a:extLst>
              <a:ext uri="{FF2B5EF4-FFF2-40B4-BE49-F238E27FC236}">
                <a16:creationId xmlns:a16="http://schemas.microsoft.com/office/drawing/2014/main" id="{0D801160-2823-4EC7-B6A2-700C3CA1C08E}"/>
              </a:ext>
            </a:extLst>
          </p:cNvPr>
          <p:cNvSpPr/>
          <p:nvPr/>
        </p:nvSpPr>
        <p:spPr>
          <a:xfrm>
            <a:off x="7340600" y="3314700"/>
            <a:ext cx="152400" cy="152400"/>
          </a:xfrm>
          <a:prstGeom prst="ellipse">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14781A42-1CAA-4603-BDE0-87EE87D93A29}"/>
              </a:ext>
            </a:extLst>
          </p:cNvPr>
          <p:cNvSpPr txBox="1"/>
          <p:nvPr/>
        </p:nvSpPr>
        <p:spPr>
          <a:xfrm>
            <a:off x="7645400" y="3149600"/>
            <a:ext cx="3556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Dashboard as code</a:t>
            </a:r>
          </a:p>
        </p:txBody>
      </p:sp>
      <p:sp>
        <p:nvSpPr>
          <p:cNvPr id="19" name="TextBox 18">
            <a:extLst>
              <a:ext uri="{FF2B5EF4-FFF2-40B4-BE49-F238E27FC236}">
                <a16:creationId xmlns:a16="http://schemas.microsoft.com/office/drawing/2014/main" id="{AE52E5AD-8F7A-4FC8-A694-3CC1A27F6E3E}"/>
              </a:ext>
            </a:extLst>
          </p:cNvPr>
          <p:cNvSpPr txBox="1"/>
          <p:nvPr/>
        </p:nvSpPr>
        <p:spPr>
          <a:xfrm>
            <a:off x="7645400" y="34290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Generate JSON instead of hand-editing it</a:t>
            </a:r>
          </a:p>
        </p:txBody>
      </p:sp>
      <p:sp>
        <p:nvSpPr>
          <p:cNvPr id="20" name="Rectangle: Rounded Corners 19">
            <a:extLst>
              <a:ext uri="{FF2B5EF4-FFF2-40B4-BE49-F238E27FC236}">
                <a16:creationId xmlns:a16="http://schemas.microsoft.com/office/drawing/2014/main" id="{74987960-D8C7-422A-8C99-A956A0BE7658}"/>
              </a:ext>
            </a:extLst>
          </p:cNvPr>
          <p:cNvSpPr/>
          <p:nvPr/>
        </p:nvSpPr>
        <p:spPr>
          <a:xfrm>
            <a:off x="7112000" y="3860800"/>
            <a:ext cx="4318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Oval 20">
            <a:extLst>
              <a:ext uri="{FF2B5EF4-FFF2-40B4-BE49-F238E27FC236}">
                <a16:creationId xmlns:a16="http://schemas.microsoft.com/office/drawing/2014/main" id="{7EEE3D03-89BF-4EE6-A597-36F02041A447}"/>
              </a:ext>
            </a:extLst>
          </p:cNvPr>
          <p:cNvSpPr/>
          <p:nvPr/>
        </p:nvSpPr>
        <p:spPr>
          <a:xfrm>
            <a:off x="7340600" y="4178300"/>
            <a:ext cx="152400" cy="152400"/>
          </a:xfrm>
          <a:prstGeom prst="ellipse">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C836EA4B-716F-4785-BB65-30DD24DA485A}"/>
              </a:ext>
            </a:extLst>
          </p:cNvPr>
          <p:cNvSpPr txBox="1"/>
          <p:nvPr/>
        </p:nvSpPr>
        <p:spPr>
          <a:xfrm>
            <a:off x="7645400" y="4013200"/>
            <a:ext cx="3556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Folder provisioning</a:t>
            </a:r>
          </a:p>
        </p:txBody>
      </p:sp>
      <p:sp>
        <p:nvSpPr>
          <p:cNvPr id="23" name="TextBox 22">
            <a:extLst>
              <a:ext uri="{FF2B5EF4-FFF2-40B4-BE49-F238E27FC236}">
                <a16:creationId xmlns:a16="http://schemas.microsoft.com/office/drawing/2014/main" id="{C857BEC5-3440-463C-95E2-89ACAEF0E5DF}"/>
              </a:ext>
            </a:extLst>
          </p:cNvPr>
          <p:cNvSpPr txBox="1"/>
          <p:nvPr/>
        </p:nvSpPr>
        <p:spPr>
          <a:xfrm>
            <a:off x="7645400" y="42926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Structure that exists before anyone logs in</a:t>
            </a:r>
          </a:p>
        </p:txBody>
      </p:sp>
      <p:sp>
        <p:nvSpPr>
          <p:cNvPr id="24" name="Rectangle: Rounded Corners 23">
            <a:extLst>
              <a:ext uri="{FF2B5EF4-FFF2-40B4-BE49-F238E27FC236}">
                <a16:creationId xmlns:a16="http://schemas.microsoft.com/office/drawing/2014/main" id="{B9CB061D-88C3-416E-BBF6-EFC7DEF11011}"/>
              </a:ext>
            </a:extLst>
          </p:cNvPr>
          <p:cNvSpPr/>
          <p:nvPr/>
        </p:nvSpPr>
        <p:spPr>
          <a:xfrm>
            <a:off x="7112000" y="4724400"/>
            <a:ext cx="4318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Oval 24">
            <a:extLst>
              <a:ext uri="{FF2B5EF4-FFF2-40B4-BE49-F238E27FC236}">
                <a16:creationId xmlns:a16="http://schemas.microsoft.com/office/drawing/2014/main" id="{7A560D72-717E-4725-84A1-46CB3BD2FAFF}"/>
              </a:ext>
            </a:extLst>
          </p:cNvPr>
          <p:cNvSpPr/>
          <p:nvPr/>
        </p:nvSpPr>
        <p:spPr>
          <a:xfrm>
            <a:off x="7340600" y="5041900"/>
            <a:ext cx="152400" cy="152400"/>
          </a:xfrm>
          <a:prstGeom prst="ellipse">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1411A45A-4527-44E2-BC3F-BD71640DA35E}"/>
              </a:ext>
            </a:extLst>
          </p:cNvPr>
          <p:cNvSpPr txBox="1"/>
          <p:nvPr/>
        </p:nvSpPr>
        <p:spPr>
          <a:xfrm>
            <a:off x="7645400" y="4876800"/>
            <a:ext cx="3556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The trade-offs</a:t>
            </a:r>
          </a:p>
        </p:txBody>
      </p:sp>
      <p:sp>
        <p:nvSpPr>
          <p:cNvPr id="27" name="TextBox 26">
            <a:extLst>
              <a:ext uri="{FF2B5EF4-FFF2-40B4-BE49-F238E27FC236}">
                <a16:creationId xmlns:a16="http://schemas.microsoft.com/office/drawing/2014/main" id="{47C9B4B4-7584-4FCF-B1EC-D923557EC828}"/>
              </a:ext>
            </a:extLst>
          </p:cNvPr>
          <p:cNvSpPr txBox="1"/>
          <p:nvPr/>
        </p:nvSpPr>
        <p:spPr>
          <a:xfrm>
            <a:off x="7645400" y="51562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What you gain, and what you give up</a:t>
            </a:r>
          </a:p>
        </p:txBody>
      </p:sp>
      <p:sp>
        <p:nvSpPr>
          <p:cNvPr id="28" name="Rectangle: Rounded Corners 27">
            <a:extLst>
              <a:ext uri="{FF2B5EF4-FFF2-40B4-BE49-F238E27FC236}">
                <a16:creationId xmlns:a16="http://schemas.microsoft.com/office/drawing/2014/main" id="{A673B688-FD14-4602-96DD-82B47D736D4D}"/>
              </a:ext>
            </a:extLst>
          </p:cNvPr>
          <p:cNvSpPr/>
          <p:nvPr/>
        </p:nvSpPr>
        <p:spPr>
          <a:xfrm>
            <a:off x="762000" y="5029200"/>
            <a:ext cx="5588000" cy="12192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a:extLst>
              <a:ext uri="{FF2B5EF4-FFF2-40B4-BE49-F238E27FC236}">
                <a16:creationId xmlns:a16="http://schemas.microsoft.com/office/drawing/2014/main" id="{ABB502AB-B234-4AEF-BFBC-60376734D728}"/>
              </a:ext>
            </a:extLst>
          </p:cNvPr>
          <p:cNvSpPr txBox="1"/>
          <p:nvPr/>
        </p:nvSpPr>
        <p:spPr>
          <a:xfrm>
            <a:off x="1016000" y="5207000"/>
            <a:ext cx="25400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LAB 2  ·  20 min</a:t>
            </a:r>
          </a:p>
        </p:txBody>
      </p:sp>
      <p:sp>
        <p:nvSpPr>
          <p:cNvPr id="30" name="TextBox 29">
            <a:extLst>
              <a:ext uri="{FF2B5EF4-FFF2-40B4-BE49-F238E27FC236}">
                <a16:creationId xmlns:a16="http://schemas.microsoft.com/office/drawing/2014/main" id="{0FA2F89B-B575-4831-91A3-B330A6493049}"/>
              </a:ext>
            </a:extLst>
          </p:cNvPr>
          <p:cNvSpPr txBox="1"/>
          <p:nvPr/>
        </p:nvSpPr>
        <p:spPr>
          <a:xfrm>
            <a:off x="1016000" y="5511800"/>
            <a:ext cx="5130800" cy="660400"/>
          </a:xfrm>
          <a:prstGeom prst="rect">
            <a:avLst/>
          </a:prstGeom>
          <a:noFill/>
        </p:spPr>
        <p:txBody>
          <a:bodyPr vertOverflow="overflow" vert="horz" wrap="square" rtlCol="0" anchor="t">
            <a:noAutofit/>
          </a:bodyPr>
          <a:lstStyle/>
          <a:p>
            <a:pPr algn="l"/>
            <a:r>
              <a:rPr lang="en-US" sz="1500" dirty="0">
                <a:solidFill>
                  <a:srgbClr val="C3D4F5"/>
                </a:solidFill>
                <a:latin typeface="Segoe UI"/>
                <a:cs typeface="Segoe UI"/>
              </a:rPr>
              <a:t>Provision a folder, a data source and two dashboards from files only - then delete a dashboard in the UI and watch Grafana put it back.</a:t>
            </a:r>
          </a:p>
        </p:txBody>
      </p:sp>
    </p:spTree>
    <p:extLst>
      <p:ext uri="{BB962C8B-B14F-4D97-AF65-F5344CB8AC3E}">
        <p14:creationId xmlns:p14="http://schemas.microsoft.com/office/powerpoint/2010/main" val="3848414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84582-280E-4DF2-345A-746B55A3DBDA}"/>
              </a:ext>
            </a:extLst>
          </p:cNvPr>
          <p:cNvSpPr>
            <a:spLocks noGrp="1"/>
          </p:cNvSpPr>
          <p:nvPr>
            <p:ph type="title"/>
          </p:nvPr>
        </p:nvSpPr>
        <p:spPr>
          <a:xfrm>
            <a:off x="762000" y="406400"/>
            <a:ext cx="10668000" cy="533400"/>
          </a:xfrm>
        </p:spPr>
        <p:txBody>
          <a:bodyPr>
            <a:normAutofit/>
          </a:bodyPr>
          <a:lstStyle/>
          <a:p>
            <a:r>
              <a:rPr lang="en-US" sz="3000" b="1"/>
              <a:t>How Provisioning Works</a:t>
            </a:r>
          </a:p>
        </p:txBody>
      </p:sp>
      <p:sp>
        <p:nvSpPr>
          <p:cNvPr id="3" name="Rectangle 2">
            <a:extLst>
              <a:ext uri="{FF2B5EF4-FFF2-40B4-BE49-F238E27FC236}">
                <a16:creationId xmlns:a16="http://schemas.microsoft.com/office/drawing/2014/main" id="{E861D47E-C076-4051-9208-25C10D20368A}"/>
              </a:ext>
            </a:extLst>
          </p:cNvPr>
          <p:cNvSpPr/>
          <p:nvPr/>
        </p:nvSpPr>
        <p:spPr>
          <a:xfrm>
            <a:off x="762000" y="1016000"/>
            <a:ext cx="889000" cy="381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DCE10D61-CB04-4106-8FA1-D07FFA7FE7C4}"/>
              </a:ext>
            </a:extLst>
          </p:cNvPr>
          <p:cNvSpPr txBox="1"/>
          <p:nvPr/>
        </p:nvSpPr>
        <p:spPr>
          <a:xfrm>
            <a:off x="762000" y="1143000"/>
            <a:ext cx="8890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Git is the source of truth; the filesystem is just how Grafana hears about it.</a:t>
            </a:r>
          </a:p>
        </p:txBody>
      </p:sp>
      <p:sp>
        <p:nvSpPr>
          <p:cNvPr id="5" name="Rectangle: Rounded Corners 4">
            <a:extLst>
              <a:ext uri="{FF2B5EF4-FFF2-40B4-BE49-F238E27FC236}">
                <a16:creationId xmlns:a16="http://schemas.microsoft.com/office/drawing/2014/main" id="{4097922E-3638-4675-A02D-D9BD110B8E01}"/>
              </a:ext>
            </a:extLst>
          </p:cNvPr>
          <p:cNvSpPr/>
          <p:nvPr/>
        </p:nvSpPr>
        <p:spPr>
          <a:xfrm>
            <a:off x="762000" y="1574800"/>
            <a:ext cx="2362200" cy="19050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7F0E8DF0-A8D1-42B1-942A-A17F1617C6F1}"/>
              </a:ext>
            </a:extLst>
          </p:cNvPr>
          <p:cNvSpPr txBox="1"/>
          <p:nvPr/>
        </p:nvSpPr>
        <p:spPr>
          <a:xfrm>
            <a:off x="965200" y="1752600"/>
            <a:ext cx="1955800" cy="2540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1  Git repository</a:t>
            </a:r>
          </a:p>
        </p:txBody>
      </p:sp>
      <p:sp>
        <p:nvSpPr>
          <p:cNvPr id="7" name="TextBox 6">
            <a:extLst>
              <a:ext uri="{FF2B5EF4-FFF2-40B4-BE49-F238E27FC236}">
                <a16:creationId xmlns:a16="http://schemas.microsoft.com/office/drawing/2014/main" id="{BA51D89D-7872-4456-91E6-6CC52294B10E}"/>
              </a:ext>
            </a:extLst>
          </p:cNvPr>
          <p:cNvSpPr txBox="1"/>
          <p:nvPr/>
        </p:nvSpPr>
        <p:spPr>
          <a:xfrm>
            <a:off x="965200" y="2082800"/>
            <a:ext cx="2006600" cy="1219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dashboards/*.json plus provider YAML, reviewed in pull requests</a:t>
            </a:r>
          </a:p>
        </p:txBody>
      </p:sp>
      <p:sp>
        <p:nvSpPr>
          <p:cNvPr id="8" name="Arrow: Right 7">
            <a:extLst>
              <a:ext uri="{FF2B5EF4-FFF2-40B4-BE49-F238E27FC236}">
                <a16:creationId xmlns:a16="http://schemas.microsoft.com/office/drawing/2014/main" id="{CD1DBF1B-237D-45C5-A9E9-001EBF72D742}"/>
              </a:ext>
            </a:extLst>
          </p:cNvPr>
          <p:cNvSpPr/>
          <p:nvPr/>
        </p:nvSpPr>
        <p:spPr>
          <a:xfrm>
            <a:off x="3225800" y="2387600"/>
            <a:ext cx="330200" cy="2540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Rounded Corners 8">
            <a:extLst>
              <a:ext uri="{FF2B5EF4-FFF2-40B4-BE49-F238E27FC236}">
                <a16:creationId xmlns:a16="http://schemas.microsoft.com/office/drawing/2014/main" id="{EEF6F998-955A-4796-9A26-03BDF45BACD0}"/>
              </a:ext>
            </a:extLst>
          </p:cNvPr>
          <p:cNvSpPr/>
          <p:nvPr/>
        </p:nvSpPr>
        <p:spPr>
          <a:xfrm>
            <a:off x="3530600" y="1574800"/>
            <a:ext cx="2362200" cy="1905000"/>
          </a:xfrm>
          <a:prstGeom prst="roundRect">
            <a:avLst/>
          </a:prstGeom>
          <a:solidFill>
            <a:srgbClr val="1B1E24"/>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851D1663-18C5-4ADD-9919-41DE29ADD063}"/>
              </a:ext>
            </a:extLst>
          </p:cNvPr>
          <p:cNvSpPr txBox="1"/>
          <p:nvPr/>
        </p:nvSpPr>
        <p:spPr>
          <a:xfrm>
            <a:off x="3733800" y="1752600"/>
            <a:ext cx="1955800" cy="254000"/>
          </a:xfrm>
          <a:prstGeom prst="rect">
            <a:avLst/>
          </a:prstGeom>
          <a:noFill/>
        </p:spPr>
        <p:txBody>
          <a:bodyPr vertOverflow="overflow" vert="horz" wrap="square" rtlCol="0" anchor="t">
            <a:noAutofit/>
          </a:bodyPr>
          <a:lstStyle/>
          <a:p>
            <a:pPr algn="l"/>
            <a:r>
              <a:rPr lang="en-US" sz="1600" b="1">
                <a:solidFill>
                  <a:srgbClr val="FADE2A"/>
                </a:solidFill>
                <a:latin typeface="Segoe UI"/>
                <a:cs typeface="Segoe UI"/>
              </a:rPr>
              <a:t>2  Delivery</a:t>
            </a:r>
          </a:p>
        </p:txBody>
      </p:sp>
      <p:sp>
        <p:nvSpPr>
          <p:cNvPr id="11" name="TextBox 10">
            <a:extLst>
              <a:ext uri="{FF2B5EF4-FFF2-40B4-BE49-F238E27FC236}">
                <a16:creationId xmlns:a16="http://schemas.microsoft.com/office/drawing/2014/main" id="{2941A6A1-D950-4921-943D-0ED08A35EE4E}"/>
              </a:ext>
            </a:extLst>
          </p:cNvPr>
          <p:cNvSpPr txBox="1"/>
          <p:nvPr/>
        </p:nvSpPr>
        <p:spPr>
          <a:xfrm>
            <a:off x="3733800" y="2082800"/>
            <a:ext cx="2006600" cy="1219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Docker volume, ConfigMap, Ansible or rsync from CI</a:t>
            </a:r>
          </a:p>
        </p:txBody>
      </p:sp>
      <p:sp>
        <p:nvSpPr>
          <p:cNvPr id="12" name="Arrow: Right 11">
            <a:extLst>
              <a:ext uri="{FF2B5EF4-FFF2-40B4-BE49-F238E27FC236}">
                <a16:creationId xmlns:a16="http://schemas.microsoft.com/office/drawing/2014/main" id="{67C31E53-D699-471C-B7DD-EB96F08F8A8A}"/>
              </a:ext>
            </a:extLst>
          </p:cNvPr>
          <p:cNvSpPr/>
          <p:nvPr/>
        </p:nvSpPr>
        <p:spPr>
          <a:xfrm>
            <a:off x="5994400" y="2387600"/>
            <a:ext cx="330200" cy="2540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Rounded Corners 12">
            <a:extLst>
              <a:ext uri="{FF2B5EF4-FFF2-40B4-BE49-F238E27FC236}">
                <a16:creationId xmlns:a16="http://schemas.microsoft.com/office/drawing/2014/main" id="{5684D518-9371-4830-8A65-5831A0ECDE63}"/>
              </a:ext>
            </a:extLst>
          </p:cNvPr>
          <p:cNvSpPr/>
          <p:nvPr/>
        </p:nvSpPr>
        <p:spPr>
          <a:xfrm>
            <a:off x="6299200" y="1574800"/>
            <a:ext cx="2362200" cy="19050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2671276A-C68A-4298-B0E2-1EB43D8798A9}"/>
              </a:ext>
            </a:extLst>
          </p:cNvPr>
          <p:cNvSpPr txBox="1"/>
          <p:nvPr/>
        </p:nvSpPr>
        <p:spPr>
          <a:xfrm>
            <a:off x="6502400" y="1752600"/>
            <a:ext cx="1955800" cy="254000"/>
          </a:xfrm>
          <a:prstGeom prst="rect">
            <a:avLst/>
          </a:prstGeom>
          <a:noFill/>
        </p:spPr>
        <p:txBody>
          <a:bodyPr vertOverflow="overflow" vert="horz" wrap="square" rtlCol="0" anchor="t">
            <a:noAutofit/>
          </a:bodyPr>
          <a:lstStyle/>
          <a:p>
            <a:pPr algn="l"/>
            <a:r>
              <a:rPr lang="en-US" sz="1600" b="1">
                <a:solidFill>
                  <a:srgbClr val="6E9FFF"/>
                </a:solidFill>
                <a:latin typeface="Segoe UI"/>
                <a:cs typeface="Segoe UI"/>
              </a:rPr>
              <a:t>3  Provisioning dir</a:t>
            </a:r>
          </a:p>
        </p:txBody>
      </p:sp>
      <p:sp>
        <p:nvSpPr>
          <p:cNvPr id="15" name="TextBox 14">
            <a:extLst>
              <a:ext uri="{FF2B5EF4-FFF2-40B4-BE49-F238E27FC236}">
                <a16:creationId xmlns:a16="http://schemas.microsoft.com/office/drawing/2014/main" id="{A8DDD88C-7CCC-4BF0-9F84-58259C1918F7}"/>
              </a:ext>
            </a:extLst>
          </p:cNvPr>
          <p:cNvSpPr txBox="1"/>
          <p:nvPr/>
        </p:nvSpPr>
        <p:spPr>
          <a:xfrm>
            <a:off x="6502400" y="2082800"/>
            <a:ext cx="2006600" cy="1219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Files land in
/etc/grafana/provisioning</a:t>
            </a:r>
          </a:p>
        </p:txBody>
      </p:sp>
      <p:sp>
        <p:nvSpPr>
          <p:cNvPr id="16" name="Arrow: Right 15">
            <a:extLst>
              <a:ext uri="{FF2B5EF4-FFF2-40B4-BE49-F238E27FC236}">
                <a16:creationId xmlns:a16="http://schemas.microsoft.com/office/drawing/2014/main" id="{CBE10865-2C6F-437A-A7C8-5DE0992137BC}"/>
              </a:ext>
            </a:extLst>
          </p:cNvPr>
          <p:cNvSpPr/>
          <p:nvPr/>
        </p:nvSpPr>
        <p:spPr>
          <a:xfrm>
            <a:off x="8763000" y="2387600"/>
            <a:ext cx="330200" cy="2540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Rounded Corners 16">
            <a:extLst>
              <a:ext uri="{FF2B5EF4-FFF2-40B4-BE49-F238E27FC236}">
                <a16:creationId xmlns:a16="http://schemas.microsoft.com/office/drawing/2014/main" id="{E3A6DD68-9471-4326-9518-FEB896B086E3}"/>
              </a:ext>
            </a:extLst>
          </p:cNvPr>
          <p:cNvSpPr/>
          <p:nvPr/>
        </p:nvSpPr>
        <p:spPr>
          <a:xfrm>
            <a:off x="9067800" y="1574800"/>
            <a:ext cx="2362200" cy="1905000"/>
          </a:xfrm>
          <a:prstGeom prst="roundRect">
            <a:avLst/>
          </a:prstGeom>
          <a:solidFill>
            <a:srgbClr val="1B1E24"/>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77630F3C-B9DD-4D37-90EC-A7E2C0903A91}"/>
              </a:ext>
            </a:extLst>
          </p:cNvPr>
          <p:cNvSpPr txBox="1"/>
          <p:nvPr/>
        </p:nvSpPr>
        <p:spPr>
          <a:xfrm>
            <a:off x="9271000" y="1752600"/>
            <a:ext cx="1955800" cy="254000"/>
          </a:xfrm>
          <a:prstGeom prst="rect">
            <a:avLst/>
          </a:prstGeom>
          <a:noFill/>
        </p:spPr>
        <p:txBody>
          <a:bodyPr vertOverflow="overflow" vert="horz" wrap="square" rtlCol="0" anchor="t">
            <a:noAutofit/>
          </a:bodyPr>
          <a:lstStyle/>
          <a:p>
            <a:pPr algn="l"/>
            <a:r>
              <a:rPr lang="en-US" sz="1600" b="1">
                <a:solidFill>
                  <a:srgbClr val="B877D9"/>
                </a:solidFill>
                <a:latin typeface="Segoe UI"/>
                <a:cs typeface="Segoe UI"/>
              </a:rPr>
              <a:t>4  Grafana objects</a:t>
            </a:r>
          </a:p>
        </p:txBody>
      </p:sp>
      <p:sp>
        <p:nvSpPr>
          <p:cNvPr id="19" name="TextBox 18">
            <a:extLst>
              <a:ext uri="{FF2B5EF4-FFF2-40B4-BE49-F238E27FC236}">
                <a16:creationId xmlns:a16="http://schemas.microsoft.com/office/drawing/2014/main" id="{3DCAB5F0-ECB4-41D0-96CE-0293E8F0E914}"/>
              </a:ext>
            </a:extLst>
          </p:cNvPr>
          <p:cNvSpPr txBox="1"/>
          <p:nvPr/>
        </p:nvSpPr>
        <p:spPr>
          <a:xfrm>
            <a:off x="9271000" y="2082800"/>
            <a:ext cx="2006600" cy="1219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Folders, dashboards and data sources appear, tagged provisioned</a:t>
            </a:r>
          </a:p>
        </p:txBody>
      </p:sp>
      <p:sp>
        <p:nvSpPr>
          <p:cNvPr id="20" name="Rectangle: Rounded Corners 19">
            <a:extLst>
              <a:ext uri="{FF2B5EF4-FFF2-40B4-BE49-F238E27FC236}">
                <a16:creationId xmlns:a16="http://schemas.microsoft.com/office/drawing/2014/main" id="{10DE5598-5F96-44B9-99FB-093D7383D3E2}"/>
              </a:ext>
            </a:extLst>
          </p:cNvPr>
          <p:cNvSpPr/>
          <p:nvPr/>
        </p:nvSpPr>
        <p:spPr>
          <a:xfrm>
            <a:off x="762000" y="3733800"/>
            <a:ext cx="5461000" cy="24892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CBBC08B7-6DBF-415E-86CB-D302F872B726}"/>
              </a:ext>
            </a:extLst>
          </p:cNvPr>
          <p:cNvSpPr txBox="1"/>
          <p:nvPr/>
        </p:nvSpPr>
        <p:spPr>
          <a:xfrm>
            <a:off x="990600" y="3860800"/>
            <a:ext cx="38100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What lives where</a:t>
            </a:r>
          </a:p>
        </p:txBody>
      </p:sp>
      <p:sp>
        <p:nvSpPr>
          <p:cNvPr id="22" name="TextBox 21">
            <a:extLst>
              <a:ext uri="{FF2B5EF4-FFF2-40B4-BE49-F238E27FC236}">
                <a16:creationId xmlns:a16="http://schemas.microsoft.com/office/drawing/2014/main" id="{774C2C03-DE86-4240-9C20-8E96D9B618B3}"/>
              </a:ext>
            </a:extLst>
          </p:cNvPr>
          <p:cNvSpPr txBox="1"/>
          <p:nvPr/>
        </p:nvSpPr>
        <p:spPr>
          <a:xfrm>
            <a:off x="990600" y="4165600"/>
            <a:ext cx="5080000" cy="1930400"/>
          </a:xfrm>
          <a:prstGeom prst="rect">
            <a:avLst/>
          </a:prstGeom>
          <a:noFill/>
        </p:spPr>
        <p:txBody>
          <a:bodyPr vertOverflow="overflow" vert="horz" wrap="none" rtlCol="0" anchor="t">
            <a:noAutofit/>
          </a:bodyPr>
          <a:lstStyle/>
          <a:p>
            <a:pPr algn="l"/>
            <a:r>
              <a:rPr lang="en-US" sz="1400">
                <a:solidFill>
                  <a:srgbClr val="C8CDD4"/>
                </a:solidFill>
                <a:latin typeface="Consolas"/>
              </a:rPr>
              <a:t>/etc/grafana/provisioning/
├── datasources/prometheus.yaml
├── dashboards/ops-provider.yaml
├── alerting/rules.yaml
└── plugins/apps.yaml
/var/lib/grafana/dashboards/
├── node-health.json
└── api-latency.json</a:t>
            </a:r>
          </a:p>
        </p:txBody>
      </p:sp>
      <p:sp>
        <p:nvSpPr>
          <p:cNvPr id="23" name="Rectangle: Rounded Corners 22">
            <a:extLst>
              <a:ext uri="{FF2B5EF4-FFF2-40B4-BE49-F238E27FC236}">
                <a16:creationId xmlns:a16="http://schemas.microsoft.com/office/drawing/2014/main" id="{5A0C1334-45B9-41FA-9C27-9FFAE4087AE0}"/>
              </a:ext>
            </a:extLst>
          </p:cNvPr>
          <p:cNvSpPr/>
          <p:nvPr/>
        </p:nvSpPr>
        <p:spPr>
          <a:xfrm>
            <a:off x="6477000" y="3733800"/>
            <a:ext cx="4953000" cy="24892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F88A901F-1AB6-4B8F-ACC3-6C642E66405F}"/>
              </a:ext>
            </a:extLst>
          </p:cNvPr>
          <p:cNvSpPr txBox="1"/>
          <p:nvPr/>
        </p:nvSpPr>
        <p:spPr>
          <a:xfrm>
            <a:off x="6705600" y="3860800"/>
            <a:ext cx="4318000" cy="279400"/>
          </a:xfrm>
          <a:prstGeom prst="rect">
            <a:avLst/>
          </a:prstGeom>
          <a:noFill/>
        </p:spPr>
        <p:txBody>
          <a:bodyPr vertOverflow="overflow" vert="horz" wrap="square" rtlCol="0" anchor="t">
            <a:noAutofit/>
          </a:bodyPr>
          <a:lstStyle/>
          <a:p>
            <a:pPr algn="l"/>
            <a:r>
              <a:rPr lang="en-US" sz="1700" b="1">
                <a:solidFill>
                  <a:srgbClr val="6E9FFF"/>
                </a:solidFill>
                <a:latin typeface="Segoe UI"/>
                <a:cs typeface="Segoe UI"/>
              </a:rPr>
              <a:t>Behaviour you must know</a:t>
            </a:r>
          </a:p>
        </p:txBody>
      </p:sp>
      <p:sp>
        <p:nvSpPr>
          <p:cNvPr id="25" name="TextBox 24">
            <a:extLst>
              <a:ext uri="{FF2B5EF4-FFF2-40B4-BE49-F238E27FC236}">
                <a16:creationId xmlns:a16="http://schemas.microsoft.com/office/drawing/2014/main" id="{94AF8549-3F4F-4F25-9359-D6E737D1A338}"/>
              </a:ext>
            </a:extLst>
          </p:cNvPr>
          <p:cNvSpPr txBox="1"/>
          <p:nvPr/>
        </p:nvSpPr>
        <p:spPr>
          <a:xfrm>
            <a:off x="6705600" y="4216400"/>
            <a:ext cx="4572000" cy="19304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  Loaded at startup, then re-scanned every </a:t>
            </a:r>
            <a:r>
              <a:rPr lang="en-US" sz="1400" dirty="0" err="1">
                <a:solidFill>
                  <a:srgbClr val="B4BCC6"/>
                </a:solidFill>
                <a:latin typeface="Segoe UI"/>
                <a:cs typeface="Segoe UI"/>
              </a:rPr>
              <a:t>updateIntervalSeconds</a:t>
            </a:r>
            <a:r>
              <a:rPr lang="en-US" sz="1400" dirty="0">
                <a:solidFill>
                  <a:srgbClr val="B4BCC6"/>
                </a:solidFill>
                <a:latin typeface="Segoe UI"/>
                <a:cs typeface="Segoe UI"/>
              </a:rPr>
              <a:t> - 10 by default.
•  Provisioned objects are read-only in the UI unless </a:t>
            </a:r>
            <a:r>
              <a:rPr lang="en-US" sz="1400" dirty="0" err="1">
                <a:solidFill>
                  <a:srgbClr val="B4BCC6"/>
                </a:solidFill>
                <a:latin typeface="Segoe UI"/>
                <a:cs typeface="Segoe UI"/>
              </a:rPr>
              <a:t>allowUiUpdates</a:t>
            </a:r>
            <a:r>
              <a:rPr lang="en-US" sz="1400" dirty="0">
                <a:solidFill>
                  <a:srgbClr val="B4BCC6"/>
                </a:solidFill>
                <a:latin typeface="Segoe UI"/>
                <a:cs typeface="Segoe UI"/>
              </a:rPr>
              <a:t> is true.
•  Remove a file and the object goes on the next scan, unless </a:t>
            </a:r>
            <a:r>
              <a:rPr lang="en-US" sz="1400" dirty="0" err="1">
                <a:solidFill>
                  <a:srgbClr val="B4BCC6"/>
                </a:solidFill>
                <a:latin typeface="Segoe UI"/>
                <a:cs typeface="Segoe UI"/>
              </a:rPr>
              <a:t>disableDeletion</a:t>
            </a:r>
            <a:r>
              <a:rPr lang="en-US" sz="1400" dirty="0">
                <a:solidFill>
                  <a:srgbClr val="B4BCC6"/>
                </a:solidFill>
                <a:latin typeface="Segoe UI"/>
                <a:cs typeface="Segoe UI"/>
              </a:rPr>
              <a:t> is set.
•  Secrets come from environment variables; files must be readable by </a:t>
            </a:r>
            <a:r>
              <a:rPr lang="en-US" sz="1400" dirty="0" err="1">
                <a:solidFill>
                  <a:srgbClr val="B4BCC6"/>
                </a:solidFill>
                <a:latin typeface="Segoe UI"/>
                <a:cs typeface="Segoe UI"/>
              </a:rPr>
              <a:t>grafana</a:t>
            </a:r>
            <a:r>
              <a:rPr lang="en-US" sz="1400" dirty="0">
                <a:solidFill>
                  <a:srgbClr val="B4BCC6"/>
                </a:solidFill>
                <a:latin typeface="Segoe UI"/>
                <a:cs typeface="Segoe UI"/>
              </a:rPr>
              <a:t>.</a:t>
            </a:r>
          </a:p>
        </p:txBody>
      </p:sp>
    </p:spTree>
    <p:extLst>
      <p:ext uri="{BB962C8B-B14F-4D97-AF65-F5344CB8AC3E}">
        <p14:creationId xmlns:p14="http://schemas.microsoft.com/office/powerpoint/2010/main" val="678205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BC9DE-FBF8-09EB-44DC-766789F1E8B7}"/>
              </a:ext>
            </a:extLst>
          </p:cNvPr>
          <p:cNvSpPr>
            <a:spLocks noGrp="1"/>
          </p:cNvSpPr>
          <p:nvPr>
            <p:ph type="title"/>
          </p:nvPr>
        </p:nvSpPr>
        <p:spPr>
          <a:xfrm>
            <a:off x="762000" y="406400"/>
            <a:ext cx="10668000" cy="533400"/>
          </a:xfrm>
        </p:spPr>
        <p:txBody>
          <a:bodyPr>
            <a:normAutofit/>
          </a:bodyPr>
          <a:lstStyle/>
          <a:p>
            <a:r>
              <a:rPr lang="en-US" sz="3000" b="1" dirty="0"/>
              <a:t>YAML Configuration - The Provider Files</a:t>
            </a:r>
          </a:p>
        </p:txBody>
      </p:sp>
      <p:sp>
        <p:nvSpPr>
          <p:cNvPr id="3" name="Rectangle 2">
            <a:extLst>
              <a:ext uri="{FF2B5EF4-FFF2-40B4-BE49-F238E27FC236}">
                <a16:creationId xmlns:a16="http://schemas.microsoft.com/office/drawing/2014/main" id="{8DBC5626-554E-4304-9915-0DF6B5DD58A8}"/>
              </a:ext>
            </a:extLst>
          </p:cNvPr>
          <p:cNvSpPr/>
          <p:nvPr/>
        </p:nvSpPr>
        <p:spPr>
          <a:xfrm>
            <a:off x="762000" y="1016000"/>
            <a:ext cx="889000" cy="381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9F6EA0D3-472F-4651-9743-EA8073EC7B07}"/>
              </a:ext>
            </a:extLst>
          </p:cNvPr>
          <p:cNvSpPr txBox="1"/>
          <p:nvPr/>
        </p:nvSpPr>
        <p:spPr>
          <a:xfrm>
            <a:off x="762000" y="1143000"/>
            <a:ext cx="9652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Two file types: a provider that tells Grafana where to look, and the objects themselves.</a:t>
            </a:r>
          </a:p>
        </p:txBody>
      </p:sp>
      <p:sp>
        <p:nvSpPr>
          <p:cNvPr id="5" name="Rectangle: Rounded Corners 4">
            <a:extLst>
              <a:ext uri="{FF2B5EF4-FFF2-40B4-BE49-F238E27FC236}">
                <a16:creationId xmlns:a16="http://schemas.microsoft.com/office/drawing/2014/main" id="{BB42BEDC-B18A-4D0D-BCB2-1154F3638487}"/>
              </a:ext>
            </a:extLst>
          </p:cNvPr>
          <p:cNvSpPr/>
          <p:nvPr/>
        </p:nvSpPr>
        <p:spPr>
          <a:xfrm>
            <a:off x="762000" y="1498600"/>
            <a:ext cx="5461000" cy="33782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61FBAF13-5770-4D3A-8F5C-5635A080B2CE}"/>
              </a:ext>
            </a:extLst>
          </p:cNvPr>
          <p:cNvSpPr txBox="1"/>
          <p:nvPr/>
        </p:nvSpPr>
        <p:spPr>
          <a:xfrm>
            <a:off x="990600" y="1625600"/>
            <a:ext cx="5003800" cy="254000"/>
          </a:xfrm>
          <a:prstGeom prst="rect">
            <a:avLst/>
          </a:prstGeom>
          <a:noFill/>
        </p:spPr>
        <p:txBody>
          <a:bodyPr vertOverflow="overflow" vert="horz" wrap="square" rtlCol="0" anchor="t">
            <a:noAutofit/>
          </a:bodyPr>
          <a:lstStyle/>
          <a:p>
            <a:pPr algn="l"/>
            <a:r>
              <a:rPr lang="en-US" sz="1400" b="1">
                <a:solidFill>
                  <a:srgbClr val="6E9FFF"/>
                </a:solidFill>
                <a:latin typeface="Segoe UI"/>
                <a:cs typeface="Segoe UI"/>
              </a:rPr>
              <a:t>provisioning/dashboards/ops.yaml</a:t>
            </a:r>
          </a:p>
        </p:txBody>
      </p:sp>
      <p:sp>
        <p:nvSpPr>
          <p:cNvPr id="7" name="TextBox 6">
            <a:extLst>
              <a:ext uri="{FF2B5EF4-FFF2-40B4-BE49-F238E27FC236}">
                <a16:creationId xmlns:a16="http://schemas.microsoft.com/office/drawing/2014/main" id="{72D67283-5A98-4BD4-B6E8-DCCCFC2AC49A}"/>
              </a:ext>
            </a:extLst>
          </p:cNvPr>
          <p:cNvSpPr txBox="1"/>
          <p:nvPr/>
        </p:nvSpPr>
        <p:spPr>
          <a:xfrm>
            <a:off x="990600" y="1930400"/>
            <a:ext cx="5003800" cy="2794000"/>
          </a:xfrm>
          <a:prstGeom prst="rect">
            <a:avLst/>
          </a:prstGeom>
          <a:noFill/>
        </p:spPr>
        <p:txBody>
          <a:bodyPr vertOverflow="overflow" vert="horz" wrap="none" rtlCol="0" anchor="t">
            <a:noAutofit/>
          </a:bodyPr>
          <a:lstStyle/>
          <a:p>
            <a:pPr algn="l"/>
            <a:r>
              <a:rPr lang="en-US" sz="1400">
                <a:solidFill>
                  <a:srgbClr val="C8CDD4"/>
                </a:solidFill>
                <a:latin typeface="Consolas"/>
              </a:rPr>
              <a:t>apiVersion: 1
providers:
  - name: ops-dashboards
    type: file
    orgId: 1
    folder: Platform
    folderUid: platform
    updateIntervalSeconds: 30
    allowUiUpdates: false
    disableDeletion: false
    options:
      path: /var/lib/grafana/dashboards
      foldersFromFilesStructure: true</a:t>
            </a:r>
          </a:p>
        </p:txBody>
      </p:sp>
      <p:sp>
        <p:nvSpPr>
          <p:cNvPr id="8" name="Rectangle: Rounded Corners 7">
            <a:extLst>
              <a:ext uri="{FF2B5EF4-FFF2-40B4-BE49-F238E27FC236}">
                <a16:creationId xmlns:a16="http://schemas.microsoft.com/office/drawing/2014/main" id="{C39FFB1D-FAF6-4472-B858-45D766E6AB97}"/>
              </a:ext>
            </a:extLst>
          </p:cNvPr>
          <p:cNvSpPr/>
          <p:nvPr/>
        </p:nvSpPr>
        <p:spPr>
          <a:xfrm>
            <a:off x="6477000" y="1498600"/>
            <a:ext cx="4953000" cy="33782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E47506B7-845D-4406-8989-2F4A6E5876DC}"/>
              </a:ext>
            </a:extLst>
          </p:cNvPr>
          <p:cNvSpPr txBox="1"/>
          <p:nvPr/>
        </p:nvSpPr>
        <p:spPr>
          <a:xfrm>
            <a:off x="6705600" y="1625600"/>
            <a:ext cx="44958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provisioning/datasources/prom.yaml</a:t>
            </a:r>
          </a:p>
        </p:txBody>
      </p:sp>
      <p:sp>
        <p:nvSpPr>
          <p:cNvPr id="10" name="TextBox 9">
            <a:extLst>
              <a:ext uri="{FF2B5EF4-FFF2-40B4-BE49-F238E27FC236}">
                <a16:creationId xmlns:a16="http://schemas.microsoft.com/office/drawing/2014/main" id="{6C2A3B69-5E6D-4688-A34C-3FE1707ACCA8}"/>
              </a:ext>
            </a:extLst>
          </p:cNvPr>
          <p:cNvSpPr txBox="1"/>
          <p:nvPr/>
        </p:nvSpPr>
        <p:spPr>
          <a:xfrm>
            <a:off x="6705600" y="1930400"/>
            <a:ext cx="4495800" cy="2794000"/>
          </a:xfrm>
          <a:prstGeom prst="rect">
            <a:avLst/>
          </a:prstGeom>
          <a:noFill/>
        </p:spPr>
        <p:txBody>
          <a:bodyPr vertOverflow="overflow" vert="horz" wrap="none" rtlCol="0" anchor="t">
            <a:noAutofit/>
          </a:bodyPr>
          <a:lstStyle/>
          <a:p>
            <a:pPr algn="l"/>
            <a:r>
              <a:rPr lang="en-US" sz="1400">
                <a:solidFill>
                  <a:srgbClr val="C8CDD4"/>
                </a:solidFill>
                <a:latin typeface="Consolas"/>
              </a:rPr>
              <a:t>apiVersion: 1
datasources:
  - name: Prometheus
    uid: prom-main
    type: prometheus
    access: proxy
    url: http://prometheus:9090
    isDefault: true
    editable: false
    jsonData:
      httpMethod: POST
    secureJsonData:
      httpHeaderValue1: $PROM_TOKEN</a:t>
            </a:r>
          </a:p>
        </p:txBody>
      </p:sp>
      <p:sp>
        <p:nvSpPr>
          <p:cNvPr id="11" name="Rectangle: Rounded Corners 10">
            <a:extLst>
              <a:ext uri="{FF2B5EF4-FFF2-40B4-BE49-F238E27FC236}">
                <a16:creationId xmlns:a16="http://schemas.microsoft.com/office/drawing/2014/main" id="{E937C20D-C514-479D-B85A-F591F2F5014E}"/>
              </a:ext>
            </a:extLst>
          </p:cNvPr>
          <p:cNvSpPr/>
          <p:nvPr/>
        </p:nvSpPr>
        <p:spPr>
          <a:xfrm>
            <a:off x="762000" y="4978400"/>
            <a:ext cx="2590800" cy="1244600"/>
          </a:xfrm>
          <a:prstGeom prst="roundRect">
            <a:avLst/>
          </a:prstGeom>
          <a:solidFill>
            <a:srgbClr val="181B1F"/>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9AF9E5C8-5E04-4C69-B0D9-5CE4766A3101}"/>
              </a:ext>
            </a:extLst>
          </p:cNvPr>
          <p:cNvSpPr txBox="1"/>
          <p:nvPr/>
        </p:nvSpPr>
        <p:spPr>
          <a:xfrm>
            <a:off x="939800" y="5105400"/>
            <a:ext cx="2260600" cy="228600"/>
          </a:xfrm>
          <a:prstGeom prst="rect">
            <a:avLst/>
          </a:prstGeom>
          <a:noFill/>
        </p:spPr>
        <p:txBody>
          <a:bodyPr vertOverflow="overflow" vert="horz" wrap="none" rtlCol="0" anchor="t">
            <a:noAutofit/>
          </a:bodyPr>
          <a:lstStyle/>
          <a:p>
            <a:pPr algn="l"/>
            <a:r>
              <a:rPr lang="en-US" sz="1400" b="1">
                <a:solidFill>
                  <a:srgbClr val="6E9FFF"/>
                </a:solidFill>
                <a:latin typeface="Consolas"/>
              </a:rPr>
              <a:t>foldersFromFilesStructure</a:t>
            </a:r>
          </a:p>
        </p:txBody>
      </p:sp>
      <p:sp>
        <p:nvSpPr>
          <p:cNvPr id="13" name="TextBox 12">
            <a:extLst>
              <a:ext uri="{FF2B5EF4-FFF2-40B4-BE49-F238E27FC236}">
                <a16:creationId xmlns:a16="http://schemas.microsoft.com/office/drawing/2014/main" id="{87292680-F3B8-4F27-8B3B-284116D576D8}"/>
              </a:ext>
            </a:extLst>
          </p:cNvPr>
          <p:cNvSpPr txBox="1"/>
          <p:nvPr/>
        </p:nvSpPr>
        <p:spPr>
          <a:xfrm>
            <a:off x="939800" y="5384800"/>
            <a:ext cx="2260600" cy="762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Sub-directories under path become Grafana folders. Mirror your team layout on disk.</a:t>
            </a:r>
          </a:p>
        </p:txBody>
      </p:sp>
      <p:sp>
        <p:nvSpPr>
          <p:cNvPr id="14" name="Rectangle: Rounded Corners 13">
            <a:extLst>
              <a:ext uri="{FF2B5EF4-FFF2-40B4-BE49-F238E27FC236}">
                <a16:creationId xmlns:a16="http://schemas.microsoft.com/office/drawing/2014/main" id="{2BF0032F-BE6A-4897-B63D-0BA4DEC07C96}"/>
              </a:ext>
            </a:extLst>
          </p:cNvPr>
          <p:cNvSpPr/>
          <p:nvPr/>
        </p:nvSpPr>
        <p:spPr>
          <a:xfrm>
            <a:off x="3479800" y="4978400"/>
            <a:ext cx="2590800" cy="1244600"/>
          </a:xfrm>
          <a:prstGeom prst="roundRect">
            <a:avLst/>
          </a:prstGeom>
          <a:solidFill>
            <a:srgbClr val="181B1F"/>
          </a:solidFill>
          <a:ln w="15875" cap="flat" cmpd="sng" algn="ctr">
            <a:solidFill>
              <a:srgbClr val="F249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C591BC22-BCCC-41DF-90B0-2CDD03689648}"/>
              </a:ext>
            </a:extLst>
          </p:cNvPr>
          <p:cNvSpPr txBox="1"/>
          <p:nvPr/>
        </p:nvSpPr>
        <p:spPr>
          <a:xfrm>
            <a:off x="3657600" y="5105400"/>
            <a:ext cx="2260600" cy="228600"/>
          </a:xfrm>
          <a:prstGeom prst="rect">
            <a:avLst/>
          </a:prstGeom>
          <a:noFill/>
        </p:spPr>
        <p:txBody>
          <a:bodyPr vertOverflow="overflow" vert="horz" wrap="none" rtlCol="0" anchor="t">
            <a:noAutofit/>
          </a:bodyPr>
          <a:lstStyle/>
          <a:p>
            <a:pPr algn="l"/>
            <a:r>
              <a:rPr lang="en-US" sz="1400" b="1">
                <a:solidFill>
                  <a:srgbClr val="F2495C"/>
                </a:solidFill>
                <a:latin typeface="Consolas"/>
              </a:rPr>
              <a:t>allowUiUpdates</a:t>
            </a:r>
          </a:p>
        </p:txBody>
      </p:sp>
      <p:sp>
        <p:nvSpPr>
          <p:cNvPr id="16" name="TextBox 15">
            <a:extLst>
              <a:ext uri="{FF2B5EF4-FFF2-40B4-BE49-F238E27FC236}">
                <a16:creationId xmlns:a16="http://schemas.microsoft.com/office/drawing/2014/main" id="{F416F0A0-7CE5-4693-A68E-86EC7BCFABC5}"/>
              </a:ext>
            </a:extLst>
          </p:cNvPr>
          <p:cNvSpPr txBox="1"/>
          <p:nvPr/>
        </p:nvSpPr>
        <p:spPr>
          <a:xfrm>
            <a:off x="3657600" y="5384800"/>
            <a:ext cx="2260600" cy="762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false locks the dashboard in the UI. Keep it false so the file always wins.</a:t>
            </a:r>
          </a:p>
        </p:txBody>
      </p:sp>
      <p:sp>
        <p:nvSpPr>
          <p:cNvPr id="17" name="Rectangle: Rounded Corners 16">
            <a:extLst>
              <a:ext uri="{FF2B5EF4-FFF2-40B4-BE49-F238E27FC236}">
                <a16:creationId xmlns:a16="http://schemas.microsoft.com/office/drawing/2014/main" id="{0CB2B6DE-087C-4484-ACB2-500DEB7F6219}"/>
              </a:ext>
            </a:extLst>
          </p:cNvPr>
          <p:cNvSpPr/>
          <p:nvPr/>
        </p:nvSpPr>
        <p:spPr>
          <a:xfrm>
            <a:off x="6197600" y="4978400"/>
            <a:ext cx="2590800" cy="1244600"/>
          </a:xfrm>
          <a:prstGeom prst="roundRect">
            <a:avLst/>
          </a:prstGeom>
          <a:solidFill>
            <a:srgbClr val="181B1F"/>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98406C30-CDD0-4768-8828-FC06015D91C5}"/>
              </a:ext>
            </a:extLst>
          </p:cNvPr>
          <p:cNvSpPr txBox="1"/>
          <p:nvPr/>
        </p:nvSpPr>
        <p:spPr>
          <a:xfrm>
            <a:off x="6375400" y="5105400"/>
            <a:ext cx="2260600" cy="228600"/>
          </a:xfrm>
          <a:prstGeom prst="rect">
            <a:avLst/>
          </a:prstGeom>
          <a:noFill/>
        </p:spPr>
        <p:txBody>
          <a:bodyPr vertOverflow="overflow" vert="horz" wrap="none" rtlCol="0" anchor="t">
            <a:noAutofit/>
          </a:bodyPr>
          <a:lstStyle/>
          <a:p>
            <a:pPr algn="l"/>
            <a:r>
              <a:rPr lang="en-US" sz="1400" b="1">
                <a:solidFill>
                  <a:srgbClr val="FADE2A"/>
                </a:solidFill>
                <a:latin typeface="Consolas"/>
              </a:rPr>
              <a:t>disableDeletion</a:t>
            </a:r>
          </a:p>
        </p:txBody>
      </p:sp>
      <p:sp>
        <p:nvSpPr>
          <p:cNvPr id="19" name="TextBox 18">
            <a:extLst>
              <a:ext uri="{FF2B5EF4-FFF2-40B4-BE49-F238E27FC236}">
                <a16:creationId xmlns:a16="http://schemas.microsoft.com/office/drawing/2014/main" id="{514C3815-66DF-4EEF-B2C9-2BD5484AFA9F}"/>
              </a:ext>
            </a:extLst>
          </p:cNvPr>
          <p:cNvSpPr txBox="1"/>
          <p:nvPr/>
        </p:nvSpPr>
        <p:spPr>
          <a:xfrm>
            <a:off x="6375400" y="5384800"/>
            <a:ext cx="2260600" cy="762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true keeps a dashboard alive after its file is deleted. Usually leave it false.</a:t>
            </a:r>
          </a:p>
        </p:txBody>
      </p:sp>
      <p:sp>
        <p:nvSpPr>
          <p:cNvPr id="20" name="Rectangle: Rounded Corners 19">
            <a:extLst>
              <a:ext uri="{FF2B5EF4-FFF2-40B4-BE49-F238E27FC236}">
                <a16:creationId xmlns:a16="http://schemas.microsoft.com/office/drawing/2014/main" id="{A14AD798-6C57-48AF-8D63-10192F4A470E}"/>
              </a:ext>
            </a:extLst>
          </p:cNvPr>
          <p:cNvSpPr/>
          <p:nvPr/>
        </p:nvSpPr>
        <p:spPr>
          <a:xfrm>
            <a:off x="8915400" y="4978400"/>
            <a:ext cx="2590800" cy="1244600"/>
          </a:xfrm>
          <a:prstGeom prst="roundRect">
            <a:avLst/>
          </a:prstGeom>
          <a:solidFill>
            <a:srgbClr val="181B1F"/>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FAE4C158-4BDE-430E-965C-DEB434F0D463}"/>
              </a:ext>
            </a:extLst>
          </p:cNvPr>
          <p:cNvSpPr txBox="1"/>
          <p:nvPr/>
        </p:nvSpPr>
        <p:spPr>
          <a:xfrm>
            <a:off x="9093200" y="5105400"/>
            <a:ext cx="2260600" cy="228600"/>
          </a:xfrm>
          <a:prstGeom prst="rect">
            <a:avLst/>
          </a:prstGeom>
          <a:noFill/>
        </p:spPr>
        <p:txBody>
          <a:bodyPr vertOverflow="overflow" vert="horz" wrap="none" rtlCol="0" anchor="t">
            <a:noAutofit/>
          </a:bodyPr>
          <a:lstStyle/>
          <a:p>
            <a:pPr algn="l"/>
            <a:r>
              <a:rPr lang="en-US" sz="1400" b="1">
                <a:solidFill>
                  <a:srgbClr val="73BF69"/>
                </a:solidFill>
                <a:latin typeface="Consolas"/>
              </a:rPr>
              <a:t>updateIntervalSeconds</a:t>
            </a:r>
          </a:p>
        </p:txBody>
      </p:sp>
      <p:sp>
        <p:nvSpPr>
          <p:cNvPr id="22" name="TextBox 21">
            <a:extLst>
              <a:ext uri="{FF2B5EF4-FFF2-40B4-BE49-F238E27FC236}">
                <a16:creationId xmlns:a16="http://schemas.microsoft.com/office/drawing/2014/main" id="{5B975C19-FA4E-4017-92C3-3C1905711465}"/>
              </a:ext>
            </a:extLst>
          </p:cNvPr>
          <p:cNvSpPr txBox="1"/>
          <p:nvPr/>
        </p:nvSpPr>
        <p:spPr>
          <a:xfrm>
            <a:off x="9093200" y="5384800"/>
            <a:ext cx="2260600" cy="762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How long before a file change shows up. 10–30s is plenty; it is a disk scan.</a:t>
            </a:r>
          </a:p>
        </p:txBody>
      </p:sp>
    </p:spTree>
    <p:extLst>
      <p:ext uri="{BB962C8B-B14F-4D97-AF65-F5344CB8AC3E}">
        <p14:creationId xmlns:p14="http://schemas.microsoft.com/office/powerpoint/2010/main" val="1356740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3427D-F6FE-375E-5D90-C6A89A93E4CD}"/>
              </a:ext>
            </a:extLst>
          </p:cNvPr>
          <p:cNvSpPr>
            <a:spLocks noGrp="1"/>
          </p:cNvSpPr>
          <p:nvPr>
            <p:ph type="title"/>
          </p:nvPr>
        </p:nvSpPr>
        <p:spPr>
          <a:xfrm>
            <a:off x="762000" y="406400"/>
            <a:ext cx="10668000" cy="533400"/>
          </a:xfrm>
        </p:spPr>
        <p:txBody>
          <a:bodyPr>
            <a:normAutofit/>
          </a:bodyPr>
          <a:lstStyle/>
          <a:p>
            <a:r>
              <a:rPr lang="en-US" sz="3000" b="1" dirty="0"/>
              <a:t>JSON Provisioning - Dashboard Anatomy</a:t>
            </a:r>
          </a:p>
        </p:txBody>
      </p:sp>
      <p:sp>
        <p:nvSpPr>
          <p:cNvPr id="3" name="Rectangle 2">
            <a:extLst>
              <a:ext uri="{FF2B5EF4-FFF2-40B4-BE49-F238E27FC236}">
                <a16:creationId xmlns:a16="http://schemas.microsoft.com/office/drawing/2014/main" id="{3EAE638B-05A8-4696-A894-415DEF064E60}"/>
              </a:ext>
            </a:extLst>
          </p:cNvPr>
          <p:cNvSpPr/>
          <p:nvPr/>
        </p:nvSpPr>
        <p:spPr>
          <a:xfrm>
            <a:off x="762000" y="1016000"/>
            <a:ext cx="889000" cy="381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2FD8DF53-0AC2-423D-92CB-23BEDFEC6094}"/>
              </a:ext>
            </a:extLst>
          </p:cNvPr>
          <p:cNvSpPr txBox="1"/>
          <p:nvPr/>
        </p:nvSpPr>
        <p:spPr>
          <a:xfrm>
            <a:off x="762000" y="1143000"/>
            <a:ext cx="9652000" cy="279400"/>
          </a:xfrm>
          <a:prstGeom prst="rect">
            <a:avLst/>
          </a:prstGeom>
          <a:noFill/>
        </p:spPr>
        <p:txBody>
          <a:bodyPr vertOverflow="overflow" vert="horz" wrap="square" rtlCol="0" anchor="t">
            <a:noAutofit/>
          </a:bodyPr>
          <a:lstStyle/>
          <a:p>
            <a:pPr algn="l"/>
            <a:r>
              <a:rPr lang="en-US" sz="1500" dirty="0">
                <a:solidFill>
                  <a:srgbClr val="A8B0BA"/>
                </a:solidFill>
                <a:latin typeface="Segoe UI"/>
                <a:cs typeface="Segoe UI"/>
              </a:rPr>
              <a:t>You rarely write this by hand - but you will read it in every code review.</a:t>
            </a:r>
          </a:p>
        </p:txBody>
      </p:sp>
      <p:sp>
        <p:nvSpPr>
          <p:cNvPr id="5" name="Rectangle: Rounded Corners 4">
            <a:extLst>
              <a:ext uri="{FF2B5EF4-FFF2-40B4-BE49-F238E27FC236}">
                <a16:creationId xmlns:a16="http://schemas.microsoft.com/office/drawing/2014/main" id="{9F03D958-CDFA-4820-B803-D752A4B7590C}"/>
              </a:ext>
            </a:extLst>
          </p:cNvPr>
          <p:cNvSpPr/>
          <p:nvPr/>
        </p:nvSpPr>
        <p:spPr>
          <a:xfrm>
            <a:off x="762000" y="1498600"/>
            <a:ext cx="5588000" cy="34290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032F522E-B7E4-4CEA-9DD2-40FD89460F4E}"/>
              </a:ext>
            </a:extLst>
          </p:cNvPr>
          <p:cNvSpPr txBox="1"/>
          <p:nvPr/>
        </p:nvSpPr>
        <p:spPr>
          <a:xfrm>
            <a:off x="990600" y="1625600"/>
            <a:ext cx="5080000" cy="254000"/>
          </a:xfrm>
          <a:prstGeom prst="rect">
            <a:avLst/>
          </a:prstGeom>
          <a:noFill/>
        </p:spPr>
        <p:txBody>
          <a:bodyPr vertOverflow="overflow" vert="horz" wrap="square" rtlCol="0" anchor="t">
            <a:noAutofit/>
          </a:bodyPr>
          <a:lstStyle/>
          <a:p>
            <a:pPr algn="l"/>
            <a:r>
              <a:rPr lang="en-US" sz="1400" b="1">
                <a:solidFill>
                  <a:srgbClr val="6E9FFF"/>
                </a:solidFill>
                <a:latin typeface="Segoe UI"/>
                <a:cs typeface="Segoe UI"/>
              </a:rPr>
              <a:t>dashboards/node-health.json</a:t>
            </a:r>
          </a:p>
        </p:txBody>
      </p:sp>
      <p:sp>
        <p:nvSpPr>
          <p:cNvPr id="7" name="TextBox 6">
            <a:extLst>
              <a:ext uri="{FF2B5EF4-FFF2-40B4-BE49-F238E27FC236}">
                <a16:creationId xmlns:a16="http://schemas.microsoft.com/office/drawing/2014/main" id="{0125BE96-0302-4F2E-9792-4DD11CAA3674}"/>
              </a:ext>
            </a:extLst>
          </p:cNvPr>
          <p:cNvSpPr txBox="1"/>
          <p:nvPr/>
        </p:nvSpPr>
        <p:spPr>
          <a:xfrm>
            <a:off x="990600" y="1930400"/>
            <a:ext cx="5130800" cy="2895600"/>
          </a:xfrm>
          <a:prstGeom prst="rect">
            <a:avLst/>
          </a:prstGeom>
          <a:noFill/>
        </p:spPr>
        <p:txBody>
          <a:bodyPr vertOverflow="overflow" vert="horz" wrap="none" rtlCol="0" anchor="t">
            <a:noAutofit/>
          </a:bodyPr>
          <a:lstStyle/>
          <a:p>
            <a:pPr algn="l"/>
            <a:r>
              <a:rPr lang="en-US" sz="1400">
                <a:solidFill>
                  <a:srgbClr val="C8CDD4"/>
                </a:solidFill>
                <a:latin typeface="Consolas"/>
              </a:rPr>
              <a:t>{
  "uid": "node-health",
  "title": "Node Health",
  "tags": ["provisioned", "platform"],
  "schemaVersion": 39,
  "version": 3,
  "templating": { "list": [ … ] },
  "panels": [
    { "type": "timeseries",
      "title": "CPU by instance",
      "datasource": { "uid": "prom-main" },
      "targets": [ { "expr": "…" } ] }
  ]
}</a:t>
            </a:r>
          </a:p>
        </p:txBody>
      </p:sp>
      <p:graphicFrame>
        <p:nvGraphicFramePr>
          <p:cNvPr id="9" name="Table 8">
            <a:extLst>
              <a:ext uri="{FF2B5EF4-FFF2-40B4-BE49-F238E27FC236}">
                <a16:creationId xmlns:a16="http://schemas.microsoft.com/office/drawing/2014/main" id="{20F5B0B9-B941-4074-B9D0-4242A9C091BE}"/>
              </a:ext>
            </a:extLst>
          </p:cNvPr>
          <p:cNvGraphicFramePr>
            <a:graphicFrameLocks noGrp="1"/>
          </p:cNvGraphicFramePr>
          <p:nvPr>
            <p:extLst>
              <p:ext uri="{D42A27DB-BD31-4B8C-83A1-F6EECF244321}">
                <p14:modId xmlns:p14="http://schemas.microsoft.com/office/powerpoint/2010/main" val="1243122963"/>
              </p:ext>
            </p:extLst>
          </p:nvPr>
        </p:nvGraphicFramePr>
        <p:xfrm>
          <a:off x="6604000" y="1498600"/>
          <a:ext cx="4826000" cy="382016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3856972840"/>
                    </a:ext>
                  </a:extLst>
                </a:gridCol>
                <a:gridCol w="3048000">
                  <a:extLst>
                    <a:ext uri="{9D8B030D-6E8A-4147-A177-3AD203B41FA5}">
                      <a16:colId xmlns:a16="http://schemas.microsoft.com/office/drawing/2014/main" val="3947150340"/>
                    </a:ext>
                  </a:extLst>
                </a:gridCol>
              </a:tblGrid>
              <a:tr h="355600">
                <a:tc>
                  <a:txBody>
                    <a:bodyPr/>
                    <a:lstStyle/>
                    <a:p>
                      <a:r>
                        <a:rPr lang="en-US" sz="1500" b="1" dirty="0">
                          <a:solidFill>
                            <a:srgbClr val="6E9FFF"/>
                          </a:solidFill>
                        </a:rPr>
                        <a:t>Field</a:t>
                      </a:r>
                    </a:p>
                  </a:txBody>
                  <a:tcPr anchor="ctr">
                    <a:solidFill>
                      <a:srgbClr val="152033"/>
                    </a:solidFill>
                  </a:tcPr>
                </a:tc>
                <a:tc>
                  <a:txBody>
                    <a:bodyPr/>
                    <a:lstStyle/>
                    <a:p>
                      <a:r>
                        <a:rPr lang="en-US" sz="1500" b="1">
                          <a:solidFill>
                            <a:srgbClr val="6E9FFF"/>
                          </a:solidFill>
                        </a:rPr>
                        <a:t>Why it matters</a:t>
                      </a:r>
                    </a:p>
                  </a:txBody>
                  <a:tcPr anchor="ctr">
                    <a:solidFill>
                      <a:srgbClr val="152033"/>
                    </a:solidFill>
                  </a:tcPr>
                </a:tc>
                <a:extLst>
                  <a:ext uri="{0D108BD9-81ED-4DB2-BD59-A6C34878D82A}">
                    <a16:rowId xmlns:a16="http://schemas.microsoft.com/office/drawing/2014/main" val="3079549337"/>
                  </a:ext>
                </a:extLst>
              </a:tr>
              <a:tr h="355600">
                <a:tc>
                  <a:txBody>
                    <a:bodyPr/>
                    <a:lstStyle/>
                    <a:p>
                      <a:r>
                        <a:rPr lang="en-US" sz="1400">
                          <a:solidFill>
                            <a:srgbClr val="FFFFFF"/>
                          </a:solidFill>
                          <a:latin typeface="Consolas"/>
                        </a:rPr>
                        <a:t>uid</a:t>
                      </a:r>
                    </a:p>
                  </a:txBody>
                  <a:tcPr anchor="ctr">
                    <a:solidFill>
                      <a:srgbClr val="1B1E24"/>
                    </a:solidFill>
                  </a:tcPr>
                </a:tc>
                <a:tc>
                  <a:txBody>
                    <a:bodyPr/>
                    <a:lstStyle/>
                    <a:p>
                      <a:r>
                        <a:rPr lang="en-US" sz="1400" dirty="0">
                          <a:solidFill>
                            <a:srgbClr val="B4BCC6"/>
                          </a:solidFill>
                          <a:latin typeface="Segoe UI"/>
                          <a:cs typeface="Segoe UI"/>
                        </a:rPr>
                        <a:t>Stable identity - keep it in the file forever</a:t>
                      </a:r>
                    </a:p>
                  </a:txBody>
                  <a:tcPr anchor="ctr">
                    <a:solidFill>
                      <a:srgbClr val="1B1E24"/>
                    </a:solidFill>
                  </a:tcPr>
                </a:tc>
                <a:extLst>
                  <a:ext uri="{0D108BD9-81ED-4DB2-BD59-A6C34878D82A}">
                    <a16:rowId xmlns:a16="http://schemas.microsoft.com/office/drawing/2014/main" val="1174432252"/>
                  </a:ext>
                </a:extLst>
              </a:tr>
              <a:tr h="355600">
                <a:tc>
                  <a:txBody>
                    <a:bodyPr/>
                    <a:lstStyle/>
                    <a:p>
                      <a:r>
                        <a:rPr lang="en-US" sz="1400">
                          <a:solidFill>
                            <a:srgbClr val="FFFFFF"/>
                          </a:solidFill>
                          <a:latin typeface="Consolas"/>
                        </a:rPr>
                        <a:t>id</a:t>
                      </a:r>
                    </a:p>
                  </a:txBody>
                  <a:tcPr anchor="ctr">
                    <a:solidFill>
                      <a:srgbClr val="181B1F"/>
                    </a:solidFill>
                  </a:tcPr>
                </a:tc>
                <a:tc>
                  <a:txBody>
                    <a:bodyPr/>
                    <a:lstStyle/>
                    <a:p>
                      <a:r>
                        <a:rPr lang="en-US" sz="1400">
                          <a:solidFill>
                            <a:srgbClr val="B4BCC6"/>
                          </a:solidFill>
                          <a:latin typeface="Segoe UI"/>
                          <a:cs typeface="Segoe UI"/>
                        </a:rPr>
                        <a:t>Must be null or absent, or the import fails</a:t>
                      </a:r>
                    </a:p>
                  </a:txBody>
                  <a:tcPr anchor="ctr">
                    <a:solidFill>
                      <a:srgbClr val="181B1F"/>
                    </a:solidFill>
                  </a:tcPr>
                </a:tc>
                <a:extLst>
                  <a:ext uri="{0D108BD9-81ED-4DB2-BD59-A6C34878D82A}">
                    <a16:rowId xmlns:a16="http://schemas.microsoft.com/office/drawing/2014/main" val="1268464893"/>
                  </a:ext>
                </a:extLst>
              </a:tr>
              <a:tr h="355600">
                <a:tc>
                  <a:txBody>
                    <a:bodyPr/>
                    <a:lstStyle/>
                    <a:p>
                      <a:r>
                        <a:rPr lang="en-US" sz="1400">
                          <a:solidFill>
                            <a:srgbClr val="FFFFFF"/>
                          </a:solidFill>
                          <a:latin typeface="Consolas"/>
                        </a:rPr>
                        <a:t>title</a:t>
                      </a:r>
                    </a:p>
                  </a:txBody>
                  <a:tcPr anchor="ctr">
                    <a:solidFill>
                      <a:srgbClr val="1B1E24"/>
                    </a:solidFill>
                  </a:tcPr>
                </a:tc>
                <a:tc>
                  <a:txBody>
                    <a:bodyPr/>
                    <a:lstStyle/>
                    <a:p>
                      <a:r>
                        <a:rPr lang="en-US" sz="1400">
                          <a:solidFill>
                            <a:srgbClr val="B4BCC6"/>
                          </a:solidFill>
                          <a:latin typeface="Segoe UI"/>
                          <a:cs typeface="Segoe UI"/>
                        </a:rPr>
                        <a:t>Display name; the provider decides the folder</a:t>
                      </a:r>
                    </a:p>
                  </a:txBody>
                  <a:tcPr anchor="ctr">
                    <a:solidFill>
                      <a:srgbClr val="1B1E24"/>
                    </a:solidFill>
                  </a:tcPr>
                </a:tc>
                <a:extLst>
                  <a:ext uri="{0D108BD9-81ED-4DB2-BD59-A6C34878D82A}">
                    <a16:rowId xmlns:a16="http://schemas.microsoft.com/office/drawing/2014/main" val="4101159663"/>
                  </a:ext>
                </a:extLst>
              </a:tr>
              <a:tr h="355600">
                <a:tc>
                  <a:txBody>
                    <a:bodyPr/>
                    <a:lstStyle/>
                    <a:p>
                      <a:r>
                        <a:rPr lang="en-US" sz="1400">
                          <a:solidFill>
                            <a:srgbClr val="FFFFFF"/>
                          </a:solidFill>
                          <a:latin typeface="Consolas"/>
                        </a:rPr>
                        <a:t>schemaVersion</a:t>
                      </a:r>
                    </a:p>
                  </a:txBody>
                  <a:tcPr anchor="ctr">
                    <a:solidFill>
                      <a:srgbClr val="181B1F"/>
                    </a:solidFill>
                  </a:tcPr>
                </a:tc>
                <a:tc>
                  <a:txBody>
                    <a:bodyPr/>
                    <a:lstStyle/>
                    <a:p>
                      <a:r>
                        <a:rPr lang="en-US" sz="1400" dirty="0">
                          <a:solidFill>
                            <a:srgbClr val="B4BCC6"/>
                          </a:solidFill>
                          <a:latin typeface="Segoe UI"/>
                          <a:cs typeface="Segoe UI"/>
                        </a:rPr>
                        <a:t>Migration marker - let Grafana set it</a:t>
                      </a:r>
                    </a:p>
                  </a:txBody>
                  <a:tcPr anchor="ctr">
                    <a:solidFill>
                      <a:srgbClr val="181B1F"/>
                    </a:solidFill>
                  </a:tcPr>
                </a:tc>
                <a:extLst>
                  <a:ext uri="{0D108BD9-81ED-4DB2-BD59-A6C34878D82A}">
                    <a16:rowId xmlns:a16="http://schemas.microsoft.com/office/drawing/2014/main" val="2795580127"/>
                  </a:ext>
                </a:extLst>
              </a:tr>
              <a:tr h="355600">
                <a:tc>
                  <a:txBody>
                    <a:bodyPr/>
                    <a:lstStyle/>
                    <a:p>
                      <a:r>
                        <a:rPr lang="en-US" sz="1400">
                          <a:solidFill>
                            <a:srgbClr val="FFFFFF"/>
                          </a:solidFill>
                          <a:latin typeface="Consolas"/>
                        </a:rPr>
                        <a:t>version</a:t>
                      </a:r>
                    </a:p>
                  </a:txBody>
                  <a:tcPr anchor="ctr">
                    <a:solidFill>
                      <a:srgbClr val="1B1E24"/>
                    </a:solidFill>
                  </a:tcPr>
                </a:tc>
                <a:tc>
                  <a:txBody>
                    <a:bodyPr/>
                    <a:lstStyle/>
                    <a:p>
                      <a:r>
                        <a:rPr lang="en-US" sz="1400">
                          <a:solidFill>
                            <a:srgbClr val="B4BCC6"/>
                          </a:solidFill>
                          <a:latin typeface="Segoe UI"/>
                          <a:cs typeface="Segoe UI"/>
                        </a:rPr>
                        <a:t>Grafana bumps it; ignored on provisioning</a:t>
                      </a:r>
                    </a:p>
                  </a:txBody>
                  <a:tcPr anchor="ctr">
                    <a:solidFill>
                      <a:srgbClr val="1B1E24"/>
                    </a:solidFill>
                  </a:tcPr>
                </a:tc>
                <a:extLst>
                  <a:ext uri="{0D108BD9-81ED-4DB2-BD59-A6C34878D82A}">
                    <a16:rowId xmlns:a16="http://schemas.microsoft.com/office/drawing/2014/main" val="2651421727"/>
                  </a:ext>
                </a:extLst>
              </a:tr>
              <a:tr h="355600">
                <a:tc>
                  <a:txBody>
                    <a:bodyPr/>
                    <a:lstStyle/>
                    <a:p>
                      <a:r>
                        <a:rPr lang="en-US" sz="1400">
                          <a:solidFill>
                            <a:srgbClr val="FFFFFF"/>
                          </a:solidFill>
                          <a:latin typeface="Consolas"/>
                        </a:rPr>
                        <a:t>tags</a:t>
                      </a:r>
                    </a:p>
                  </a:txBody>
                  <a:tcPr anchor="ctr">
                    <a:solidFill>
                      <a:srgbClr val="181B1F"/>
                    </a:solidFill>
                  </a:tcPr>
                </a:tc>
                <a:tc>
                  <a:txBody>
                    <a:bodyPr/>
                    <a:lstStyle/>
                    <a:p>
                      <a:r>
                        <a:rPr lang="en-US" sz="1400">
                          <a:solidFill>
                            <a:srgbClr val="B4BCC6"/>
                          </a:solidFill>
                          <a:latin typeface="Segoe UI"/>
                          <a:cs typeface="Segoe UI"/>
                        </a:rPr>
                        <a:t>How you find provisioned dashboards later</a:t>
                      </a:r>
                    </a:p>
                  </a:txBody>
                  <a:tcPr anchor="ctr">
                    <a:solidFill>
                      <a:srgbClr val="181B1F"/>
                    </a:solidFill>
                  </a:tcPr>
                </a:tc>
                <a:extLst>
                  <a:ext uri="{0D108BD9-81ED-4DB2-BD59-A6C34878D82A}">
                    <a16:rowId xmlns:a16="http://schemas.microsoft.com/office/drawing/2014/main" val="3422220627"/>
                  </a:ext>
                </a:extLst>
              </a:tr>
              <a:tr h="355600">
                <a:tc>
                  <a:txBody>
                    <a:bodyPr/>
                    <a:lstStyle/>
                    <a:p>
                      <a:r>
                        <a:rPr lang="en-US" sz="1400">
                          <a:solidFill>
                            <a:srgbClr val="FFFFFF"/>
                          </a:solidFill>
                          <a:latin typeface="Consolas"/>
                        </a:rPr>
                        <a:t>datasource.uid</a:t>
                      </a:r>
                    </a:p>
                  </a:txBody>
                  <a:tcPr anchor="ctr">
                    <a:solidFill>
                      <a:srgbClr val="1B1E24"/>
                    </a:solidFill>
                  </a:tcPr>
                </a:tc>
                <a:tc>
                  <a:txBody>
                    <a:bodyPr/>
                    <a:lstStyle/>
                    <a:p>
                      <a:r>
                        <a:rPr lang="en-US" sz="1400">
                          <a:solidFill>
                            <a:srgbClr val="B4BCC6"/>
                          </a:solidFill>
                          <a:latin typeface="Segoe UI"/>
                          <a:cs typeface="Segoe UI"/>
                        </a:rPr>
                        <a:t>Must match a provisioned data source uid</a:t>
                      </a:r>
                    </a:p>
                  </a:txBody>
                  <a:tcPr anchor="ctr">
                    <a:solidFill>
                      <a:srgbClr val="1B1E24"/>
                    </a:solidFill>
                  </a:tcPr>
                </a:tc>
                <a:extLst>
                  <a:ext uri="{0D108BD9-81ED-4DB2-BD59-A6C34878D82A}">
                    <a16:rowId xmlns:a16="http://schemas.microsoft.com/office/drawing/2014/main" val="438398982"/>
                  </a:ext>
                </a:extLst>
              </a:tr>
            </a:tbl>
          </a:graphicData>
        </a:graphic>
      </p:graphicFrame>
      <p:sp>
        <p:nvSpPr>
          <p:cNvPr id="10" name="Rectangle: Rounded Corners 9">
            <a:extLst>
              <a:ext uri="{FF2B5EF4-FFF2-40B4-BE49-F238E27FC236}">
                <a16:creationId xmlns:a16="http://schemas.microsoft.com/office/drawing/2014/main" id="{23A2836F-1218-4165-B845-39AB97C2F214}"/>
              </a:ext>
            </a:extLst>
          </p:cNvPr>
          <p:cNvSpPr/>
          <p:nvPr/>
        </p:nvSpPr>
        <p:spPr>
          <a:xfrm>
            <a:off x="762000" y="5054600"/>
            <a:ext cx="10668000" cy="1168400"/>
          </a:xfrm>
          <a:prstGeom prst="roundRect">
            <a:avLst/>
          </a:prstGeom>
          <a:solidFill>
            <a:srgbClr val="181B1F"/>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0E26EC46-26C6-49C6-AEF4-E04F013B4216}"/>
              </a:ext>
            </a:extLst>
          </p:cNvPr>
          <p:cNvSpPr txBox="1"/>
          <p:nvPr/>
        </p:nvSpPr>
        <p:spPr>
          <a:xfrm>
            <a:off x="1016000" y="5207000"/>
            <a:ext cx="7620000" cy="254000"/>
          </a:xfrm>
          <a:prstGeom prst="rect">
            <a:avLst/>
          </a:prstGeom>
          <a:noFill/>
        </p:spPr>
        <p:txBody>
          <a:bodyPr vertOverflow="overflow" vert="horz" wrap="square" rtlCol="0" anchor="t">
            <a:noAutofit/>
          </a:bodyPr>
          <a:lstStyle/>
          <a:p>
            <a:pPr algn="l"/>
            <a:r>
              <a:rPr lang="en-US" sz="1600" b="1">
                <a:solidFill>
                  <a:srgbClr val="6E9FFF"/>
                </a:solidFill>
                <a:latin typeface="Segoe UI"/>
                <a:cs typeface="Segoe UI"/>
              </a:rPr>
              <a:t>Getting a clean file out of a dashboard you built in the UI</a:t>
            </a:r>
          </a:p>
        </p:txBody>
      </p:sp>
      <p:sp>
        <p:nvSpPr>
          <p:cNvPr id="12" name="TextBox 11">
            <a:extLst>
              <a:ext uri="{FF2B5EF4-FFF2-40B4-BE49-F238E27FC236}">
                <a16:creationId xmlns:a16="http://schemas.microsoft.com/office/drawing/2014/main" id="{B4FB4747-80A5-495C-9BD1-046AEF6A4B51}"/>
              </a:ext>
            </a:extLst>
          </p:cNvPr>
          <p:cNvSpPr txBox="1"/>
          <p:nvPr/>
        </p:nvSpPr>
        <p:spPr>
          <a:xfrm>
            <a:off x="1016000" y="5511800"/>
            <a:ext cx="10160000" cy="609600"/>
          </a:xfrm>
          <a:prstGeom prst="rect">
            <a:avLst/>
          </a:prstGeom>
          <a:noFill/>
        </p:spPr>
        <p:txBody>
          <a:bodyPr vertOverflow="overflow" vert="horz" wrap="square" rtlCol="0" anchor="t">
            <a:noAutofit/>
          </a:bodyPr>
          <a:lstStyle/>
          <a:p>
            <a:pPr algn="l"/>
            <a:r>
              <a:rPr lang="en-US" sz="1500" dirty="0">
                <a:solidFill>
                  <a:srgbClr val="D2D6DB"/>
                </a:solidFill>
                <a:latin typeface="Segoe UI"/>
                <a:cs typeface="Segoe UI"/>
              </a:rPr>
              <a:t>Share → Export → Save to file gives you the raw JSON. Set "id": null, choose a readable </a:t>
            </a:r>
            <a:r>
              <a:rPr lang="en-US" sz="1500" dirty="0" err="1">
                <a:solidFill>
                  <a:srgbClr val="D2D6DB"/>
                </a:solidFill>
                <a:latin typeface="Segoe UI"/>
                <a:cs typeface="Segoe UI"/>
              </a:rPr>
              <a:t>uid</a:t>
            </a:r>
            <a:r>
              <a:rPr lang="en-US" sz="1500" dirty="0">
                <a:solidFill>
                  <a:srgbClr val="D2D6DB"/>
                </a:solidFill>
                <a:latin typeface="Segoe UI"/>
                <a:cs typeface="Segoe UI"/>
              </a:rPr>
              <a:t>, and replace any </a:t>
            </a:r>
            <a:r>
              <a:rPr lang="en-US" sz="1500" dirty="0" err="1">
                <a:solidFill>
                  <a:srgbClr val="D2D6DB"/>
                </a:solidFill>
                <a:latin typeface="Segoe UI"/>
                <a:cs typeface="Segoe UI"/>
              </a:rPr>
              <a:t>datasource</a:t>
            </a:r>
            <a:r>
              <a:rPr lang="en-US" sz="1500" dirty="0">
                <a:solidFill>
                  <a:srgbClr val="D2D6DB"/>
                </a:solidFill>
                <a:latin typeface="Segoe UI"/>
                <a:cs typeface="Segoe UI"/>
              </a:rPr>
              <a:t> name with the </a:t>
            </a:r>
            <a:r>
              <a:rPr lang="en-US" sz="1500" dirty="0" err="1">
                <a:solidFill>
                  <a:srgbClr val="D2D6DB"/>
                </a:solidFill>
                <a:latin typeface="Segoe UI"/>
                <a:cs typeface="Segoe UI"/>
              </a:rPr>
              <a:t>uid</a:t>
            </a:r>
            <a:r>
              <a:rPr lang="en-US" sz="1500" dirty="0">
                <a:solidFill>
                  <a:srgbClr val="D2D6DB"/>
                </a:solidFill>
                <a:latin typeface="Segoe UI"/>
                <a:cs typeface="Segoe UI"/>
              </a:rPr>
              <a:t> you provision. Skip "Export for sharing externally" - it turns the data source into an __inputs prompt, which provisioning cannot answer.</a:t>
            </a:r>
          </a:p>
        </p:txBody>
      </p:sp>
    </p:spTree>
    <p:extLst>
      <p:ext uri="{BB962C8B-B14F-4D97-AF65-F5344CB8AC3E}">
        <p14:creationId xmlns:p14="http://schemas.microsoft.com/office/powerpoint/2010/main" val="457552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A0B7F-5A98-3FDC-AC8F-A0C23375EDAB}"/>
              </a:ext>
            </a:extLst>
          </p:cNvPr>
          <p:cNvSpPr>
            <a:spLocks noGrp="1"/>
          </p:cNvSpPr>
          <p:nvPr>
            <p:ph type="title"/>
          </p:nvPr>
        </p:nvSpPr>
        <p:spPr>
          <a:xfrm>
            <a:off x="762000" y="406400"/>
            <a:ext cx="10668000" cy="533400"/>
          </a:xfrm>
        </p:spPr>
        <p:txBody>
          <a:bodyPr>
            <a:normAutofit/>
          </a:bodyPr>
          <a:lstStyle/>
          <a:p>
            <a:r>
              <a:rPr lang="en-US" sz="3000" b="1"/>
              <a:t>Dashboards as Code</a:t>
            </a:r>
          </a:p>
        </p:txBody>
      </p:sp>
      <p:sp>
        <p:nvSpPr>
          <p:cNvPr id="3" name="Rectangle 2">
            <a:extLst>
              <a:ext uri="{FF2B5EF4-FFF2-40B4-BE49-F238E27FC236}">
                <a16:creationId xmlns:a16="http://schemas.microsoft.com/office/drawing/2014/main" id="{AB99AC57-7EE2-4040-9E0F-52B7DD86AF9A}"/>
              </a:ext>
            </a:extLst>
          </p:cNvPr>
          <p:cNvSpPr/>
          <p:nvPr/>
        </p:nvSpPr>
        <p:spPr>
          <a:xfrm>
            <a:off x="762000" y="1016000"/>
            <a:ext cx="889000" cy="381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3CDAF49-EE48-4DF2-B6AB-ABB38259EACB}"/>
              </a:ext>
            </a:extLst>
          </p:cNvPr>
          <p:cNvSpPr txBox="1"/>
          <p:nvPr/>
        </p:nvSpPr>
        <p:spPr>
          <a:xfrm>
            <a:off x="762000" y="1143000"/>
            <a:ext cx="10160000" cy="279400"/>
          </a:xfrm>
          <a:prstGeom prst="rect">
            <a:avLst/>
          </a:prstGeom>
          <a:noFill/>
        </p:spPr>
        <p:txBody>
          <a:bodyPr vertOverflow="overflow" vert="horz" wrap="square" rtlCol="0" anchor="t">
            <a:noAutofit/>
          </a:bodyPr>
          <a:lstStyle/>
          <a:p>
            <a:pPr algn="l"/>
            <a:r>
              <a:rPr lang="en-US" sz="1500" dirty="0">
                <a:solidFill>
                  <a:srgbClr val="A8B0BA"/>
                </a:solidFill>
                <a:latin typeface="Segoe UI"/>
                <a:cs typeface="Segoe UI"/>
              </a:rPr>
              <a:t>Generate the JSON from something a human enjoys editing - then let Git do the governance.</a:t>
            </a:r>
          </a:p>
        </p:txBody>
      </p:sp>
      <p:sp>
        <p:nvSpPr>
          <p:cNvPr id="5" name="Rectangle: Rounded Corners 4">
            <a:extLst>
              <a:ext uri="{FF2B5EF4-FFF2-40B4-BE49-F238E27FC236}">
                <a16:creationId xmlns:a16="http://schemas.microsoft.com/office/drawing/2014/main" id="{1A4AC4C8-0686-4866-AEAA-FE01137D5246}"/>
              </a:ext>
            </a:extLst>
          </p:cNvPr>
          <p:cNvSpPr/>
          <p:nvPr/>
        </p:nvSpPr>
        <p:spPr>
          <a:xfrm>
            <a:off x="762000" y="1524000"/>
            <a:ext cx="1574800" cy="9906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DECE3EBD-564F-437B-BF0F-E873D65C56F0}"/>
              </a:ext>
            </a:extLst>
          </p:cNvPr>
          <p:cNvSpPr txBox="1"/>
          <p:nvPr/>
        </p:nvSpPr>
        <p:spPr>
          <a:xfrm>
            <a:off x="914400" y="1676400"/>
            <a:ext cx="1295400" cy="2540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Edit source</a:t>
            </a:r>
          </a:p>
        </p:txBody>
      </p:sp>
      <p:sp>
        <p:nvSpPr>
          <p:cNvPr id="7" name="TextBox 6">
            <a:extLst>
              <a:ext uri="{FF2B5EF4-FFF2-40B4-BE49-F238E27FC236}">
                <a16:creationId xmlns:a16="http://schemas.microsoft.com/office/drawing/2014/main" id="{EFDE0F1B-5C1B-4FE2-A6F7-C0D386AB90A0}"/>
              </a:ext>
            </a:extLst>
          </p:cNvPr>
          <p:cNvSpPr txBox="1"/>
          <p:nvPr/>
        </p:nvSpPr>
        <p:spPr>
          <a:xfrm>
            <a:off x="914400" y="1981200"/>
            <a:ext cx="1320800" cy="431800"/>
          </a:xfrm>
          <a:prstGeom prst="rect">
            <a:avLst/>
          </a:prstGeom>
          <a:noFill/>
        </p:spPr>
        <p:txBody>
          <a:bodyPr vertOverflow="overflow" vert="horz" wrap="square" rtlCol="0" anchor="t">
            <a:noAutofit/>
          </a:bodyPr>
          <a:lstStyle/>
          <a:p>
            <a:pPr algn="l"/>
            <a:r>
              <a:rPr lang="en-US" sz="1400">
                <a:solidFill>
                  <a:srgbClr val="73BF69"/>
                </a:solidFill>
                <a:latin typeface="Segoe UI"/>
                <a:cs typeface="Segoe UI"/>
              </a:rPr>
              <a:t>dashboard.jsonnet</a:t>
            </a:r>
          </a:p>
        </p:txBody>
      </p:sp>
      <p:sp>
        <p:nvSpPr>
          <p:cNvPr id="8" name="Arrow: Right 7">
            <a:extLst>
              <a:ext uri="{FF2B5EF4-FFF2-40B4-BE49-F238E27FC236}">
                <a16:creationId xmlns:a16="http://schemas.microsoft.com/office/drawing/2014/main" id="{9D4B841C-80D2-4F39-93C0-E1389803EDCC}"/>
              </a:ext>
            </a:extLst>
          </p:cNvPr>
          <p:cNvSpPr/>
          <p:nvPr/>
        </p:nvSpPr>
        <p:spPr>
          <a:xfrm>
            <a:off x="2387600" y="1917700"/>
            <a:ext cx="1905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Rounded Corners 8">
            <a:extLst>
              <a:ext uri="{FF2B5EF4-FFF2-40B4-BE49-F238E27FC236}">
                <a16:creationId xmlns:a16="http://schemas.microsoft.com/office/drawing/2014/main" id="{328D0732-8CDF-482A-A5BA-8898FABA8F8C}"/>
              </a:ext>
            </a:extLst>
          </p:cNvPr>
          <p:cNvSpPr/>
          <p:nvPr/>
        </p:nvSpPr>
        <p:spPr>
          <a:xfrm>
            <a:off x="2578100" y="1524000"/>
            <a:ext cx="1574800" cy="9906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12BEA041-FECB-45E2-BAB2-FEE4D5090FDD}"/>
              </a:ext>
            </a:extLst>
          </p:cNvPr>
          <p:cNvSpPr txBox="1"/>
          <p:nvPr/>
        </p:nvSpPr>
        <p:spPr>
          <a:xfrm>
            <a:off x="2730500" y="1676400"/>
            <a:ext cx="1295400" cy="2540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Build</a:t>
            </a:r>
          </a:p>
        </p:txBody>
      </p:sp>
      <p:sp>
        <p:nvSpPr>
          <p:cNvPr id="11" name="TextBox 10">
            <a:extLst>
              <a:ext uri="{FF2B5EF4-FFF2-40B4-BE49-F238E27FC236}">
                <a16:creationId xmlns:a16="http://schemas.microsoft.com/office/drawing/2014/main" id="{EC8EC829-4A74-4C6F-8064-8692FA43EA5A}"/>
              </a:ext>
            </a:extLst>
          </p:cNvPr>
          <p:cNvSpPr txBox="1"/>
          <p:nvPr/>
        </p:nvSpPr>
        <p:spPr>
          <a:xfrm>
            <a:off x="2730500" y="1981200"/>
            <a:ext cx="1320800" cy="431800"/>
          </a:xfrm>
          <a:prstGeom prst="rect">
            <a:avLst/>
          </a:prstGeom>
          <a:noFill/>
        </p:spPr>
        <p:txBody>
          <a:bodyPr vertOverflow="overflow" vert="horz" wrap="square" rtlCol="0" anchor="t">
            <a:noAutofit/>
          </a:bodyPr>
          <a:lstStyle/>
          <a:p>
            <a:pPr algn="l"/>
            <a:r>
              <a:rPr lang="en-US" sz="1400">
                <a:solidFill>
                  <a:srgbClr val="73BF69"/>
                </a:solidFill>
                <a:latin typeface="Segoe UI"/>
                <a:cs typeface="Segoe UI"/>
              </a:rPr>
              <a:t>make → JSON</a:t>
            </a:r>
          </a:p>
        </p:txBody>
      </p:sp>
      <p:sp>
        <p:nvSpPr>
          <p:cNvPr id="12" name="Arrow: Right 11">
            <a:extLst>
              <a:ext uri="{FF2B5EF4-FFF2-40B4-BE49-F238E27FC236}">
                <a16:creationId xmlns:a16="http://schemas.microsoft.com/office/drawing/2014/main" id="{0D449F66-008A-4C2F-931D-B572D16C5F04}"/>
              </a:ext>
            </a:extLst>
          </p:cNvPr>
          <p:cNvSpPr/>
          <p:nvPr/>
        </p:nvSpPr>
        <p:spPr>
          <a:xfrm>
            <a:off x="4203700" y="1917700"/>
            <a:ext cx="1905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Rounded Corners 12">
            <a:extLst>
              <a:ext uri="{FF2B5EF4-FFF2-40B4-BE49-F238E27FC236}">
                <a16:creationId xmlns:a16="http://schemas.microsoft.com/office/drawing/2014/main" id="{0B950032-190A-4C3C-A896-8DB855E8C172}"/>
              </a:ext>
            </a:extLst>
          </p:cNvPr>
          <p:cNvSpPr/>
          <p:nvPr/>
        </p:nvSpPr>
        <p:spPr>
          <a:xfrm>
            <a:off x="4394200" y="1524000"/>
            <a:ext cx="1574800" cy="990600"/>
          </a:xfrm>
          <a:prstGeom prst="roundRect">
            <a:avLst/>
          </a:prstGeom>
          <a:solidFill>
            <a:srgbClr val="1B1E24"/>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C222C433-30C7-44B0-8C3B-D3E417BC1925}"/>
              </a:ext>
            </a:extLst>
          </p:cNvPr>
          <p:cNvSpPr txBox="1"/>
          <p:nvPr/>
        </p:nvSpPr>
        <p:spPr>
          <a:xfrm>
            <a:off x="4546600" y="1676400"/>
            <a:ext cx="1295400" cy="2540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Pull request</a:t>
            </a:r>
          </a:p>
        </p:txBody>
      </p:sp>
      <p:sp>
        <p:nvSpPr>
          <p:cNvPr id="15" name="TextBox 14">
            <a:extLst>
              <a:ext uri="{FF2B5EF4-FFF2-40B4-BE49-F238E27FC236}">
                <a16:creationId xmlns:a16="http://schemas.microsoft.com/office/drawing/2014/main" id="{C8297076-018B-4A2A-A18B-508ED1686298}"/>
              </a:ext>
            </a:extLst>
          </p:cNvPr>
          <p:cNvSpPr txBox="1"/>
          <p:nvPr/>
        </p:nvSpPr>
        <p:spPr>
          <a:xfrm>
            <a:off x="4546600" y="1981200"/>
            <a:ext cx="1320800" cy="431800"/>
          </a:xfrm>
          <a:prstGeom prst="rect">
            <a:avLst/>
          </a:prstGeom>
          <a:noFill/>
        </p:spPr>
        <p:txBody>
          <a:bodyPr vertOverflow="overflow" vert="horz" wrap="square" rtlCol="0" anchor="t">
            <a:noAutofit/>
          </a:bodyPr>
          <a:lstStyle/>
          <a:p>
            <a:pPr algn="l"/>
            <a:r>
              <a:rPr lang="en-US" sz="1400">
                <a:solidFill>
                  <a:srgbClr val="FADE2A"/>
                </a:solidFill>
                <a:latin typeface="Segoe UI"/>
                <a:cs typeface="Segoe UI"/>
              </a:rPr>
              <a:t>peer review</a:t>
            </a:r>
          </a:p>
        </p:txBody>
      </p:sp>
      <p:sp>
        <p:nvSpPr>
          <p:cNvPr id="16" name="Arrow: Right 15">
            <a:extLst>
              <a:ext uri="{FF2B5EF4-FFF2-40B4-BE49-F238E27FC236}">
                <a16:creationId xmlns:a16="http://schemas.microsoft.com/office/drawing/2014/main" id="{196C9453-6968-4925-859C-53D71D48DBBE}"/>
              </a:ext>
            </a:extLst>
          </p:cNvPr>
          <p:cNvSpPr/>
          <p:nvPr/>
        </p:nvSpPr>
        <p:spPr>
          <a:xfrm>
            <a:off x="6019800" y="1917700"/>
            <a:ext cx="1905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Rounded Corners 16">
            <a:extLst>
              <a:ext uri="{FF2B5EF4-FFF2-40B4-BE49-F238E27FC236}">
                <a16:creationId xmlns:a16="http://schemas.microsoft.com/office/drawing/2014/main" id="{AF07A44B-769D-4043-90FF-BC4FBB6E0CE5}"/>
              </a:ext>
            </a:extLst>
          </p:cNvPr>
          <p:cNvSpPr/>
          <p:nvPr/>
        </p:nvSpPr>
        <p:spPr>
          <a:xfrm>
            <a:off x="6210300" y="1524000"/>
            <a:ext cx="1574800" cy="990600"/>
          </a:xfrm>
          <a:prstGeom prst="roundRect">
            <a:avLst/>
          </a:prstGeom>
          <a:solidFill>
            <a:srgbClr val="1B1E24"/>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58CA1921-D2E6-4626-A319-F2C8FA47ABAB}"/>
              </a:ext>
            </a:extLst>
          </p:cNvPr>
          <p:cNvSpPr txBox="1"/>
          <p:nvPr/>
        </p:nvSpPr>
        <p:spPr>
          <a:xfrm>
            <a:off x="6362700" y="1676400"/>
            <a:ext cx="1295400" cy="2540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CI checks</a:t>
            </a:r>
          </a:p>
        </p:txBody>
      </p:sp>
      <p:sp>
        <p:nvSpPr>
          <p:cNvPr id="19" name="TextBox 18">
            <a:extLst>
              <a:ext uri="{FF2B5EF4-FFF2-40B4-BE49-F238E27FC236}">
                <a16:creationId xmlns:a16="http://schemas.microsoft.com/office/drawing/2014/main" id="{EA3C32CB-B464-4D68-B8C3-5415D09806F0}"/>
              </a:ext>
            </a:extLst>
          </p:cNvPr>
          <p:cNvSpPr txBox="1"/>
          <p:nvPr/>
        </p:nvSpPr>
        <p:spPr>
          <a:xfrm>
            <a:off x="6362700" y="1981200"/>
            <a:ext cx="1320800" cy="431800"/>
          </a:xfrm>
          <a:prstGeom prst="rect">
            <a:avLst/>
          </a:prstGeom>
          <a:noFill/>
        </p:spPr>
        <p:txBody>
          <a:bodyPr vertOverflow="overflow" vert="horz" wrap="square" rtlCol="0" anchor="t">
            <a:noAutofit/>
          </a:bodyPr>
          <a:lstStyle/>
          <a:p>
            <a:pPr algn="l"/>
            <a:r>
              <a:rPr lang="en-US" sz="1400">
                <a:solidFill>
                  <a:srgbClr val="FADE2A"/>
                </a:solidFill>
                <a:latin typeface="Segoe UI"/>
                <a:cs typeface="Segoe UI"/>
              </a:rPr>
              <a:t>JSON schema + lint</a:t>
            </a:r>
          </a:p>
        </p:txBody>
      </p:sp>
      <p:sp>
        <p:nvSpPr>
          <p:cNvPr id="20" name="Arrow: Right 19">
            <a:extLst>
              <a:ext uri="{FF2B5EF4-FFF2-40B4-BE49-F238E27FC236}">
                <a16:creationId xmlns:a16="http://schemas.microsoft.com/office/drawing/2014/main" id="{E57940E6-71F7-4A4A-BD43-8AA12948AAA6}"/>
              </a:ext>
            </a:extLst>
          </p:cNvPr>
          <p:cNvSpPr/>
          <p:nvPr/>
        </p:nvSpPr>
        <p:spPr>
          <a:xfrm>
            <a:off x="7835900" y="1917700"/>
            <a:ext cx="1905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Rounded Corners 20">
            <a:extLst>
              <a:ext uri="{FF2B5EF4-FFF2-40B4-BE49-F238E27FC236}">
                <a16:creationId xmlns:a16="http://schemas.microsoft.com/office/drawing/2014/main" id="{E480F09F-20C3-4261-8535-8278AC30D6CE}"/>
              </a:ext>
            </a:extLst>
          </p:cNvPr>
          <p:cNvSpPr/>
          <p:nvPr/>
        </p:nvSpPr>
        <p:spPr>
          <a:xfrm>
            <a:off x="8026400" y="1524000"/>
            <a:ext cx="1574800" cy="9906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88CA9C10-D685-4351-8EEE-76FB9DC48E94}"/>
              </a:ext>
            </a:extLst>
          </p:cNvPr>
          <p:cNvSpPr txBox="1"/>
          <p:nvPr/>
        </p:nvSpPr>
        <p:spPr>
          <a:xfrm>
            <a:off x="8178800" y="1676400"/>
            <a:ext cx="1295400" cy="2540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Merge to main</a:t>
            </a:r>
          </a:p>
        </p:txBody>
      </p:sp>
      <p:sp>
        <p:nvSpPr>
          <p:cNvPr id="23" name="TextBox 22">
            <a:extLst>
              <a:ext uri="{FF2B5EF4-FFF2-40B4-BE49-F238E27FC236}">
                <a16:creationId xmlns:a16="http://schemas.microsoft.com/office/drawing/2014/main" id="{8568BD25-70B7-4D73-AA86-1E545F19EC1D}"/>
              </a:ext>
            </a:extLst>
          </p:cNvPr>
          <p:cNvSpPr txBox="1"/>
          <p:nvPr/>
        </p:nvSpPr>
        <p:spPr>
          <a:xfrm>
            <a:off x="8178800" y="1981200"/>
            <a:ext cx="1320800" cy="431800"/>
          </a:xfrm>
          <a:prstGeom prst="rect">
            <a:avLst/>
          </a:prstGeom>
          <a:noFill/>
        </p:spPr>
        <p:txBody>
          <a:bodyPr vertOverflow="overflow" vert="horz" wrap="square" rtlCol="0" anchor="t">
            <a:noAutofit/>
          </a:bodyPr>
          <a:lstStyle/>
          <a:p>
            <a:pPr algn="l"/>
            <a:r>
              <a:rPr lang="en-US" sz="1400">
                <a:solidFill>
                  <a:srgbClr val="6E9FFF"/>
                </a:solidFill>
                <a:latin typeface="Segoe UI"/>
                <a:cs typeface="Segoe UI"/>
              </a:rPr>
              <a:t>tagged release</a:t>
            </a:r>
          </a:p>
        </p:txBody>
      </p:sp>
      <p:sp>
        <p:nvSpPr>
          <p:cNvPr id="24" name="Arrow: Right 23">
            <a:extLst>
              <a:ext uri="{FF2B5EF4-FFF2-40B4-BE49-F238E27FC236}">
                <a16:creationId xmlns:a16="http://schemas.microsoft.com/office/drawing/2014/main" id="{A0C549B2-77DB-4C36-8D94-C8DE754BCDCD}"/>
              </a:ext>
            </a:extLst>
          </p:cNvPr>
          <p:cNvSpPr/>
          <p:nvPr/>
        </p:nvSpPr>
        <p:spPr>
          <a:xfrm>
            <a:off x="9652000" y="1917700"/>
            <a:ext cx="190500" cy="203200"/>
          </a:xfrm>
          <a:prstGeom prst="rightArrow">
            <a:avLst/>
          </a:prstGeom>
          <a:solidFill>
            <a:srgbClr val="3A404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Rounded Corners 24">
            <a:extLst>
              <a:ext uri="{FF2B5EF4-FFF2-40B4-BE49-F238E27FC236}">
                <a16:creationId xmlns:a16="http://schemas.microsoft.com/office/drawing/2014/main" id="{02E4B31D-4B73-4764-948B-1F282A7C820C}"/>
              </a:ext>
            </a:extLst>
          </p:cNvPr>
          <p:cNvSpPr/>
          <p:nvPr/>
        </p:nvSpPr>
        <p:spPr>
          <a:xfrm>
            <a:off x="9842500" y="1524000"/>
            <a:ext cx="1574800" cy="990600"/>
          </a:xfrm>
          <a:prstGeom prst="roundRect">
            <a:avLst/>
          </a:prstGeom>
          <a:solidFill>
            <a:srgbClr val="1B1E24"/>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07B75242-9C16-4036-BFB0-EC3D28268C74}"/>
              </a:ext>
            </a:extLst>
          </p:cNvPr>
          <p:cNvSpPr txBox="1"/>
          <p:nvPr/>
        </p:nvSpPr>
        <p:spPr>
          <a:xfrm>
            <a:off x="9994900" y="1676400"/>
            <a:ext cx="1295400" cy="2540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Deploy</a:t>
            </a:r>
          </a:p>
        </p:txBody>
      </p:sp>
      <p:sp>
        <p:nvSpPr>
          <p:cNvPr id="27" name="TextBox 26">
            <a:extLst>
              <a:ext uri="{FF2B5EF4-FFF2-40B4-BE49-F238E27FC236}">
                <a16:creationId xmlns:a16="http://schemas.microsoft.com/office/drawing/2014/main" id="{FE59B6D1-D4A4-431E-8116-CD85519D78D8}"/>
              </a:ext>
            </a:extLst>
          </p:cNvPr>
          <p:cNvSpPr txBox="1"/>
          <p:nvPr/>
        </p:nvSpPr>
        <p:spPr>
          <a:xfrm>
            <a:off x="9994900" y="1981200"/>
            <a:ext cx="1320800" cy="431800"/>
          </a:xfrm>
          <a:prstGeom prst="rect">
            <a:avLst/>
          </a:prstGeom>
          <a:noFill/>
        </p:spPr>
        <p:txBody>
          <a:bodyPr vertOverflow="overflow" vert="horz" wrap="square" rtlCol="0" anchor="t">
            <a:noAutofit/>
          </a:bodyPr>
          <a:lstStyle/>
          <a:p>
            <a:pPr algn="l"/>
            <a:r>
              <a:rPr lang="en-US" sz="1400">
                <a:solidFill>
                  <a:srgbClr val="B877D9"/>
                </a:solidFill>
                <a:latin typeface="Segoe UI"/>
                <a:cs typeface="Segoe UI"/>
              </a:rPr>
              <a:t>sync to prod dirs</a:t>
            </a:r>
          </a:p>
        </p:txBody>
      </p:sp>
      <p:sp>
        <p:nvSpPr>
          <p:cNvPr id="28" name="Rectangle: Rounded Corners 27">
            <a:extLst>
              <a:ext uri="{FF2B5EF4-FFF2-40B4-BE49-F238E27FC236}">
                <a16:creationId xmlns:a16="http://schemas.microsoft.com/office/drawing/2014/main" id="{0354AC20-2747-4F3D-9C32-6245804FF6AC}"/>
              </a:ext>
            </a:extLst>
          </p:cNvPr>
          <p:cNvSpPr/>
          <p:nvPr/>
        </p:nvSpPr>
        <p:spPr>
          <a:xfrm>
            <a:off x="762000" y="2743200"/>
            <a:ext cx="5461000" cy="24384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a:extLst>
              <a:ext uri="{FF2B5EF4-FFF2-40B4-BE49-F238E27FC236}">
                <a16:creationId xmlns:a16="http://schemas.microsoft.com/office/drawing/2014/main" id="{2DAB8630-BEBF-4D37-A0F5-8293D7A39200}"/>
              </a:ext>
            </a:extLst>
          </p:cNvPr>
          <p:cNvSpPr txBox="1"/>
          <p:nvPr/>
        </p:nvSpPr>
        <p:spPr>
          <a:xfrm>
            <a:off x="990600" y="2870200"/>
            <a:ext cx="5080000" cy="254000"/>
          </a:xfrm>
          <a:prstGeom prst="rect">
            <a:avLst/>
          </a:prstGeom>
          <a:noFill/>
        </p:spPr>
        <p:txBody>
          <a:bodyPr vertOverflow="overflow" vert="horz" wrap="square" rtlCol="0" anchor="t">
            <a:noAutofit/>
          </a:bodyPr>
          <a:lstStyle/>
          <a:p>
            <a:pPr algn="l"/>
            <a:r>
              <a:rPr lang="en-US" sz="1400" b="1" dirty="0" err="1">
                <a:solidFill>
                  <a:srgbClr val="73BF69"/>
                </a:solidFill>
                <a:latin typeface="Segoe UI"/>
                <a:cs typeface="Segoe UI"/>
              </a:rPr>
              <a:t>Grafonnet</a:t>
            </a:r>
            <a:r>
              <a:rPr lang="en-US" sz="1400" b="1" dirty="0">
                <a:solidFill>
                  <a:srgbClr val="73BF69"/>
                </a:solidFill>
                <a:latin typeface="Segoe UI"/>
                <a:cs typeface="Segoe UI"/>
              </a:rPr>
              <a:t> - one template, many services</a:t>
            </a:r>
          </a:p>
        </p:txBody>
      </p:sp>
      <p:sp>
        <p:nvSpPr>
          <p:cNvPr id="30" name="TextBox 29">
            <a:extLst>
              <a:ext uri="{FF2B5EF4-FFF2-40B4-BE49-F238E27FC236}">
                <a16:creationId xmlns:a16="http://schemas.microsoft.com/office/drawing/2014/main" id="{9ABC5AF0-0653-4692-96D5-F451E61D058B}"/>
              </a:ext>
            </a:extLst>
          </p:cNvPr>
          <p:cNvSpPr txBox="1"/>
          <p:nvPr/>
        </p:nvSpPr>
        <p:spPr>
          <a:xfrm>
            <a:off x="990600" y="3175000"/>
            <a:ext cx="5029200" cy="1905000"/>
          </a:xfrm>
          <a:prstGeom prst="rect">
            <a:avLst/>
          </a:prstGeom>
          <a:noFill/>
        </p:spPr>
        <p:txBody>
          <a:bodyPr vertOverflow="overflow" vert="horz" wrap="none" rtlCol="0" anchor="t">
            <a:noAutofit/>
          </a:bodyPr>
          <a:lstStyle/>
          <a:p>
            <a:pPr algn="l"/>
            <a:r>
              <a:rPr lang="en-US" sz="1400">
                <a:solidFill>
                  <a:srgbClr val="C8CDD4"/>
                </a:solidFill>
                <a:latin typeface="Consolas"/>
              </a:rPr>
              <a:t>local g = import 'g.libsonnet';
local svcDash(svc) =
  g.dashboard.new('%s · latency' % svc)
  + g.dashboard.withUid('lat-' + svc)
  + g.dashboard.withPanels([
      g.panel.timeSeries.new('p99')
      + g.query.prometheus.withExpr(
          'histogram_quantile(0.99, …%s…)' % svc)
    ]);
{ [svc + '.json']: svcDash(svc)
  for svc in ['api', 'checkout', 'search'] }</a:t>
            </a:r>
          </a:p>
        </p:txBody>
      </p:sp>
      <p:sp>
        <p:nvSpPr>
          <p:cNvPr id="31" name="Rectangle: Rounded Corners 30">
            <a:extLst>
              <a:ext uri="{FF2B5EF4-FFF2-40B4-BE49-F238E27FC236}">
                <a16:creationId xmlns:a16="http://schemas.microsoft.com/office/drawing/2014/main" id="{5A54F735-A6BC-42A2-856F-10C54164AE5B}"/>
              </a:ext>
            </a:extLst>
          </p:cNvPr>
          <p:cNvSpPr/>
          <p:nvPr/>
        </p:nvSpPr>
        <p:spPr>
          <a:xfrm>
            <a:off x="6477000" y="2743200"/>
            <a:ext cx="4953000" cy="5715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49B33E44-ED71-4F60-B6A3-5F6D81363A47}"/>
              </a:ext>
            </a:extLst>
          </p:cNvPr>
          <p:cNvSpPr/>
          <p:nvPr/>
        </p:nvSpPr>
        <p:spPr>
          <a:xfrm>
            <a:off x="6477000" y="2743200"/>
            <a:ext cx="50800" cy="5715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TextBox 32">
            <a:extLst>
              <a:ext uri="{FF2B5EF4-FFF2-40B4-BE49-F238E27FC236}">
                <a16:creationId xmlns:a16="http://schemas.microsoft.com/office/drawing/2014/main" id="{DDB4C08C-B0C9-4E02-9BDF-AB4F4A25FA3A}"/>
              </a:ext>
            </a:extLst>
          </p:cNvPr>
          <p:cNvSpPr txBox="1"/>
          <p:nvPr/>
        </p:nvSpPr>
        <p:spPr>
          <a:xfrm>
            <a:off x="6705600" y="2794000"/>
            <a:ext cx="2286000" cy="2286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Grafonnet (Jsonnet)</a:t>
            </a:r>
          </a:p>
        </p:txBody>
      </p:sp>
      <p:sp>
        <p:nvSpPr>
          <p:cNvPr id="34" name="TextBox 33">
            <a:extLst>
              <a:ext uri="{FF2B5EF4-FFF2-40B4-BE49-F238E27FC236}">
                <a16:creationId xmlns:a16="http://schemas.microsoft.com/office/drawing/2014/main" id="{510D9423-5B68-4351-A158-EF834B88B357}"/>
              </a:ext>
            </a:extLst>
          </p:cNvPr>
          <p:cNvSpPr txBox="1"/>
          <p:nvPr/>
        </p:nvSpPr>
        <p:spPr>
          <a:xfrm>
            <a:off x="6705600" y="3035300"/>
            <a:ext cx="45720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Grafana's own library. Best when you need many near-identical dashboards.</a:t>
            </a:r>
          </a:p>
        </p:txBody>
      </p:sp>
      <p:sp>
        <p:nvSpPr>
          <p:cNvPr id="35" name="Rectangle: Rounded Corners 34">
            <a:extLst>
              <a:ext uri="{FF2B5EF4-FFF2-40B4-BE49-F238E27FC236}">
                <a16:creationId xmlns:a16="http://schemas.microsoft.com/office/drawing/2014/main" id="{DD964582-382A-4852-A7A8-1EAE16B55FE5}"/>
              </a:ext>
            </a:extLst>
          </p:cNvPr>
          <p:cNvSpPr/>
          <p:nvPr/>
        </p:nvSpPr>
        <p:spPr>
          <a:xfrm>
            <a:off x="6477000" y="3365500"/>
            <a:ext cx="4953000" cy="5715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Rectangle 35">
            <a:extLst>
              <a:ext uri="{FF2B5EF4-FFF2-40B4-BE49-F238E27FC236}">
                <a16:creationId xmlns:a16="http://schemas.microsoft.com/office/drawing/2014/main" id="{E30E11A7-A786-42A1-83CB-950019F0A343}"/>
              </a:ext>
            </a:extLst>
          </p:cNvPr>
          <p:cNvSpPr/>
          <p:nvPr/>
        </p:nvSpPr>
        <p:spPr>
          <a:xfrm>
            <a:off x="6477000" y="3365500"/>
            <a:ext cx="50800" cy="5715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TextBox 36">
            <a:extLst>
              <a:ext uri="{FF2B5EF4-FFF2-40B4-BE49-F238E27FC236}">
                <a16:creationId xmlns:a16="http://schemas.microsoft.com/office/drawing/2014/main" id="{106559EB-083E-4F0B-895A-1F181DC2C189}"/>
              </a:ext>
            </a:extLst>
          </p:cNvPr>
          <p:cNvSpPr txBox="1"/>
          <p:nvPr/>
        </p:nvSpPr>
        <p:spPr>
          <a:xfrm>
            <a:off x="6705600" y="3416300"/>
            <a:ext cx="2286000" cy="2286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grafanalib (Python)</a:t>
            </a:r>
          </a:p>
        </p:txBody>
      </p:sp>
      <p:sp>
        <p:nvSpPr>
          <p:cNvPr id="38" name="TextBox 37">
            <a:extLst>
              <a:ext uri="{FF2B5EF4-FFF2-40B4-BE49-F238E27FC236}">
                <a16:creationId xmlns:a16="http://schemas.microsoft.com/office/drawing/2014/main" id="{0473F11E-F3AA-485A-82B2-38470B5FD99C}"/>
              </a:ext>
            </a:extLst>
          </p:cNvPr>
          <p:cNvSpPr txBox="1"/>
          <p:nvPr/>
        </p:nvSpPr>
        <p:spPr>
          <a:xfrm>
            <a:off x="6705600" y="3657600"/>
            <a:ext cx="45720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Comfortable if your team already writes Python. Generates JSON in a build step.</a:t>
            </a:r>
          </a:p>
        </p:txBody>
      </p:sp>
      <p:sp>
        <p:nvSpPr>
          <p:cNvPr id="39" name="Rectangle: Rounded Corners 38">
            <a:extLst>
              <a:ext uri="{FF2B5EF4-FFF2-40B4-BE49-F238E27FC236}">
                <a16:creationId xmlns:a16="http://schemas.microsoft.com/office/drawing/2014/main" id="{0E0778FD-AB50-4BD1-9D46-B8E4190ADD35}"/>
              </a:ext>
            </a:extLst>
          </p:cNvPr>
          <p:cNvSpPr/>
          <p:nvPr/>
        </p:nvSpPr>
        <p:spPr>
          <a:xfrm>
            <a:off x="6477000" y="3987800"/>
            <a:ext cx="4953000" cy="5715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43006CE2-CCDD-4C46-BFAB-EB5B95E468DA}"/>
              </a:ext>
            </a:extLst>
          </p:cNvPr>
          <p:cNvSpPr/>
          <p:nvPr/>
        </p:nvSpPr>
        <p:spPr>
          <a:xfrm>
            <a:off x="6477000" y="3987800"/>
            <a:ext cx="50800" cy="5715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C01B14A8-2976-4AA9-BC22-E5BBB769D3CA}"/>
              </a:ext>
            </a:extLst>
          </p:cNvPr>
          <p:cNvSpPr txBox="1"/>
          <p:nvPr/>
        </p:nvSpPr>
        <p:spPr>
          <a:xfrm>
            <a:off x="6705600" y="4038600"/>
            <a:ext cx="2286000" cy="228600"/>
          </a:xfrm>
          <a:prstGeom prst="rect">
            <a:avLst/>
          </a:prstGeom>
          <a:noFill/>
        </p:spPr>
        <p:txBody>
          <a:bodyPr vertOverflow="overflow" vert="horz" wrap="square" rtlCol="0" anchor="t">
            <a:noAutofit/>
          </a:bodyPr>
          <a:lstStyle/>
          <a:p>
            <a:pPr algn="l"/>
            <a:r>
              <a:rPr lang="en-US" sz="1500" b="1">
                <a:solidFill>
                  <a:srgbClr val="B877D9"/>
                </a:solidFill>
                <a:latin typeface="Segoe UI"/>
                <a:cs typeface="Segoe UI"/>
              </a:rPr>
              <a:t>Foundation SDK</a:t>
            </a:r>
          </a:p>
        </p:txBody>
      </p:sp>
      <p:sp>
        <p:nvSpPr>
          <p:cNvPr id="42" name="TextBox 41">
            <a:extLst>
              <a:ext uri="{FF2B5EF4-FFF2-40B4-BE49-F238E27FC236}">
                <a16:creationId xmlns:a16="http://schemas.microsoft.com/office/drawing/2014/main" id="{FBBF595B-C1E9-4DA5-90A3-BD41E065A9FF}"/>
              </a:ext>
            </a:extLst>
          </p:cNvPr>
          <p:cNvSpPr txBox="1"/>
          <p:nvPr/>
        </p:nvSpPr>
        <p:spPr>
          <a:xfrm>
            <a:off x="6705600" y="4279900"/>
            <a:ext cx="4572000" cy="2286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Typed builders for Go, TypeScript and Python - the current direction of travel.</a:t>
            </a:r>
          </a:p>
        </p:txBody>
      </p:sp>
      <p:sp>
        <p:nvSpPr>
          <p:cNvPr id="43" name="Rectangle: Rounded Corners 42">
            <a:extLst>
              <a:ext uri="{FF2B5EF4-FFF2-40B4-BE49-F238E27FC236}">
                <a16:creationId xmlns:a16="http://schemas.microsoft.com/office/drawing/2014/main" id="{B7A97B1D-5E5F-46AB-AB0F-34C668D143F2}"/>
              </a:ext>
            </a:extLst>
          </p:cNvPr>
          <p:cNvSpPr/>
          <p:nvPr/>
        </p:nvSpPr>
        <p:spPr>
          <a:xfrm>
            <a:off x="6477000" y="4610100"/>
            <a:ext cx="4953000" cy="5715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Rectangle 43">
            <a:extLst>
              <a:ext uri="{FF2B5EF4-FFF2-40B4-BE49-F238E27FC236}">
                <a16:creationId xmlns:a16="http://schemas.microsoft.com/office/drawing/2014/main" id="{BEC967A0-CA3A-407A-A27D-362E41C09834}"/>
              </a:ext>
            </a:extLst>
          </p:cNvPr>
          <p:cNvSpPr/>
          <p:nvPr/>
        </p:nvSpPr>
        <p:spPr>
          <a:xfrm>
            <a:off x="6477000" y="4610100"/>
            <a:ext cx="50800" cy="571500"/>
          </a:xfrm>
          <a:prstGeom prst="rect">
            <a:avLst/>
          </a:prstGeom>
          <a:solidFill>
            <a:srgbClr val="FADE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TextBox 44">
            <a:extLst>
              <a:ext uri="{FF2B5EF4-FFF2-40B4-BE49-F238E27FC236}">
                <a16:creationId xmlns:a16="http://schemas.microsoft.com/office/drawing/2014/main" id="{EA69DF85-5EB7-454D-B73F-FE477A4D1E0E}"/>
              </a:ext>
            </a:extLst>
          </p:cNvPr>
          <p:cNvSpPr txBox="1"/>
          <p:nvPr/>
        </p:nvSpPr>
        <p:spPr>
          <a:xfrm>
            <a:off x="6705600" y="4660900"/>
            <a:ext cx="2286000" cy="228600"/>
          </a:xfrm>
          <a:prstGeom prst="rect">
            <a:avLst/>
          </a:prstGeom>
          <a:noFill/>
        </p:spPr>
        <p:txBody>
          <a:bodyPr vertOverflow="overflow" vert="horz" wrap="square" rtlCol="0" anchor="t">
            <a:noAutofit/>
          </a:bodyPr>
          <a:lstStyle/>
          <a:p>
            <a:pPr algn="l"/>
            <a:r>
              <a:rPr lang="en-US" sz="1500" b="1">
                <a:solidFill>
                  <a:srgbClr val="FADE2A"/>
                </a:solidFill>
                <a:latin typeface="Segoe UI"/>
                <a:cs typeface="Segoe UI"/>
              </a:rPr>
              <a:t>Terraform only</a:t>
            </a:r>
          </a:p>
        </p:txBody>
      </p:sp>
      <p:sp>
        <p:nvSpPr>
          <p:cNvPr id="46" name="TextBox 45">
            <a:extLst>
              <a:ext uri="{FF2B5EF4-FFF2-40B4-BE49-F238E27FC236}">
                <a16:creationId xmlns:a16="http://schemas.microsoft.com/office/drawing/2014/main" id="{0C235947-398E-4B61-AD0B-F1C7455E0FE4}"/>
              </a:ext>
            </a:extLst>
          </p:cNvPr>
          <p:cNvSpPr txBox="1"/>
          <p:nvPr/>
        </p:nvSpPr>
        <p:spPr>
          <a:xfrm>
            <a:off x="6705600" y="4902200"/>
            <a:ext cx="45720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No generator: keep hand-written JSON in the repo and let Terraform push it.</a:t>
            </a:r>
          </a:p>
        </p:txBody>
      </p:sp>
      <p:sp>
        <p:nvSpPr>
          <p:cNvPr id="47" name="Rectangle: Rounded Corners 46">
            <a:extLst>
              <a:ext uri="{FF2B5EF4-FFF2-40B4-BE49-F238E27FC236}">
                <a16:creationId xmlns:a16="http://schemas.microsoft.com/office/drawing/2014/main" id="{53DD5E71-3D97-43B6-97AA-FD44AF45092E}"/>
              </a:ext>
            </a:extLst>
          </p:cNvPr>
          <p:cNvSpPr/>
          <p:nvPr/>
        </p:nvSpPr>
        <p:spPr>
          <a:xfrm>
            <a:off x="762000" y="5334000"/>
            <a:ext cx="10668000" cy="889000"/>
          </a:xfrm>
          <a:prstGeom prst="roundRect">
            <a:avLst/>
          </a:prstGeom>
          <a:solidFill>
            <a:srgbClr val="181B1F"/>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TextBox 47">
            <a:extLst>
              <a:ext uri="{FF2B5EF4-FFF2-40B4-BE49-F238E27FC236}">
                <a16:creationId xmlns:a16="http://schemas.microsoft.com/office/drawing/2014/main" id="{B22BD853-9260-4BD3-9EBF-9ABBEAA90E45}"/>
              </a:ext>
            </a:extLst>
          </p:cNvPr>
          <p:cNvSpPr txBox="1"/>
          <p:nvPr/>
        </p:nvSpPr>
        <p:spPr>
          <a:xfrm>
            <a:off x="1016000" y="5461000"/>
            <a:ext cx="5080000" cy="254000"/>
          </a:xfrm>
          <a:prstGeom prst="rect">
            <a:avLst/>
          </a:prstGeom>
          <a:noFill/>
        </p:spPr>
        <p:txBody>
          <a:bodyPr vertOverflow="overflow" vert="horz" wrap="square" rtlCol="0" anchor="t">
            <a:noAutofit/>
          </a:bodyPr>
          <a:lstStyle/>
          <a:p>
            <a:pPr algn="l"/>
            <a:r>
              <a:rPr lang="en-US" sz="1600" b="1">
                <a:solidFill>
                  <a:srgbClr val="6E9FFF"/>
                </a:solidFill>
                <a:latin typeface="Segoe UI"/>
                <a:cs typeface="Segoe UI"/>
              </a:rPr>
              <a:t>Where to start on Monday</a:t>
            </a:r>
          </a:p>
        </p:txBody>
      </p:sp>
      <p:sp>
        <p:nvSpPr>
          <p:cNvPr id="49" name="TextBox 48">
            <a:extLst>
              <a:ext uri="{FF2B5EF4-FFF2-40B4-BE49-F238E27FC236}">
                <a16:creationId xmlns:a16="http://schemas.microsoft.com/office/drawing/2014/main" id="{53AA09CE-A745-4AA2-ABFC-ED3C9B90B35E}"/>
              </a:ext>
            </a:extLst>
          </p:cNvPr>
          <p:cNvSpPr txBox="1"/>
          <p:nvPr/>
        </p:nvSpPr>
        <p:spPr>
          <a:xfrm>
            <a:off x="1016000" y="5765800"/>
            <a:ext cx="10160000" cy="406400"/>
          </a:xfrm>
          <a:prstGeom prst="rect">
            <a:avLst/>
          </a:prstGeom>
          <a:noFill/>
        </p:spPr>
        <p:txBody>
          <a:bodyPr vertOverflow="overflow" vert="horz" wrap="square" rtlCol="0" anchor="t">
            <a:noAutofit/>
          </a:bodyPr>
          <a:lstStyle/>
          <a:p>
            <a:pPr algn="l"/>
            <a:r>
              <a:rPr lang="en-US" sz="1500" dirty="0">
                <a:solidFill>
                  <a:srgbClr val="D2D6DB"/>
                </a:solidFill>
                <a:latin typeface="Segoe UI"/>
                <a:cs typeface="Segoe UI"/>
              </a:rPr>
              <a:t>Do not rewrite everything in </a:t>
            </a:r>
            <a:r>
              <a:rPr lang="en-US" sz="1500" dirty="0" err="1">
                <a:solidFill>
                  <a:srgbClr val="D2D6DB"/>
                </a:solidFill>
                <a:latin typeface="Segoe UI"/>
                <a:cs typeface="Segoe UI"/>
              </a:rPr>
              <a:t>Jsonnet</a:t>
            </a:r>
            <a:r>
              <a:rPr lang="en-US" sz="1500" dirty="0">
                <a:solidFill>
                  <a:srgbClr val="D2D6DB"/>
                </a:solidFill>
                <a:latin typeface="Segoe UI"/>
                <a:cs typeface="Segoe UI"/>
              </a:rPr>
              <a:t>. Commit the JSON you already have, put it behind a provider file, add a CI job that rejects invalid JSON - then reach for a generator only when you find yourself copy-pasting dashboards.</a:t>
            </a:r>
          </a:p>
        </p:txBody>
      </p:sp>
    </p:spTree>
    <p:extLst>
      <p:ext uri="{BB962C8B-B14F-4D97-AF65-F5344CB8AC3E}">
        <p14:creationId xmlns:p14="http://schemas.microsoft.com/office/powerpoint/2010/main" val="653226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2084-77CA-7FF4-9FF8-DA04F954B7E3}"/>
              </a:ext>
            </a:extLst>
          </p:cNvPr>
          <p:cNvSpPr>
            <a:spLocks noGrp="1"/>
          </p:cNvSpPr>
          <p:nvPr>
            <p:ph type="title"/>
          </p:nvPr>
        </p:nvSpPr>
        <p:spPr>
          <a:xfrm>
            <a:off x="762000" y="406400"/>
            <a:ext cx="10668000" cy="533400"/>
          </a:xfrm>
        </p:spPr>
        <p:txBody>
          <a:bodyPr>
            <a:normAutofit/>
          </a:bodyPr>
          <a:lstStyle/>
          <a:p>
            <a:r>
              <a:rPr lang="en-US" sz="3000" b="1"/>
              <a:t>Folder Provisioning &amp; Trade-offs</a:t>
            </a:r>
          </a:p>
        </p:txBody>
      </p:sp>
      <p:sp>
        <p:nvSpPr>
          <p:cNvPr id="3" name="Rectangle 2">
            <a:extLst>
              <a:ext uri="{FF2B5EF4-FFF2-40B4-BE49-F238E27FC236}">
                <a16:creationId xmlns:a16="http://schemas.microsoft.com/office/drawing/2014/main" id="{1BDF08D9-43A8-40C2-91E4-85BB8FFB14A6}"/>
              </a:ext>
            </a:extLst>
          </p:cNvPr>
          <p:cNvSpPr/>
          <p:nvPr/>
        </p:nvSpPr>
        <p:spPr>
          <a:xfrm>
            <a:off x="762000" y="1016000"/>
            <a:ext cx="889000" cy="381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37A7A760-E686-472B-A187-895CE3C73070}"/>
              </a:ext>
            </a:extLst>
          </p:cNvPr>
          <p:cNvSpPr txBox="1"/>
          <p:nvPr/>
        </p:nvSpPr>
        <p:spPr>
          <a:xfrm>
            <a:off x="762000" y="1143000"/>
            <a:ext cx="9652000" cy="279400"/>
          </a:xfrm>
          <a:prstGeom prst="rect">
            <a:avLst/>
          </a:prstGeom>
          <a:noFill/>
        </p:spPr>
        <p:txBody>
          <a:bodyPr vertOverflow="overflow" vert="horz" wrap="square" rtlCol="0" anchor="t">
            <a:noAutofit/>
          </a:bodyPr>
          <a:lstStyle/>
          <a:p>
            <a:pPr algn="l"/>
            <a:r>
              <a:rPr lang="en-US" sz="1500" dirty="0">
                <a:solidFill>
                  <a:srgbClr val="A8B0BA"/>
                </a:solidFill>
                <a:latin typeface="Segoe UI"/>
                <a:cs typeface="Segoe UI"/>
              </a:rPr>
              <a:t>Directory layout on disk becomes folder layout in Grafana - one setting does it.</a:t>
            </a:r>
          </a:p>
        </p:txBody>
      </p:sp>
      <p:sp>
        <p:nvSpPr>
          <p:cNvPr id="5" name="Rectangle: Rounded Corners 4">
            <a:extLst>
              <a:ext uri="{FF2B5EF4-FFF2-40B4-BE49-F238E27FC236}">
                <a16:creationId xmlns:a16="http://schemas.microsoft.com/office/drawing/2014/main" id="{95CCB8BD-1703-4429-8CC7-C2F7B6FB188D}"/>
              </a:ext>
            </a:extLst>
          </p:cNvPr>
          <p:cNvSpPr/>
          <p:nvPr/>
        </p:nvSpPr>
        <p:spPr>
          <a:xfrm>
            <a:off x="762000" y="1498600"/>
            <a:ext cx="10668000" cy="24892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665EBCBE-3C07-4783-A140-134684141E45}"/>
              </a:ext>
            </a:extLst>
          </p:cNvPr>
          <p:cNvSpPr txBox="1"/>
          <p:nvPr/>
        </p:nvSpPr>
        <p:spPr>
          <a:xfrm>
            <a:off x="1016000" y="1651000"/>
            <a:ext cx="53340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foldersFromFilesStructure: true</a:t>
            </a:r>
          </a:p>
        </p:txBody>
      </p:sp>
      <p:sp>
        <p:nvSpPr>
          <p:cNvPr id="7" name="TextBox 6">
            <a:extLst>
              <a:ext uri="{FF2B5EF4-FFF2-40B4-BE49-F238E27FC236}">
                <a16:creationId xmlns:a16="http://schemas.microsoft.com/office/drawing/2014/main" id="{32D30703-66FF-4A5A-8149-76A668F02C33}"/>
              </a:ext>
            </a:extLst>
          </p:cNvPr>
          <p:cNvSpPr txBox="1"/>
          <p:nvPr/>
        </p:nvSpPr>
        <p:spPr>
          <a:xfrm>
            <a:off x="1016000" y="2006600"/>
            <a:ext cx="2540000" cy="228600"/>
          </a:xfrm>
          <a:prstGeom prst="rect">
            <a:avLst/>
          </a:prstGeom>
          <a:noFill/>
        </p:spPr>
        <p:txBody>
          <a:bodyPr vertOverflow="overflow" vert="horz" wrap="square" rtlCol="0" anchor="t">
            <a:noAutofit/>
          </a:bodyPr>
          <a:lstStyle/>
          <a:p>
            <a:pPr algn="l"/>
            <a:r>
              <a:rPr lang="en-US" sz="1400" b="1">
                <a:solidFill>
                  <a:srgbClr val="8A929C"/>
                </a:solidFill>
                <a:latin typeface="Segoe UI"/>
                <a:cs typeface="Segoe UI"/>
              </a:rPr>
              <a:t>On disk</a:t>
            </a:r>
          </a:p>
        </p:txBody>
      </p:sp>
      <p:sp>
        <p:nvSpPr>
          <p:cNvPr id="8" name="TextBox 7">
            <a:extLst>
              <a:ext uri="{FF2B5EF4-FFF2-40B4-BE49-F238E27FC236}">
                <a16:creationId xmlns:a16="http://schemas.microsoft.com/office/drawing/2014/main" id="{4D14B97A-5461-4C9A-849A-0D5EEA97A1F5}"/>
              </a:ext>
            </a:extLst>
          </p:cNvPr>
          <p:cNvSpPr txBox="1"/>
          <p:nvPr/>
        </p:nvSpPr>
        <p:spPr>
          <a:xfrm>
            <a:off x="1016000" y="2286000"/>
            <a:ext cx="4826000" cy="1524000"/>
          </a:xfrm>
          <a:prstGeom prst="rect">
            <a:avLst/>
          </a:prstGeom>
          <a:noFill/>
        </p:spPr>
        <p:txBody>
          <a:bodyPr vertOverflow="overflow" vert="horz" wrap="none" rtlCol="0" anchor="t">
            <a:noAutofit/>
          </a:bodyPr>
          <a:lstStyle/>
          <a:p>
            <a:pPr algn="l"/>
            <a:r>
              <a:rPr lang="en-US" sz="1400">
                <a:solidFill>
                  <a:srgbClr val="C8CDD4"/>
                </a:solidFill>
                <a:latin typeface="Consolas"/>
              </a:rPr>
              <a:t>/var/lib/grafana/dashboards/
├── platform/
│   ├── node-health.json
│   └── k8s-overview.json
└── payments/
    ├── latency-slo.json
    └── error-budget.json</a:t>
            </a:r>
          </a:p>
        </p:txBody>
      </p:sp>
      <p:sp>
        <p:nvSpPr>
          <p:cNvPr id="9" name="Arrow: Right 8">
            <a:extLst>
              <a:ext uri="{FF2B5EF4-FFF2-40B4-BE49-F238E27FC236}">
                <a16:creationId xmlns:a16="http://schemas.microsoft.com/office/drawing/2014/main" id="{AED0002E-5006-483E-B8C2-3D9F54772EC7}"/>
              </a:ext>
            </a:extLst>
          </p:cNvPr>
          <p:cNvSpPr/>
          <p:nvPr/>
        </p:nvSpPr>
        <p:spPr>
          <a:xfrm>
            <a:off x="6019800" y="2819400"/>
            <a:ext cx="457200" cy="279400"/>
          </a:xfrm>
          <a:prstGeom prst="rightArrow">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65FFB408-DA25-4ABA-A6FC-2CBFCA44705D}"/>
              </a:ext>
            </a:extLst>
          </p:cNvPr>
          <p:cNvSpPr txBox="1"/>
          <p:nvPr/>
        </p:nvSpPr>
        <p:spPr>
          <a:xfrm>
            <a:off x="6731000" y="2006600"/>
            <a:ext cx="2540000" cy="228600"/>
          </a:xfrm>
          <a:prstGeom prst="rect">
            <a:avLst/>
          </a:prstGeom>
          <a:noFill/>
        </p:spPr>
        <p:txBody>
          <a:bodyPr vertOverflow="overflow" vert="horz" wrap="square" rtlCol="0" anchor="t">
            <a:noAutofit/>
          </a:bodyPr>
          <a:lstStyle/>
          <a:p>
            <a:pPr algn="l"/>
            <a:r>
              <a:rPr lang="en-US" sz="1400" b="1">
                <a:solidFill>
                  <a:srgbClr val="8A929C"/>
                </a:solidFill>
                <a:latin typeface="Segoe UI"/>
                <a:cs typeface="Segoe UI"/>
              </a:rPr>
              <a:t>In Grafana</a:t>
            </a:r>
          </a:p>
        </p:txBody>
      </p:sp>
      <p:sp>
        <p:nvSpPr>
          <p:cNvPr id="11" name="TextBox 10">
            <a:extLst>
              <a:ext uri="{FF2B5EF4-FFF2-40B4-BE49-F238E27FC236}">
                <a16:creationId xmlns:a16="http://schemas.microsoft.com/office/drawing/2014/main" id="{114D5626-8928-47D1-B3F1-27E7081B0E45}"/>
              </a:ext>
            </a:extLst>
          </p:cNvPr>
          <p:cNvSpPr txBox="1"/>
          <p:nvPr/>
        </p:nvSpPr>
        <p:spPr>
          <a:xfrm>
            <a:off x="6731000" y="2286000"/>
            <a:ext cx="4318000" cy="1524000"/>
          </a:xfrm>
          <a:prstGeom prst="rect">
            <a:avLst/>
          </a:prstGeom>
          <a:noFill/>
        </p:spPr>
        <p:txBody>
          <a:bodyPr vertOverflow="overflow" vert="horz" wrap="none" rtlCol="0" anchor="t">
            <a:noAutofit/>
          </a:bodyPr>
          <a:lstStyle/>
          <a:p>
            <a:pPr algn="l"/>
            <a:r>
              <a:rPr lang="en-US" sz="1400">
                <a:solidFill>
                  <a:srgbClr val="B4BCC6"/>
                </a:solidFill>
                <a:latin typeface="Consolas"/>
              </a:rPr>
              <a:t>Dashboards
├── Platform
│   ├── Node Health
│   └── K8s Overview
└── Payments
    ├── Latency SLO
    └── Error Budget</a:t>
            </a:r>
          </a:p>
        </p:txBody>
      </p:sp>
      <p:sp>
        <p:nvSpPr>
          <p:cNvPr id="12" name="Rectangle: Rounded Corners 11">
            <a:extLst>
              <a:ext uri="{FF2B5EF4-FFF2-40B4-BE49-F238E27FC236}">
                <a16:creationId xmlns:a16="http://schemas.microsoft.com/office/drawing/2014/main" id="{8CF38FDE-19FD-48AC-8616-1D65BB4BBCA4}"/>
              </a:ext>
            </a:extLst>
          </p:cNvPr>
          <p:cNvSpPr/>
          <p:nvPr/>
        </p:nvSpPr>
        <p:spPr>
          <a:xfrm>
            <a:off x="762000" y="4165600"/>
            <a:ext cx="5207000" cy="20574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F59C0718-B83E-48B8-812C-3A1E7E203D52}"/>
              </a:ext>
            </a:extLst>
          </p:cNvPr>
          <p:cNvSpPr txBox="1"/>
          <p:nvPr/>
        </p:nvSpPr>
        <p:spPr>
          <a:xfrm>
            <a:off x="1016000" y="4318000"/>
            <a:ext cx="3810000" cy="254000"/>
          </a:xfrm>
          <a:prstGeom prst="rect">
            <a:avLst/>
          </a:prstGeom>
          <a:noFill/>
        </p:spPr>
        <p:txBody>
          <a:bodyPr vertOverflow="overflow" vert="horz" wrap="square" rtlCol="0" anchor="t">
            <a:noAutofit/>
          </a:bodyPr>
          <a:lstStyle/>
          <a:p>
            <a:pPr algn="l"/>
            <a:r>
              <a:rPr lang="en-US" sz="1700" b="1">
                <a:solidFill>
                  <a:srgbClr val="73BF69"/>
                </a:solidFill>
                <a:latin typeface="Segoe UI"/>
                <a:cs typeface="Segoe UI"/>
              </a:rPr>
              <a:t>What you gain</a:t>
            </a:r>
          </a:p>
        </p:txBody>
      </p:sp>
      <p:sp>
        <p:nvSpPr>
          <p:cNvPr id="14" name="TextBox 13">
            <a:extLst>
              <a:ext uri="{FF2B5EF4-FFF2-40B4-BE49-F238E27FC236}">
                <a16:creationId xmlns:a16="http://schemas.microsoft.com/office/drawing/2014/main" id="{23542CEA-C131-4CB6-9A88-CDBC9DB31E7B}"/>
              </a:ext>
            </a:extLst>
          </p:cNvPr>
          <p:cNvSpPr txBox="1"/>
          <p:nvPr/>
        </p:nvSpPr>
        <p:spPr>
          <a:xfrm>
            <a:off x="1016000" y="4648200"/>
            <a:ext cx="4699000" cy="1422400"/>
          </a:xfrm>
          <a:prstGeom prst="rect">
            <a:avLst/>
          </a:prstGeom>
          <a:noFill/>
        </p:spPr>
        <p:txBody>
          <a:bodyPr vertOverflow="overflow" vert="horz" wrap="square" rtlCol="0" anchor="t">
            <a:noAutofit/>
          </a:bodyPr>
          <a:lstStyle/>
          <a:p>
            <a:pPr algn="l"/>
            <a:r>
              <a:rPr lang="en-US" sz="1500">
                <a:solidFill>
                  <a:srgbClr val="B4BCC6"/>
                </a:solidFill>
                <a:latin typeface="Segoe UI"/>
                <a:cs typeface="Segoe UI"/>
              </a:rPr>
              <a:t>•  Every change arrives through a pull request
•  Dev, stage and prod are byte-identical
•  Disaster recovery is a container restart
•  A deleted dashboard comes back on the next scan
•  New environment, zero clicking</a:t>
            </a:r>
          </a:p>
        </p:txBody>
      </p:sp>
      <p:sp>
        <p:nvSpPr>
          <p:cNvPr id="15" name="Rectangle: Rounded Corners 14">
            <a:extLst>
              <a:ext uri="{FF2B5EF4-FFF2-40B4-BE49-F238E27FC236}">
                <a16:creationId xmlns:a16="http://schemas.microsoft.com/office/drawing/2014/main" id="{A4A15086-E553-4CEC-BEB0-5F6D4AC6867E}"/>
              </a:ext>
            </a:extLst>
          </p:cNvPr>
          <p:cNvSpPr/>
          <p:nvPr/>
        </p:nvSpPr>
        <p:spPr>
          <a:xfrm>
            <a:off x="6223000" y="4165600"/>
            <a:ext cx="5207000" cy="2057400"/>
          </a:xfrm>
          <a:prstGeom prst="roundRect">
            <a:avLst/>
          </a:prstGeom>
          <a:solidFill>
            <a:srgbClr val="1B1E24"/>
          </a:solidFill>
          <a:ln w="15875" cap="flat" cmpd="sng" algn="ctr">
            <a:solidFill>
              <a:srgbClr val="F249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8FA8D795-D5E1-4216-ABA0-C5AD62CCF269}"/>
              </a:ext>
            </a:extLst>
          </p:cNvPr>
          <p:cNvSpPr txBox="1"/>
          <p:nvPr/>
        </p:nvSpPr>
        <p:spPr>
          <a:xfrm>
            <a:off x="6477000" y="4318000"/>
            <a:ext cx="3810000" cy="254000"/>
          </a:xfrm>
          <a:prstGeom prst="rect">
            <a:avLst/>
          </a:prstGeom>
          <a:noFill/>
        </p:spPr>
        <p:txBody>
          <a:bodyPr vertOverflow="overflow" vert="horz" wrap="square" rtlCol="0" anchor="t">
            <a:noAutofit/>
          </a:bodyPr>
          <a:lstStyle/>
          <a:p>
            <a:pPr algn="l"/>
            <a:r>
              <a:rPr lang="en-US" sz="1700" b="1">
                <a:solidFill>
                  <a:srgbClr val="F2495C"/>
                </a:solidFill>
                <a:latin typeface="Segoe UI"/>
                <a:cs typeface="Segoe UI"/>
              </a:rPr>
              <a:t>What you give up</a:t>
            </a:r>
          </a:p>
        </p:txBody>
      </p:sp>
      <p:sp>
        <p:nvSpPr>
          <p:cNvPr id="17" name="TextBox 16">
            <a:extLst>
              <a:ext uri="{FF2B5EF4-FFF2-40B4-BE49-F238E27FC236}">
                <a16:creationId xmlns:a16="http://schemas.microsoft.com/office/drawing/2014/main" id="{B6F94A3B-BDF3-4C31-953F-A80DB7D6E972}"/>
              </a:ext>
            </a:extLst>
          </p:cNvPr>
          <p:cNvSpPr txBox="1"/>
          <p:nvPr/>
        </p:nvSpPr>
        <p:spPr>
          <a:xfrm>
            <a:off x="6477000" y="4648200"/>
            <a:ext cx="4699000" cy="1422400"/>
          </a:xfrm>
          <a:prstGeom prst="rect">
            <a:avLst/>
          </a:prstGeom>
          <a:noFill/>
        </p:spPr>
        <p:txBody>
          <a:bodyPr vertOverflow="overflow" vert="horz" wrap="square" rtlCol="0" anchor="t">
            <a:noAutofit/>
          </a:bodyPr>
          <a:lstStyle/>
          <a:p>
            <a:pPr algn="l"/>
            <a:r>
              <a:rPr lang="en-US" sz="1500">
                <a:solidFill>
                  <a:srgbClr val="B4BCC6"/>
                </a:solidFill>
                <a:latin typeface="Segoe UI"/>
                <a:cs typeface="Segoe UI"/>
              </a:rPr>
              <a:t>•  Editors cannot save changes in the UI
•  Folder permissions still need API or Terraform
•  Secrets must come from env vars, not the file
•  Alert rules need their own provisioner
•  "Quick fix in prod" is no longer possible</a:t>
            </a:r>
          </a:p>
        </p:txBody>
      </p:sp>
    </p:spTree>
    <p:extLst>
      <p:ext uri="{BB962C8B-B14F-4D97-AF65-F5344CB8AC3E}">
        <p14:creationId xmlns:p14="http://schemas.microsoft.com/office/powerpoint/2010/main" val="2848963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B3DA5-9127-BB4A-D627-ABFE8AF86DC8}"/>
              </a:ext>
            </a:extLst>
          </p:cNvPr>
          <p:cNvSpPr>
            <a:spLocks noGrp="1"/>
          </p:cNvSpPr>
          <p:nvPr>
            <p:ph type="title"/>
          </p:nvPr>
        </p:nvSpPr>
        <p:spPr>
          <a:xfrm>
            <a:off x="2159000" y="406400"/>
            <a:ext cx="9271000" cy="533400"/>
          </a:xfrm>
        </p:spPr>
        <p:txBody>
          <a:bodyPr>
            <a:normAutofit/>
          </a:bodyPr>
          <a:lstStyle/>
          <a:p>
            <a:r>
              <a:rPr lang="en-US" sz="3000" b="1"/>
              <a:t>Provision Everything From Files</a:t>
            </a:r>
          </a:p>
        </p:txBody>
      </p:sp>
      <p:sp>
        <p:nvSpPr>
          <p:cNvPr id="3" name="Rectangle 2">
            <a:extLst>
              <a:ext uri="{FF2B5EF4-FFF2-40B4-BE49-F238E27FC236}">
                <a16:creationId xmlns:a16="http://schemas.microsoft.com/office/drawing/2014/main" id="{81E04522-6907-4663-9003-055145503FFC}"/>
              </a:ext>
            </a:extLst>
          </p:cNvPr>
          <p:cNvSpPr/>
          <p:nvPr/>
        </p:nvSpPr>
        <p:spPr>
          <a:xfrm>
            <a:off x="0" y="0"/>
            <a:ext cx="101600" cy="68580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Rounded Corners 3">
            <a:extLst>
              <a:ext uri="{FF2B5EF4-FFF2-40B4-BE49-F238E27FC236}">
                <a16:creationId xmlns:a16="http://schemas.microsoft.com/office/drawing/2014/main" id="{30857ADB-5AE3-4804-B30D-F07FC3628FA5}"/>
              </a:ext>
            </a:extLst>
          </p:cNvPr>
          <p:cNvSpPr/>
          <p:nvPr/>
        </p:nvSpPr>
        <p:spPr>
          <a:xfrm>
            <a:off x="762000" y="406400"/>
            <a:ext cx="1219200" cy="5334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000" b="1">
                <a:solidFill>
                  <a:srgbClr val="6E9FFF"/>
                </a:solidFill>
                <a:latin typeface="Segoe UI"/>
                <a:cs typeface="Segoe UI"/>
              </a:rPr>
              <a:t>LAB 2</a:t>
            </a:r>
          </a:p>
        </p:txBody>
      </p:sp>
      <p:sp>
        <p:nvSpPr>
          <p:cNvPr id="5" name="TextBox 4">
            <a:extLst>
              <a:ext uri="{FF2B5EF4-FFF2-40B4-BE49-F238E27FC236}">
                <a16:creationId xmlns:a16="http://schemas.microsoft.com/office/drawing/2014/main" id="{ABAC0FEB-6E6B-49FC-AD8E-54EDD5BBDC08}"/>
              </a:ext>
            </a:extLst>
          </p:cNvPr>
          <p:cNvSpPr txBox="1"/>
          <p:nvPr/>
        </p:nvSpPr>
        <p:spPr>
          <a:xfrm>
            <a:off x="2159000" y="990600"/>
            <a:ext cx="7620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20 minutes  ·  Module 18  ·  keep docker compose logs -f open</a:t>
            </a:r>
          </a:p>
        </p:txBody>
      </p:sp>
      <p:sp>
        <p:nvSpPr>
          <p:cNvPr id="6" name="Rectangle: Rounded Corners 5">
            <a:extLst>
              <a:ext uri="{FF2B5EF4-FFF2-40B4-BE49-F238E27FC236}">
                <a16:creationId xmlns:a16="http://schemas.microsoft.com/office/drawing/2014/main" id="{99876C67-886C-408F-9442-25D5D2FF39C4}"/>
              </a:ext>
            </a:extLst>
          </p:cNvPr>
          <p:cNvSpPr/>
          <p:nvPr/>
        </p:nvSpPr>
        <p:spPr>
          <a:xfrm>
            <a:off x="762000" y="1422400"/>
            <a:ext cx="6604000" cy="41402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96C830E6-1A92-4ED1-B919-D436FD64514E}"/>
              </a:ext>
            </a:extLst>
          </p:cNvPr>
          <p:cNvSpPr txBox="1"/>
          <p:nvPr/>
        </p:nvSpPr>
        <p:spPr>
          <a:xfrm>
            <a:off x="1016000" y="1549400"/>
            <a:ext cx="2540000" cy="279400"/>
          </a:xfrm>
          <a:prstGeom prst="rect">
            <a:avLst/>
          </a:prstGeom>
          <a:noFill/>
        </p:spPr>
        <p:txBody>
          <a:bodyPr vertOverflow="overflow" vert="horz" wrap="square" rtlCol="0" anchor="t">
            <a:noAutofit/>
          </a:bodyPr>
          <a:lstStyle/>
          <a:p>
            <a:pPr algn="l"/>
            <a:r>
              <a:rPr lang="en-US" sz="1700" b="1">
                <a:solidFill>
                  <a:srgbClr val="FFFFFF"/>
                </a:solidFill>
                <a:latin typeface="Segoe UI"/>
                <a:cs typeface="Segoe UI"/>
              </a:rPr>
              <a:t>Steps</a:t>
            </a:r>
          </a:p>
        </p:txBody>
      </p:sp>
      <p:sp>
        <p:nvSpPr>
          <p:cNvPr id="8" name="Rectangle: Rounded Corners 7">
            <a:extLst>
              <a:ext uri="{FF2B5EF4-FFF2-40B4-BE49-F238E27FC236}">
                <a16:creationId xmlns:a16="http://schemas.microsoft.com/office/drawing/2014/main" id="{95CC1DF7-4755-4B7B-BF56-2EC5248ABD3D}"/>
              </a:ext>
            </a:extLst>
          </p:cNvPr>
          <p:cNvSpPr/>
          <p:nvPr/>
        </p:nvSpPr>
        <p:spPr>
          <a:xfrm>
            <a:off x="1016000" y="1930400"/>
            <a:ext cx="355600" cy="3302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6E9FFF"/>
                </a:solidFill>
                <a:latin typeface="Segoe UI"/>
                <a:cs typeface="Segoe UI"/>
              </a:rPr>
              <a:t>1</a:t>
            </a:r>
          </a:p>
        </p:txBody>
      </p:sp>
      <p:sp>
        <p:nvSpPr>
          <p:cNvPr id="9" name="TextBox 8">
            <a:extLst>
              <a:ext uri="{FF2B5EF4-FFF2-40B4-BE49-F238E27FC236}">
                <a16:creationId xmlns:a16="http://schemas.microsoft.com/office/drawing/2014/main" id="{5B8ACE18-6EFE-4DAE-B236-CCF6A9AA5F83}"/>
              </a:ext>
            </a:extLst>
          </p:cNvPr>
          <p:cNvSpPr txBox="1"/>
          <p:nvPr/>
        </p:nvSpPr>
        <p:spPr>
          <a:xfrm>
            <a:off x="1524000" y="1955800"/>
            <a:ext cx="5588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Build the tree: provisioning/datasources, provisioning/dashboards, dashboards/platform, dashboards/payments.</a:t>
            </a:r>
          </a:p>
        </p:txBody>
      </p:sp>
      <p:sp>
        <p:nvSpPr>
          <p:cNvPr id="10" name="Rectangle: Rounded Corners 9">
            <a:extLst>
              <a:ext uri="{FF2B5EF4-FFF2-40B4-BE49-F238E27FC236}">
                <a16:creationId xmlns:a16="http://schemas.microsoft.com/office/drawing/2014/main" id="{214BA17C-AF4D-4E34-90C0-AC404CC81232}"/>
              </a:ext>
            </a:extLst>
          </p:cNvPr>
          <p:cNvSpPr/>
          <p:nvPr/>
        </p:nvSpPr>
        <p:spPr>
          <a:xfrm>
            <a:off x="1016000" y="2514600"/>
            <a:ext cx="355600" cy="3302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6E9FFF"/>
                </a:solidFill>
                <a:latin typeface="Segoe UI"/>
                <a:cs typeface="Segoe UI"/>
              </a:rPr>
              <a:t>2</a:t>
            </a:r>
          </a:p>
        </p:txBody>
      </p:sp>
      <p:sp>
        <p:nvSpPr>
          <p:cNvPr id="11" name="TextBox 10">
            <a:extLst>
              <a:ext uri="{FF2B5EF4-FFF2-40B4-BE49-F238E27FC236}">
                <a16:creationId xmlns:a16="http://schemas.microsoft.com/office/drawing/2014/main" id="{228DE297-A4AE-41B1-9352-59CDCFD1027D}"/>
              </a:ext>
            </a:extLst>
          </p:cNvPr>
          <p:cNvSpPr txBox="1"/>
          <p:nvPr/>
        </p:nvSpPr>
        <p:spPr>
          <a:xfrm>
            <a:off x="1524000" y="2540000"/>
            <a:ext cx="5588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Write prom.yaml with uid prom-lab2, and ops.yaml with foldersFromFilesStructure: true.</a:t>
            </a:r>
          </a:p>
        </p:txBody>
      </p:sp>
      <p:sp>
        <p:nvSpPr>
          <p:cNvPr id="12" name="Rectangle: Rounded Corners 11">
            <a:extLst>
              <a:ext uri="{FF2B5EF4-FFF2-40B4-BE49-F238E27FC236}">
                <a16:creationId xmlns:a16="http://schemas.microsoft.com/office/drawing/2014/main" id="{54B11620-9B29-4DE8-BD2E-43EB358D4DC5}"/>
              </a:ext>
            </a:extLst>
          </p:cNvPr>
          <p:cNvSpPr/>
          <p:nvPr/>
        </p:nvSpPr>
        <p:spPr>
          <a:xfrm>
            <a:off x="1016000" y="3098800"/>
            <a:ext cx="355600" cy="3302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6E9FFF"/>
                </a:solidFill>
                <a:latin typeface="Segoe UI"/>
                <a:cs typeface="Segoe UI"/>
              </a:rPr>
              <a:t>3</a:t>
            </a:r>
          </a:p>
        </p:txBody>
      </p:sp>
      <p:sp>
        <p:nvSpPr>
          <p:cNvPr id="13" name="TextBox 12">
            <a:extLst>
              <a:ext uri="{FF2B5EF4-FFF2-40B4-BE49-F238E27FC236}">
                <a16:creationId xmlns:a16="http://schemas.microsoft.com/office/drawing/2014/main" id="{651CB3AF-E7A5-4C3F-AD2E-CE0CF0DA7AE0}"/>
              </a:ext>
            </a:extLst>
          </p:cNvPr>
          <p:cNvSpPr txBox="1"/>
          <p:nvPr/>
        </p:nvSpPr>
        <p:spPr>
          <a:xfrm>
            <a:off x="1524000" y="3124200"/>
            <a:ext cx="5588000" cy="558800"/>
          </a:xfrm>
          <a:prstGeom prst="rect">
            <a:avLst/>
          </a:prstGeom>
          <a:noFill/>
        </p:spPr>
        <p:txBody>
          <a:bodyPr vertOverflow="overflow" vert="horz" wrap="square" rtlCol="0" anchor="t">
            <a:noAutofit/>
          </a:bodyPr>
          <a:lstStyle/>
          <a:p>
            <a:pPr algn="l"/>
            <a:r>
              <a:rPr lang="en-US" sz="1500" dirty="0">
                <a:solidFill>
                  <a:srgbClr val="D2D6DB"/>
                </a:solidFill>
                <a:latin typeface="Segoe UI"/>
                <a:cs typeface="Segoe UI"/>
              </a:rPr>
              <a:t>Drop one dashboard JSON into each service directory - set </a:t>
            </a:r>
            <a:r>
              <a:rPr lang="en-US" sz="1500" dirty="0" err="1">
                <a:solidFill>
                  <a:srgbClr val="D2D6DB"/>
                </a:solidFill>
                <a:latin typeface="Segoe UI"/>
                <a:cs typeface="Segoe UI"/>
              </a:rPr>
              <a:t>uid</a:t>
            </a:r>
            <a:r>
              <a:rPr lang="en-US" sz="1500" dirty="0">
                <a:solidFill>
                  <a:srgbClr val="D2D6DB"/>
                </a:solidFill>
                <a:latin typeface="Segoe UI"/>
                <a:cs typeface="Segoe UI"/>
              </a:rPr>
              <a:t>, and id: null.</a:t>
            </a:r>
          </a:p>
        </p:txBody>
      </p:sp>
      <p:sp>
        <p:nvSpPr>
          <p:cNvPr id="14" name="Rectangle: Rounded Corners 13">
            <a:extLst>
              <a:ext uri="{FF2B5EF4-FFF2-40B4-BE49-F238E27FC236}">
                <a16:creationId xmlns:a16="http://schemas.microsoft.com/office/drawing/2014/main" id="{5B0F3AC8-9D43-4556-B00F-065AC8AC592D}"/>
              </a:ext>
            </a:extLst>
          </p:cNvPr>
          <p:cNvSpPr/>
          <p:nvPr/>
        </p:nvSpPr>
        <p:spPr>
          <a:xfrm>
            <a:off x="1016000" y="3683000"/>
            <a:ext cx="355600" cy="3302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6E9FFF"/>
                </a:solidFill>
                <a:latin typeface="Segoe UI"/>
                <a:cs typeface="Segoe UI"/>
              </a:rPr>
              <a:t>4</a:t>
            </a:r>
          </a:p>
        </p:txBody>
      </p:sp>
      <p:sp>
        <p:nvSpPr>
          <p:cNvPr id="15" name="TextBox 14">
            <a:extLst>
              <a:ext uri="{FF2B5EF4-FFF2-40B4-BE49-F238E27FC236}">
                <a16:creationId xmlns:a16="http://schemas.microsoft.com/office/drawing/2014/main" id="{BD36ABD0-4A97-4D78-B596-889D3526A043}"/>
              </a:ext>
            </a:extLst>
          </p:cNvPr>
          <p:cNvSpPr txBox="1"/>
          <p:nvPr/>
        </p:nvSpPr>
        <p:spPr>
          <a:xfrm>
            <a:off x="1524000" y="3708400"/>
            <a:ext cx="5588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Mount both paths into the container and restart the stack.</a:t>
            </a:r>
          </a:p>
        </p:txBody>
      </p:sp>
      <p:sp>
        <p:nvSpPr>
          <p:cNvPr id="16" name="Rectangle: Rounded Corners 15">
            <a:extLst>
              <a:ext uri="{FF2B5EF4-FFF2-40B4-BE49-F238E27FC236}">
                <a16:creationId xmlns:a16="http://schemas.microsoft.com/office/drawing/2014/main" id="{59FDF43F-2A12-450A-8C71-1AC4E814832D}"/>
              </a:ext>
            </a:extLst>
          </p:cNvPr>
          <p:cNvSpPr/>
          <p:nvPr/>
        </p:nvSpPr>
        <p:spPr>
          <a:xfrm>
            <a:off x="1016000" y="4267200"/>
            <a:ext cx="355600" cy="3302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6E9FFF"/>
                </a:solidFill>
                <a:latin typeface="Segoe UI"/>
                <a:cs typeface="Segoe UI"/>
              </a:rPr>
              <a:t>5</a:t>
            </a:r>
          </a:p>
        </p:txBody>
      </p:sp>
      <p:sp>
        <p:nvSpPr>
          <p:cNvPr id="17" name="TextBox 16">
            <a:extLst>
              <a:ext uri="{FF2B5EF4-FFF2-40B4-BE49-F238E27FC236}">
                <a16:creationId xmlns:a16="http://schemas.microsoft.com/office/drawing/2014/main" id="{12428A5B-0FC9-4DCD-A3E5-911F3641E157}"/>
              </a:ext>
            </a:extLst>
          </p:cNvPr>
          <p:cNvSpPr txBox="1"/>
          <p:nvPr/>
        </p:nvSpPr>
        <p:spPr>
          <a:xfrm>
            <a:off x="1524000" y="4292600"/>
            <a:ext cx="5588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Check the UI: two folders, two dashboards, each tagged Provisioned.</a:t>
            </a:r>
          </a:p>
        </p:txBody>
      </p:sp>
      <p:sp>
        <p:nvSpPr>
          <p:cNvPr id="18" name="Rectangle: Rounded Corners 17">
            <a:extLst>
              <a:ext uri="{FF2B5EF4-FFF2-40B4-BE49-F238E27FC236}">
                <a16:creationId xmlns:a16="http://schemas.microsoft.com/office/drawing/2014/main" id="{05C11EB3-4EC1-483D-8291-6F9350FF6BF5}"/>
              </a:ext>
            </a:extLst>
          </p:cNvPr>
          <p:cNvSpPr/>
          <p:nvPr/>
        </p:nvSpPr>
        <p:spPr>
          <a:xfrm>
            <a:off x="1016000" y="4851400"/>
            <a:ext cx="355600" cy="3302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6E9FFF"/>
                </a:solidFill>
                <a:latin typeface="Segoe UI"/>
                <a:cs typeface="Segoe UI"/>
              </a:rPr>
              <a:t>6</a:t>
            </a:r>
          </a:p>
        </p:txBody>
      </p:sp>
      <p:sp>
        <p:nvSpPr>
          <p:cNvPr id="19" name="TextBox 18">
            <a:extLst>
              <a:ext uri="{FF2B5EF4-FFF2-40B4-BE49-F238E27FC236}">
                <a16:creationId xmlns:a16="http://schemas.microsoft.com/office/drawing/2014/main" id="{967B5E52-8DBA-4F43-8CE9-9A306654F5A2}"/>
              </a:ext>
            </a:extLst>
          </p:cNvPr>
          <p:cNvSpPr txBox="1"/>
          <p:nvPr/>
        </p:nvSpPr>
        <p:spPr>
          <a:xfrm>
            <a:off x="1524000" y="4876800"/>
            <a:ext cx="5588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Delete one dashboard in the UI, wait 30 seconds, and watch Grafana restore it.</a:t>
            </a:r>
          </a:p>
        </p:txBody>
      </p:sp>
      <p:sp>
        <p:nvSpPr>
          <p:cNvPr id="20" name="Rectangle: Rounded Corners 19">
            <a:extLst>
              <a:ext uri="{FF2B5EF4-FFF2-40B4-BE49-F238E27FC236}">
                <a16:creationId xmlns:a16="http://schemas.microsoft.com/office/drawing/2014/main" id="{BA8EF7F8-2AE0-4F8A-8CC9-ECE9F496BD06}"/>
              </a:ext>
            </a:extLst>
          </p:cNvPr>
          <p:cNvSpPr/>
          <p:nvPr/>
        </p:nvSpPr>
        <p:spPr>
          <a:xfrm>
            <a:off x="7620000" y="1422400"/>
            <a:ext cx="3810000" cy="13208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A819E4EA-8289-473A-AC2C-8DB357F19475}"/>
              </a:ext>
            </a:extLst>
          </p:cNvPr>
          <p:cNvSpPr txBox="1"/>
          <p:nvPr/>
        </p:nvSpPr>
        <p:spPr>
          <a:xfrm>
            <a:off x="7848600" y="1549400"/>
            <a:ext cx="3352800" cy="254000"/>
          </a:xfrm>
          <a:prstGeom prst="rect">
            <a:avLst/>
          </a:prstGeom>
          <a:noFill/>
        </p:spPr>
        <p:txBody>
          <a:bodyPr vertOverflow="overflow" vert="horz" wrap="square" rtlCol="0" anchor="t">
            <a:noAutofit/>
          </a:bodyPr>
          <a:lstStyle/>
          <a:p>
            <a:pPr algn="l"/>
            <a:r>
              <a:rPr lang="en-US" sz="1600" b="1">
                <a:solidFill>
                  <a:srgbClr val="6E9FFF"/>
                </a:solidFill>
                <a:latin typeface="Segoe UI"/>
                <a:cs typeface="Segoe UI"/>
              </a:rPr>
              <a:t>Why this matters</a:t>
            </a:r>
          </a:p>
        </p:txBody>
      </p:sp>
      <p:sp>
        <p:nvSpPr>
          <p:cNvPr id="22" name="TextBox 21">
            <a:extLst>
              <a:ext uri="{FF2B5EF4-FFF2-40B4-BE49-F238E27FC236}">
                <a16:creationId xmlns:a16="http://schemas.microsoft.com/office/drawing/2014/main" id="{D62E3BEB-B9D0-49AC-AF48-8131CF172995}"/>
              </a:ext>
            </a:extLst>
          </p:cNvPr>
          <p:cNvSpPr txBox="1"/>
          <p:nvPr/>
        </p:nvSpPr>
        <p:spPr>
          <a:xfrm>
            <a:off x="7848600" y="1854200"/>
            <a:ext cx="3378200" cy="812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This is the pattern that survives a lost VM: the config is on disk, and the disk comes from Git.</a:t>
            </a:r>
          </a:p>
        </p:txBody>
      </p:sp>
      <p:sp>
        <p:nvSpPr>
          <p:cNvPr id="23" name="Rectangle: Rounded Corners 22">
            <a:extLst>
              <a:ext uri="{FF2B5EF4-FFF2-40B4-BE49-F238E27FC236}">
                <a16:creationId xmlns:a16="http://schemas.microsoft.com/office/drawing/2014/main" id="{3A9E95D5-1BB7-4FBB-A39D-360D300A7D17}"/>
              </a:ext>
            </a:extLst>
          </p:cNvPr>
          <p:cNvSpPr/>
          <p:nvPr/>
        </p:nvSpPr>
        <p:spPr>
          <a:xfrm>
            <a:off x="7620000" y="2895600"/>
            <a:ext cx="3810000" cy="13208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BCF73206-33B9-4790-BA91-6B728381824F}"/>
              </a:ext>
            </a:extLst>
          </p:cNvPr>
          <p:cNvSpPr txBox="1"/>
          <p:nvPr/>
        </p:nvSpPr>
        <p:spPr>
          <a:xfrm>
            <a:off x="7848600" y="3022600"/>
            <a:ext cx="3352800" cy="2540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You are done when…</a:t>
            </a:r>
          </a:p>
        </p:txBody>
      </p:sp>
      <p:sp>
        <p:nvSpPr>
          <p:cNvPr id="25" name="TextBox 24">
            <a:extLst>
              <a:ext uri="{FF2B5EF4-FFF2-40B4-BE49-F238E27FC236}">
                <a16:creationId xmlns:a16="http://schemas.microsoft.com/office/drawing/2014/main" id="{5E80726A-E837-4BAA-BFA1-3BD6630B6E8B}"/>
              </a:ext>
            </a:extLst>
          </p:cNvPr>
          <p:cNvSpPr txBox="1"/>
          <p:nvPr/>
        </p:nvSpPr>
        <p:spPr>
          <a:xfrm>
            <a:off x="7848600" y="3327400"/>
            <a:ext cx="3378200" cy="812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Both folders appear without anyone creating them, and a deleted dashboard reappears on its own.</a:t>
            </a:r>
          </a:p>
        </p:txBody>
      </p:sp>
      <p:sp>
        <p:nvSpPr>
          <p:cNvPr id="26" name="Rectangle: Rounded Corners 25">
            <a:extLst>
              <a:ext uri="{FF2B5EF4-FFF2-40B4-BE49-F238E27FC236}">
                <a16:creationId xmlns:a16="http://schemas.microsoft.com/office/drawing/2014/main" id="{D78146AA-713C-43E8-AF6D-4FB999925BA6}"/>
              </a:ext>
            </a:extLst>
          </p:cNvPr>
          <p:cNvSpPr/>
          <p:nvPr/>
        </p:nvSpPr>
        <p:spPr>
          <a:xfrm>
            <a:off x="7620000" y="4368800"/>
            <a:ext cx="3810000" cy="1193800"/>
          </a:xfrm>
          <a:prstGeom prst="roundRect">
            <a:avLst/>
          </a:prstGeom>
          <a:solidFill>
            <a:srgbClr val="1B1E24"/>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3E37E246-6167-479A-B9B2-551DE97A93A4}"/>
              </a:ext>
            </a:extLst>
          </p:cNvPr>
          <p:cNvSpPr txBox="1"/>
          <p:nvPr/>
        </p:nvSpPr>
        <p:spPr>
          <a:xfrm>
            <a:off x="7848600" y="4495800"/>
            <a:ext cx="3352800" cy="254000"/>
          </a:xfrm>
          <a:prstGeom prst="rect">
            <a:avLst/>
          </a:prstGeom>
          <a:noFill/>
        </p:spPr>
        <p:txBody>
          <a:bodyPr vertOverflow="overflow" vert="horz" wrap="square" rtlCol="0" anchor="t">
            <a:noAutofit/>
          </a:bodyPr>
          <a:lstStyle/>
          <a:p>
            <a:pPr algn="l"/>
            <a:r>
              <a:rPr lang="en-US" sz="1600" b="1">
                <a:solidFill>
                  <a:srgbClr val="FADE2A"/>
                </a:solidFill>
                <a:latin typeface="Segoe UI"/>
                <a:cs typeface="Segoe UI"/>
              </a:rPr>
              <a:t>Stretch goal</a:t>
            </a:r>
          </a:p>
        </p:txBody>
      </p:sp>
      <p:sp>
        <p:nvSpPr>
          <p:cNvPr id="28" name="TextBox 27">
            <a:extLst>
              <a:ext uri="{FF2B5EF4-FFF2-40B4-BE49-F238E27FC236}">
                <a16:creationId xmlns:a16="http://schemas.microsoft.com/office/drawing/2014/main" id="{925D69ED-8E1E-4427-A6BF-61132BBA23A4}"/>
              </a:ext>
            </a:extLst>
          </p:cNvPr>
          <p:cNvSpPr txBox="1"/>
          <p:nvPr/>
        </p:nvSpPr>
        <p:spPr>
          <a:xfrm>
            <a:off x="7848600" y="4800600"/>
            <a:ext cx="3378200" cy="660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Flip allowUiUpdates to true, edit a panel in the UI, then restart. Explain what you see.</a:t>
            </a:r>
          </a:p>
        </p:txBody>
      </p:sp>
      <p:sp>
        <p:nvSpPr>
          <p:cNvPr id="29" name="TextBox 28">
            <a:extLst>
              <a:ext uri="{FF2B5EF4-FFF2-40B4-BE49-F238E27FC236}">
                <a16:creationId xmlns:a16="http://schemas.microsoft.com/office/drawing/2014/main" id="{855D25D6-1CC1-4E3C-B1AE-620E3F5BF5DD}"/>
              </a:ext>
            </a:extLst>
          </p:cNvPr>
          <p:cNvSpPr txBox="1"/>
          <p:nvPr/>
        </p:nvSpPr>
        <p:spPr>
          <a:xfrm>
            <a:off x="762000" y="5740400"/>
            <a:ext cx="10668000" cy="279400"/>
          </a:xfrm>
          <a:prstGeom prst="rect">
            <a:avLst/>
          </a:prstGeom>
          <a:noFill/>
        </p:spPr>
        <p:txBody>
          <a:bodyPr vertOverflow="overflow" vert="horz" wrap="none" rtlCol="0" anchor="t">
            <a:noAutofit/>
          </a:bodyPr>
          <a:lstStyle/>
          <a:p>
            <a:pPr algn="l"/>
            <a:r>
              <a:rPr lang="en-US" sz="1400">
                <a:solidFill>
                  <a:srgbClr val="8A929C"/>
                </a:solidFill>
                <a:latin typeface="Consolas"/>
              </a:rPr>
              <a:t>docker run -v ./provisioning:/etc/grafana/provisioning -v ./dashboards:/var/lib/grafana/dashboards grafana/grafana</a:t>
            </a:r>
          </a:p>
        </p:txBody>
      </p:sp>
    </p:spTree>
    <p:extLst>
      <p:ext uri="{BB962C8B-B14F-4D97-AF65-F5344CB8AC3E}">
        <p14:creationId xmlns:p14="http://schemas.microsoft.com/office/powerpoint/2010/main" val="3369691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ACA69E-33A0-4623-AAB5-3ACE0F739425}"/>
              </a:ext>
            </a:extLst>
          </p:cNvPr>
          <p:cNvSpPr/>
          <p:nvPr/>
        </p:nvSpPr>
        <p:spPr>
          <a:xfrm>
            <a:off x="0" y="2159000"/>
            <a:ext cx="12192000" cy="2540000"/>
          </a:xfrm>
          <a:prstGeom prst="rect">
            <a:avLst/>
          </a:prstGeom>
          <a:solidFill>
            <a:srgbClr val="15181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0783AE60-A72A-4D24-B5A2-01E37351C3A9}"/>
              </a:ext>
            </a:extLst>
          </p:cNvPr>
          <p:cNvSpPr txBox="1"/>
          <p:nvPr/>
        </p:nvSpPr>
        <p:spPr>
          <a:xfrm>
            <a:off x="0" y="2489200"/>
            <a:ext cx="12192000" cy="762000"/>
          </a:xfrm>
          <a:prstGeom prst="rect">
            <a:avLst/>
          </a:prstGeom>
          <a:noFill/>
        </p:spPr>
        <p:txBody>
          <a:bodyPr vertOverflow="overflow" vert="horz" wrap="square" rtlCol="0" anchor="t">
            <a:noAutofit/>
          </a:bodyPr>
          <a:lstStyle/>
          <a:p>
            <a:pPr algn="l"/>
            <a:r>
              <a:rPr lang="en-US" sz="4400" b="1">
                <a:solidFill>
                  <a:srgbClr val="FFFFFF"/>
                </a:solidFill>
                <a:latin typeface="Segoe UI"/>
                <a:cs typeface="Segoe UI"/>
              </a:rPr>
              <a:t>10-minute break</a:t>
            </a:r>
          </a:p>
        </p:txBody>
      </p:sp>
      <p:sp>
        <p:nvSpPr>
          <p:cNvPr id="4" name="Rectangle 3">
            <a:extLst>
              <a:ext uri="{FF2B5EF4-FFF2-40B4-BE49-F238E27FC236}">
                <a16:creationId xmlns:a16="http://schemas.microsoft.com/office/drawing/2014/main" id="{4E14F87A-626C-4C7E-B274-E2B5CEB0629A}"/>
              </a:ext>
            </a:extLst>
          </p:cNvPr>
          <p:cNvSpPr/>
          <p:nvPr/>
        </p:nvSpPr>
        <p:spPr>
          <a:xfrm>
            <a:off x="5524500" y="3378200"/>
            <a:ext cx="1143000" cy="508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9329A26C-B506-4174-890E-7B58B2558F75}"/>
              </a:ext>
            </a:extLst>
          </p:cNvPr>
          <p:cNvSpPr txBox="1"/>
          <p:nvPr/>
        </p:nvSpPr>
        <p:spPr>
          <a:xfrm>
            <a:off x="0" y="3632200"/>
            <a:ext cx="12192000" cy="381000"/>
          </a:xfrm>
          <a:prstGeom prst="rect">
            <a:avLst/>
          </a:prstGeom>
          <a:noFill/>
        </p:spPr>
        <p:txBody>
          <a:bodyPr vertOverflow="overflow" vert="horz" wrap="square" rtlCol="0" anchor="t">
            <a:noAutofit/>
          </a:bodyPr>
          <a:lstStyle/>
          <a:p>
            <a:pPr algn="l"/>
            <a:r>
              <a:rPr lang="en-US" sz="2000" dirty="0">
                <a:solidFill>
                  <a:srgbClr val="B4BCC6"/>
                </a:solidFill>
                <a:latin typeface="Segoe UI"/>
                <a:cs typeface="Segoe UI"/>
              </a:rPr>
              <a:t>Back at the top of the hour - Terraform next.</a:t>
            </a:r>
          </a:p>
        </p:txBody>
      </p:sp>
      <p:sp>
        <p:nvSpPr>
          <p:cNvPr id="6" name="Rectangle: Rounded Corners 5">
            <a:extLst>
              <a:ext uri="{FF2B5EF4-FFF2-40B4-BE49-F238E27FC236}">
                <a16:creationId xmlns:a16="http://schemas.microsoft.com/office/drawing/2014/main" id="{C40FF4F1-9CC9-4B78-9ABF-CE5F6B2FFF8F}"/>
              </a:ext>
            </a:extLst>
          </p:cNvPr>
          <p:cNvSpPr/>
          <p:nvPr/>
        </p:nvSpPr>
        <p:spPr>
          <a:xfrm>
            <a:off x="1333500" y="4876800"/>
            <a:ext cx="3048000" cy="12192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BFAB3FCF-6F47-40B9-8BFC-CDB616C35F2A}"/>
              </a:ext>
            </a:extLst>
          </p:cNvPr>
          <p:cNvSpPr txBox="1"/>
          <p:nvPr/>
        </p:nvSpPr>
        <p:spPr>
          <a:xfrm>
            <a:off x="1562100" y="5054600"/>
            <a:ext cx="2590800" cy="2540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Half way</a:t>
            </a:r>
          </a:p>
        </p:txBody>
      </p:sp>
      <p:sp>
        <p:nvSpPr>
          <p:cNvPr id="8" name="TextBox 7">
            <a:extLst>
              <a:ext uri="{FF2B5EF4-FFF2-40B4-BE49-F238E27FC236}">
                <a16:creationId xmlns:a16="http://schemas.microsoft.com/office/drawing/2014/main" id="{66F47BD1-010F-42C8-825E-1C616266B835}"/>
              </a:ext>
            </a:extLst>
          </p:cNvPr>
          <p:cNvSpPr txBox="1"/>
          <p:nvPr/>
        </p:nvSpPr>
        <p:spPr>
          <a:xfrm>
            <a:off x="1562100" y="5359400"/>
            <a:ext cx="2616200" cy="609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Modules 17 and 18 done: API and provisioning</a:t>
            </a:r>
          </a:p>
        </p:txBody>
      </p:sp>
      <p:sp>
        <p:nvSpPr>
          <p:cNvPr id="9" name="Rectangle: Rounded Corners 8">
            <a:extLst>
              <a:ext uri="{FF2B5EF4-FFF2-40B4-BE49-F238E27FC236}">
                <a16:creationId xmlns:a16="http://schemas.microsoft.com/office/drawing/2014/main" id="{9E13D449-30A1-403D-8E07-3CAA78BC380D}"/>
              </a:ext>
            </a:extLst>
          </p:cNvPr>
          <p:cNvSpPr/>
          <p:nvPr/>
        </p:nvSpPr>
        <p:spPr>
          <a:xfrm>
            <a:off x="4572000" y="4876800"/>
            <a:ext cx="3048000" cy="12192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5F1A89EA-914B-4F5C-9B6A-1011A33F85F0}"/>
              </a:ext>
            </a:extLst>
          </p:cNvPr>
          <p:cNvSpPr txBox="1"/>
          <p:nvPr/>
        </p:nvSpPr>
        <p:spPr>
          <a:xfrm>
            <a:off x="4800600" y="5054600"/>
            <a:ext cx="2590800" cy="254000"/>
          </a:xfrm>
          <a:prstGeom prst="rect">
            <a:avLst/>
          </a:prstGeom>
          <a:noFill/>
        </p:spPr>
        <p:txBody>
          <a:bodyPr vertOverflow="overflow" vert="horz" wrap="square" rtlCol="0" anchor="t">
            <a:noAutofit/>
          </a:bodyPr>
          <a:lstStyle/>
          <a:p>
            <a:pPr algn="l"/>
            <a:r>
              <a:rPr lang="en-US" sz="1600" b="1">
                <a:solidFill>
                  <a:srgbClr val="6E9FFF"/>
                </a:solidFill>
                <a:latin typeface="Segoe UI"/>
                <a:cs typeface="Segoe UI"/>
              </a:rPr>
              <a:t>Still to come</a:t>
            </a:r>
          </a:p>
        </p:txBody>
      </p:sp>
      <p:sp>
        <p:nvSpPr>
          <p:cNvPr id="11" name="TextBox 10">
            <a:extLst>
              <a:ext uri="{FF2B5EF4-FFF2-40B4-BE49-F238E27FC236}">
                <a16:creationId xmlns:a16="http://schemas.microsoft.com/office/drawing/2014/main" id="{30A3F9BC-3C93-4DEA-819E-4D7CEA4B7D5A}"/>
              </a:ext>
            </a:extLst>
          </p:cNvPr>
          <p:cNvSpPr txBox="1"/>
          <p:nvPr/>
        </p:nvSpPr>
        <p:spPr>
          <a:xfrm>
            <a:off x="4800600" y="5359400"/>
            <a:ext cx="2616200" cy="609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Terraform, production hardening, capstone</a:t>
            </a:r>
          </a:p>
        </p:txBody>
      </p:sp>
      <p:sp>
        <p:nvSpPr>
          <p:cNvPr id="12" name="Rectangle: Rounded Corners 11">
            <a:extLst>
              <a:ext uri="{FF2B5EF4-FFF2-40B4-BE49-F238E27FC236}">
                <a16:creationId xmlns:a16="http://schemas.microsoft.com/office/drawing/2014/main" id="{CB0AF08B-A424-4C15-8189-634B775AB38F}"/>
              </a:ext>
            </a:extLst>
          </p:cNvPr>
          <p:cNvSpPr/>
          <p:nvPr/>
        </p:nvSpPr>
        <p:spPr>
          <a:xfrm>
            <a:off x="7810500" y="4876800"/>
            <a:ext cx="3048000" cy="1219200"/>
          </a:xfrm>
          <a:prstGeom prst="roundRect">
            <a:avLst/>
          </a:prstGeom>
          <a:solidFill>
            <a:srgbClr val="1B1E24"/>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B719FC68-E274-4F46-AF28-4215048AD7A2}"/>
              </a:ext>
            </a:extLst>
          </p:cNvPr>
          <p:cNvSpPr txBox="1"/>
          <p:nvPr/>
        </p:nvSpPr>
        <p:spPr>
          <a:xfrm>
            <a:off x="8039100" y="5054600"/>
            <a:ext cx="2590800" cy="254000"/>
          </a:xfrm>
          <a:prstGeom prst="rect">
            <a:avLst/>
          </a:prstGeom>
          <a:noFill/>
        </p:spPr>
        <p:txBody>
          <a:bodyPr vertOverflow="overflow" vert="horz" wrap="square" rtlCol="0" anchor="t">
            <a:noAutofit/>
          </a:bodyPr>
          <a:lstStyle/>
          <a:p>
            <a:pPr algn="l"/>
            <a:r>
              <a:rPr lang="en-US" sz="1600" b="1">
                <a:solidFill>
                  <a:srgbClr val="FF8800"/>
                </a:solidFill>
                <a:latin typeface="Segoe UI"/>
                <a:cs typeface="Segoe UI"/>
              </a:rPr>
              <a:t>Before we start</a:t>
            </a:r>
          </a:p>
        </p:txBody>
      </p:sp>
      <p:sp>
        <p:nvSpPr>
          <p:cNvPr id="14" name="TextBox 13">
            <a:extLst>
              <a:ext uri="{FF2B5EF4-FFF2-40B4-BE49-F238E27FC236}">
                <a16:creationId xmlns:a16="http://schemas.microsoft.com/office/drawing/2014/main" id="{18EF82BB-726E-4D76-BE91-ACF46DD6A59B}"/>
              </a:ext>
            </a:extLst>
          </p:cNvPr>
          <p:cNvSpPr txBox="1"/>
          <p:nvPr/>
        </p:nvSpPr>
        <p:spPr>
          <a:xfrm>
            <a:off x="8039100" y="5359400"/>
            <a:ext cx="2616200" cy="6096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Run terraform version - 1.5 or newer</a:t>
            </a:r>
          </a:p>
        </p:txBody>
      </p:sp>
    </p:spTree>
    <p:extLst>
      <p:ext uri="{BB962C8B-B14F-4D97-AF65-F5344CB8AC3E}">
        <p14:creationId xmlns:p14="http://schemas.microsoft.com/office/powerpoint/2010/main" val="1500518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D9BFB3-38B8-4FBC-A1AE-2A07C18C2BC1}"/>
              </a:ext>
            </a:extLst>
          </p:cNvPr>
          <p:cNvSpPr/>
          <p:nvPr/>
        </p:nvSpPr>
        <p:spPr>
          <a:xfrm>
            <a:off x="0" y="0"/>
            <a:ext cx="101600" cy="68580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B3C94685-D506-4A8A-A87A-96D8A6261243}"/>
              </a:ext>
            </a:extLst>
          </p:cNvPr>
          <p:cNvSpPr/>
          <p:nvPr/>
        </p:nvSpPr>
        <p:spPr>
          <a:xfrm>
            <a:off x="762000" y="1524000"/>
            <a:ext cx="2794000" cy="1905000"/>
          </a:xfrm>
          <a:prstGeom prst="rect">
            <a:avLst/>
          </a:prstGeom>
          <a:solidFill>
            <a:srgbClr val="11121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0" b="1">
                <a:solidFill>
                  <a:srgbClr val="1C212A"/>
                </a:solidFill>
                <a:latin typeface="Segoe UI"/>
                <a:cs typeface="Segoe UI"/>
              </a:rPr>
              <a:t>19</a:t>
            </a:r>
          </a:p>
        </p:txBody>
      </p:sp>
      <p:sp>
        <p:nvSpPr>
          <p:cNvPr id="4" name="TextBox 3">
            <a:extLst>
              <a:ext uri="{FF2B5EF4-FFF2-40B4-BE49-F238E27FC236}">
                <a16:creationId xmlns:a16="http://schemas.microsoft.com/office/drawing/2014/main" id="{9AA6B1CF-5D0D-4AD8-AB27-4BF99EB48090}"/>
              </a:ext>
            </a:extLst>
          </p:cNvPr>
          <p:cNvSpPr txBox="1"/>
          <p:nvPr/>
        </p:nvSpPr>
        <p:spPr>
          <a:xfrm>
            <a:off x="762000" y="1219200"/>
            <a:ext cx="5080000" cy="2794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MODULE 19  ·  45 MINUTES</a:t>
            </a:r>
          </a:p>
        </p:txBody>
      </p:sp>
      <p:sp>
        <p:nvSpPr>
          <p:cNvPr id="5" name="TextBox 4">
            <a:extLst>
              <a:ext uri="{FF2B5EF4-FFF2-40B4-BE49-F238E27FC236}">
                <a16:creationId xmlns:a16="http://schemas.microsoft.com/office/drawing/2014/main" id="{E860EC98-45F7-4D68-BD7B-45E702DFE744}"/>
              </a:ext>
            </a:extLst>
          </p:cNvPr>
          <p:cNvSpPr txBox="1"/>
          <p:nvPr/>
        </p:nvSpPr>
        <p:spPr>
          <a:xfrm>
            <a:off x="762000" y="1905000"/>
            <a:ext cx="6604000" cy="736600"/>
          </a:xfrm>
          <a:prstGeom prst="rect">
            <a:avLst/>
          </a:prstGeom>
          <a:noFill/>
        </p:spPr>
        <p:txBody>
          <a:bodyPr vertOverflow="overflow" vert="horz" wrap="square" rtlCol="0" anchor="t">
            <a:noAutofit/>
          </a:bodyPr>
          <a:lstStyle/>
          <a:p>
            <a:pPr algn="l"/>
            <a:r>
              <a:rPr lang="en-US" sz="4000" b="1">
                <a:solidFill>
                  <a:srgbClr val="FFFFFF"/>
                </a:solidFill>
                <a:latin typeface="Segoe UI"/>
                <a:cs typeface="Segoe UI"/>
              </a:rPr>
              <a:t>Infrastructure as Code</a:t>
            </a:r>
          </a:p>
        </p:txBody>
      </p:sp>
      <p:sp>
        <p:nvSpPr>
          <p:cNvPr id="6" name="Rectangle 5">
            <a:extLst>
              <a:ext uri="{FF2B5EF4-FFF2-40B4-BE49-F238E27FC236}">
                <a16:creationId xmlns:a16="http://schemas.microsoft.com/office/drawing/2014/main" id="{EFDEBB6F-E1FC-40AB-BF4F-B2E0A5AC33FB}"/>
              </a:ext>
            </a:extLst>
          </p:cNvPr>
          <p:cNvSpPr/>
          <p:nvPr/>
        </p:nvSpPr>
        <p:spPr>
          <a:xfrm>
            <a:off x="762000" y="2743200"/>
            <a:ext cx="1143000" cy="508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B238CFC5-95CD-4C41-8882-08A3188D7E27}"/>
              </a:ext>
            </a:extLst>
          </p:cNvPr>
          <p:cNvSpPr txBox="1"/>
          <p:nvPr/>
        </p:nvSpPr>
        <p:spPr>
          <a:xfrm>
            <a:off x="762000" y="2997200"/>
            <a:ext cx="6604000" cy="736600"/>
          </a:xfrm>
          <a:prstGeom prst="rect">
            <a:avLst/>
          </a:prstGeom>
          <a:noFill/>
        </p:spPr>
        <p:txBody>
          <a:bodyPr vertOverflow="overflow" vert="horz" wrap="square" rtlCol="0" anchor="t">
            <a:noAutofit/>
          </a:bodyPr>
          <a:lstStyle/>
          <a:p>
            <a:pPr algn="l"/>
            <a:r>
              <a:rPr lang="en-US" sz="1700" dirty="0">
                <a:solidFill>
                  <a:srgbClr val="B4BCC6"/>
                </a:solidFill>
                <a:latin typeface="Segoe UI"/>
                <a:cs typeface="Segoe UI"/>
              </a:rPr>
              <a:t>Provisioning files describe one Grafana. Terraform describes every Grafana you own - and knows what it has already done.</a:t>
            </a:r>
          </a:p>
        </p:txBody>
      </p:sp>
      <p:sp>
        <p:nvSpPr>
          <p:cNvPr id="8" name="Rectangle: Rounded Corners 7">
            <a:extLst>
              <a:ext uri="{FF2B5EF4-FFF2-40B4-BE49-F238E27FC236}">
                <a16:creationId xmlns:a16="http://schemas.microsoft.com/office/drawing/2014/main" id="{5F069DD7-A42A-4578-A1C5-C5FA61120081}"/>
              </a:ext>
            </a:extLst>
          </p:cNvPr>
          <p:cNvSpPr/>
          <p:nvPr/>
        </p:nvSpPr>
        <p:spPr>
          <a:xfrm>
            <a:off x="7112000" y="1270000"/>
            <a:ext cx="4318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B3347953-CA3D-43D1-8D4E-0FF131D4E3CA}"/>
              </a:ext>
            </a:extLst>
          </p:cNvPr>
          <p:cNvSpPr/>
          <p:nvPr/>
        </p:nvSpPr>
        <p:spPr>
          <a:xfrm>
            <a:off x="7340600" y="1587500"/>
            <a:ext cx="152400" cy="1524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21C840FE-52A8-4984-B490-DCD06900E3E2}"/>
              </a:ext>
            </a:extLst>
          </p:cNvPr>
          <p:cNvSpPr txBox="1"/>
          <p:nvPr/>
        </p:nvSpPr>
        <p:spPr>
          <a:xfrm>
            <a:off x="7645400" y="14224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The Terraform provider</a:t>
            </a:r>
          </a:p>
        </p:txBody>
      </p:sp>
      <p:sp>
        <p:nvSpPr>
          <p:cNvPr id="11" name="TextBox 10">
            <a:extLst>
              <a:ext uri="{FF2B5EF4-FFF2-40B4-BE49-F238E27FC236}">
                <a16:creationId xmlns:a16="http://schemas.microsoft.com/office/drawing/2014/main" id="{B02CA171-4932-4CED-A95D-D091166F4244}"/>
              </a:ext>
            </a:extLst>
          </p:cNvPr>
          <p:cNvSpPr txBox="1"/>
          <p:nvPr/>
        </p:nvSpPr>
        <p:spPr>
          <a:xfrm>
            <a:off x="7645400" y="17018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Install, configure, authenticate</a:t>
            </a:r>
          </a:p>
        </p:txBody>
      </p:sp>
      <p:sp>
        <p:nvSpPr>
          <p:cNvPr id="12" name="Rectangle: Rounded Corners 11">
            <a:extLst>
              <a:ext uri="{FF2B5EF4-FFF2-40B4-BE49-F238E27FC236}">
                <a16:creationId xmlns:a16="http://schemas.microsoft.com/office/drawing/2014/main" id="{F29FF96D-FE0A-4176-AD3B-F3BBF1209483}"/>
              </a:ext>
            </a:extLst>
          </p:cNvPr>
          <p:cNvSpPr/>
          <p:nvPr/>
        </p:nvSpPr>
        <p:spPr>
          <a:xfrm>
            <a:off x="7112000" y="2133600"/>
            <a:ext cx="4318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B274588A-A7B9-4A6C-842C-C8EA685FADCF}"/>
              </a:ext>
            </a:extLst>
          </p:cNvPr>
          <p:cNvSpPr/>
          <p:nvPr/>
        </p:nvSpPr>
        <p:spPr>
          <a:xfrm>
            <a:off x="7340600" y="2451100"/>
            <a:ext cx="152400" cy="1524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316D261F-50C0-49E8-A9D5-32BFE09657ED}"/>
              </a:ext>
            </a:extLst>
          </p:cNvPr>
          <p:cNvSpPr txBox="1"/>
          <p:nvPr/>
        </p:nvSpPr>
        <p:spPr>
          <a:xfrm>
            <a:off x="7645400" y="22860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Provision data sources</a:t>
            </a:r>
          </a:p>
        </p:txBody>
      </p:sp>
      <p:sp>
        <p:nvSpPr>
          <p:cNvPr id="15" name="TextBox 14">
            <a:extLst>
              <a:ext uri="{FF2B5EF4-FFF2-40B4-BE49-F238E27FC236}">
                <a16:creationId xmlns:a16="http://schemas.microsoft.com/office/drawing/2014/main" id="{5EAAC85F-5F18-4490-99B9-70A156B3F9BC}"/>
              </a:ext>
            </a:extLst>
          </p:cNvPr>
          <p:cNvSpPr txBox="1"/>
          <p:nvPr/>
        </p:nvSpPr>
        <p:spPr>
          <a:xfrm>
            <a:off x="7645400" y="25654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One resource, every environment</a:t>
            </a:r>
          </a:p>
        </p:txBody>
      </p:sp>
      <p:sp>
        <p:nvSpPr>
          <p:cNvPr id="16" name="Rectangle: Rounded Corners 15">
            <a:extLst>
              <a:ext uri="{FF2B5EF4-FFF2-40B4-BE49-F238E27FC236}">
                <a16:creationId xmlns:a16="http://schemas.microsoft.com/office/drawing/2014/main" id="{4CE15AA3-D18A-4550-8025-2D89E42FF93A}"/>
              </a:ext>
            </a:extLst>
          </p:cNvPr>
          <p:cNvSpPr/>
          <p:nvPr/>
        </p:nvSpPr>
        <p:spPr>
          <a:xfrm>
            <a:off x="7112000" y="2997200"/>
            <a:ext cx="4318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a:extLst>
              <a:ext uri="{FF2B5EF4-FFF2-40B4-BE49-F238E27FC236}">
                <a16:creationId xmlns:a16="http://schemas.microsoft.com/office/drawing/2014/main" id="{BBA2B2E5-7799-4486-AB6A-A37154E1169F}"/>
              </a:ext>
            </a:extLst>
          </p:cNvPr>
          <p:cNvSpPr/>
          <p:nvPr/>
        </p:nvSpPr>
        <p:spPr>
          <a:xfrm>
            <a:off x="7340600" y="3314700"/>
            <a:ext cx="152400" cy="1524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1276860A-6575-4876-8FDB-C0AC42A5E103}"/>
              </a:ext>
            </a:extLst>
          </p:cNvPr>
          <p:cNvSpPr txBox="1"/>
          <p:nvPr/>
        </p:nvSpPr>
        <p:spPr>
          <a:xfrm>
            <a:off x="7645400" y="31496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Provision dashboards &amp; folders</a:t>
            </a:r>
          </a:p>
        </p:txBody>
      </p:sp>
      <p:sp>
        <p:nvSpPr>
          <p:cNvPr id="19" name="TextBox 18">
            <a:extLst>
              <a:ext uri="{FF2B5EF4-FFF2-40B4-BE49-F238E27FC236}">
                <a16:creationId xmlns:a16="http://schemas.microsoft.com/office/drawing/2014/main" id="{287D2590-82EA-432A-9A93-B0A84FBAB8DE}"/>
              </a:ext>
            </a:extLst>
          </p:cNvPr>
          <p:cNvSpPr txBox="1"/>
          <p:nvPr/>
        </p:nvSpPr>
        <p:spPr>
          <a:xfrm>
            <a:off x="7645400" y="34290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JSON in the repo, pushed by plan/apply</a:t>
            </a:r>
          </a:p>
        </p:txBody>
      </p:sp>
      <p:sp>
        <p:nvSpPr>
          <p:cNvPr id="20" name="Rectangle: Rounded Corners 19">
            <a:extLst>
              <a:ext uri="{FF2B5EF4-FFF2-40B4-BE49-F238E27FC236}">
                <a16:creationId xmlns:a16="http://schemas.microsoft.com/office/drawing/2014/main" id="{3EC66CEC-7560-4E2C-990B-E1BD6EFEB3C5}"/>
              </a:ext>
            </a:extLst>
          </p:cNvPr>
          <p:cNvSpPr/>
          <p:nvPr/>
        </p:nvSpPr>
        <p:spPr>
          <a:xfrm>
            <a:off x="7112000" y="3860800"/>
            <a:ext cx="4318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Oval 20">
            <a:extLst>
              <a:ext uri="{FF2B5EF4-FFF2-40B4-BE49-F238E27FC236}">
                <a16:creationId xmlns:a16="http://schemas.microsoft.com/office/drawing/2014/main" id="{629B434A-D8DC-4C22-B6C3-1163680FAB50}"/>
              </a:ext>
            </a:extLst>
          </p:cNvPr>
          <p:cNvSpPr/>
          <p:nvPr/>
        </p:nvSpPr>
        <p:spPr>
          <a:xfrm>
            <a:off x="7340600" y="4178300"/>
            <a:ext cx="152400" cy="1524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8AE87898-0E18-4A55-9DE7-D3FF29CC281A}"/>
              </a:ext>
            </a:extLst>
          </p:cNvPr>
          <p:cNvSpPr txBox="1"/>
          <p:nvPr/>
        </p:nvSpPr>
        <p:spPr>
          <a:xfrm>
            <a:off x="7645400" y="40132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State, drift and CI</a:t>
            </a:r>
          </a:p>
        </p:txBody>
      </p:sp>
      <p:sp>
        <p:nvSpPr>
          <p:cNvPr id="23" name="TextBox 22">
            <a:extLst>
              <a:ext uri="{FF2B5EF4-FFF2-40B4-BE49-F238E27FC236}">
                <a16:creationId xmlns:a16="http://schemas.microsoft.com/office/drawing/2014/main" id="{418B7B3B-5819-49C5-ACD5-79F93AC7E158}"/>
              </a:ext>
            </a:extLst>
          </p:cNvPr>
          <p:cNvSpPr txBox="1"/>
          <p:nvPr/>
        </p:nvSpPr>
        <p:spPr>
          <a:xfrm>
            <a:off x="7645400" y="42926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Why terraform plan is the safety net</a:t>
            </a:r>
          </a:p>
        </p:txBody>
      </p:sp>
      <p:sp>
        <p:nvSpPr>
          <p:cNvPr id="24" name="Rectangle: Rounded Corners 23">
            <a:extLst>
              <a:ext uri="{FF2B5EF4-FFF2-40B4-BE49-F238E27FC236}">
                <a16:creationId xmlns:a16="http://schemas.microsoft.com/office/drawing/2014/main" id="{799E90A2-703A-47C1-9581-9F61A7805FF9}"/>
              </a:ext>
            </a:extLst>
          </p:cNvPr>
          <p:cNvSpPr/>
          <p:nvPr/>
        </p:nvSpPr>
        <p:spPr>
          <a:xfrm>
            <a:off x="7112000" y="4724400"/>
            <a:ext cx="4318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Oval 24">
            <a:extLst>
              <a:ext uri="{FF2B5EF4-FFF2-40B4-BE49-F238E27FC236}">
                <a16:creationId xmlns:a16="http://schemas.microsoft.com/office/drawing/2014/main" id="{56C38EBF-B02F-4F40-85BE-55A5DD4B6528}"/>
              </a:ext>
            </a:extLst>
          </p:cNvPr>
          <p:cNvSpPr/>
          <p:nvPr/>
        </p:nvSpPr>
        <p:spPr>
          <a:xfrm>
            <a:off x="7340600" y="5041900"/>
            <a:ext cx="152400" cy="1524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A8F515A6-AFA3-4EC5-AE2C-64AA99099ED8}"/>
              </a:ext>
            </a:extLst>
          </p:cNvPr>
          <p:cNvSpPr txBox="1"/>
          <p:nvPr/>
        </p:nvSpPr>
        <p:spPr>
          <a:xfrm>
            <a:off x="7645400" y="48768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Automation best practices</a:t>
            </a:r>
          </a:p>
        </p:txBody>
      </p:sp>
      <p:sp>
        <p:nvSpPr>
          <p:cNvPr id="27" name="TextBox 26">
            <a:extLst>
              <a:ext uri="{FF2B5EF4-FFF2-40B4-BE49-F238E27FC236}">
                <a16:creationId xmlns:a16="http://schemas.microsoft.com/office/drawing/2014/main" id="{E76DD88C-12C1-4F98-9E79-7039DFD919E1}"/>
              </a:ext>
            </a:extLst>
          </p:cNvPr>
          <p:cNvSpPr txBox="1"/>
          <p:nvPr/>
        </p:nvSpPr>
        <p:spPr>
          <a:xfrm>
            <a:off x="7645400" y="5156200"/>
            <a:ext cx="3632200" cy="355600"/>
          </a:xfrm>
          <a:prstGeom prst="rect">
            <a:avLst/>
          </a:prstGeom>
          <a:noFill/>
        </p:spPr>
        <p:txBody>
          <a:bodyPr vertOverflow="overflow" vert="horz" wrap="square" rtlCol="0" anchor="t">
            <a:noAutofit/>
          </a:bodyPr>
          <a:lstStyle/>
          <a:p>
            <a:pPr algn="l"/>
            <a:r>
              <a:rPr lang="pt-BR" sz="1400">
                <a:solidFill>
                  <a:srgbClr val="B4BCC6"/>
                </a:solidFill>
                <a:latin typeface="Segoe UI"/>
                <a:cs typeface="Segoe UI"/>
              </a:rPr>
              <a:t>Choosing API vs files vs Terraform</a:t>
            </a:r>
            <a:endParaRPr lang="en-US" sz="1400">
              <a:solidFill>
                <a:srgbClr val="B4BCC6"/>
              </a:solidFill>
              <a:latin typeface="Segoe UI"/>
              <a:cs typeface="Segoe UI"/>
            </a:endParaRPr>
          </a:p>
        </p:txBody>
      </p:sp>
      <p:sp>
        <p:nvSpPr>
          <p:cNvPr id="28" name="Rectangle: Rounded Corners 27">
            <a:extLst>
              <a:ext uri="{FF2B5EF4-FFF2-40B4-BE49-F238E27FC236}">
                <a16:creationId xmlns:a16="http://schemas.microsoft.com/office/drawing/2014/main" id="{497ACB4C-C6C0-4A0F-84E5-631579F6591B}"/>
              </a:ext>
            </a:extLst>
          </p:cNvPr>
          <p:cNvSpPr/>
          <p:nvPr/>
        </p:nvSpPr>
        <p:spPr>
          <a:xfrm>
            <a:off x="762000" y="5029200"/>
            <a:ext cx="5588000" cy="12192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a:extLst>
              <a:ext uri="{FF2B5EF4-FFF2-40B4-BE49-F238E27FC236}">
                <a16:creationId xmlns:a16="http://schemas.microsoft.com/office/drawing/2014/main" id="{B1015F0E-25B5-4429-8CD0-3343E2051E9F}"/>
              </a:ext>
            </a:extLst>
          </p:cNvPr>
          <p:cNvSpPr txBox="1"/>
          <p:nvPr/>
        </p:nvSpPr>
        <p:spPr>
          <a:xfrm>
            <a:off x="1016000" y="5207000"/>
            <a:ext cx="25400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LAB 3  ·  25 min</a:t>
            </a:r>
          </a:p>
        </p:txBody>
      </p:sp>
      <p:sp>
        <p:nvSpPr>
          <p:cNvPr id="30" name="TextBox 29">
            <a:extLst>
              <a:ext uri="{FF2B5EF4-FFF2-40B4-BE49-F238E27FC236}">
                <a16:creationId xmlns:a16="http://schemas.microsoft.com/office/drawing/2014/main" id="{18FE1794-CF96-416B-9369-40ACEFE129F1}"/>
              </a:ext>
            </a:extLst>
          </p:cNvPr>
          <p:cNvSpPr txBox="1"/>
          <p:nvPr/>
        </p:nvSpPr>
        <p:spPr>
          <a:xfrm>
            <a:off x="1016000" y="5511800"/>
            <a:ext cx="5130800" cy="660400"/>
          </a:xfrm>
          <a:prstGeom prst="rect">
            <a:avLst/>
          </a:prstGeom>
          <a:noFill/>
        </p:spPr>
        <p:txBody>
          <a:bodyPr vertOverflow="overflow" vert="horz" wrap="square" rtlCol="0" anchor="t">
            <a:noAutofit/>
          </a:bodyPr>
          <a:lstStyle/>
          <a:p>
            <a:pPr algn="l"/>
            <a:r>
              <a:rPr lang="en-US" sz="1500" dirty="0">
                <a:solidFill>
                  <a:srgbClr val="C6E3C2"/>
                </a:solidFill>
                <a:latin typeface="Segoe UI"/>
                <a:cs typeface="Segoe UI"/>
              </a:rPr>
              <a:t>Write one Terraform module that creates a folder, a data source and a dashboard - then change the dashboard and watch plan tell you exactly what moves.</a:t>
            </a:r>
          </a:p>
        </p:txBody>
      </p:sp>
    </p:spTree>
    <p:extLst>
      <p:ext uri="{BB962C8B-B14F-4D97-AF65-F5344CB8AC3E}">
        <p14:creationId xmlns:p14="http://schemas.microsoft.com/office/powerpoint/2010/main" val="2038937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73C57-86A4-43A5-D67E-37C1ED504F28}"/>
              </a:ext>
            </a:extLst>
          </p:cNvPr>
          <p:cNvSpPr>
            <a:spLocks noGrp="1"/>
          </p:cNvSpPr>
          <p:nvPr>
            <p:ph type="title"/>
          </p:nvPr>
        </p:nvSpPr>
        <p:spPr>
          <a:xfrm>
            <a:off x="762000" y="406400"/>
            <a:ext cx="10668000" cy="533400"/>
          </a:xfrm>
        </p:spPr>
        <p:txBody>
          <a:bodyPr>
            <a:normAutofit/>
          </a:bodyPr>
          <a:lstStyle/>
          <a:p>
            <a:r>
              <a:rPr lang="en-US" sz="3000" b="1" dirty="0"/>
              <a:t>Three Ways to Automate - Pick On Purpose</a:t>
            </a:r>
          </a:p>
        </p:txBody>
      </p:sp>
      <p:sp>
        <p:nvSpPr>
          <p:cNvPr id="3" name="Rectangle 2">
            <a:extLst>
              <a:ext uri="{FF2B5EF4-FFF2-40B4-BE49-F238E27FC236}">
                <a16:creationId xmlns:a16="http://schemas.microsoft.com/office/drawing/2014/main" id="{985FD4B9-7636-4EBC-807F-6C07AD4BF0D9}"/>
              </a:ext>
            </a:extLst>
          </p:cNvPr>
          <p:cNvSpPr/>
          <p:nvPr/>
        </p:nvSpPr>
        <p:spPr>
          <a:xfrm>
            <a:off x="762000" y="1016000"/>
            <a:ext cx="889000" cy="381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AC69B8F3-2E56-4B70-BBB5-B993C52612D5}"/>
              </a:ext>
            </a:extLst>
          </p:cNvPr>
          <p:cNvSpPr txBox="1"/>
          <p:nvPr/>
        </p:nvSpPr>
        <p:spPr>
          <a:xfrm>
            <a:off x="762000" y="1143000"/>
            <a:ext cx="9652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All three are legitimate. Mixing them without a rule is what creates drift.</a:t>
            </a:r>
          </a:p>
        </p:txBody>
      </p:sp>
      <p:sp>
        <p:nvSpPr>
          <p:cNvPr id="5" name="Rectangle: Rounded Corners 4">
            <a:extLst>
              <a:ext uri="{FF2B5EF4-FFF2-40B4-BE49-F238E27FC236}">
                <a16:creationId xmlns:a16="http://schemas.microsoft.com/office/drawing/2014/main" id="{B921A7B5-0F74-468D-BED4-A540235290F2}"/>
              </a:ext>
            </a:extLst>
          </p:cNvPr>
          <p:cNvSpPr/>
          <p:nvPr/>
        </p:nvSpPr>
        <p:spPr>
          <a:xfrm>
            <a:off x="762000" y="1498600"/>
            <a:ext cx="3429000" cy="3276600"/>
          </a:xfrm>
          <a:prstGeom prst="roundRect">
            <a:avLst/>
          </a:prstGeom>
          <a:solidFill>
            <a:srgbClr val="1B1E24"/>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1276B91E-63C2-42CA-B5AC-88113597FC5D}"/>
              </a:ext>
            </a:extLst>
          </p:cNvPr>
          <p:cNvSpPr/>
          <p:nvPr/>
        </p:nvSpPr>
        <p:spPr>
          <a:xfrm>
            <a:off x="762000" y="1498600"/>
            <a:ext cx="3429000" cy="508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015064B8-46E6-436B-8B64-4E0266791038}"/>
              </a:ext>
            </a:extLst>
          </p:cNvPr>
          <p:cNvSpPr txBox="1"/>
          <p:nvPr/>
        </p:nvSpPr>
        <p:spPr>
          <a:xfrm>
            <a:off x="990600" y="1701800"/>
            <a:ext cx="2971800" cy="304800"/>
          </a:xfrm>
          <a:prstGeom prst="rect">
            <a:avLst/>
          </a:prstGeom>
          <a:noFill/>
        </p:spPr>
        <p:txBody>
          <a:bodyPr vertOverflow="overflow" vert="horz" wrap="square" rtlCol="0" anchor="t">
            <a:noAutofit/>
          </a:bodyPr>
          <a:lstStyle/>
          <a:p>
            <a:pPr algn="l"/>
            <a:r>
              <a:rPr lang="en-US" sz="1900" b="1">
                <a:solidFill>
                  <a:srgbClr val="FF8800"/>
                </a:solidFill>
                <a:latin typeface="Segoe UI"/>
                <a:cs typeface="Segoe UI"/>
              </a:rPr>
              <a:t>API scripts</a:t>
            </a:r>
          </a:p>
        </p:txBody>
      </p:sp>
      <p:sp>
        <p:nvSpPr>
          <p:cNvPr id="8" name="TextBox 7">
            <a:extLst>
              <a:ext uri="{FF2B5EF4-FFF2-40B4-BE49-F238E27FC236}">
                <a16:creationId xmlns:a16="http://schemas.microsoft.com/office/drawing/2014/main" id="{BEEC4F2B-8447-4A92-B790-E497F4EACEF4}"/>
              </a:ext>
            </a:extLst>
          </p:cNvPr>
          <p:cNvSpPr txBox="1"/>
          <p:nvPr/>
        </p:nvSpPr>
        <p:spPr>
          <a:xfrm>
            <a:off x="990600" y="2057400"/>
            <a:ext cx="2997200" cy="228600"/>
          </a:xfrm>
          <a:prstGeom prst="rect">
            <a:avLst/>
          </a:prstGeom>
          <a:noFill/>
        </p:spPr>
        <p:txBody>
          <a:bodyPr vertOverflow="overflow" vert="horz" wrap="square" rtlCol="0" anchor="t">
            <a:noAutofit/>
          </a:bodyPr>
          <a:lstStyle/>
          <a:p>
            <a:pPr algn="l"/>
            <a:r>
              <a:rPr lang="en-US" sz="1400">
                <a:solidFill>
                  <a:srgbClr val="8A929C"/>
                </a:solidFill>
                <a:latin typeface="Segoe UI"/>
                <a:cs typeface="Segoe UI"/>
              </a:rPr>
              <a:t>curl or SDK calls you run yourself</a:t>
            </a:r>
          </a:p>
        </p:txBody>
      </p:sp>
      <p:sp>
        <p:nvSpPr>
          <p:cNvPr id="9" name="TextBox 8">
            <a:extLst>
              <a:ext uri="{FF2B5EF4-FFF2-40B4-BE49-F238E27FC236}">
                <a16:creationId xmlns:a16="http://schemas.microsoft.com/office/drawing/2014/main" id="{3D3EA204-E6CF-4BF3-8ECE-17E4A60AE4E2}"/>
              </a:ext>
            </a:extLst>
          </p:cNvPr>
          <p:cNvSpPr txBox="1"/>
          <p:nvPr/>
        </p:nvSpPr>
        <p:spPr>
          <a:xfrm>
            <a:off x="990600" y="2387600"/>
            <a:ext cx="2997200" cy="22606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Imperative - you describe the steps.
Good for  one-off migrations, tenant
onboarding, smoke tests after deploy.
Weak spot  nothing remembers what
exists, so re-running is your problem.</a:t>
            </a:r>
          </a:p>
        </p:txBody>
      </p:sp>
      <p:sp>
        <p:nvSpPr>
          <p:cNvPr id="10" name="Rectangle: Rounded Corners 9">
            <a:extLst>
              <a:ext uri="{FF2B5EF4-FFF2-40B4-BE49-F238E27FC236}">
                <a16:creationId xmlns:a16="http://schemas.microsoft.com/office/drawing/2014/main" id="{3B4A31E2-06D1-4898-BDED-CEAADE8F72AE}"/>
              </a:ext>
            </a:extLst>
          </p:cNvPr>
          <p:cNvSpPr/>
          <p:nvPr/>
        </p:nvSpPr>
        <p:spPr>
          <a:xfrm>
            <a:off x="4381500" y="1498600"/>
            <a:ext cx="3429000" cy="32766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F6C39D98-5D40-429B-9631-382046178E43}"/>
              </a:ext>
            </a:extLst>
          </p:cNvPr>
          <p:cNvSpPr/>
          <p:nvPr/>
        </p:nvSpPr>
        <p:spPr>
          <a:xfrm>
            <a:off x="4381500" y="1498600"/>
            <a:ext cx="3429000" cy="508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5932B09C-357E-4227-AFF8-2113F7F116CD}"/>
              </a:ext>
            </a:extLst>
          </p:cNvPr>
          <p:cNvSpPr txBox="1"/>
          <p:nvPr/>
        </p:nvSpPr>
        <p:spPr>
          <a:xfrm>
            <a:off x="4610100" y="1701800"/>
            <a:ext cx="2971800" cy="304800"/>
          </a:xfrm>
          <a:prstGeom prst="rect">
            <a:avLst/>
          </a:prstGeom>
          <a:noFill/>
        </p:spPr>
        <p:txBody>
          <a:bodyPr vertOverflow="overflow" vert="horz" wrap="square" rtlCol="0" anchor="t">
            <a:noAutofit/>
          </a:bodyPr>
          <a:lstStyle/>
          <a:p>
            <a:pPr algn="l"/>
            <a:r>
              <a:rPr lang="en-US" sz="1900" b="1">
                <a:solidFill>
                  <a:srgbClr val="6E9FFF"/>
                </a:solidFill>
                <a:latin typeface="Segoe UI"/>
                <a:cs typeface="Segoe UI"/>
              </a:rPr>
              <a:t>Provisioning files</a:t>
            </a:r>
          </a:p>
        </p:txBody>
      </p:sp>
      <p:sp>
        <p:nvSpPr>
          <p:cNvPr id="13" name="TextBox 12">
            <a:extLst>
              <a:ext uri="{FF2B5EF4-FFF2-40B4-BE49-F238E27FC236}">
                <a16:creationId xmlns:a16="http://schemas.microsoft.com/office/drawing/2014/main" id="{822313CC-405F-40EC-ACE9-5D8223A51D3E}"/>
              </a:ext>
            </a:extLst>
          </p:cNvPr>
          <p:cNvSpPr txBox="1"/>
          <p:nvPr/>
        </p:nvSpPr>
        <p:spPr>
          <a:xfrm>
            <a:off x="4610100" y="2057400"/>
            <a:ext cx="2997200" cy="228600"/>
          </a:xfrm>
          <a:prstGeom prst="rect">
            <a:avLst/>
          </a:prstGeom>
          <a:noFill/>
        </p:spPr>
        <p:txBody>
          <a:bodyPr vertOverflow="overflow" vert="horz" wrap="square" rtlCol="0" anchor="t">
            <a:noAutofit/>
          </a:bodyPr>
          <a:lstStyle/>
          <a:p>
            <a:pPr algn="l"/>
            <a:r>
              <a:rPr lang="en-US" sz="1400">
                <a:solidFill>
                  <a:srgbClr val="8A929C"/>
                </a:solidFill>
                <a:latin typeface="Segoe UI"/>
                <a:cs typeface="Segoe UI"/>
              </a:rPr>
              <a:t>YAML and JSON read by Grafana</a:t>
            </a:r>
          </a:p>
        </p:txBody>
      </p:sp>
      <p:sp>
        <p:nvSpPr>
          <p:cNvPr id="14" name="TextBox 13">
            <a:extLst>
              <a:ext uri="{FF2B5EF4-FFF2-40B4-BE49-F238E27FC236}">
                <a16:creationId xmlns:a16="http://schemas.microsoft.com/office/drawing/2014/main" id="{6B6C58D3-78B4-4CAC-AB17-2BF8EC9D3157}"/>
              </a:ext>
            </a:extLst>
          </p:cNvPr>
          <p:cNvSpPr txBox="1"/>
          <p:nvPr/>
        </p:nvSpPr>
        <p:spPr>
          <a:xfrm>
            <a:off x="4610100" y="2387600"/>
            <a:ext cx="2997200" cy="22606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Declarative - Grafana reconciles on
a timer, for free.
Good for  dashboards and data sources
that must exist on every instance.
Weak spot  no permissions, no teams,
no cross-service dependencies.</a:t>
            </a:r>
          </a:p>
        </p:txBody>
      </p:sp>
      <p:sp>
        <p:nvSpPr>
          <p:cNvPr id="15" name="Rectangle: Rounded Corners 14">
            <a:extLst>
              <a:ext uri="{FF2B5EF4-FFF2-40B4-BE49-F238E27FC236}">
                <a16:creationId xmlns:a16="http://schemas.microsoft.com/office/drawing/2014/main" id="{1C4A3410-D779-4B3B-8E05-DD94DB0BD4F8}"/>
              </a:ext>
            </a:extLst>
          </p:cNvPr>
          <p:cNvSpPr/>
          <p:nvPr/>
        </p:nvSpPr>
        <p:spPr>
          <a:xfrm>
            <a:off x="8001000" y="1498600"/>
            <a:ext cx="3429000" cy="32766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EC4157E9-B0E2-4684-B4CF-7410A231DA05}"/>
              </a:ext>
            </a:extLst>
          </p:cNvPr>
          <p:cNvSpPr/>
          <p:nvPr/>
        </p:nvSpPr>
        <p:spPr>
          <a:xfrm>
            <a:off x="8001000" y="1498600"/>
            <a:ext cx="3429000" cy="508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3AC9D5A1-C8D8-4FD6-A205-162861F2F8D6}"/>
              </a:ext>
            </a:extLst>
          </p:cNvPr>
          <p:cNvSpPr txBox="1"/>
          <p:nvPr/>
        </p:nvSpPr>
        <p:spPr>
          <a:xfrm>
            <a:off x="8229600" y="1701800"/>
            <a:ext cx="2971800" cy="304800"/>
          </a:xfrm>
          <a:prstGeom prst="rect">
            <a:avLst/>
          </a:prstGeom>
          <a:noFill/>
        </p:spPr>
        <p:txBody>
          <a:bodyPr vertOverflow="overflow" vert="horz" wrap="square" rtlCol="0" anchor="t">
            <a:noAutofit/>
          </a:bodyPr>
          <a:lstStyle/>
          <a:p>
            <a:pPr algn="l"/>
            <a:r>
              <a:rPr lang="en-US" sz="1900" b="1">
                <a:solidFill>
                  <a:srgbClr val="73BF69"/>
                </a:solidFill>
                <a:latin typeface="Segoe UI"/>
                <a:cs typeface="Segoe UI"/>
              </a:rPr>
              <a:t>Terraform</a:t>
            </a:r>
          </a:p>
        </p:txBody>
      </p:sp>
      <p:sp>
        <p:nvSpPr>
          <p:cNvPr id="18" name="TextBox 17">
            <a:extLst>
              <a:ext uri="{FF2B5EF4-FFF2-40B4-BE49-F238E27FC236}">
                <a16:creationId xmlns:a16="http://schemas.microsoft.com/office/drawing/2014/main" id="{A5EEEBD0-1D65-4601-8766-1637F903F057}"/>
              </a:ext>
            </a:extLst>
          </p:cNvPr>
          <p:cNvSpPr txBox="1"/>
          <p:nvPr/>
        </p:nvSpPr>
        <p:spPr>
          <a:xfrm>
            <a:off x="8229600" y="2057400"/>
            <a:ext cx="2997200" cy="228600"/>
          </a:xfrm>
          <a:prstGeom prst="rect">
            <a:avLst/>
          </a:prstGeom>
          <a:noFill/>
        </p:spPr>
        <p:txBody>
          <a:bodyPr vertOverflow="overflow" vert="horz" wrap="square" rtlCol="0" anchor="t">
            <a:noAutofit/>
          </a:bodyPr>
          <a:lstStyle/>
          <a:p>
            <a:pPr algn="l"/>
            <a:r>
              <a:rPr lang="en-US" sz="1400">
                <a:solidFill>
                  <a:srgbClr val="8A929C"/>
                </a:solidFill>
                <a:latin typeface="Segoe UI"/>
                <a:cs typeface="Segoe UI"/>
              </a:rPr>
              <a:t>A provider that talks to the API</a:t>
            </a:r>
          </a:p>
        </p:txBody>
      </p:sp>
      <p:sp>
        <p:nvSpPr>
          <p:cNvPr id="19" name="TextBox 18">
            <a:extLst>
              <a:ext uri="{FF2B5EF4-FFF2-40B4-BE49-F238E27FC236}">
                <a16:creationId xmlns:a16="http://schemas.microsoft.com/office/drawing/2014/main" id="{3242EBFC-F89A-4A46-B8CB-28E2E3D4789A}"/>
              </a:ext>
            </a:extLst>
          </p:cNvPr>
          <p:cNvSpPr txBox="1"/>
          <p:nvPr/>
        </p:nvSpPr>
        <p:spPr>
          <a:xfrm>
            <a:off x="8229600" y="2387600"/>
            <a:ext cx="2997200" cy="22606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Declarative with state - it knows
what it created last time.
Good for  folders, permissions, teams,
alerting, whole environments.
Weak spot  state file to look after,
and one more tool for the team.</a:t>
            </a:r>
          </a:p>
        </p:txBody>
      </p:sp>
      <p:sp>
        <p:nvSpPr>
          <p:cNvPr id="20" name="Rectangle: Rounded Corners 19">
            <a:extLst>
              <a:ext uri="{FF2B5EF4-FFF2-40B4-BE49-F238E27FC236}">
                <a16:creationId xmlns:a16="http://schemas.microsoft.com/office/drawing/2014/main" id="{83C76A9F-E6CE-4EB7-A50C-8C810BB8AB67}"/>
              </a:ext>
            </a:extLst>
          </p:cNvPr>
          <p:cNvSpPr/>
          <p:nvPr/>
        </p:nvSpPr>
        <p:spPr>
          <a:xfrm>
            <a:off x="762000" y="4953000"/>
            <a:ext cx="10668000" cy="1270000"/>
          </a:xfrm>
          <a:prstGeom prst="roundRect">
            <a:avLst/>
          </a:prstGeom>
          <a:solidFill>
            <a:srgbClr val="181B1F"/>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28DCB188-1E7C-4D6E-95F5-FFA88C6D1857}"/>
              </a:ext>
            </a:extLst>
          </p:cNvPr>
          <p:cNvSpPr txBox="1"/>
          <p:nvPr/>
        </p:nvSpPr>
        <p:spPr>
          <a:xfrm>
            <a:off x="1016000" y="5080000"/>
            <a:ext cx="5080000" cy="2540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The rule we recommend</a:t>
            </a:r>
          </a:p>
        </p:txBody>
      </p:sp>
      <p:sp>
        <p:nvSpPr>
          <p:cNvPr id="22" name="TextBox 21">
            <a:extLst>
              <a:ext uri="{FF2B5EF4-FFF2-40B4-BE49-F238E27FC236}">
                <a16:creationId xmlns:a16="http://schemas.microsoft.com/office/drawing/2014/main" id="{A8987D56-4EB3-429C-9FA3-EE7990124C15}"/>
              </a:ext>
            </a:extLst>
          </p:cNvPr>
          <p:cNvSpPr txBox="1"/>
          <p:nvPr/>
        </p:nvSpPr>
        <p:spPr>
          <a:xfrm>
            <a:off x="1016000" y="5384800"/>
            <a:ext cx="10160000" cy="7620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Data sources and shared dashboards → provisioning files.   Folders, teams, permissions and alerting → Terraform.   Anything one-off or investigative → a script you throw away afterwards.   Whichever you choose for an object, that object never gets touched by hand again.</a:t>
            </a:r>
          </a:p>
        </p:txBody>
      </p:sp>
    </p:spTree>
    <p:extLst>
      <p:ext uri="{BB962C8B-B14F-4D97-AF65-F5344CB8AC3E}">
        <p14:creationId xmlns:p14="http://schemas.microsoft.com/office/powerpoint/2010/main" val="557735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B1CBB-8D8F-FA93-A614-6F0C839B5883}"/>
              </a:ext>
            </a:extLst>
          </p:cNvPr>
          <p:cNvSpPr>
            <a:spLocks noGrp="1"/>
          </p:cNvSpPr>
          <p:nvPr>
            <p:ph type="title"/>
          </p:nvPr>
        </p:nvSpPr>
        <p:spPr>
          <a:xfrm>
            <a:off x="762000" y="406400"/>
            <a:ext cx="10668000" cy="533400"/>
          </a:xfrm>
        </p:spPr>
        <p:txBody>
          <a:bodyPr>
            <a:normAutofit/>
          </a:bodyPr>
          <a:lstStyle/>
          <a:p>
            <a:r>
              <a:rPr lang="en-US" sz="3000" b="1"/>
              <a:t>The Grafana Terraform Provider</a:t>
            </a:r>
          </a:p>
        </p:txBody>
      </p:sp>
      <p:sp>
        <p:nvSpPr>
          <p:cNvPr id="3" name="Rectangle 2">
            <a:extLst>
              <a:ext uri="{FF2B5EF4-FFF2-40B4-BE49-F238E27FC236}">
                <a16:creationId xmlns:a16="http://schemas.microsoft.com/office/drawing/2014/main" id="{E2B042F4-51EF-4909-BF1A-211E2A5B20FA}"/>
              </a:ext>
            </a:extLst>
          </p:cNvPr>
          <p:cNvSpPr/>
          <p:nvPr/>
        </p:nvSpPr>
        <p:spPr>
          <a:xfrm>
            <a:off x="762000" y="1016000"/>
            <a:ext cx="889000" cy="381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C9AA1AC3-2DA8-4D2E-B73A-CA1005B96847}"/>
              </a:ext>
            </a:extLst>
          </p:cNvPr>
          <p:cNvSpPr txBox="1"/>
          <p:nvPr/>
        </p:nvSpPr>
        <p:spPr>
          <a:xfrm>
            <a:off x="762000" y="1143000"/>
            <a:ext cx="10160000" cy="279400"/>
          </a:xfrm>
          <a:prstGeom prst="rect">
            <a:avLst/>
          </a:prstGeom>
          <a:noFill/>
        </p:spPr>
        <p:txBody>
          <a:bodyPr vertOverflow="overflow" vert="horz" wrap="square" rtlCol="0" anchor="t">
            <a:noAutofit/>
          </a:bodyPr>
          <a:lstStyle/>
          <a:p>
            <a:pPr algn="l"/>
            <a:r>
              <a:rPr lang="en-US" sz="1500" dirty="0">
                <a:solidFill>
                  <a:srgbClr val="A8B0BA"/>
                </a:solidFill>
                <a:latin typeface="Segoe UI"/>
                <a:cs typeface="Segoe UI"/>
              </a:rPr>
              <a:t>One provider, authenticated with a service account token - the same token you made in Lab 1.</a:t>
            </a:r>
          </a:p>
        </p:txBody>
      </p:sp>
      <p:sp>
        <p:nvSpPr>
          <p:cNvPr id="5" name="Rectangle: Rounded Corners 4">
            <a:extLst>
              <a:ext uri="{FF2B5EF4-FFF2-40B4-BE49-F238E27FC236}">
                <a16:creationId xmlns:a16="http://schemas.microsoft.com/office/drawing/2014/main" id="{648F21B3-1CA2-4195-A7BA-EECA9634D52A}"/>
              </a:ext>
            </a:extLst>
          </p:cNvPr>
          <p:cNvSpPr/>
          <p:nvPr/>
        </p:nvSpPr>
        <p:spPr>
          <a:xfrm>
            <a:off x="762000" y="1498600"/>
            <a:ext cx="5588000" cy="34290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A8ACF6E8-46C7-4846-8E68-EAF31FA9523C}"/>
              </a:ext>
            </a:extLst>
          </p:cNvPr>
          <p:cNvSpPr txBox="1"/>
          <p:nvPr/>
        </p:nvSpPr>
        <p:spPr>
          <a:xfrm>
            <a:off x="990600" y="1625600"/>
            <a:ext cx="38100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provider.tf</a:t>
            </a:r>
          </a:p>
        </p:txBody>
      </p:sp>
      <p:sp>
        <p:nvSpPr>
          <p:cNvPr id="7" name="TextBox 6">
            <a:extLst>
              <a:ext uri="{FF2B5EF4-FFF2-40B4-BE49-F238E27FC236}">
                <a16:creationId xmlns:a16="http://schemas.microsoft.com/office/drawing/2014/main" id="{8C57093C-4A32-4D65-B85A-72497B4F9554}"/>
              </a:ext>
            </a:extLst>
          </p:cNvPr>
          <p:cNvSpPr txBox="1"/>
          <p:nvPr/>
        </p:nvSpPr>
        <p:spPr>
          <a:xfrm>
            <a:off x="990600" y="1930400"/>
            <a:ext cx="5130800" cy="2895600"/>
          </a:xfrm>
          <a:prstGeom prst="rect">
            <a:avLst/>
          </a:prstGeom>
          <a:noFill/>
        </p:spPr>
        <p:txBody>
          <a:bodyPr vertOverflow="overflow" vert="horz" wrap="none" rtlCol="0" anchor="t">
            <a:noAutofit/>
          </a:bodyPr>
          <a:lstStyle/>
          <a:p>
            <a:pPr algn="l"/>
            <a:r>
              <a:rPr lang="en-US" sz="1400">
                <a:solidFill>
                  <a:srgbClr val="C8CDD4"/>
                </a:solidFill>
                <a:latin typeface="Consolas"/>
              </a:rPr>
              <a:t>terraform {
  required_version = "&gt;= 1.5"
  required_providers {
    grafana = {
      source  = "grafana/grafana"
      version = "~&gt; 3.0"
    }
  }
}
provider "grafana" {
  url  = var.grafana_url    # http://localhost:3000
  auth = var.grafana_token  # glsa_… , never hard-coded
}</a:t>
            </a:r>
          </a:p>
        </p:txBody>
      </p:sp>
      <p:graphicFrame>
        <p:nvGraphicFramePr>
          <p:cNvPr id="9" name="Table 8">
            <a:extLst>
              <a:ext uri="{FF2B5EF4-FFF2-40B4-BE49-F238E27FC236}">
                <a16:creationId xmlns:a16="http://schemas.microsoft.com/office/drawing/2014/main" id="{A69E5BAE-BE6C-45EE-9FBE-E6B72108B520}"/>
              </a:ext>
            </a:extLst>
          </p:cNvPr>
          <p:cNvGraphicFramePr>
            <a:graphicFrameLocks noGrp="1"/>
          </p:cNvGraphicFramePr>
          <p:nvPr>
            <p:extLst>
              <p:ext uri="{D42A27DB-BD31-4B8C-83A1-F6EECF244321}">
                <p14:modId xmlns:p14="http://schemas.microsoft.com/office/powerpoint/2010/main" val="3252214121"/>
              </p:ext>
            </p:extLst>
          </p:nvPr>
        </p:nvGraphicFramePr>
        <p:xfrm>
          <a:off x="6604000" y="1498600"/>
          <a:ext cx="4826000" cy="3393440"/>
        </p:xfrm>
        <a:graphic>
          <a:graphicData uri="http://schemas.openxmlformats.org/drawingml/2006/table">
            <a:tbl>
              <a:tblPr firstRow="1" bandRow="1">
                <a:tableStyleId>{5C22544A-7EE6-4342-B048-85BDC9FD1C3A}</a:tableStyleId>
              </a:tblPr>
              <a:tblGrid>
                <a:gridCol w="2603500">
                  <a:extLst>
                    <a:ext uri="{9D8B030D-6E8A-4147-A177-3AD203B41FA5}">
                      <a16:colId xmlns:a16="http://schemas.microsoft.com/office/drawing/2014/main" val="683244229"/>
                    </a:ext>
                  </a:extLst>
                </a:gridCol>
                <a:gridCol w="2222500">
                  <a:extLst>
                    <a:ext uri="{9D8B030D-6E8A-4147-A177-3AD203B41FA5}">
                      <a16:colId xmlns:a16="http://schemas.microsoft.com/office/drawing/2014/main" val="3812645348"/>
                    </a:ext>
                  </a:extLst>
                </a:gridCol>
              </a:tblGrid>
              <a:tr h="330200">
                <a:tc>
                  <a:txBody>
                    <a:bodyPr/>
                    <a:lstStyle/>
                    <a:p>
                      <a:r>
                        <a:rPr lang="en-US" sz="1500" b="1">
                          <a:solidFill>
                            <a:srgbClr val="73BF69"/>
                          </a:solidFill>
                        </a:rPr>
                        <a:t>Resource</a:t>
                      </a:r>
                    </a:p>
                  </a:txBody>
                  <a:tcPr anchor="ctr">
                    <a:solidFill>
                      <a:srgbClr val="122015"/>
                    </a:solidFill>
                  </a:tcPr>
                </a:tc>
                <a:tc>
                  <a:txBody>
                    <a:bodyPr/>
                    <a:lstStyle/>
                    <a:p>
                      <a:r>
                        <a:rPr lang="en-US" sz="1500" b="1">
                          <a:solidFill>
                            <a:srgbClr val="73BF69"/>
                          </a:solidFill>
                        </a:rPr>
                        <a:t>What it manages</a:t>
                      </a:r>
                    </a:p>
                  </a:txBody>
                  <a:tcPr anchor="ctr">
                    <a:solidFill>
                      <a:srgbClr val="122015"/>
                    </a:solidFill>
                  </a:tcPr>
                </a:tc>
                <a:extLst>
                  <a:ext uri="{0D108BD9-81ED-4DB2-BD59-A6C34878D82A}">
                    <a16:rowId xmlns:a16="http://schemas.microsoft.com/office/drawing/2014/main" val="2949332048"/>
                  </a:ext>
                </a:extLst>
              </a:tr>
              <a:tr h="330200">
                <a:tc>
                  <a:txBody>
                    <a:bodyPr/>
                    <a:lstStyle/>
                    <a:p>
                      <a:r>
                        <a:rPr lang="en-US" sz="1400">
                          <a:solidFill>
                            <a:srgbClr val="FFFFFF"/>
                          </a:solidFill>
                          <a:latin typeface="Consolas"/>
                        </a:rPr>
                        <a:t>grafana_folder</a:t>
                      </a:r>
                    </a:p>
                  </a:txBody>
                  <a:tcPr anchor="ctr">
                    <a:solidFill>
                      <a:srgbClr val="1B1E24"/>
                    </a:solidFill>
                  </a:tcPr>
                </a:tc>
                <a:tc>
                  <a:txBody>
                    <a:bodyPr/>
                    <a:lstStyle/>
                    <a:p>
                      <a:r>
                        <a:rPr lang="en-US" sz="1400">
                          <a:solidFill>
                            <a:srgbClr val="B4BCC6"/>
                          </a:solidFill>
                          <a:latin typeface="Segoe UI"/>
                          <a:cs typeface="Segoe UI"/>
                        </a:rPr>
                        <a:t>Folders, including nested ones</a:t>
                      </a:r>
                    </a:p>
                  </a:txBody>
                  <a:tcPr anchor="ctr">
                    <a:solidFill>
                      <a:srgbClr val="1B1E24"/>
                    </a:solidFill>
                  </a:tcPr>
                </a:tc>
                <a:extLst>
                  <a:ext uri="{0D108BD9-81ED-4DB2-BD59-A6C34878D82A}">
                    <a16:rowId xmlns:a16="http://schemas.microsoft.com/office/drawing/2014/main" val="2760553316"/>
                  </a:ext>
                </a:extLst>
              </a:tr>
              <a:tr h="330200">
                <a:tc>
                  <a:txBody>
                    <a:bodyPr/>
                    <a:lstStyle/>
                    <a:p>
                      <a:r>
                        <a:rPr lang="en-US" sz="1400">
                          <a:solidFill>
                            <a:srgbClr val="FFFFFF"/>
                          </a:solidFill>
                          <a:latin typeface="Consolas"/>
                        </a:rPr>
                        <a:t>grafana_dashboard</a:t>
                      </a:r>
                    </a:p>
                  </a:txBody>
                  <a:tcPr anchor="ctr">
                    <a:solidFill>
                      <a:srgbClr val="181B1F"/>
                    </a:solidFill>
                  </a:tcPr>
                </a:tc>
                <a:tc>
                  <a:txBody>
                    <a:bodyPr/>
                    <a:lstStyle/>
                    <a:p>
                      <a:r>
                        <a:rPr lang="en-US" sz="1400">
                          <a:solidFill>
                            <a:srgbClr val="B4BCC6"/>
                          </a:solidFill>
                          <a:latin typeface="Segoe UI"/>
                          <a:cs typeface="Segoe UI"/>
                        </a:rPr>
                        <a:t>config_json = file("…")</a:t>
                      </a:r>
                    </a:p>
                  </a:txBody>
                  <a:tcPr anchor="ctr">
                    <a:solidFill>
                      <a:srgbClr val="181B1F"/>
                    </a:solidFill>
                  </a:tcPr>
                </a:tc>
                <a:extLst>
                  <a:ext uri="{0D108BD9-81ED-4DB2-BD59-A6C34878D82A}">
                    <a16:rowId xmlns:a16="http://schemas.microsoft.com/office/drawing/2014/main" val="56916620"/>
                  </a:ext>
                </a:extLst>
              </a:tr>
              <a:tr h="330200">
                <a:tc>
                  <a:txBody>
                    <a:bodyPr/>
                    <a:lstStyle/>
                    <a:p>
                      <a:r>
                        <a:rPr lang="en-US" sz="1400">
                          <a:solidFill>
                            <a:srgbClr val="FFFFFF"/>
                          </a:solidFill>
                          <a:latin typeface="Consolas"/>
                        </a:rPr>
                        <a:t>grafana_data_source</a:t>
                      </a:r>
                    </a:p>
                  </a:txBody>
                  <a:tcPr anchor="ctr">
                    <a:solidFill>
                      <a:srgbClr val="1B1E24"/>
                    </a:solidFill>
                  </a:tcPr>
                </a:tc>
                <a:tc>
                  <a:txBody>
                    <a:bodyPr/>
                    <a:lstStyle/>
                    <a:p>
                      <a:r>
                        <a:rPr lang="en-US" sz="1400">
                          <a:solidFill>
                            <a:srgbClr val="B4BCC6"/>
                          </a:solidFill>
                          <a:latin typeface="Segoe UI"/>
                          <a:cs typeface="Segoe UI"/>
                        </a:rPr>
                        <a:t>Connection plus secure fields</a:t>
                      </a:r>
                    </a:p>
                  </a:txBody>
                  <a:tcPr anchor="ctr">
                    <a:solidFill>
                      <a:srgbClr val="1B1E24"/>
                    </a:solidFill>
                  </a:tcPr>
                </a:tc>
                <a:extLst>
                  <a:ext uri="{0D108BD9-81ED-4DB2-BD59-A6C34878D82A}">
                    <a16:rowId xmlns:a16="http://schemas.microsoft.com/office/drawing/2014/main" val="4117251472"/>
                  </a:ext>
                </a:extLst>
              </a:tr>
              <a:tr h="330200">
                <a:tc>
                  <a:txBody>
                    <a:bodyPr/>
                    <a:lstStyle/>
                    <a:p>
                      <a:r>
                        <a:rPr lang="en-US" sz="1400">
                          <a:solidFill>
                            <a:srgbClr val="FFFFFF"/>
                          </a:solidFill>
                          <a:latin typeface="Consolas"/>
                        </a:rPr>
                        <a:t>grafana_team</a:t>
                      </a:r>
                    </a:p>
                  </a:txBody>
                  <a:tcPr anchor="ctr">
                    <a:solidFill>
                      <a:srgbClr val="181B1F"/>
                    </a:solidFill>
                  </a:tcPr>
                </a:tc>
                <a:tc>
                  <a:txBody>
                    <a:bodyPr/>
                    <a:lstStyle/>
                    <a:p>
                      <a:r>
                        <a:rPr lang="en-US" sz="1400">
                          <a:solidFill>
                            <a:srgbClr val="B4BCC6"/>
                          </a:solidFill>
                          <a:latin typeface="Segoe UI"/>
                          <a:cs typeface="Segoe UI"/>
                        </a:rPr>
                        <a:t>Teams and their members</a:t>
                      </a:r>
                    </a:p>
                  </a:txBody>
                  <a:tcPr anchor="ctr">
                    <a:solidFill>
                      <a:srgbClr val="181B1F"/>
                    </a:solidFill>
                  </a:tcPr>
                </a:tc>
                <a:extLst>
                  <a:ext uri="{0D108BD9-81ED-4DB2-BD59-A6C34878D82A}">
                    <a16:rowId xmlns:a16="http://schemas.microsoft.com/office/drawing/2014/main" val="2078839470"/>
                  </a:ext>
                </a:extLst>
              </a:tr>
              <a:tr h="330200">
                <a:tc>
                  <a:txBody>
                    <a:bodyPr/>
                    <a:lstStyle/>
                    <a:p>
                      <a:r>
                        <a:rPr lang="en-US" sz="1400">
                          <a:solidFill>
                            <a:srgbClr val="FFFFFF"/>
                          </a:solidFill>
                          <a:latin typeface="Consolas"/>
                        </a:rPr>
                        <a:t>grafana_folder_permission</a:t>
                      </a:r>
                    </a:p>
                  </a:txBody>
                  <a:tcPr anchor="ctr">
                    <a:solidFill>
                      <a:srgbClr val="1B1E24"/>
                    </a:solidFill>
                  </a:tcPr>
                </a:tc>
                <a:tc>
                  <a:txBody>
                    <a:bodyPr/>
                    <a:lstStyle/>
                    <a:p>
                      <a:r>
                        <a:rPr lang="en-US" sz="1400">
                          <a:solidFill>
                            <a:srgbClr val="B4BCC6"/>
                          </a:solidFill>
                          <a:latin typeface="Segoe UI"/>
                          <a:cs typeface="Segoe UI"/>
                        </a:rPr>
                        <a:t>Who can view or edit a folder</a:t>
                      </a:r>
                    </a:p>
                  </a:txBody>
                  <a:tcPr anchor="ctr">
                    <a:solidFill>
                      <a:srgbClr val="1B1E24"/>
                    </a:solidFill>
                  </a:tcPr>
                </a:tc>
                <a:extLst>
                  <a:ext uri="{0D108BD9-81ED-4DB2-BD59-A6C34878D82A}">
                    <a16:rowId xmlns:a16="http://schemas.microsoft.com/office/drawing/2014/main" val="3025994902"/>
                  </a:ext>
                </a:extLst>
              </a:tr>
              <a:tr h="330200">
                <a:tc>
                  <a:txBody>
                    <a:bodyPr/>
                    <a:lstStyle/>
                    <a:p>
                      <a:r>
                        <a:rPr lang="en-US" sz="1400">
                          <a:solidFill>
                            <a:srgbClr val="FFFFFF"/>
                          </a:solidFill>
                          <a:latin typeface="Consolas"/>
                        </a:rPr>
                        <a:t>grafana_service_account_token</a:t>
                      </a:r>
                    </a:p>
                  </a:txBody>
                  <a:tcPr anchor="ctr">
                    <a:solidFill>
                      <a:srgbClr val="181B1F"/>
                    </a:solidFill>
                  </a:tcPr>
                </a:tc>
                <a:tc>
                  <a:txBody>
                    <a:bodyPr/>
                    <a:lstStyle/>
                    <a:p>
                      <a:r>
                        <a:rPr lang="en-US" sz="1400">
                          <a:solidFill>
                            <a:srgbClr val="B4BCC6"/>
                          </a:solidFill>
                          <a:latin typeface="Segoe UI"/>
                          <a:cs typeface="Segoe UI"/>
                        </a:rPr>
                        <a:t>Tokens for other pipelines</a:t>
                      </a:r>
                    </a:p>
                  </a:txBody>
                  <a:tcPr anchor="ctr">
                    <a:solidFill>
                      <a:srgbClr val="181B1F"/>
                    </a:solidFill>
                  </a:tcPr>
                </a:tc>
                <a:extLst>
                  <a:ext uri="{0D108BD9-81ED-4DB2-BD59-A6C34878D82A}">
                    <a16:rowId xmlns:a16="http://schemas.microsoft.com/office/drawing/2014/main" val="2162503883"/>
                  </a:ext>
                </a:extLst>
              </a:tr>
              <a:tr h="330200">
                <a:tc>
                  <a:txBody>
                    <a:bodyPr/>
                    <a:lstStyle/>
                    <a:p>
                      <a:r>
                        <a:rPr lang="en-US" sz="1400">
                          <a:solidFill>
                            <a:srgbClr val="FFFFFF"/>
                          </a:solidFill>
                          <a:latin typeface="Consolas"/>
                        </a:rPr>
                        <a:t>grafana_rule_group</a:t>
                      </a:r>
                    </a:p>
                  </a:txBody>
                  <a:tcPr anchor="ctr">
                    <a:solidFill>
                      <a:srgbClr val="1B1E24"/>
                    </a:solidFill>
                  </a:tcPr>
                </a:tc>
                <a:tc>
                  <a:txBody>
                    <a:bodyPr/>
                    <a:lstStyle/>
                    <a:p>
                      <a:r>
                        <a:rPr lang="en-US" sz="1400">
                          <a:solidFill>
                            <a:srgbClr val="B4BCC6"/>
                          </a:solidFill>
                          <a:latin typeface="Segoe UI"/>
                          <a:cs typeface="Segoe UI"/>
                        </a:rPr>
                        <a:t>Alert rules as code</a:t>
                      </a:r>
                    </a:p>
                  </a:txBody>
                  <a:tcPr anchor="ctr">
                    <a:solidFill>
                      <a:srgbClr val="1B1E24"/>
                    </a:solidFill>
                  </a:tcPr>
                </a:tc>
                <a:extLst>
                  <a:ext uri="{0D108BD9-81ED-4DB2-BD59-A6C34878D82A}">
                    <a16:rowId xmlns:a16="http://schemas.microsoft.com/office/drawing/2014/main" val="114226141"/>
                  </a:ext>
                </a:extLst>
              </a:tr>
            </a:tbl>
          </a:graphicData>
        </a:graphic>
      </p:graphicFrame>
      <p:sp>
        <p:nvSpPr>
          <p:cNvPr id="12" name="Rectangle: Rounded Corners 11">
            <a:extLst>
              <a:ext uri="{FF2B5EF4-FFF2-40B4-BE49-F238E27FC236}">
                <a16:creationId xmlns:a16="http://schemas.microsoft.com/office/drawing/2014/main" id="{51F86602-C34F-4707-B795-3479DFC41827}"/>
              </a:ext>
            </a:extLst>
          </p:cNvPr>
          <p:cNvSpPr/>
          <p:nvPr/>
        </p:nvSpPr>
        <p:spPr>
          <a:xfrm>
            <a:off x="762000" y="5054600"/>
            <a:ext cx="10668000" cy="1168400"/>
          </a:xfrm>
          <a:prstGeom prst="roundRect">
            <a:avLst/>
          </a:prstGeom>
          <a:solidFill>
            <a:srgbClr val="181B1F"/>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27F8055D-2243-43BB-8BD4-0DBFE41E2253}"/>
              </a:ext>
            </a:extLst>
          </p:cNvPr>
          <p:cNvSpPr txBox="1"/>
          <p:nvPr/>
        </p:nvSpPr>
        <p:spPr>
          <a:xfrm>
            <a:off x="1016000" y="5181600"/>
            <a:ext cx="6350000" cy="2540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Authentication, without leaking anything</a:t>
            </a:r>
          </a:p>
        </p:txBody>
      </p:sp>
      <p:sp>
        <p:nvSpPr>
          <p:cNvPr id="14" name="TextBox 13">
            <a:extLst>
              <a:ext uri="{FF2B5EF4-FFF2-40B4-BE49-F238E27FC236}">
                <a16:creationId xmlns:a16="http://schemas.microsoft.com/office/drawing/2014/main" id="{ECC0FB70-50FF-4714-B5E1-A7566A95BA5F}"/>
              </a:ext>
            </a:extLst>
          </p:cNvPr>
          <p:cNvSpPr txBox="1"/>
          <p:nvPr/>
        </p:nvSpPr>
        <p:spPr>
          <a:xfrm>
            <a:off x="1016000" y="5486400"/>
            <a:ext cx="10160000" cy="6096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The provider reads GRAFANA_URL and GRAFANA_AUTH from the environment, so no token ever lands in a .tf file or in state you commit. In CI, inject it as a masked secret. Use one service account per environment, so revoking a token breaks exactly one pipeline.</a:t>
            </a:r>
          </a:p>
        </p:txBody>
      </p:sp>
    </p:spTree>
    <p:extLst>
      <p:ext uri="{BB962C8B-B14F-4D97-AF65-F5344CB8AC3E}">
        <p14:creationId xmlns:p14="http://schemas.microsoft.com/office/powerpoint/2010/main" val="2795766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161-D97F-CAA4-47E3-1335B7E8ADA7}"/>
              </a:ext>
            </a:extLst>
          </p:cNvPr>
          <p:cNvSpPr>
            <a:spLocks noGrp="1"/>
          </p:cNvSpPr>
          <p:nvPr>
            <p:ph type="title"/>
          </p:nvPr>
        </p:nvSpPr>
        <p:spPr>
          <a:xfrm>
            <a:off x="762000" y="406400"/>
            <a:ext cx="10668000" cy="533400"/>
          </a:xfrm>
        </p:spPr>
        <p:txBody>
          <a:bodyPr>
            <a:normAutofit/>
          </a:bodyPr>
          <a:lstStyle/>
          <a:p>
            <a:r>
              <a:rPr lang="en-US" sz="2800" b="1"/>
              <a:t>Provisioning Folders, Data Sources &amp; Dashboards</a:t>
            </a:r>
          </a:p>
        </p:txBody>
      </p:sp>
      <p:sp>
        <p:nvSpPr>
          <p:cNvPr id="3" name="Rectangle 2">
            <a:extLst>
              <a:ext uri="{FF2B5EF4-FFF2-40B4-BE49-F238E27FC236}">
                <a16:creationId xmlns:a16="http://schemas.microsoft.com/office/drawing/2014/main" id="{55B6D3F1-771E-4936-93A7-AC275C24DF7E}"/>
              </a:ext>
            </a:extLst>
          </p:cNvPr>
          <p:cNvSpPr/>
          <p:nvPr/>
        </p:nvSpPr>
        <p:spPr>
          <a:xfrm>
            <a:off x="762000" y="1016000"/>
            <a:ext cx="889000" cy="381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16E79024-0F57-41D5-A07D-AB748ACF613F}"/>
              </a:ext>
            </a:extLst>
          </p:cNvPr>
          <p:cNvSpPr txBox="1"/>
          <p:nvPr/>
        </p:nvSpPr>
        <p:spPr>
          <a:xfrm>
            <a:off x="762000" y="1143000"/>
            <a:ext cx="9652000" cy="279400"/>
          </a:xfrm>
          <a:prstGeom prst="rect">
            <a:avLst/>
          </a:prstGeom>
          <a:noFill/>
        </p:spPr>
        <p:txBody>
          <a:bodyPr vertOverflow="overflow" vert="horz" wrap="square" rtlCol="0" anchor="t">
            <a:noAutofit/>
          </a:bodyPr>
          <a:lstStyle/>
          <a:p>
            <a:pPr algn="l"/>
            <a:r>
              <a:rPr lang="en-US" sz="1500" dirty="0">
                <a:solidFill>
                  <a:srgbClr val="A8B0BA"/>
                </a:solidFill>
                <a:latin typeface="Segoe UI"/>
                <a:cs typeface="Segoe UI"/>
              </a:rPr>
              <a:t>Three resources, one file - and the dashboard JSON stays a normal JSON file.</a:t>
            </a:r>
          </a:p>
        </p:txBody>
      </p:sp>
      <p:sp>
        <p:nvSpPr>
          <p:cNvPr id="5" name="Rectangle: Rounded Corners 4">
            <a:extLst>
              <a:ext uri="{FF2B5EF4-FFF2-40B4-BE49-F238E27FC236}">
                <a16:creationId xmlns:a16="http://schemas.microsoft.com/office/drawing/2014/main" id="{A5DA4F35-2A06-4306-B5FF-E51C3CA2A4F7}"/>
              </a:ext>
            </a:extLst>
          </p:cNvPr>
          <p:cNvSpPr/>
          <p:nvPr/>
        </p:nvSpPr>
        <p:spPr>
          <a:xfrm>
            <a:off x="762000" y="1473200"/>
            <a:ext cx="5969000" cy="40640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121CA2CA-3CEB-4475-9758-2D57CEC2A935}"/>
              </a:ext>
            </a:extLst>
          </p:cNvPr>
          <p:cNvSpPr txBox="1"/>
          <p:nvPr/>
        </p:nvSpPr>
        <p:spPr>
          <a:xfrm>
            <a:off x="990600" y="1600200"/>
            <a:ext cx="38100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main.tf</a:t>
            </a:r>
          </a:p>
        </p:txBody>
      </p:sp>
      <p:sp>
        <p:nvSpPr>
          <p:cNvPr id="7" name="TextBox 6">
            <a:extLst>
              <a:ext uri="{FF2B5EF4-FFF2-40B4-BE49-F238E27FC236}">
                <a16:creationId xmlns:a16="http://schemas.microsoft.com/office/drawing/2014/main" id="{AF0A1B0F-DDAE-4053-B172-2E2E86E535BF}"/>
              </a:ext>
            </a:extLst>
          </p:cNvPr>
          <p:cNvSpPr txBox="1"/>
          <p:nvPr/>
        </p:nvSpPr>
        <p:spPr>
          <a:xfrm>
            <a:off x="990600" y="1905000"/>
            <a:ext cx="5511800" cy="3530600"/>
          </a:xfrm>
          <a:prstGeom prst="rect">
            <a:avLst/>
          </a:prstGeom>
          <a:noFill/>
        </p:spPr>
        <p:txBody>
          <a:bodyPr vertOverflow="overflow" vert="horz" wrap="none" rtlCol="0" anchor="t">
            <a:noAutofit/>
          </a:bodyPr>
          <a:lstStyle/>
          <a:p>
            <a:pPr algn="l"/>
            <a:r>
              <a:rPr lang="en-US" sz="1400">
                <a:solidFill>
                  <a:srgbClr val="C8CDD4"/>
                </a:solidFill>
                <a:latin typeface="Consolas"/>
              </a:rPr>
              <a:t>resource "grafana_folder" "platform" {
  title = "Platform"
  uid   = "platform"
}
resource "grafana_data_source" "prom" {
  type = "prometheus"
  name = "Prometheus"
  uid  = "prom-main"
  url  = "http://prometheus:9090"
  json_data_encoded = jsonencode({
    httpMethod = "POST"
  })
}
resource "grafana_dashboard" "node_health" {
  folder      = grafana_folder.platform.uid
  config_json = file("dashboards/node-health.json")
  overwrite   = true
}</a:t>
            </a:r>
          </a:p>
        </p:txBody>
      </p:sp>
      <p:sp>
        <p:nvSpPr>
          <p:cNvPr id="8" name="Rectangle: Rounded Corners 7">
            <a:extLst>
              <a:ext uri="{FF2B5EF4-FFF2-40B4-BE49-F238E27FC236}">
                <a16:creationId xmlns:a16="http://schemas.microsoft.com/office/drawing/2014/main" id="{AFA5A5B6-F594-4300-B51E-1F5A87FCFDBC}"/>
              </a:ext>
            </a:extLst>
          </p:cNvPr>
          <p:cNvSpPr/>
          <p:nvPr/>
        </p:nvSpPr>
        <p:spPr>
          <a:xfrm>
            <a:off x="6985000" y="1473200"/>
            <a:ext cx="4445000" cy="9652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705E9B53-8D38-4126-A370-7320E6907AF8}"/>
              </a:ext>
            </a:extLst>
          </p:cNvPr>
          <p:cNvSpPr txBox="1"/>
          <p:nvPr/>
        </p:nvSpPr>
        <p:spPr>
          <a:xfrm>
            <a:off x="7213600" y="1600200"/>
            <a:ext cx="39878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file() keeps JSON reviewable</a:t>
            </a:r>
          </a:p>
        </p:txBody>
      </p:sp>
      <p:sp>
        <p:nvSpPr>
          <p:cNvPr id="10" name="TextBox 9">
            <a:extLst>
              <a:ext uri="{FF2B5EF4-FFF2-40B4-BE49-F238E27FC236}">
                <a16:creationId xmlns:a16="http://schemas.microsoft.com/office/drawing/2014/main" id="{E3A826C8-696A-4AC2-A662-DC71D939122B}"/>
              </a:ext>
            </a:extLst>
          </p:cNvPr>
          <p:cNvSpPr txBox="1"/>
          <p:nvPr/>
        </p:nvSpPr>
        <p:spPr>
          <a:xfrm>
            <a:off x="7213600" y="1879600"/>
            <a:ext cx="4013200" cy="508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No escaping, no here-docs. The same file can be handed to provisioning or the API tomorrow.</a:t>
            </a:r>
          </a:p>
        </p:txBody>
      </p:sp>
      <p:sp>
        <p:nvSpPr>
          <p:cNvPr id="11" name="Rectangle: Rounded Corners 10">
            <a:extLst>
              <a:ext uri="{FF2B5EF4-FFF2-40B4-BE49-F238E27FC236}">
                <a16:creationId xmlns:a16="http://schemas.microsoft.com/office/drawing/2014/main" id="{997B7EFB-BDB7-46D7-9E56-72D7E3F8A0B3}"/>
              </a:ext>
            </a:extLst>
          </p:cNvPr>
          <p:cNvSpPr/>
          <p:nvPr/>
        </p:nvSpPr>
        <p:spPr>
          <a:xfrm>
            <a:off x="6985000" y="2514600"/>
            <a:ext cx="4445000" cy="9652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D6D89814-9CE0-4807-A467-D127A7EA8F60}"/>
              </a:ext>
            </a:extLst>
          </p:cNvPr>
          <p:cNvSpPr txBox="1"/>
          <p:nvPr/>
        </p:nvSpPr>
        <p:spPr>
          <a:xfrm>
            <a:off x="7213600" y="2641600"/>
            <a:ext cx="39878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for_each scales the pattern</a:t>
            </a:r>
          </a:p>
        </p:txBody>
      </p:sp>
      <p:sp>
        <p:nvSpPr>
          <p:cNvPr id="13" name="TextBox 12">
            <a:extLst>
              <a:ext uri="{FF2B5EF4-FFF2-40B4-BE49-F238E27FC236}">
                <a16:creationId xmlns:a16="http://schemas.microsoft.com/office/drawing/2014/main" id="{6C618442-989B-4A0C-8546-98ECE8D7BA03}"/>
              </a:ext>
            </a:extLst>
          </p:cNvPr>
          <p:cNvSpPr txBox="1"/>
          <p:nvPr/>
        </p:nvSpPr>
        <p:spPr>
          <a:xfrm>
            <a:off x="7213600" y="2921000"/>
            <a:ext cx="4013200" cy="508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One resource block plus a list of services gives you a dashboard per service, named consistently.</a:t>
            </a:r>
          </a:p>
        </p:txBody>
      </p:sp>
      <p:sp>
        <p:nvSpPr>
          <p:cNvPr id="14" name="Rectangle: Rounded Corners 13">
            <a:extLst>
              <a:ext uri="{FF2B5EF4-FFF2-40B4-BE49-F238E27FC236}">
                <a16:creationId xmlns:a16="http://schemas.microsoft.com/office/drawing/2014/main" id="{C3F06CEB-BCD1-47DE-90B5-29E23BB17EEB}"/>
              </a:ext>
            </a:extLst>
          </p:cNvPr>
          <p:cNvSpPr/>
          <p:nvPr/>
        </p:nvSpPr>
        <p:spPr>
          <a:xfrm>
            <a:off x="6985000" y="3556000"/>
            <a:ext cx="4445000" cy="965200"/>
          </a:xfrm>
          <a:prstGeom prst="roundRect">
            <a:avLst/>
          </a:prstGeom>
          <a:solidFill>
            <a:srgbClr val="1B1E24"/>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858A5AF0-6EC4-4374-B8C8-DD9D2D999B89}"/>
              </a:ext>
            </a:extLst>
          </p:cNvPr>
          <p:cNvSpPr txBox="1"/>
          <p:nvPr/>
        </p:nvSpPr>
        <p:spPr>
          <a:xfrm>
            <a:off x="7213600" y="3683000"/>
            <a:ext cx="3987800" cy="254000"/>
          </a:xfrm>
          <a:prstGeom prst="rect">
            <a:avLst/>
          </a:prstGeom>
          <a:noFill/>
        </p:spPr>
        <p:txBody>
          <a:bodyPr vertOverflow="overflow" vert="horz" wrap="square" rtlCol="0" anchor="t">
            <a:noAutofit/>
          </a:bodyPr>
          <a:lstStyle/>
          <a:p>
            <a:pPr algn="l"/>
            <a:r>
              <a:rPr lang="en-US" sz="1500" b="1">
                <a:solidFill>
                  <a:srgbClr val="B877D9"/>
                </a:solidFill>
                <a:latin typeface="Segoe UI"/>
                <a:cs typeface="Segoe UI"/>
              </a:rPr>
              <a:t>References set the order</a:t>
            </a:r>
          </a:p>
        </p:txBody>
      </p:sp>
      <p:sp>
        <p:nvSpPr>
          <p:cNvPr id="16" name="TextBox 15">
            <a:extLst>
              <a:ext uri="{FF2B5EF4-FFF2-40B4-BE49-F238E27FC236}">
                <a16:creationId xmlns:a16="http://schemas.microsoft.com/office/drawing/2014/main" id="{B47BDD45-8432-48C3-96C5-16DA171FE8E3}"/>
              </a:ext>
            </a:extLst>
          </p:cNvPr>
          <p:cNvSpPr txBox="1"/>
          <p:nvPr/>
        </p:nvSpPr>
        <p:spPr>
          <a:xfrm>
            <a:off x="7213600" y="3962400"/>
            <a:ext cx="4013200" cy="508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grafana_folder.platform.uid makes Terraform create the folder before the dashboard that needs it.</a:t>
            </a:r>
          </a:p>
        </p:txBody>
      </p:sp>
      <p:sp>
        <p:nvSpPr>
          <p:cNvPr id="17" name="Rectangle: Rounded Corners 16">
            <a:extLst>
              <a:ext uri="{FF2B5EF4-FFF2-40B4-BE49-F238E27FC236}">
                <a16:creationId xmlns:a16="http://schemas.microsoft.com/office/drawing/2014/main" id="{4DBEEA3C-1AAE-4EDA-B78E-65A3B2EDFD6F}"/>
              </a:ext>
            </a:extLst>
          </p:cNvPr>
          <p:cNvSpPr/>
          <p:nvPr/>
        </p:nvSpPr>
        <p:spPr>
          <a:xfrm>
            <a:off x="6985000" y="4597400"/>
            <a:ext cx="4445000" cy="965200"/>
          </a:xfrm>
          <a:prstGeom prst="roundRect">
            <a:avLst/>
          </a:prstGeom>
          <a:solidFill>
            <a:srgbClr val="1B1E24"/>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1800C7C3-9125-4746-8A66-FE1C25422CB3}"/>
              </a:ext>
            </a:extLst>
          </p:cNvPr>
          <p:cNvSpPr txBox="1"/>
          <p:nvPr/>
        </p:nvSpPr>
        <p:spPr>
          <a:xfrm>
            <a:off x="7213600" y="4724400"/>
            <a:ext cx="3987800" cy="254000"/>
          </a:xfrm>
          <a:prstGeom prst="rect">
            <a:avLst/>
          </a:prstGeom>
          <a:noFill/>
        </p:spPr>
        <p:txBody>
          <a:bodyPr vertOverflow="overflow" vert="horz" wrap="square" rtlCol="0" anchor="t">
            <a:noAutofit/>
          </a:bodyPr>
          <a:lstStyle/>
          <a:p>
            <a:pPr algn="l"/>
            <a:r>
              <a:rPr lang="en-US" sz="1500" b="1">
                <a:solidFill>
                  <a:srgbClr val="FADE2A"/>
                </a:solidFill>
                <a:latin typeface="Segoe UI"/>
                <a:cs typeface="Segoe UI"/>
              </a:rPr>
              <a:t>One codebase, many Grafanas</a:t>
            </a:r>
          </a:p>
        </p:txBody>
      </p:sp>
      <p:sp>
        <p:nvSpPr>
          <p:cNvPr id="19" name="TextBox 18">
            <a:extLst>
              <a:ext uri="{FF2B5EF4-FFF2-40B4-BE49-F238E27FC236}">
                <a16:creationId xmlns:a16="http://schemas.microsoft.com/office/drawing/2014/main" id="{3875F1F7-C64F-4887-BF1D-A14DC2CE24D6}"/>
              </a:ext>
            </a:extLst>
          </p:cNvPr>
          <p:cNvSpPr txBox="1"/>
          <p:nvPr/>
        </p:nvSpPr>
        <p:spPr>
          <a:xfrm>
            <a:off x="7213600" y="5003800"/>
            <a:ext cx="4013200" cy="508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Change only the provider url and token per workspace, then apply the identical configuration.</a:t>
            </a:r>
          </a:p>
        </p:txBody>
      </p:sp>
      <p:sp>
        <p:nvSpPr>
          <p:cNvPr id="20" name="TextBox 19">
            <a:extLst>
              <a:ext uri="{FF2B5EF4-FFF2-40B4-BE49-F238E27FC236}">
                <a16:creationId xmlns:a16="http://schemas.microsoft.com/office/drawing/2014/main" id="{D9AD0A44-A664-4D04-8415-BEE4578FA113}"/>
              </a:ext>
            </a:extLst>
          </p:cNvPr>
          <p:cNvSpPr txBox="1"/>
          <p:nvPr/>
        </p:nvSpPr>
        <p:spPr>
          <a:xfrm>
            <a:off x="762000" y="5740400"/>
            <a:ext cx="10668000" cy="279400"/>
          </a:xfrm>
          <a:prstGeom prst="rect">
            <a:avLst/>
          </a:prstGeom>
          <a:noFill/>
        </p:spPr>
        <p:txBody>
          <a:bodyPr vertOverflow="overflow" vert="horz" wrap="none" rtlCol="0" anchor="t">
            <a:noAutofit/>
          </a:bodyPr>
          <a:lstStyle/>
          <a:p>
            <a:pPr algn="l"/>
            <a:r>
              <a:rPr lang="nb-NO" sz="1400">
                <a:solidFill>
                  <a:srgbClr val="8A929C"/>
                </a:solidFill>
                <a:latin typeface="Consolas"/>
              </a:rPr>
              <a:t>terraform fmt  ·  terraform validate  ·  terraform plan -out tfplan  ·  terraform apply tfplan</a:t>
            </a:r>
            <a:endParaRPr lang="en-US" sz="1400">
              <a:solidFill>
                <a:srgbClr val="8A929C"/>
              </a:solidFill>
              <a:latin typeface="Consolas"/>
            </a:endParaRPr>
          </a:p>
        </p:txBody>
      </p:sp>
    </p:spTree>
    <p:extLst>
      <p:ext uri="{BB962C8B-B14F-4D97-AF65-F5344CB8AC3E}">
        <p14:creationId xmlns:p14="http://schemas.microsoft.com/office/powerpoint/2010/main" val="1971138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F8286-04BE-03C4-3554-5B40EECED784}"/>
              </a:ext>
            </a:extLst>
          </p:cNvPr>
          <p:cNvSpPr>
            <a:spLocks noGrp="1"/>
          </p:cNvSpPr>
          <p:nvPr>
            <p:ph type="title"/>
          </p:nvPr>
        </p:nvSpPr>
        <p:spPr>
          <a:xfrm>
            <a:off x="762000" y="406400"/>
            <a:ext cx="10668000" cy="533400"/>
          </a:xfrm>
        </p:spPr>
        <p:txBody>
          <a:bodyPr>
            <a:normAutofit/>
          </a:bodyPr>
          <a:lstStyle/>
          <a:p>
            <a:r>
              <a:rPr lang="en-US" sz="3000" b="1"/>
              <a:t>Workflow, State and Drift</a:t>
            </a:r>
          </a:p>
        </p:txBody>
      </p:sp>
      <p:sp>
        <p:nvSpPr>
          <p:cNvPr id="3" name="Rectangle 2">
            <a:extLst>
              <a:ext uri="{FF2B5EF4-FFF2-40B4-BE49-F238E27FC236}">
                <a16:creationId xmlns:a16="http://schemas.microsoft.com/office/drawing/2014/main" id="{078A2ACF-F9C9-45C7-9386-9187A4935D1A}"/>
              </a:ext>
            </a:extLst>
          </p:cNvPr>
          <p:cNvSpPr/>
          <p:nvPr/>
        </p:nvSpPr>
        <p:spPr>
          <a:xfrm>
            <a:off x="762000" y="1016000"/>
            <a:ext cx="889000" cy="381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F681215C-DD6A-4118-8823-49836A4B5C78}"/>
              </a:ext>
            </a:extLst>
          </p:cNvPr>
          <p:cNvSpPr txBox="1"/>
          <p:nvPr/>
        </p:nvSpPr>
        <p:spPr>
          <a:xfrm>
            <a:off x="762000" y="1143000"/>
            <a:ext cx="8890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The pipeline is the process. Nobody applies from a laptop.</a:t>
            </a:r>
          </a:p>
        </p:txBody>
      </p:sp>
      <p:sp>
        <p:nvSpPr>
          <p:cNvPr id="5" name="Rectangle: Rounded Corners 4">
            <a:extLst>
              <a:ext uri="{FF2B5EF4-FFF2-40B4-BE49-F238E27FC236}">
                <a16:creationId xmlns:a16="http://schemas.microsoft.com/office/drawing/2014/main" id="{564E81E8-E5B2-4683-A5D0-212AF0EBCDC2}"/>
              </a:ext>
            </a:extLst>
          </p:cNvPr>
          <p:cNvSpPr/>
          <p:nvPr/>
        </p:nvSpPr>
        <p:spPr>
          <a:xfrm>
            <a:off x="762000" y="1524000"/>
            <a:ext cx="1905000" cy="10922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0591CED3-23D2-48A0-932D-0E80291E03E2}"/>
              </a:ext>
            </a:extLst>
          </p:cNvPr>
          <p:cNvSpPr txBox="1"/>
          <p:nvPr/>
        </p:nvSpPr>
        <p:spPr>
          <a:xfrm>
            <a:off x="939800" y="1676400"/>
            <a:ext cx="15494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Engineer</a:t>
            </a:r>
          </a:p>
        </p:txBody>
      </p:sp>
      <p:sp>
        <p:nvSpPr>
          <p:cNvPr id="7" name="TextBox 6">
            <a:extLst>
              <a:ext uri="{FF2B5EF4-FFF2-40B4-BE49-F238E27FC236}">
                <a16:creationId xmlns:a16="http://schemas.microsoft.com/office/drawing/2014/main" id="{8B3F1572-D700-41B9-BC36-3AA4B4C5C37F}"/>
              </a:ext>
            </a:extLst>
          </p:cNvPr>
          <p:cNvSpPr txBox="1"/>
          <p:nvPr/>
        </p:nvSpPr>
        <p:spPr>
          <a:xfrm>
            <a:off x="939800" y="1955800"/>
            <a:ext cx="1574800" cy="533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edits .tf and dashboard JSON</a:t>
            </a:r>
          </a:p>
        </p:txBody>
      </p:sp>
      <p:sp>
        <p:nvSpPr>
          <p:cNvPr id="8" name="Arrow: Right 7">
            <a:extLst>
              <a:ext uri="{FF2B5EF4-FFF2-40B4-BE49-F238E27FC236}">
                <a16:creationId xmlns:a16="http://schemas.microsoft.com/office/drawing/2014/main" id="{F141FCF0-2304-41E3-8E73-FE52267D1733}"/>
              </a:ext>
            </a:extLst>
          </p:cNvPr>
          <p:cNvSpPr/>
          <p:nvPr/>
        </p:nvSpPr>
        <p:spPr>
          <a:xfrm>
            <a:off x="2692400" y="1930400"/>
            <a:ext cx="2286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Rounded Corners 8">
            <a:extLst>
              <a:ext uri="{FF2B5EF4-FFF2-40B4-BE49-F238E27FC236}">
                <a16:creationId xmlns:a16="http://schemas.microsoft.com/office/drawing/2014/main" id="{0844E64B-8B26-4773-B446-0CB0EC8B1F84}"/>
              </a:ext>
            </a:extLst>
          </p:cNvPr>
          <p:cNvSpPr/>
          <p:nvPr/>
        </p:nvSpPr>
        <p:spPr>
          <a:xfrm>
            <a:off x="2946400" y="1524000"/>
            <a:ext cx="1905000" cy="10922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BE385BEE-A594-4C14-AC53-9A582C791FD1}"/>
              </a:ext>
            </a:extLst>
          </p:cNvPr>
          <p:cNvSpPr txBox="1"/>
          <p:nvPr/>
        </p:nvSpPr>
        <p:spPr>
          <a:xfrm>
            <a:off x="3124200" y="1676400"/>
            <a:ext cx="15494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Pull request</a:t>
            </a:r>
          </a:p>
        </p:txBody>
      </p:sp>
      <p:sp>
        <p:nvSpPr>
          <p:cNvPr id="11" name="TextBox 10">
            <a:extLst>
              <a:ext uri="{FF2B5EF4-FFF2-40B4-BE49-F238E27FC236}">
                <a16:creationId xmlns:a16="http://schemas.microsoft.com/office/drawing/2014/main" id="{0B566FFA-8DC8-4235-B64F-8668E15083A9}"/>
              </a:ext>
            </a:extLst>
          </p:cNvPr>
          <p:cNvSpPr txBox="1"/>
          <p:nvPr/>
        </p:nvSpPr>
        <p:spPr>
          <a:xfrm>
            <a:off x="3124200" y="1955800"/>
            <a:ext cx="1574800" cy="533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plan runs, output posted</a:t>
            </a:r>
          </a:p>
        </p:txBody>
      </p:sp>
      <p:sp>
        <p:nvSpPr>
          <p:cNvPr id="12" name="Arrow: Right 11">
            <a:extLst>
              <a:ext uri="{FF2B5EF4-FFF2-40B4-BE49-F238E27FC236}">
                <a16:creationId xmlns:a16="http://schemas.microsoft.com/office/drawing/2014/main" id="{BF158882-1C77-4F53-9CA5-4BB920243BC9}"/>
              </a:ext>
            </a:extLst>
          </p:cNvPr>
          <p:cNvSpPr/>
          <p:nvPr/>
        </p:nvSpPr>
        <p:spPr>
          <a:xfrm>
            <a:off x="4876800" y="1930400"/>
            <a:ext cx="2286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Rounded Corners 12">
            <a:extLst>
              <a:ext uri="{FF2B5EF4-FFF2-40B4-BE49-F238E27FC236}">
                <a16:creationId xmlns:a16="http://schemas.microsoft.com/office/drawing/2014/main" id="{78DEAC2F-9866-44F4-82DA-50A760EE191F}"/>
              </a:ext>
            </a:extLst>
          </p:cNvPr>
          <p:cNvSpPr/>
          <p:nvPr/>
        </p:nvSpPr>
        <p:spPr>
          <a:xfrm>
            <a:off x="5130800" y="1524000"/>
            <a:ext cx="1905000" cy="1092200"/>
          </a:xfrm>
          <a:prstGeom prst="roundRect">
            <a:avLst/>
          </a:prstGeom>
          <a:solidFill>
            <a:srgbClr val="1B1E24"/>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7775E676-6551-4FD2-9EF2-4946074F8631}"/>
              </a:ext>
            </a:extLst>
          </p:cNvPr>
          <p:cNvSpPr txBox="1"/>
          <p:nvPr/>
        </p:nvSpPr>
        <p:spPr>
          <a:xfrm>
            <a:off x="5308600" y="1676400"/>
            <a:ext cx="1549400" cy="254000"/>
          </a:xfrm>
          <a:prstGeom prst="rect">
            <a:avLst/>
          </a:prstGeom>
          <a:noFill/>
        </p:spPr>
        <p:txBody>
          <a:bodyPr vertOverflow="overflow" vert="horz" wrap="square" rtlCol="0" anchor="t">
            <a:noAutofit/>
          </a:bodyPr>
          <a:lstStyle/>
          <a:p>
            <a:pPr algn="l"/>
            <a:r>
              <a:rPr lang="en-US" sz="1500" b="1">
                <a:solidFill>
                  <a:srgbClr val="FADE2A"/>
                </a:solidFill>
                <a:latin typeface="Segoe UI"/>
                <a:cs typeface="Segoe UI"/>
              </a:rPr>
              <a:t>Review</a:t>
            </a:r>
          </a:p>
        </p:txBody>
      </p:sp>
      <p:sp>
        <p:nvSpPr>
          <p:cNvPr id="15" name="TextBox 14">
            <a:extLst>
              <a:ext uri="{FF2B5EF4-FFF2-40B4-BE49-F238E27FC236}">
                <a16:creationId xmlns:a16="http://schemas.microsoft.com/office/drawing/2014/main" id="{3687CFD8-29EC-4055-86AE-F3CE8AE0349E}"/>
              </a:ext>
            </a:extLst>
          </p:cNvPr>
          <p:cNvSpPr txBox="1"/>
          <p:nvPr/>
        </p:nvSpPr>
        <p:spPr>
          <a:xfrm>
            <a:off x="5308600" y="1955800"/>
            <a:ext cx="1574800" cy="533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1 to add, 2 to change</a:t>
            </a:r>
          </a:p>
        </p:txBody>
      </p:sp>
      <p:sp>
        <p:nvSpPr>
          <p:cNvPr id="16" name="Arrow: Right 15">
            <a:extLst>
              <a:ext uri="{FF2B5EF4-FFF2-40B4-BE49-F238E27FC236}">
                <a16:creationId xmlns:a16="http://schemas.microsoft.com/office/drawing/2014/main" id="{2FE129F4-CE60-4886-B0D1-492F136F0CCD}"/>
              </a:ext>
            </a:extLst>
          </p:cNvPr>
          <p:cNvSpPr/>
          <p:nvPr/>
        </p:nvSpPr>
        <p:spPr>
          <a:xfrm>
            <a:off x="7061200" y="1930400"/>
            <a:ext cx="2286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Rounded Corners 16">
            <a:extLst>
              <a:ext uri="{FF2B5EF4-FFF2-40B4-BE49-F238E27FC236}">
                <a16:creationId xmlns:a16="http://schemas.microsoft.com/office/drawing/2014/main" id="{723125C9-FC65-405D-9B84-BE131F4C22EB}"/>
              </a:ext>
            </a:extLst>
          </p:cNvPr>
          <p:cNvSpPr/>
          <p:nvPr/>
        </p:nvSpPr>
        <p:spPr>
          <a:xfrm>
            <a:off x="7315200" y="1524000"/>
            <a:ext cx="1905000" cy="10922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C8002372-8E0F-42A5-8841-A622665244AD}"/>
              </a:ext>
            </a:extLst>
          </p:cNvPr>
          <p:cNvSpPr txBox="1"/>
          <p:nvPr/>
        </p:nvSpPr>
        <p:spPr>
          <a:xfrm>
            <a:off x="7493000" y="1676400"/>
            <a:ext cx="15494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Merge to main</a:t>
            </a:r>
          </a:p>
        </p:txBody>
      </p:sp>
      <p:sp>
        <p:nvSpPr>
          <p:cNvPr id="19" name="TextBox 18">
            <a:extLst>
              <a:ext uri="{FF2B5EF4-FFF2-40B4-BE49-F238E27FC236}">
                <a16:creationId xmlns:a16="http://schemas.microsoft.com/office/drawing/2014/main" id="{290FF02F-D79B-4EFC-926B-073879B9C616}"/>
              </a:ext>
            </a:extLst>
          </p:cNvPr>
          <p:cNvSpPr txBox="1"/>
          <p:nvPr/>
        </p:nvSpPr>
        <p:spPr>
          <a:xfrm>
            <a:off x="7493000" y="1955800"/>
            <a:ext cx="1574800" cy="533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the only trigger</a:t>
            </a:r>
          </a:p>
        </p:txBody>
      </p:sp>
      <p:sp>
        <p:nvSpPr>
          <p:cNvPr id="20" name="Arrow: Right 19">
            <a:extLst>
              <a:ext uri="{FF2B5EF4-FFF2-40B4-BE49-F238E27FC236}">
                <a16:creationId xmlns:a16="http://schemas.microsoft.com/office/drawing/2014/main" id="{F28BB2A3-73BC-4542-8798-FF4CAB33C511}"/>
              </a:ext>
            </a:extLst>
          </p:cNvPr>
          <p:cNvSpPr/>
          <p:nvPr/>
        </p:nvSpPr>
        <p:spPr>
          <a:xfrm>
            <a:off x="9245600" y="1930400"/>
            <a:ext cx="2286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Rounded Corners 20">
            <a:extLst>
              <a:ext uri="{FF2B5EF4-FFF2-40B4-BE49-F238E27FC236}">
                <a16:creationId xmlns:a16="http://schemas.microsoft.com/office/drawing/2014/main" id="{128961E5-AE6D-41BE-9061-B876580DADD6}"/>
              </a:ext>
            </a:extLst>
          </p:cNvPr>
          <p:cNvSpPr/>
          <p:nvPr/>
        </p:nvSpPr>
        <p:spPr>
          <a:xfrm>
            <a:off x="9499600" y="1524000"/>
            <a:ext cx="1905000" cy="10922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A68812EC-7B57-49D9-B752-FD9CB2424CEA}"/>
              </a:ext>
            </a:extLst>
          </p:cNvPr>
          <p:cNvSpPr txBox="1"/>
          <p:nvPr/>
        </p:nvSpPr>
        <p:spPr>
          <a:xfrm>
            <a:off x="9677400" y="1676400"/>
            <a:ext cx="15494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CI apply</a:t>
            </a:r>
          </a:p>
        </p:txBody>
      </p:sp>
      <p:sp>
        <p:nvSpPr>
          <p:cNvPr id="23" name="TextBox 22">
            <a:extLst>
              <a:ext uri="{FF2B5EF4-FFF2-40B4-BE49-F238E27FC236}">
                <a16:creationId xmlns:a16="http://schemas.microsoft.com/office/drawing/2014/main" id="{145F9A06-12E8-4306-9D1D-3935020769C4}"/>
              </a:ext>
            </a:extLst>
          </p:cNvPr>
          <p:cNvSpPr txBox="1"/>
          <p:nvPr/>
        </p:nvSpPr>
        <p:spPr>
          <a:xfrm>
            <a:off x="9677400" y="1955800"/>
            <a:ext cx="1574800" cy="533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token from secret store</a:t>
            </a:r>
          </a:p>
        </p:txBody>
      </p:sp>
      <p:sp>
        <p:nvSpPr>
          <p:cNvPr id="24" name="Arrow: Down 23">
            <a:extLst>
              <a:ext uri="{FF2B5EF4-FFF2-40B4-BE49-F238E27FC236}">
                <a16:creationId xmlns:a16="http://schemas.microsoft.com/office/drawing/2014/main" id="{DCA1EE29-B6B2-4EA4-B968-0F34A493D9F0}"/>
              </a:ext>
            </a:extLst>
          </p:cNvPr>
          <p:cNvSpPr/>
          <p:nvPr/>
        </p:nvSpPr>
        <p:spPr>
          <a:xfrm>
            <a:off x="10312400" y="2667000"/>
            <a:ext cx="203200" cy="279400"/>
          </a:xfrm>
          <a:prstGeom prst="down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Rounded Corners 24">
            <a:extLst>
              <a:ext uri="{FF2B5EF4-FFF2-40B4-BE49-F238E27FC236}">
                <a16:creationId xmlns:a16="http://schemas.microsoft.com/office/drawing/2014/main" id="{0EEA3C46-4063-4E06-B927-A9FF04431890}"/>
              </a:ext>
            </a:extLst>
          </p:cNvPr>
          <p:cNvSpPr/>
          <p:nvPr/>
        </p:nvSpPr>
        <p:spPr>
          <a:xfrm>
            <a:off x="762000" y="3022600"/>
            <a:ext cx="3810000" cy="1066800"/>
          </a:xfrm>
          <a:prstGeom prst="roundRect">
            <a:avLst/>
          </a:prstGeom>
          <a:solidFill>
            <a:srgbClr val="151A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7D534545-F75F-472A-B4DF-56659AF35633}"/>
              </a:ext>
            </a:extLst>
          </p:cNvPr>
          <p:cNvSpPr txBox="1"/>
          <p:nvPr/>
        </p:nvSpPr>
        <p:spPr>
          <a:xfrm>
            <a:off x="990600" y="3175000"/>
            <a:ext cx="3302000" cy="254000"/>
          </a:xfrm>
          <a:prstGeom prst="rect">
            <a:avLst/>
          </a:prstGeom>
          <a:noFill/>
        </p:spPr>
        <p:txBody>
          <a:bodyPr vertOverflow="overflow" vert="horz" wrap="square" rtlCol="0" anchor="t">
            <a:noAutofit/>
          </a:bodyPr>
          <a:lstStyle/>
          <a:p>
            <a:pPr algn="l"/>
            <a:r>
              <a:rPr lang="en-US" sz="1500" b="1">
                <a:solidFill>
                  <a:srgbClr val="B877D9"/>
                </a:solidFill>
                <a:latin typeface="Segoe UI"/>
                <a:cs typeface="Segoe UI"/>
              </a:rPr>
              <a:t>Remote state</a:t>
            </a:r>
          </a:p>
        </p:txBody>
      </p:sp>
      <p:sp>
        <p:nvSpPr>
          <p:cNvPr id="27" name="TextBox 26">
            <a:extLst>
              <a:ext uri="{FF2B5EF4-FFF2-40B4-BE49-F238E27FC236}">
                <a16:creationId xmlns:a16="http://schemas.microsoft.com/office/drawing/2014/main" id="{3392B945-B89B-4B95-989B-B2A4A1CC6985}"/>
              </a:ext>
            </a:extLst>
          </p:cNvPr>
          <p:cNvSpPr txBox="1"/>
          <p:nvPr/>
        </p:nvSpPr>
        <p:spPr>
          <a:xfrm>
            <a:off x="990600" y="3454400"/>
            <a:ext cx="3352800" cy="533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S3, GCS or Terraform Cloud with locking, so two pipelines never write at once.</a:t>
            </a:r>
          </a:p>
        </p:txBody>
      </p:sp>
      <p:sp>
        <p:nvSpPr>
          <p:cNvPr id="28" name="Rectangle: Rounded Corners 27">
            <a:extLst>
              <a:ext uri="{FF2B5EF4-FFF2-40B4-BE49-F238E27FC236}">
                <a16:creationId xmlns:a16="http://schemas.microsoft.com/office/drawing/2014/main" id="{9654E9E9-DF90-4FDA-9766-42594A979D4A}"/>
              </a:ext>
            </a:extLst>
          </p:cNvPr>
          <p:cNvSpPr/>
          <p:nvPr/>
        </p:nvSpPr>
        <p:spPr>
          <a:xfrm>
            <a:off x="4953000" y="3022600"/>
            <a:ext cx="3810000" cy="1066800"/>
          </a:xfrm>
          <a:prstGeom prst="roundRect">
            <a:avLst/>
          </a:prstGeom>
          <a:solidFill>
            <a:srgbClr val="151A22"/>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a:extLst>
              <a:ext uri="{FF2B5EF4-FFF2-40B4-BE49-F238E27FC236}">
                <a16:creationId xmlns:a16="http://schemas.microsoft.com/office/drawing/2014/main" id="{717CCB07-CEAD-4CDB-9D5D-03DBF1DD664C}"/>
              </a:ext>
            </a:extLst>
          </p:cNvPr>
          <p:cNvSpPr txBox="1"/>
          <p:nvPr/>
        </p:nvSpPr>
        <p:spPr>
          <a:xfrm>
            <a:off x="5181600" y="3175000"/>
            <a:ext cx="3302000" cy="254000"/>
          </a:xfrm>
          <a:prstGeom prst="rect">
            <a:avLst/>
          </a:prstGeom>
          <a:noFill/>
        </p:spPr>
        <p:txBody>
          <a:bodyPr vertOverflow="overflow" vert="horz" wrap="square" rtlCol="0" anchor="t">
            <a:noAutofit/>
          </a:bodyPr>
          <a:lstStyle/>
          <a:p>
            <a:pPr algn="l"/>
            <a:r>
              <a:rPr lang="en-US" sz="1500" b="1">
                <a:solidFill>
                  <a:srgbClr val="FADE2A"/>
                </a:solidFill>
                <a:latin typeface="Segoe UI"/>
                <a:cs typeface="Segoe UI"/>
              </a:rPr>
              <a:t>Drift detection</a:t>
            </a:r>
          </a:p>
        </p:txBody>
      </p:sp>
      <p:sp>
        <p:nvSpPr>
          <p:cNvPr id="30" name="TextBox 29">
            <a:extLst>
              <a:ext uri="{FF2B5EF4-FFF2-40B4-BE49-F238E27FC236}">
                <a16:creationId xmlns:a16="http://schemas.microsoft.com/office/drawing/2014/main" id="{529C5878-57C4-4E86-A2D2-67D72647356A}"/>
              </a:ext>
            </a:extLst>
          </p:cNvPr>
          <p:cNvSpPr txBox="1"/>
          <p:nvPr/>
        </p:nvSpPr>
        <p:spPr>
          <a:xfrm>
            <a:off x="5181600" y="3454400"/>
            <a:ext cx="3352800" cy="254000"/>
          </a:xfrm>
          <a:prstGeom prst="rect">
            <a:avLst/>
          </a:prstGeom>
          <a:noFill/>
        </p:spPr>
        <p:txBody>
          <a:bodyPr vertOverflow="overflow" vert="horz" wrap="none" rtlCol="0" anchor="t">
            <a:noAutofit/>
          </a:bodyPr>
          <a:lstStyle/>
          <a:p>
            <a:pPr algn="l"/>
            <a:r>
              <a:rPr lang="en-US" sz="1400">
                <a:solidFill>
                  <a:srgbClr val="C8CDD4"/>
                </a:solidFill>
                <a:latin typeface="Consolas"/>
              </a:rPr>
              <a:t>plan -detailed-exitcode</a:t>
            </a:r>
          </a:p>
        </p:txBody>
      </p:sp>
      <p:sp>
        <p:nvSpPr>
          <p:cNvPr id="31" name="TextBox 30">
            <a:extLst>
              <a:ext uri="{FF2B5EF4-FFF2-40B4-BE49-F238E27FC236}">
                <a16:creationId xmlns:a16="http://schemas.microsoft.com/office/drawing/2014/main" id="{959FB59C-5584-44B7-8068-24F7BAF79F4C}"/>
              </a:ext>
            </a:extLst>
          </p:cNvPr>
          <p:cNvSpPr txBox="1"/>
          <p:nvPr/>
        </p:nvSpPr>
        <p:spPr>
          <a:xfrm>
            <a:off x="5181600" y="3733800"/>
            <a:ext cx="3352800" cy="2540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nightly - exit 2 means someone clicked.</a:t>
            </a:r>
          </a:p>
        </p:txBody>
      </p:sp>
      <p:sp>
        <p:nvSpPr>
          <p:cNvPr id="32" name="Rectangle: Rounded Corners 31">
            <a:extLst>
              <a:ext uri="{FF2B5EF4-FFF2-40B4-BE49-F238E27FC236}">
                <a16:creationId xmlns:a16="http://schemas.microsoft.com/office/drawing/2014/main" id="{19C8E6A9-A853-4378-B109-DC51C37800EF}"/>
              </a:ext>
            </a:extLst>
          </p:cNvPr>
          <p:cNvSpPr/>
          <p:nvPr/>
        </p:nvSpPr>
        <p:spPr>
          <a:xfrm>
            <a:off x="9144000" y="3022600"/>
            <a:ext cx="2286000" cy="10668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TextBox 32">
            <a:extLst>
              <a:ext uri="{FF2B5EF4-FFF2-40B4-BE49-F238E27FC236}">
                <a16:creationId xmlns:a16="http://schemas.microsoft.com/office/drawing/2014/main" id="{30509D6A-F518-4A78-9FE2-EF55E2A37716}"/>
              </a:ext>
            </a:extLst>
          </p:cNvPr>
          <p:cNvSpPr txBox="1"/>
          <p:nvPr/>
        </p:nvSpPr>
        <p:spPr>
          <a:xfrm>
            <a:off x="9372600" y="3175000"/>
            <a:ext cx="17780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Grafana</a:t>
            </a:r>
          </a:p>
        </p:txBody>
      </p:sp>
      <p:sp>
        <p:nvSpPr>
          <p:cNvPr id="34" name="TextBox 33">
            <a:extLst>
              <a:ext uri="{FF2B5EF4-FFF2-40B4-BE49-F238E27FC236}">
                <a16:creationId xmlns:a16="http://schemas.microsoft.com/office/drawing/2014/main" id="{0BAA712D-CB6B-47CC-8150-8E6313BCC0ED}"/>
              </a:ext>
            </a:extLst>
          </p:cNvPr>
          <p:cNvSpPr txBox="1"/>
          <p:nvPr/>
        </p:nvSpPr>
        <p:spPr>
          <a:xfrm>
            <a:off x="9372600" y="3454400"/>
            <a:ext cx="1879600" cy="558800"/>
          </a:xfrm>
          <a:prstGeom prst="rect">
            <a:avLst/>
          </a:prstGeom>
          <a:noFill/>
        </p:spPr>
        <p:txBody>
          <a:bodyPr vertOverflow="overflow" vert="horz" wrap="square" rtlCol="0" anchor="t">
            <a:noAutofit/>
          </a:bodyPr>
          <a:lstStyle/>
          <a:p>
            <a:pPr algn="l"/>
            <a:r>
              <a:rPr lang="en-US" sz="1400" dirty="0">
                <a:solidFill>
                  <a:srgbClr val="C6E3C2"/>
                </a:solidFill>
                <a:latin typeface="Segoe UI"/>
                <a:cs typeface="Segoe UI"/>
              </a:rPr>
              <a:t>prod, staging, dev - same code, different workspace.</a:t>
            </a:r>
          </a:p>
        </p:txBody>
      </p:sp>
      <p:sp>
        <p:nvSpPr>
          <p:cNvPr id="35" name="Rectangle: Rounded Corners 34">
            <a:extLst>
              <a:ext uri="{FF2B5EF4-FFF2-40B4-BE49-F238E27FC236}">
                <a16:creationId xmlns:a16="http://schemas.microsoft.com/office/drawing/2014/main" id="{412FA666-F9D4-4C6B-9293-0A76AC08B2C4}"/>
              </a:ext>
            </a:extLst>
          </p:cNvPr>
          <p:cNvSpPr/>
          <p:nvPr/>
        </p:nvSpPr>
        <p:spPr>
          <a:xfrm>
            <a:off x="762000" y="4267200"/>
            <a:ext cx="10668000" cy="1930400"/>
          </a:xfrm>
          <a:prstGeom prst="roundRect">
            <a:avLst/>
          </a:prstGeom>
          <a:solidFill>
            <a:srgbClr val="181B1F"/>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TextBox 35">
            <a:extLst>
              <a:ext uri="{FF2B5EF4-FFF2-40B4-BE49-F238E27FC236}">
                <a16:creationId xmlns:a16="http://schemas.microsoft.com/office/drawing/2014/main" id="{C18A7761-3686-4CE5-A98C-3478A87E90AB}"/>
              </a:ext>
            </a:extLst>
          </p:cNvPr>
          <p:cNvSpPr txBox="1"/>
          <p:nvPr/>
        </p:nvSpPr>
        <p:spPr>
          <a:xfrm>
            <a:off x="1016000" y="4419600"/>
            <a:ext cx="6350000" cy="279400"/>
          </a:xfrm>
          <a:prstGeom prst="rect">
            <a:avLst/>
          </a:prstGeom>
          <a:noFill/>
        </p:spPr>
        <p:txBody>
          <a:bodyPr vertOverflow="overflow" vert="horz" wrap="square" rtlCol="0" anchor="t">
            <a:noAutofit/>
          </a:bodyPr>
          <a:lstStyle/>
          <a:p>
            <a:pPr algn="l"/>
            <a:r>
              <a:rPr lang="en-US" sz="1700" b="1">
                <a:solidFill>
                  <a:srgbClr val="73BF69"/>
                </a:solidFill>
                <a:latin typeface="Segoe UI"/>
                <a:cs typeface="Segoe UI"/>
              </a:rPr>
              <a:t>What state actually buys you</a:t>
            </a:r>
          </a:p>
        </p:txBody>
      </p:sp>
      <p:sp>
        <p:nvSpPr>
          <p:cNvPr id="37" name="TextBox 36">
            <a:extLst>
              <a:ext uri="{FF2B5EF4-FFF2-40B4-BE49-F238E27FC236}">
                <a16:creationId xmlns:a16="http://schemas.microsoft.com/office/drawing/2014/main" id="{B9662ACB-9BAE-4EEF-B3FF-4D6AE2EA62AF}"/>
              </a:ext>
            </a:extLst>
          </p:cNvPr>
          <p:cNvSpPr txBox="1"/>
          <p:nvPr/>
        </p:nvSpPr>
        <p:spPr>
          <a:xfrm>
            <a:off x="1016000" y="4775200"/>
            <a:ext cx="10160000" cy="1270000"/>
          </a:xfrm>
          <a:prstGeom prst="rect">
            <a:avLst/>
          </a:prstGeom>
          <a:noFill/>
        </p:spPr>
        <p:txBody>
          <a:bodyPr vertOverflow="overflow" vert="horz" wrap="square" rtlCol="0" anchor="t">
            <a:noAutofit/>
          </a:bodyPr>
          <a:lstStyle/>
          <a:p>
            <a:pPr algn="l"/>
            <a:r>
              <a:rPr lang="en-US" sz="1500" dirty="0">
                <a:solidFill>
                  <a:srgbClr val="D2D6DB"/>
                </a:solidFill>
                <a:latin typeface="Segoe UI"/>
                <a:cs typeface="Segoe UI"/>
              </a:rPr>
              <a:t>Plan is the review artefact - reviewers see exactly what prod will look like before anyone touches it.
State maps your code to real Grafana </a:t>
            </a:r>
            <a:r>
              <a:rPr lang="en-US" sz="1500" dirty="0" err="1">
                <a:solidFill>
                  <a:srgbClr val="D2D6DB"/>
                </a:solidFill>
                <a:latin typeface="Segoe UI"/>
                <a:cs typeface="Segoe UI"/>
              </a:rPr>
              <a:t>uids</a:t>
            </a:r>
            <a:r>
              <a:rPr lang="en-US" sz="1500" dirty="0">
                <a:solidFill>
                  <a:srgbClr val="D2D6DB"/>
                </a:solidFill>
                <a:latin typeface="Segoe UI"/>
                <a:cs typeface="Segoe UI"/>
              </a:rPr>
              <a:t>, so a rename becomes an update instead of a duplicate.
Destroy is honest: removing a resource block removes the object, which files-only provisioning cannot promise.
Once an object is Terraform-managed, editing it in the UI is temporary - the next apply quietly reverts it.</a:t>
            </a:r>
          </a:p>
        </p:txBody>
      </p:sp>
    </p:spTree>
    <p:extLst>
      <p:ext uri="{BB962C8B-B14F-4D97-AF65-F5344CB8AC3E}">
        <p14:creationId xmlns:p14="http://schemas.microsoft.com/office/powerpoint/2010/main" val="2746161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7D06C-8D7E-35DE-3B18-BE60B7ED050F}"/>
              </a:ext>
            </a:extLst>
          </p:cNvPr>
          <p:cNvSpPr>
            <a:spLocks noGrp="1"/>
          </p:cNvSpPr>
          <p:nvPr>
            <p:ph type="title"/>
          </p:nvPr>
        </p:nvSpPr>
        <p:spPr>
          <a:xfrm>
            <a:off x="762000" y="406400"/>
            <a:ext cx="10668000" cy="533400"/>
          </a:xfrm>
        </p:spPr>
        <p:txBody>
          <a:bodyPr>
            <a:normAutofit/>
          </a:bodyPr>
          <a:lstStyle/>
          <a:p>
            <a:r>
              <a:rPr lang="en-US" sz="3000" b="1"/>
              <a:t>Automation Best Practices</a:t>
            </a:r>
          </a:p>
        </p:txBody>
      </p:sp>
      <p:sp>
        <p:nvSpPr>
          <p:cNvPr id="3" name="Rectangle 2">
            <a:extLst>
              <a:ext uri="{FF2B5EF4-FFF2-40B4-BE49-F238E27FC236}">
                <a16:creationId xmlns:a16="http://schemas.microsoft.com/office/drawing/2014/main" id="{428C31F4-2C7A-47EE-B81C-696C168B2C8C}"/>
              </a:ext>
            </a:extLst>
          </p:cNvPr>
          <p:cNvSpPr/>
          <p:nvPr/>
        </p:nvSpPr>
        <p:spPr>
          <a:xfrm>
            <a:off x="762000" y="1016000"/>
            <a:ext cx="889000" cy="381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2206B4E8-EA32-4BB5-AECA-BE1999A04F78}"/>
              </a:ext>
            </a:extLst>
          </p:cNvPr>
          <p:cNvSpPr txBox="1"/>
          <p:nvPr/>
        </p:nvSpPr>
        <p:spPr>
          <a:xfrm>
            <a:off x="762000" y="1143000"/>
            <a:ext cx="9652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Six habits that separate a repo people trust from a repo people work around.</a:t>
            </a:r>
          </a:p>
        </p:txBody>
      </p:sp>
      <p:sp>
        <p:nvSpPr>
          <p:cNvPr id="5" name="Rectangle: Rounded Corners 4">
            <a:extLst>
              <a:ext uri="{FF2B5EF4-FFF2-40B4-BE49-F238E27FC236}">
                <a16:creationId xmlns:a16="http://schemas.microsoft.com/office/drawing/2014/main" id="{0065BBBC-AADF-45B9-9933-4D6E44C9C6EB}"/>
              </a:ext>
            </a:extLst>
          </p:cNvPr>
          <p:cNvSpPr/>
          <p:nvPr/>
        </p:nvSpPr>
        <p:spPr>
          <a:xfrm>
            <a:off x="762000" y="1498600"/>
            <a:ext cx="3429000" cy="21590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Rounded Corners 5">
            <a:extLst>
              <a:ext uri="{FF2B5EF4-FFF2-40B4-BE49-F238E27FC236}">
                <a16:creationId xmlns:a16="http://schemas.microsoft.com/office/drawing/2014/main" id="{C8FF2C53-AC42-4AED-A4D4-DE1D66BF8FE0}"/>
              </a:ext>
            </a:extLst>
          </p:cNvPr>
          <p:cNvSpPr/>
          <p:nvPr/>
        </p:nvSpPr>
        <p:spPr>
          <a:xfrm>
            <a:off x="990600" y="1701800"/>
            <a:ext cx="482600" cy="330200"/>
          </a:xfrm>
          <a:prstGeom prst="round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111217"/>
                </a:solidFill>
                <a:latin typeface="Segoe UI"/>
                <a:cs typeface="Segoe UI"/>
              </a:rPr>
              <a:t>01</a:t>
            </a:r>
          </a:p>
        </p:txBody>
      </p:sp>
      <p:sp>
        <p:nvSpPr>
          <p:cNvPr id="7" name="TextBox 6">
            <a:extLst>
              <a:ext uri="{FF2B5EF4-FFF2-40B4-BE49-F238E27FC236}">
                <a16:creationId xmlns:a16="http://schemas.microsoft.com/office/drawing/2014/main" id="{19EDB907-635E-4B2B-A3D0-2E0CED810F2D}"/>
              </a:ext>
            </a:extLst>
          </p:cNvPr>
          <p:cNvSpPr txBox="1"/>
          <p:nvPr/>
        </p:nvSpPr>
        <p:spPr>
          <a:xfrm>
            <a:off x="990600" y="2159000"/>
            <a:ext cx="2971800" cy="279400"/>
          </a:xfrm>
          <a:prstGeom prst="rect">
            <a:avLst/>
          </a:prstGeom>
          <a:noFill/>
        </p:spPr>
        <p:txBody>
          <a:bodyPr vertOverflow="overflow" vert="horz" wrap="square" rtlCol="0" anchor="t">
            <a:noAutofit/>
          </a:bodyPr>
          <a:lstStyle/>
          <a:p>
            <a:pPr algn="l"/>
            <a:r>
              <a:rPr lang="en-US" sz="1600" b="1">
                <a:solidFill>
                  <a:srgbClr val="FF8800"/>
                </a:solidFill>
                <a:latin typeface="Segoe UI"/>
                <a:cs typeface="Segoe UI"/>
              </a:rPr>
              <a:t>One owner per object</a:t>
            </a:r>
          </a:p>
        </p:txBody>
      </p:sp>
      <p:sp>
        <p:nvSpPr>
          <p:cNvPr id="8" name="TextBox 7">
            <a:extLst>
              <a:ext uri="{FF2B5EF4-FFF2-40B4-BE49-F238E27FC236}">
                <a16:creationId xmlns:a16="http://schemas.microsoft.com/office/drawing/2014/main" id="{8FFA3885-1261-4A98-8F1B-B1DCADECF761}"/>
              </a:ext>
            </a:extLst>
          </p:cNvPr>
          <p:cNvSpPr txBox="1"/>
          <p:nvPr/>
        </p:nvSpPr>
        <p:spPr>
          <a:xfrm>
            <a:off x="990600" y="2514600"/>
            <a:ext cx="2997200" cy="1016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Decide up front whether a dashboard belongs to files, Terraform or humans. Tag it so anyone can tell at a glance.</a:t>
            </a:r>
          </a:p>
        </p:txBody>
      </p:sp>
      <p:sp>
        <p:nvSpPr>
          <p:cNvPr id="9" name="Rectangle: Rounded Corners 8">
            <a:extLst>
              <a:ext uri="{FF2B5EF4-FFF2-40B4-BE49-F238E27FC236}">
                <a16:creationId xmlns:a16="http://schemas.microsoft.com/office/drawing/2014/main" id="{DCC88696-E465-4217-AA40-4B26D226214E}"/>
              </a:ext>
            </a:extLst>
          </p:cNvPr>
          <p:cNvSpPr/>
          <p:nvPr/>
        </p:nvSpPr>
        <p:spPr>
          <a:xfrm>
            <a:off x="4381500" y="1498600"/>
            <a:ext cx="3429000" cy="21590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Rounded Corners 9">
            <a:extLst>
              <a:ext uri="{FF2B5EF4-FFF2-40B4-BE49-F238E27FC236}">
                <a16:creationId xmlns:a16="http://schemas.microsoft.com/office/drawing/2014/main" id="{68138079-DD94-4A6A-B404-991353655791}"/>
              </a:ext>
            </a:extLst>
          </p:cNvPr>
          <p:cNvSpPr/>
          <p:nvPr/>
        </p:nvSpPr>
        <p:spPr>
          <a:xfrm>
            <a:off x="4610100" y="1701800"/>
            <a:ext cx="482600" cy="330200"/>
          </a:xfrm>
          <a:prstGeom prst="round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111217"/>
                </a:solidFill>
                <a:latin typeface="Segoe UI"/>
                <a:cs typeface="Segoe UI"/>
              </a:rPr>
              <a:t>02</a:t>
            </a:r>
          </a:p>
        </p:txBody>
      </p:sp>
      <p:sp>
        <p:nvSpPr>
          <p:cNvPr id="11" name="TextBox 10">
            <a:extLst>
              <a:ext uri="{FF2B5EF4-FFF2-40B4-BE49-F238E27FC236}">
                <a16:creationId xmlns:a16="http://schemas.microsoft.com/office/drawing/2014/main" id="{6B8A18A6-C469-40F4-905D-0A12DCE27A02}"/>
              </a:ext>
            </a:extLst>
          </p:cNvPr>
          <p:cNvSpPr txBox="1"/>
          <p:nvPr/>
        </p:nvSpPr>
        <p:spPr>
          <a:xfrm>
            <a:off x="4610100" y="2159000"/>
            <a:ext cx="2971800" cy="279400"/>
          </a:xfrm>
          <a:prstGeom prst="rect">
            <a:avLst/>
          </a:prstGeom>
          <a:noFill/>
        </p:spPr>
        <p:txBody>
          <a:bodyPr vertOverflow="overflow" vert="horz" wrap="square" rtlCol="0" anchor="t">
            <a:noAutofit/>
          </a:bodyPr>
          <a:lstStyle/>
          <a:p>
            <a:pPr algn="l"/>
            <a:r>
              <a:rPr lang="en-US" sz="1600" b="1">
                <a:solidFill>
                  <a:srgbClr val="6E9FFF"/>
                </a:solidFill>
                <a:latin typeface="Segoe UI"/>
                <a:cs typeface="Segoe UI"/>
              </a:rPr>
              <a:t>uid is the primary key</a:t>
            </a:r>
          </a:p>
        </p:txBody>
      </p:sp>
      <p:sp>
        <p:nvSpPr>
          <p:cNvPr id="12" name="TextBox 11">
            <a:extLst>
              <a:ext uri="{FF2B5EF4-FFF2-40B4-BE49-F238E27FC236}">
                <a16:creationId xmlns:a16="http://schemas.microsoft.com/office/drawing/2014/main" id="{7A87FCE1-AAB8-42B1-8D5D-6CCE3BCC2A27}"/>
              </a:ext>
            </a:extLst>
          </p:cNvPr>
          <p:cNvSpPr txBox="1"/>
          <p:nvPr/>
        </p:nvSpPr>
        <p:spPr>
          <a:xfrm>
            <a:off x="4610100" y="2514600"/>
            <a:ext cx="2997200" cy="1016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Hand-pick short, stable uids for everything you manage. A generated uid means the next apply creates a duplicate.</a:t>
            </a:r>
          </a:p>
        </p:txBody>
      </p:sp>
      <p:sp>
        <p:nvSpPr>
          <p:cNvPr id="13" name="Rectangle: Rounded Corners 12">
            <a:extLst>
              <a:ext uri="{FF2B5EF4-FFF2-40B4-BE49-F238E27FC236}">
                <a16:creationId xmlns:a16="http://schemas.microsoft.com/office/drawing/2014/main" id="{93215E41-DB47-4B83-AD23-0463BAE5AE49}"/>
              </a:ext>
            </a:extLst>
          </p:cNvPr>
          <p:cNvSpPr/>
          <p:nvPr/>
        </p:nvSpPr>
        <p:spPr>
          <a:xfrm>
            <a:off x="8001000" y="1498600"/>
            <a:ext cx="3429000" cy="21590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Rounded Corners 13">
            <a:extLst>
              <a:ext uri="{FF2B5EF4-FFF2-40B4-BE49-F238E27FC236}">
                <a16:creationId xmlns:a16="http://schemas.microsoft.com/office/drawing/2014/main" id="{E9A092E6-7726-44A3-B863-9574D90BA60C}"/>
              </a:ext>
            </a:extLst>
          </p:cNvPr>
          <p:cNvSpPr/>
          <p:nvPr/>
        </p:nvSpPr>
        <p:spPr>
          <a:xfrm>
            <a:off x="8229600" y="1701800"/>
            <a:ext cx="482600" cy="330200"/>
          </a:xfrm>
          <a:prstGeom prst="roundRect">
            <a:avLst/>
          </a:prstGeom>
          <a:solidFill>
            <a:srgbClr val="F249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111217"/>
                </a:solidFill>
                <a:latin typeface="Segoe UI"/>
                <a:cs typeface="Segoe UI"/>
              </a:rPr>
              <a:t>03</a:t>
            </a:r>
          </a:p>
        </p:txBody>
      </p:sp>
      <p:sp>
        <p:nvSpPr>
          <p:cNvPr id="15" name="TextBox 14">
            <a:extLst>
              <a:ext uri="{FF2B5EF4-FFF2-40B4-BE49-F238E27FC236}">
                <a16:creationId xmlns:a16="http://schemas.microsoft.com/office/drawing/2014/main" id="{1FF1910D-D06B-4522-8087-AADD19354A57}"/>
              </a:ext>
            </a:extLst>
          </p:cNvPr>
          <p:cNvSpPr txBox="1"/>
          <p:nvPr/>
        </p:nvSpPr>
        <p:spPr>
          <a:xfrm>
            <a:off x="8229600" y="2159000"/>
            <a:ext cx="2971800" cy="279400"/>
          </a:xfrm>
          <a:prstGeom prst="rect">
            <a:avLst/>
          </a:prstGeom>
          <a:noFill/>
        </p:spPr>
        <p:txBody>
          <a:bodyPr vertOverflow="overflow" vert="horz" wrap="square" rtlCol="0" anchor="t">
            <a:noAutofit/>
          </a:bodyPr>
          <a:lstStyle/>
          <a:p>
            <a:pPr algn="l"/>
            <a:r>
              <a:rPr lang="en-US" sz="1600" b="1">
                <a:solidFill>
                  <a:srgbClr val="F2495C"/>
                </a:solidFill>
                <a:latin typeface="Segoe UI"/>
                <a:cs typeface="Segoe UI"/>
              </a:rPr>
              <a:t>Secrets never reach git</a:t>
            </a:r>
          </a:p>
        </p:txBody>
      </p:sp>
      <p:sp>
        <p:nvSpPr>
          <p:cNvPr id="16" name="TextBox 15">
            <a:extLst>
              <a:ext uri="{FF2B5EF4-FFF2-40B4-BE49-F238E27FC236}">
                <a16:creationId xmlns:a16="http://schemas.microsoft.com/office/drawing/2014/main" id="{66A567CB-DB29-4BF0-A5AE-6A36D446B6D0}"/>
              </a:ext>
            </a:extLst>
          </p:cNvPr>
          <p:cNvSpPr txBox="1"/>
          <p:nvPr/>
        </p:nvSpPr>
        <p:spPr>
          <a:xfrm>
            <a:off x="8229600" y="2514600"/>
            <a:ext cx="2997200" cy="1016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Tokens come from the environment or a secret manager, dashboards reference $VARS, and every token has an expiry.</a:t>
            </a:r>
          </a:p>
        </p:txBody>
      </p:sp>
      <p:sp>
        <p:nvSpPr>
          <p:cNvPr id="17" name="Rectangle: Rounded Corners 16">
            <a:extLst>
              <a:ext uri="{FF2B5EF4-FFF2-40B4-BE49-F238E27FC236}">
                <a16:creationId xmlns:a16="http://schemas.microsoft.com/office/drawing/2014/main" id="{F3EFA21C-EC1C-4D2A-8029-D31A98B6BDAD}"/>
              </a:ext>
            </a:extLst>
          </p:cNvPr>
          <p:cNvSpPr/>
          <p:nvPr/>
        </p:nvSpPr>
        <p:spPr>
          <a:xfrm>
            <a:off x="762000" y="3810000"/>
            <a:ext cx="3429000" cy="21590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Rounded Corners 17">
            <a:extLst>
              <a:ext uri="{FF2B5EF4-FFF2-40B4-BE49-F238E27FC236}">
                <a16:creationId xmlns:a16="http://schemas.microsoft.com/office/drawing/2014/main" id="{D0FA8924-4BDA-4A9E-833E-C3B08AA1B425}"/>
              </a:ext>
            </a:extLst>
          </p:cNvPr>
          <p:cNvSpPr/>
          <p:nvPr/>
        </p:nvSpPr>
        <p:spPr>
          <a:xfrm>
            <a:off x="990600" y="4013200"/>
            <a:ext cx="482600" cy="330200"/>
          </a:xfrm>
          <a:prstGeom prst="round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111217"/>
                </a:solidFill>
                <a:latin typeface="Segoe UI"/>
                <a:cs typeface="Segoe UI"/>
              </a:rPr>
              <a:t>04</a:t>
            </a:r>
          </a:p>
        </p:txBody>
      </p:sp>
      <p:sp>
        <p:nvSpPr>
          <p:cNvPr id="19" name="TextBox 18">
            <a:extLst>
              <a:ext uri="{FF2B5EF4-FFF2-40B4-BE49-F238E27FC236}">
                <a16:creationId xmlns:a16="http://schemas.microsoft.com/office/drawing/2014/main" id="{F9F5EEC6-4D70-4ED5-BBEE-36DE7E3928E3}"/>
              </a:ext>
            </a:extLst>
          </p:cNvPr>
          <p:cNvSpPr txBox="1"/>
          <p:nvPr/>
        </p:nvSpPr>
        <p:spPr>
          <a:xfrm>
            <a:off x="990600" y="4470400"/>
            <a:ext cx="2971800" cy="2794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Same code, every environment</a:t>
            </a:r>
          </a:p>
        </p:txBody>
      </p:sp>
      <p:sp>
        <p:nvSpPr>
          <p:cNvPr id="20" name="TextBox 19">
            <a:extLst>
              <a:ext uri="{FF2B5EF4-FFF2-40B4-BE49-F238E27FC236}">
                <a16:creationId xmlns:a16="http://schemas.microsoft.com/office/drawing/2014/main" id="{867D2020-D6F4-4F41-A259-C72314E9D964}"/>
              </a:ext>
            </a:extLst>
          </p:cNvPr>
          <p:cNvSpPr txBox="1"/>
          <p:nvPr/>
        </p:nvSpPr>
        <p:spPr>
          <a:xfrm>
            <a:off x="990600" y="4826000"/>
            <a:ext cx="2997200" cy="1016000"/>
          </a:xfrm>
          <a:prstGeom prst="rect">
            <a:avLst/>
          </a:prstGeom>
          <a:noFill/>
        </p:spPr>
        <p:txBody>
          <a:bodyPr vertOverflow="overflow" vert="horz" wrap="square" rtlCol="0" anchor="t">
            <a:noAutofit/>
          </a:bodyPr>
          <a:lstStyle/>
          <a:p>
            <a:pPr algn="l"/>
            <a:r>
              <a:rPr lang="en-US" sz="1400" dirty="0" err="1">
                <a:solidFill>
                  <a:srgbClr val="B4BCC6"/>
                </a:solidFill>
                <a:latin typeface="Segoe UI"/>
                <a:cs typeface="Segoe UI"/>
              </a:rPr>
              <a:t>Parameterise</a:t>
            </a:r>
            <a:r>
              <a:rPr lang="en-US" sz="1400" dirty="0">
                <a:solidFill>
                  <a:srgbClr val="B4BCC6"/>
                </a:solidFill>
                <a:latin typeface="Segoe UI"/>
                <a:cs typeface="Segoe UI"/>
              </a:rPr>
              <a:t> the </a:t>
            </a:r>
            <a:r>
              <a:rPr lang="en-US" sz="1400" dirty="0" err="1">
                <a:solidFill>
                  <a:srgbClr val="B4BCC6"/>
                </a:solidFill>
                <a:latin typeface="Segoe UI"/>
                <a:cs typeface="Segoe UI"/>
              </a:rPr>
              <a:t>url</a:t>
            </a:r>
            <a:r>
              <a:rPr lang="en-US" sz="1400" dirty="0">
                <a:solidFill>
                  <a:srgbClr val="B4BCC6"/>
                </a:solidFill>
                <a:latin typeface="Segoe UI"/>
                <a:cs typeface="Segoe UI"/>
              </a:rPr>
              <a:t> and the token - never the dashboards. Dev proves the change before prod ever sees it.</a:t>
            </a:r>
          </a:p>
        </p:txBody>
      </p:sp>
      <p:sp>
        <p:nvSpPr>
          <p:cNvPr id="21" name="Rectangle: Rounded Corners 20">
            <a:extLst>
              <a:ext uri="{FF2B5EF4-FFF2-40B4-BE49-F238E27FC236}">
                <a16:creationId xmlns:a16="http://schemas.microsoft.com/office/drawing/2014/main" id="{FA7B2AB4-82AB-48AA-9BE2-7A920F64B648}"/>
              </a:ext>
            </a:extLst>
          </p:cNvPr>
          <p:cNvSpPr/>
          <p:nvPr/>
        </p:nvSpPr>
        <p:spPr>
          <a:xfrm>
            <a:off x="4381500" y="3810000"/>
            <a:ext cx="3429000" cy="21590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Rounded Corners 21">
            <a:extLst>
              <a:ext uri="{FF2B5EF4-FFF2-40B4-BE49-F238E27FC236}">
                <a16:creationId xmlns:a16="http://schemas.microsoft.com/office/drawing/2014/main" id="{EDC798ED-B5F9-49CD-BC6E-65B8528A685D}"/>
              </a:ext>
            </a:extLst>
          </p:cNvPr>
          <p:cNvSpPr/>
          <p:nvPr/>
        </p:nvSpPr>
        <p:spPr>
          <a:xfrm>
            <a:off x="4610100" y="4013200"/>
            <a:ext cx="482600" cy="330200"/>
          </a:xfrm>
          <a:prstGeom prst="round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111217"/>
                </a:solidFill>
                <a:latin typeface="Segoe UI"/>
                <a:cs typeface="Segoe UI"/>
              </a:rPr>
              <a:t>05</a:t>
            </a:r>
          </a:p>
        </p:txBody>
      </p:sp>
      <p:sp>
        <p:nvSpPr>
          <p:cNvPr id="23" name="TextBox 22">
            <a:extLst>
              <a:ext uri="{FF2B5EF4-FFF2-40B4-BE49-F238E27FC236}">
                <a16:creationId xmlns:a16="http://schemas.microsoft.com/office/drawing/2014/main" id="{CF7A1009-3072-4E6C-9696-240C60AF4543}"/>
              </a:ext>
            </a:extLst>
          </p:cNvPr>
          <p:cNvSpPr txBox="1"/>
          <p:nvPr/>
        </p:nvSpPr>
        <p:spPr>
          <a:xfrm>
            <a:off x="4610100" y="4470400"/>
            <a:ext cx="2971800" cy="279400"/>
          </a:xfrm>
          <a:prstGeom prst="rect">
            <a:avLst/>
          </a:prstGeom>
          <a:noFill/>
        </p:spPr>
        <p:txBody>
          <a:bodyPr vertOverflow="overflow" vert="horz" wrap="square" rtlCol="0" anchor="t">
            <a:noAutofit/>
          </a:bodyPr>
          <a:lstStyle/>
          <a:p>
            <a:pPr algn="l"/>
            <a:r>
              <a:rPr lang="en-US" sz="1600" b="1">
                <a:solidFill>
                  <a:srgbClr val="B877D9"/>
                </a:solidFill>
                <a:latin typeface="Segoe UI"/>
                <a:cs typeface="Segoe UI"/>
              </a:rPr>
              <a:t>Validate before you ship</a:t>
            </a:r>
          </a:p>
        </p:txBody>
      </p:sp>
      <p:sp>
        <p:nvSpPr>
          <p:cNvPr id="24" name="TextBox 23">
            <a:extLst>
              <a:ext uri="{FF2B5EF4-FFF2-40B4-BE49-F238E27FC236}">
                <a16:creationId xmlns:a16="http://schemas.microsoft.com/office/drawing/2014/main" id="{957147EC-FFA2-473A-AE0E-8DB29BBC9C25}"/>
              </a:ext>
            </a:extLst>
          </p:cNvPr>
          <p:cNvSpPr txBox="1"/>
          <p:nvPr/>
        </p:nvSpPr>
        <p:spPr>
          <a:xfrm>
            <a:off x="4610100" y="4826000"/>
            <a:ext cx="2997200" cy="1016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jq on the JSON, terraform validate on the HCL, plan on every pull request. Broken JSON should fail CI, not the dashboard.</a:t>
            </a:r>
          </a:p>
        </p:txBody>
      </p:sp>
      <p:sp>
        <p:nvSpPr>
          <p:cNvPr id="25" name="Rectangle: Rounded Corners 24">
            <a:extLst>
              <a:ext uri="{FF2B5EF4-FFF2-40B4-BE49-F238E27FC236}">
                <a16:creationId xmlns:a16="http://schemas.microsoft.com/office/drawing/2014/main" id="{E18B4923-9A59-44BC-AEB5-F2214AE12FA5}"/>
              </a:ext>
            </a:extLst>
          </p:cNvPr>
          <p:cNvSpPr/>
          <p:nvPr/>
        </p:nvSpPr>
        <p:spPr>
          <a:xfrm>
            <a:off x="8001000" y="3810000"/>
            <a:ext cx="3429000" cy="21590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Rounded Corners 25">
            <a:extLst>
              <a:ext uri="{FF2B5EF4-FFF2-40B4-BE49-F238E27FC236}">
                <a16:creationId xmlns:a16="http://schemas.microsoft.com/office/drawing/2014/main" id="{988E1B37-0926-41F8-875B-787712F050D9}"/>
              </a:ext>
            </a:extLst>
          </p:cNvPr>
          <p:cNvSpPr/>
          <p:nvPr/>
        </p:nvSpPr>
        <p:spPr>
          <a:xfrm>
            <a:off x="8229600" y="4013200"/>
            <a:ext cx="482600" cy="330200"/>
          </a:xfrm>
          <a:prstGeom prst="roundRect">
            <a:avLst/>
          </a:prstGeom>
          <a:solidFill>
            <a:srgbClr val="FADE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111217"/>
                </a:solidFill>
                <a:latin typeface="Segoe UI"/>
                <a:cs typeface="Segoe UI"/>
              </a:rPr>
              <a:t>06</a:t>
            </a:r>
          </a:p>
        </p:txBody>
      </p:sp>
      <p:sp>
        <p:nvSpPr>
          <p:cNvPr id="27" name="TextBox 26">
            <a:extLst>
              <a:ext uri="{FF2B5EF4-FFF2-40B4-BE49-F238E27FC236}">
                <a16:creationId xmlns:a16="http://schemas.microsoft.com/office/drawing/2014/main" id="{EF8D9EC0-6780-442B-90A4-7702F75F0295}"/>
              </a:ext>
            </a:extLst>
          </p:cNvPr>
          <p:cNvSpPr txBox="1"/>
          <p:nvPr/>
        </p:nvSpPr>
        <p:spPr>
          <a:xfrm>
            <a:off x="8229600" y="4470400"/>
            <a:ext cx="2971800" cy="279400"/>
          </a:xfrm>
          <a:prstGeom prst="rect">
            <a:avLst/>
          </a:prstGeom>
          <a:noFill/>
        </p:spPr>
        <p:txBody>
          <a:bodyPr vertOverflow="overflow" vert="horz" wrap="square" rtlCol="0" anchor="t">
            <a:noAutofit/>
          </a:bodyPr>
          <a:lstStyle/>
          <a:p>
            <a:pPr algn="l"/>
            <a:r>
              <a:rPr lang="en-US" sz="1600" b="1">
                <a:solidFill>
                  <a:srgbClr val="FADE2A"/>
                </a:solidFill>
                <a:latin typeface="Segoe UI"/>
                <a:cs typeface="Segoe UI"/>
              </a:rPr>
              <a:t>Make rollback boring</a:t>
            </a:r>
          </a:p>
        </p:txBody>
      </p:sp>
      <p:sp>
        <p:nvSpPr>
          <p:cNvPr id="28" name="TextBox 27">
            <a:extLst>
              <a:ext uri="{FF2B5EF4-FFF2-40B4-BE49-F238E27FC236}">
                <a16:creationId xmlns:a16="http://schemas.microsoft.com/office/drawing/2014/main" id="{46E62D6D-BB82-4858-B703-999DB3284A84}"/>
              </a:ext>
            </a:extLst>
          </p:cNvPr>
          <p:cNvSpPr txBox="1"/>
          <p:nvPr/>
        </p:nvSpPr>
        <p:spPr>
          <a:xfrm>
            <a:off x="8229600" y="4826000"/>
            <a:ext cx="2997200" cy="10160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If everything lives in git, rollback is git revert plus apply - no heroics, no memory of what the panel used to say.</a:t>
            </a:r>
          </a:p>
        </p:txBody>
      </p:sp>
    </p:spTree>
    <p:extLst>
      <p:ext uri="{BB962C8B-B14F-4D97-AF65-F5344CB8AC3E}">
        <p14:creationId xmlns:p14="http://schemas.microsoft.com/office/powerpoint/2010/main" val="1942752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5F255B-BA89-40FB-B2AF-C78A629B8567}"/>
              </a:ext>
            </a:extLst>
          </p:cNvPr>
          <p:cNvSpPr/>
          <p:nvPr/>
        </p:nvSpPr>
        <p:spPr>
          <a:xfrm>
            <a:off x="0" y="0"/>
            <a:ext cx="101600" cy="68580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Rounded Corners 2">
            <a:extLst>
              <a:ext uri="{FF2B5EF4-FFF2-40B4-BE49-F238E27FC236}">
                <a16:creationId xmlns:a16="http://schemas.microsoft.com/office/drawing/2014/main" id="{C14B6789-A7B8-4225-B5CD-58617BF1EBF4}"/>
              </a:ext>
            </a:extLst>
          </p:cNvPr>
          <p:cNvSpPr/>
          <p:nvPr/>
        </p:nvSpPr>
        <p:spPr>
          <a:xfrm>
            <a:off x="762000" y="406400"/>
            <a:ext cx="1219200" cy="533400"/>
          </a:xfrm>
          <a:prstGeom prst="round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111217"/>
                </a:solidFill>
                <a:latin typeface="Segoe UI"/>
                <a:cs typeface="Segoe UI"/>
              </a:rPr>
              <a:t>LAB 3</a:t>
            </a:r>
          </a:p>
        </p:txBody>
      </p:sp>
      <p:sp>
        <p:nvSpPr>
          <p:cNvPr id="4" name="TextBox 3">
            <a:extLst>
              <a:ext uri="{FF2B5EF4-FFF2-40B4-BE49-F238E27FC236}">
                <a16:creationId xmlns:a16="http://schemas.microsoft.com/office/drawing/2014/main" id="{CCF61F47-ADBA-46FB-882C-4CC2875481FE}"/>
              </a:ext>
            </a:extLst>
          </p:cNvPr>
          <p:cNvSpPr txBox="1"/>
          <p:nvPr/>
        </p:nvSpPr>
        <p:spPr>
          <a:xfrm>
            <a:off x="2159000" y="457200"/>
            <a:ext cx="7620000" cy="457200"/>
          </a:xfrm>
          <a:prstGeom prst="rect">
            <a:avLst/>
          </a:prstGeom>
          <a:noFill/>
        </p:spPr>
        <p:txBody>
          <a:bodyPr vertOverflow="overflow" vert="horz" wrap="square" rtlCol="0" anchor="t">
            <a:noAutofit/>
          </a:bodyPr>
          <a:lstStyle/>
          <a:p>
            <a:pPr algn="l"/>
            <a:r>
              <a:rPr lang="en-US" sz="2800" b="1">
                <a:solidFill>
                  <a:srgbClr val="FFFFFF"/>
                </a:solidFill>
                <a:latin typeface="Segoe UI"/>
                <a:cs typeface="Segoe UI"/>
              </a:rPr>
              <a:t>Grafana as Terraform Code</a:t>
            </a:r>
          </a:p>
        </p:txBody>
      </p:sp>
      <p:sp>
        <p:nvSpPr>
          <p:cNvPr id="5" name="TextBox 4">
            <a:extLst>
              <a:ext uri="{FF2B5EF4-FFF2-40B4-BE49-F238E27FC236}">
                <a16:creationId xmlns:a16="http://schemas.microsoft.com/office/drawing/2014/main" id="{430643AB-27C1-43D8-ABAF-1A224F2B18A6}"/>
              </a:ext>
            </a:extLst>
          </p:cNvPr>
          <p:cNvSpPr txBox="1"/>
          <p:nvPr/>
        </p:nvSpPr>
        <p:spPr>
          <a:xfrm>
            <a:off x="2159000" y="863600"/>
            <a:ext cx="8890000" cy="2540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25 minutes  ·  pairs  ·  one folder, one data source, one dashboard, one deliberate drift</a:t>
            </a:r>
          </a:p>
        </p:txBody>
      </p:sp>
      <p:sp>
        <p:nvSpPr>
          <p:cNvPr id="6" name="Rectangle: Rounded Corners 5">
            <a:extLst>
              <a:ext uri="{FF2B5EF4-FFF2-40B4-BE49-F238E27FC236}">
                <a16:creationId xmlns:a16="http://schemas.microsoft.com/office/drawing/2014/main" id="{EC92A069-F4D2-42DA-9A0C-1221D9446BB2}"/>
              </a:ext>
            </a:extLst>
          </p:cNvPr>
          <p:cNvSpPr/>
          <p:nvPr/>
        </p:nvSpPr>
        <p:spPr>
          <a:xfrm>
            <a:off x="762000" y="1422400"/>
            <a:ext cx="6604000" cy="41402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049D6BCF-A07A-45BB-8365-E4F35CC6C7E7}"/>
              </a:ext>
            </a:extLst>
          </p:cNvPr>
          <p:cNvSpPr txBox="1"/>
          <p:nvPr/>
        </p:nvSpPr>
        <p:spPr>
          <a:xfrm>
            <a:off x="990600" y="1574800"/>
            <a:ext cx="3810000" cy="279400"/>
          </a:xfrm>
          <a:prstGeom prst="rect">
            <a:avLst/>
          </a:prstGeom>
          <a:noFill/>
        </p:spPr>
        <p:txBody>
          <a:bodyPr vertOverflow="overflow" vert="horz" wrap="square" rtlCol="0" anchor="t">
            <a:noAutofit/>
          </a:bodyPr>
          <a:lstStyle/>
          <a:p>
            <a:pPr algn="l"/>
            <a:r>
              <a:rPr lang="en-US" sz="1700" b="1">
                <a:solidFill>
                  <a:srgbClr val="73BF69"/>
                </a:solidFill>
                <a:latin typeface="Segoe UI"/>
                <a:cs typeface="Segoe UI"/>
              </a:rPr>
              <a:t>Steps</a:t>
            </a:r>
          </a:p>
        </p:txBody>
      </p:sp>
      <p:sp>
        <p:nvSpPr>
          <p:cNvPr id="8" name="Oval 7">
            <a:extLst>
              <a:ext uri="{FF2B5EF4-FFF2-40B4-BE49-F238E27FC236}">
                <a16:creationId xmlns:a16="http://schemas.microsoft.com/office/drawing/2014/main" id="{53E7D3DD-DEC6-40CD-926E-001C0E43760C}"/>
              </a:ext>
            </a:extLst>
          </p:cNvPr>
          <p:cNvSpPr/>
          <p:nvPr/>
        </p:nvSpPr>
        <p:spPr>
          <a:xfrm>
            <a:off x="990600" y="1930400"/>
            <a:ext cx="304800" cy="304800"/>
          </a:xfrm>
          <a:prstGeom prst="ellipse">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73BF69"/>
                </a:solidFill>
                <a:latin typeface="Segoe UI"/>
                <a:cs typeface="Segoe UI"/>
              </a:rPr>
              <a:t>1</a:t>
            </a:r>
          </a:p>
        </p:txBody>
      </p:sp>
      <p:sp>
        <p:nvSpPr>
          <p:cNvPr id="9" name="TextBox 8">
            <a:extLst>
              <a:ext uri="{FF2B5EF4-FFF2-40B4-BE49-F238E27FC236}">
                <a16:creationId xmlns:a16="http://schemas.microsoft.com/office/drawing/2014/main" id="{9C2CF338-43A5-46D0-9768-D0E72FBA3683}"/>
              </a:ext>
            </a:extLst>
          </p:cNvPr>
          <p:cNvSpPr txBox="1"/>
          <p:nvPr/>
        </p:nvSpPr>
        <p:spPr>
          <a:xfrm>
            <a:off x="1422400" y="19431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Create a fresh directory with provider.tf, then export GRAFANA_URL and GRAFANA_AUTH using your Lab 1 token. Run terraform init.</a:t>
            </a:r>
          </a:p>
        </p:txBody>
      </p:sp>
      <p:sp>
        <p:nvSpPr>
          <p:cNvPr id="10" name="Oval 9">
            <a:extLst>
              <a:ext uri="{FF2B5EF4-FFF2-40B4-BE49-F238E27FC236}">
                <a16:creationId xmlns:a16="http://schemas.microsoft.com/office/drawing/2014/main" id="{F47C966E-4E14-45D5-80F6-872F794E96C7}"/>
              </a:ext>
            </a:extLst>
          </p:cNvPr>
          <p:cNvSpPr/>
          <p:nvPr/>
        </p:nvSpPr>
        <p:spPr>
          <a:xfrm>
            <a:off x="990600" y="2514600"/>
            <a:ext cx="304800" cy="304800"/>
          </a:xfrm>
          <a:prstGeom prst="ellipse">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73BF69"/>
                </a:solidFill>
                <a:latin typeface="Segoe UI"/>
                <a:cs typeface="Segoe UI"/>
              </a:rPr>
              <a:t>2</a:t>
            </a:r>
          </a:p>
        </p:txBody>
      </p:sp>
      <p:sp>
        <p:nvSpPr>
          <p:cNvPr id="11" name="TextBox 10">
            <a:extLst>
              <a:ext uri="{FF2B5EF4-FFF2-40B4-BE49-F238E27FC236}">
                <a16:creationId xmlns:a16="http://schemas.microsoft.com/office/drawing/2014/main" id="{FB26F4CD-B37A-4E02-96B8-F8122E0738D0}"/>
              </a:ext>
            </a:extLst>
          </p:cNvPr>
          <p:cNvSpPr txBox="1"/>
          <p:nvPr/>
        </p:nvSpPr>
        <p:spPr>
          <a:xfrm>
            <a:off x="1422400" y="25273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Add grafana_folder "tf_lab" (uid tf-lab) and a grafana_data_source for Prometheus (uid prom-tf). Run plan and read it before applying.</a:t>
            </a:r>
          </a:p>
        </p:txBody>
      </p:sp>
      <p:sp>
        <p:nvSpPr>
          <p:cNvPr id="12" name="Oval 11">
            <a:extLst>
              <a:ext uri="{FF2B5EF4-FFF2-40B4-BE49-F238E27FC236}">
                <a16:creationId xmlns:a16="http://schemas.microsoft.com/office/drawing/2014/main" id="{4D3744ED-3DC6-444D-B5B6-4D22EB5972C0}"/>
              </a:ext>
            </a:extLst>
          </p:cNvPr>
          <p:cNvSpPr/>
          <p:nvPr/>
        </p:nvSpPr>
        <p:spPr>
          <a:xfrm>
            <a:off x="990600" y="3098800"/>
            <a:ext cx="304800" cy="304800"/>
          </a:xfrm>
          <a:prstGeom prst="ellipse">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73BF69"/>
                </a:solidFill>
                <a:latin typeface="Segoe UI"/>
                <a:cs typeface="Segoe UI"/>
              </a:rPr>
              <a:t>3</a:t>
            </a:r>
          </a:p>
        </p:txBody>
      </p:sp>
      <p:sp>
        <p:nvSpPr>
          <p:cNvPr id="13" name="TextBox 12">
            <a:extLst>
              <a:ext uri="{FF2B5EF4-FFF2-40B4-BE49-F238E27FC236}">
                <a16:creationId xmlns:a16="http://schemas.microsoft.com/office/drawing/2014/main" id="{503E7AFE-5369-4D14-9C94-F04B4D03963E}"/>
              </a:ext>
            </a:extLst>
          </p:cNvPr>
          <p:cNvSpPr txBox="1"/>
          <p:nvPr/>
        </p:nvSpPr>
        <p:spPr>
          <a:xfrm>
            <a:off x="1422400" y="31115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Apply, then confirm in the UI that the folder and data source exist and are not editable by hand.</a:t>
            </a:r>
          </a:p>
        </p:txBody>
      </p:sp>
      <p:sp>
        <p:nvSpPr>
          <p:cNvPr id="14" name="Oval 13">
            <a:extLst>
              <a:ext uri="{FF2B5EF4-FFF2-40B4-BE49-F238E27FC236}">
                <a16:creationId xmlns:a16="http://schemas.microsoft.com/office/drawing/2014/main" id="{67304057-A1D9-44EB-906C-F559221BE0F4}"/>
              </a:ext>
            </a:extLst>
          </p:cNvPr>
          <p:cNvSpPr/>
          <p:nvPr/>
        </p:nvSpPr>
        <p:spPr>
          <a:xfrm>
            <a:off x="990600" y="3683000"/>
            <a:ext cx="304800" cy="304800"/>
          </a:xfrm>
          <a:prstGeom prst="ellipse">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73BF69"/>
                </a:solidFill>
                <a:latin typeface="Segoe UI"/>
                <a:cs typeface="Segoe UI"/>
              </a:rPr>
              <a:t>4</a:t>
            </a:r>
          </a:p>
        </p:txBody>
      </p:sp>
      <p:sp>
        <p:nvSpPr>
          <p:cNvPr id="15" name="TextBox 14">
            <a:extLst>
              <a:ext uri="{FF2B5EF4-FFF2-40B4-BE49-F238E27FC236}">
                <a16:creationId xmlns:a16="http://schemas.microsoft.com/office/drawing/2014/main" id="{11E118C5-1AD6-485C-A059-9768D51788E7}"/>
              </a:ext>
            </a:extLst>
          </p:cNvPr>
          <p:cNvSpPr txBox="1"/>
          <p:nvPr/>
        </p:nvSpPr>
        <p:spPr>
          <a:xfrm>
            <a:off x="1422400" y="36957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Add a grafana_dashboard that reads dashboards/tf-lab.json, with folder set to the folder resource's uid.</a:t>
            </a:r>
          </a:p>
        </p:txBody>
      </p:sp>
      <p:sp>
        <p:nvSpPr>
          <p:cNvPr id="16" name="Oval 15">
            <a:extLst>
              <a:ext uri="{FF2B5EF4-FFF2-40B4-BE49-F238E27FC236}">
                <a16:creationId xmlns:a16="http://schemas.microsoft.com/office/drawing/2014/main" id="{C7307089-0C63-4C28-84F8-FF94CC17FDF0}"/>
              </a:ext>
            </a:extLst>
          </p:cNvPr>
          <p:cNvSpPr/>
          <p:nvPr/>
        </p:nvSpPr>
        <p:spPr>
          <a:xfrm>
            <a:off x="990600" y="4267200"/>
            <a:ext cx="304800" cy="304800"/>
          </a:xfrm>
          <a:prstGeom prst="ellipse">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73BF69"/>
                </a:solidFill>
                <a:latin typeface="Segoe UI"/>
                <a:cs typeface="Segoe UI"/>
              </a:rPr>
              <a:t>5</a:t>
            </a:r>
          </a:p>
        </p:txBody>
      </p:sp>
      <p:sp>
        <p:nvSpPr>
          <p:cNvPr id="17" name="TextBox 16">
            <a:extLst>
              <a:ext uri="{FF2B5EF4-FFF2-40B4-BE49-F238E27FC236}">
                <a16:creationId xmlns:a16="http://schemas.microsoft.com/office/drawing/2014/main" id="{A10DF3E2-14B2-4233-80C3-351A00BAC99D}"/>
              </a:ext>
            </a:extLst>
          </p:cNvPr>
          <p:cNvSpPr txBox="1"/>
          <p:nvPr/>
        </p:nvSpPr>
        <p:spPr>
          <a:xfrm>
            <a:off x="1422400" y="42799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Rename the dashboard in the UI, run plan again, and find the drift in the output.</a:t>
            </a:r>
          </a:p>
        </p:txBody>
      </p:sp>
      <p:sp>
        <p:nvSpPr>
          <p:cNvPr id="18" name="Oval 17">
            <a:extLst>
              <a:ext uri="{FF2B5EF4-FFF2-40B4-BE49-F238E27FC236}">
                <a16:creationId xmlns:a16="http://schemas.microsoft.com/office/drawing/2014/main" id="{6AA884DA-3F2C-40D4-B808-66443637FA11}"/>
              </a:ext>
            </a:extLst>
          </p:cNvPr>
          <p:cNvSpPr/>
          <p:nvPr/>
        </p:nvSpPr>
        <p:spPr>
          <a:xfrm>
            <a:off x="990600" y="4851400"/>
            <a:ext cx="304800" cy="304800"/>
          </a:xfrm>
          <a:prstGeom prst="ellipse">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73BF69"/>
                </a:solidFill>
                <a:latin typeface="Segoe UI"/>
                <a:cs typeface="Segoe UI"/>
              </a:rPr>
              <a:t>6</a:t>
            </a:r>
          </a:p>
        </p:txBody>
      </p:sp>
      <p:sp>
        <p:nvSpPr>
          <p:cNvPr id="19" name="TextBox 18">
            <a:extLst>
              <a:ext uri="{FF2B5EF4-FFF2-40B4-BE49-F238E27FC236}">
                <a16:creationId xmlns:a16="http://schemas.microsoft.com/office/drawing/2014/main" id="{6A8835E8-AAA1-4DC9-B82E-DE024FA0F3F6}"/>
              </a:ext>
            </a:extLst>
          </p:cNvPr>
          <p:cNvSpPr txBox="1"/>
          <p:nvPr/>
        </p:nvSpPr>
        <p:spPr>
          <a:xfrm>
            <a:off x="1422400" y="48641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Apply to reconcile, then comment the dashboard resource out and plan to see the destroy Terraform proposes.</a:t>
            </a:r>
          </a:p>
        </p:txBody>
      </p:sp>
      <p:sp>
        <p:nvSpPr>
          <p:cNvPr id="20" name="Rectangle: Rounded Corners 19">
            <a:extLst>
              <a:ext uri="{FF2B5EF4-FFF2-40B4-BE49-F238E27FC236}">
                <a16:creationId xmlns:a16="http://schemas.microsoft.com/office/drawing/2014/main" id="{74D75775-DCB0-416F-A385-4BD8C3A3A7B8}"/>
              </a:ext>
            </a:extLst>
          </p:cNvPr>
          <p:cNvSpPr/>
          <p:nvPr/>
        </p:nvSpPr>
        <p:spPr>
          <a:xfrm>
            <a:off x="7620000" y="1422400"/>
            <a:ext cx="3810000" cy="12954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29B05F6D-079B-4CD7-B973-F91B5B38C362}"/>
              </a:ext>
            </a:extLst>
          </p:cNvPr>
          <p:cNvSpPr txBox="1"/>
          <p:nvPr/>
        </p:nvSpPr>
        <p:spPr>
          <a:xfrm>
            <a:off x="7848600" y="1549400"/>
            <a:ext cx="33528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Why this matters</a:t>
            </a:r>
          </a:p>
        </p:txBody>
      </p:sp>
      <p:sp>
        <p:nvSpPr>
          <p:cNvPr id="22" name="TextBox 21">
            <a:extLst>
              <a:ext uri="{FF2B5EF4-FFF2-40B4-BE49-F238E27FC236}">
                <a16:creationId xmlns:a16="http://schemas.microsoft.com/office/drawing/2014/main" id="{FB68F832-72AF-4E30-8C63-873912EA5616}"/>
              </a:ext>
            </a:extLst>
          </p:cNvPr>
          <p:cNvSpPr txBox="1"/>
          <p:nvPr/>
        </p:nvSpPr>
        <p:spPr>
          <a:xfrm>
            <a:off x="7848600" y="1828800"/>
            <a:ext cx="3378200" cy="812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This is how a platform team ships Grafana changes: reviewed in a pull request, applied by a pipeline, never clicked.</a:t>
            </a:r>
          </a:p>
        </p:txBody>
      </p:sp>
      <p:sp>
        <p:nvSpPr>
          <p:cNvPr id="23" name="Rectangle: Rounded Corners 22">
            <a:extLst>
              <a:ext uri="{FF2B5EF4-FFF2-40B4-BE49-F238E27FC236}">
                <a16:creationId xmlns:a16="http://schemas.microsoft.com/office/drawing/2014/main" id="{9F1CC155-FBE8-4A59-818A-EFCF60F10C8A}"/>
              </a:ext>
            </a:extLst>
          </p:cNvPr>
          <p:cNvSpPr/>
          <p:nvPr/>
        </p:nvSpPr>
        <p:spPr>
          <a:xfrm>
            <a:off x="7620000" y="2895600"/>
            <a:ext cx="3810000" cy="12954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31CA7301-3D4A-4194-985A-D15270BB8E9C}"/>
              </a:ext>
            </a:extLst>
          </p:cNvPr>
          <p:cNvSpPr txBox="1"/>
          <p:nvPr/>
        </p:nvSpPr>
        <p:spPr>
          <a:xfrm>
            <a:off x="7848600" y="3022600"/>
            <a:ext cx="33528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Done when</a:t>
            </a:r>
          </a:p>
        </p:txBody>
      </p:sp>
      <p:sp>
        <p:nvSpPr>
          <p:cNvPr id="25" name="TextBox 24">
            <a:extLst>
              <a:ext uri="{FF2B5EF4-FFF2-40B4-BE49-F238E27FC236}">
                <a16:creationId xmlns:a16="http://schemas.microsoft.com/office/drawing/2014/main" id="{1433EC62-4245-4129-85EC-4B8E7D914CC2}"/>
              </a:ext>
            </a:extLst>
          </p:cNvPr>
          <p:cNvSpPr txBox="1"/>
          <p:nvPr/>
        </p:nvSpPr>
        <p:spPr>
          <a:xfrm>
            <a:off x="7848600" y="3302000"/>
            <a:ext cx="3378200" cy="812800"/>
          </a:xfrm>
          <a:prstGeom prst="rect">
            <a:avLst/>
          </a:prstGeom>
          <a:noFill/>
        </p:spPr>
        <p:txBody>
          <a:bodyPr vertOverflow="overflow" vert="horz" wrap="square" rtlCol="0" anchor="t">
            <a:noAutofit/>
          </a:bodyPr>
          <a:lstStyle/>
          <a:p>
            <a:pPr algn="l"/>
            <a:r>
              <a:rPr lang="en-US" sz="1400">
                <a:solidFill>
                  <a:srgbClr val="C6E3C2"/>
                </a:solidFill>
                <a:latin typeface="Segoe UI"/>
                <a:cs typeface="Segoe UI"/>
              </a:rPr>
              <a:t>plan reports "No changes" on a clean tree, and your deliberate UI edit showed up as a change before you reconciled it.</a:t>
            </a:r>
          </a:p>
        </p:txBody>
      </p:sp>
      <p:sp>
        <p:nvSpPr>
          <p:cNvPr id="26" name="Rectangle: Rounded Corners 25">
            <a:extLst>
              <a:ext uri="{FF2B5EF4-FFF2-40B4-BE49-F238E27FC236}">
                <a16:creationId xmlns:a16="http://schemas.microsoft.com/office/drawing/2014/main" id="{9CAC7742-75FA-4700-AE37-64DAD9B3C463}"/>
              </a:ext>
            </a:extLst>
          </p:cNvPr>
          <p:cNvSpPr/>
          <p:nvPr/>
        </p:nvSpPr>
        <p:spPr>
          <a:xfrm>
            <a:off x="7620000" y="4368800"/>
            <a:ext cx="3810000" cy="1193800"/>
          </a:xfrm>
          <a:prstGeom prst="roundRect">
            <a:avLst/>
          </a:prstGeom>
          <a:solidFill>
            <a:srgbClr val="1B1E24"/>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724F5389-73E1-4FBF-861D-8B4089714369}"/>
              </a:ext>
            </a:extLst>
          </p:cNvPr>
          <p:cNvSpPr txBox="1"/>
          <p:nvPr/>
        </p:nvSpPr>
        <p:spPr>
          <a:xfrm>
            <a:off x="7848600" y="4495800"/>
            <a:ext cx="3352800" cy="254000"/>
          </a:xfrm>
          <a:prstGeom prst="rect">
            <a:avLst/>
          </a:prstGeom>
          <a:noFill/>
        </p:spPr>
        <p:txBody>
          <a:bodyPr vertOverflow="overflow" vert="horz" wrap="square" rtlCol="0" anchor="t">
            <a:noAutofit/>
          </a:bodyPr>
          <a:lstStyle/>
          <a:p>
            <a:pPr algn="l"/>
            <a:r>
              <a:rPr lang="en-US" sz="1500" b="1">
                <a:solidFill>
                  <a:srgbClr val="B877D9"/>
                </a:solidFill>
                <a:latin typeface="Segoe UI"/>
                <a:cs typeface="Segoe UI"/>
              </a:rPr>
              <a:t>Stretch</a:t>
            </a:r>
          </a:p>
        </p:txBody>
      </p:sp>
      <p:sp>
        <p:nvSpPr>
          <p:cNvPr id="28" name="TextBox 27">
            <a:extLst>
              <a:ext uri="{FF2B5EF4-FFF2-40B4-BE49-F238E27FC236}">
                <a16:creationId xmlns:a16="http://schemas.microsoft.com/office/drawing/2014/main" id="{AB8D19BD-91DE-46BE-A479-7818B977078B}"/>
              </a:ext>
            </a:extLst>
          </p:cNvPr>
          <p:cNvSpPr txBox="1"/>
          <p:nvPr/>
        </p:nvSpPr>
        <p:spPr>
          <a:xfrm>
            <a:off x="7848600" y="4775200"/>
            <a:ext cx="3378200" cy="7112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Add grafana_folder_permission granting a team Editor, then use for_each to create one dashboard per service.</a:t>
            </a:r>
          </a:p>
        </p:txBody>
      </p:sp>
      <p:sp>
        <p:nvSpPr>
          <p:cNvPr id="29" name="TextBox 28">
            <a:extLst>
              <a:ext uri="{FF2B5EF4-FFF2-40B4-BE49-F238E27FC236}">
                <a16:creationId xmlns:a16="http://schemas.microsoft.com/office/drawing/2014/main" id="{5BD3D31A-EDF2-4CD7-A4A4-7610C3ACED32}"/>
              </a:ext>
            </a:extLst>
          </p:cNvPr>
          <p:cNvSpPr txBox="1"/>
          <p:nvPr/>
        </p:nvSpPr>
        <p:spPr>
          <a:xfrm>
            <a:off x="762000" y="5740400"/>
            <a:ext cx="10668000" cy="279400"/>
          </a:xfrm>
          <a:prstGeom prst="rect">
            <a:avLst/>
          </a:prstGeom>
          <a:noFill/>
        </p:spPr>
        <p:txBody>
          <a:bodyPr vertOverflow="overflow" vert="horz" wrap="none" rtlCol="0" anchor="t">
            <a:noAutofit/>
          </a:bodyPr>
          <a:lstStyle/>
          <a:p>
            <a:pPr algn="l"/>
            <a:r>
              <a:rPr lang="en-US" sz="1400">
                <a:solidFill>
                  <a:srgbClr val="8A929C"/>
                </a:solidFill>
                <a:latin typeface="Consolas"/>
              </a:rPr>
              <a:t>terraform init  ·  plan -out tfplan  ·  apply tfplan  ·  state list  ·  destroy -target=…</a:t>
            </a:r>
          </a:p>
        </p:txBody>
      </p:sp>
    </p:spTree>
    <p:extLst>
      <p:ext uri="{BB962C8B-B14F-4D97-AF65-F5344CB8AC3E}">
        <p14:creationId xmlns:p14="http://schemas.microsoft.com/office/powerpoint/2010/main" val="2977833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2EDFF-0B09-4B6E-BF8F-A327BDD8A943}"/>
              </a:ext>
            </a:extLst>
          </p:cNvPr>
          <p:cNvSpPr/>
          <p:nvPr/>
        </p:nvSpPr>
        <p:spPr>
          <a:xfrm>
            <a:off x="0" y="0"/>
            <a:ext cx="101600" cy="68580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AAA54FDA-8E84-493F-908A-5D77FC55D533}"/>
              </a:ext>
            </a:extLst>
          </p:cNvPr>
          <p:cNvSpPr/>
          <p:nvPr/>
        </p:nvSpPr>
        <p:spPr>
          <a:xfrm>
            <a:off x="762000" y="1524000"/>
            <a:ext cx="2794000" cy="1905000"/>
          </a:xfrm>
          <a:prstGeom prst="rect">
            <a:avLst/>
          </a:prstGeom>
          <a:solidFill>
            <a:srgbClr val="11121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0" b="1">
                <a:solidFill>
                  <a:srgbClr val="1C212A"/>
                </a:solidFill>
                <a:latin typeface="Segoe UI"/>
                <a:cs typeface="Segoe UI"/>
              </a:rPr>
              <a:t>20</a:t>
            </a:r>
          </a:p>
        </p:txBody>
      </p:sp>
      <p:sp>
        <p:nvSpPr>
          <p:cNvPr id="4" name="TextBox 3">
            <a:extLst>
              <a:ext uri="{FF2B5EF4-FFF2-40B4-BE49-F238E27FC236}">
                <a16:creationId xmlns:a16="http://schemas.microsoft.com/office/drawing/2014/main" id="{231BCA07-1074-45FE-830E-E657B582E7EF}"/>
              </a:ext>
            </a:extLst>
          </p:cNvPr>
          <p:cNvSpPr txBox="1"/>
          <p:nvPr/>
        </p:nvSpPr>
        <p:spPr>
          <a:xfrm>
            <a:off x="762000" y="1219200"/>
            <a:ext cx="5080000" cy="279400"/>
          </a:xfrm>
          <a:prstGeom prst="rect">
            <a:avLst/>
          </a:prstGeom>
          <a:noFill/>
        </p:spPr>
        <p:txBody>
          <a:bodyPr vertOverflow="overflow" vert="horz" wrap="square" rtlCol="0" anchor="t">
            <a:noAutofit/>
          </a:bodyPr>
          <a:lstStyle/>
          <a:p>
            <a:pPr algn="l"/>
            <a:r>
              <a:rPr lang="en-US" sz="1500" b="1">
                <a:solidFill>
                  <a:srgbClr val="B877D9"/>
                </a:solidFill>
                <a:latin typeface="Segoe UI"/>
                <a:cs typeface="Segoe UI"/>
              </a:rPr>
              <a:t>MODULE 20  ·  55 MINUTES</a:t>
            </a:r>
          </a:p>
        </p:txBody>
      </p:sp>
      <p:sp>
        <p:nvSpPr>
          <p:cNvPr id="5" name="TextBox 4">
            <a:extLst>
              <a:ext uri="{FF2B5EF4-FFF2-40B4-BE49-F238E27FC236}">
                <a16:creationId xmlns:a16="http://schemas.microsoft.com/office/drawing/2014/main" id="{CA12C031-F2A6-41CD-9343-8976610AF5C1}"/>
              </a:ext>
            </a:extLst>
          </p:cNvPr>
          <p:cNvSpPr txBox="1"/>
          <p:nvPr/>
        </p:nvSpPr>
        <p:spPr>
          <a:xfrm>
            <a:off x="762000" y="1905000"/>
            <a:ext cx="6604000" cy="736600"/>
          </a:xfrm>
          <a:prstGeom prst="rect">
            <a:avLst/>
          </a:prstGeom>
          <a:noFill/>
        </p:spPr>
        <p:txBody>
          <a:bodyPr vertOverflow="overflow" vert="horz" wrap="square" rtlCol="0" anchor="t">
            <a:noAutofit/>
          </a:bodyPr>
          <a:lstStyle/>
          <a:p>
            <a:pPr algn="l"/>
            <a:r>
              <a:rPr lang="en-US" sz="4000" b="1">
                <a:solidFill>
                  <a:srgbClr val="FFFFFF"/>
                </a:solidFill>
                <a:latin typeface="Segoe UI"/>
                <a:cs typeface="Segoe UI"/>
              </a:rPr>
              <a:t>Production Best Practices</a:t>
            </a:r>
          </a:p>
        </p:txBody>
      </p:sp>
      <p:sp>
        <p:nvSpPr>
          <p:cNvPr id="6" name="Rectangle 5">
            <a:extLst>
              <a:ext uri="{FF2B5EF4-FFF2-40B4-BE49-F238E27FC236}">
                <a16:creationId xmlns:a16="http://schemas.microsoft.com/office/drawing/2014/main" id="{D7802923-6CEC-4598-9892-4574BD0E1519}"/>
              </a:ext>
            </a:extLst>
          </p:cNvPr>
          <p:cNvSpPr/>
          <p:nvPr/>
        </p:nvSpPr>
        <p:spPr>
          <a:xfrm>
            <a:off x="762000" y="2743200"/>
            <a:ext cx="11430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783695BE-3BA1-4C30-A8A0-DF1B273F697D}"/>
              </a:ext>
            </a:extLst>
          </p:cNvPr>
          <p:cNvSpPr txBox="1"/>
          <p:nvPr/>
        </p:nvSpPr>
        <p:spPr>
          <a:xfrm>
            <a:off x="762000" y="2997200"/>
            <a:ext cx="6096000" cy="736600"/>
          </a:xfrm>
          <a:prstGeom prst="rect">
            <a:avLst/>
          </a:prstGeom>
          <a:noFill/>
        </p:spPr>
        <p:txBody>
          <a:bodyPr vertOverflow="overflow" vert="horz" wrap="square" rtlCol="0" anchor="t">
            <a:noAutofit/>
          </a:bodyPr>
          <a:lstStyle/>
          <a:p>
            <a:pPr algn="l"/>
            <a:r>
              <a:rPr lang="en-US" sz="1700" dirty="0">
                <a:solidFill>
                  <a:srgbClr val="B4BCC6"/>
                </a:solidFill>
                <a:latin typeface="Segoe UI"/>
                <a:cs typeface="Segoe UI"/>
              </a:rPr>
              <a:t>Everything so far assumed Grafana stays up. This module is about the night it doesn't - and what you wish you had set up first.</a:t>
            </a:r>
          </a:p>
        </p:txBody>
      </p:sp>
      <p:sp>
        <p:nvSpPr>
          <p:cNvPr id="8" name="Rectangle: Rounded Corners 7">
            <a:extLst>
              <a:ext uri="{FF2B5EF4-FFF2-40B4-BE49-F238E27FC236}">
                <a16:creationId xmlns:a16="http://schemas.microsoft.com/office/drawing/2014/main" id="{C4173715-5BCC-4F65-90EF-E2AABE4A4049}"/>
              </a:ext>
            </a:extLst>
          </p:cNvPr>
          <p:cNvSpPr/>
          <p:nvPr/>
        </p:nvSpPr>
        <p:spPr>
          <a:xfrm>
            <a:off x="7112000" y="1168400"/>
            <a:ext cx="4318000" cy="7366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EDF8D4DD-F3FE-4BBC-A942-8DA3FC8F009B}"/>
              </a:ext>
            </a:extLst>
          </p:cNvPr>
          <p:cNvSpPr/>
          <p:nvPr/>
        </p:nvSpPr>
        <p:spPr>
          <a:xfrm>
            <a:off x="7340600" y="1447800"/>
            <a:ext cx="152400" cy="152400"/>
          </a:xfrm>
          <a:prstGeom prst="ellipse">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12E9B9A5-DBE2-43ED-943F-2774735BED75}"/>
              </a:ext>
            </a:extLst>
          </p:cNvPr>
          <p:cNvSpPr txBox="1"/>
          <p:nvPr/>
        </p:nvSpPr>
        <p:spPr>
          <a:xfrm>
            <a:off x="7645400" y="12700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Backup &amp; restore</a:t>
            </a:r>
          </a:p>
        </p:txBody>
      </p:sp>
      <p:sp>
        <p:nvSpPr>
          <p:cNvPr id="11" name="TextBox 10">
            <a:extLst>
              <a:ext uri="{FF2B5EF4-FFF2-40B4-BE49-F238E27FC236}">
                <a16:creationId xmlns:a16="http://schemas.microsoft.com/office/drawing/2014/main" id="{77428875-DA40-4A50-913A-2186EB2E7C99}"/>
              </a:ext>
            </a:extLst>
          </p:cNvPr>
          <p:cNvSpPr txBox="1"/>
          <p:nvPr/>
        </p:nvSpPr>
        <p:spPr>
          <a:xfrm>
            <a:off x="7645400" y="1549400"/>
            <a:ext cx="3632200" cy="3556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What to save - and proving restores work</a:t>
            </a:r>
          </a:p>
        </p:txBody>
      </p:sp>
      <p:sp>
        <p:nvSpPr>
          <p:cNvPr id="12" name="Rectangle: Rounded Corners 11">
            <a:extLst>
              <a:ext uri="{FF2B5EF4-FFF2-40B4-BE49-F238E27FC236}">
                <a16:creationId xmlns:a16="http://schemas.microsoft.com/office/drawing/2014/main" id="{40B0359B-281E-451F-8D75-2EAB4F487D39}"/>
              </a:ext>
            </a:extLst>
          </p:cNvPr>
          <p:cNvSpPr/>
          <p:nvPr/>
        </p:nvSpPr>
        <p:spPr>
          <a:xfrm>
            <a:off x="7112000" y="1955800"/>
            <a:ext cx="4318000" cy="7366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18342122-194B-464D-84E8-D562542620CB}"/>
              </a:ext>
            </a:extLst>
          </p:cNvPr>
          <p:cNvSpPr/>
          <p:nvPr/>
        </p:nvSpPr>
        <p:spPr>
          <a:xfrm>
            <a:off x="7340600" y="2235200"/>
            <a:ext cx="152400" cy="152400"/>
          </a:xfrm>
          <a:prstGeom prst="ellipse">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1E152451-2BC5-4204-AFB6-8361AD0E8889}"/>
              </a:ext>
            </a:extLst>
          </p:cNvPr>
          <p:cNvSpPr txBox="1"/>
          <p:nvPr/>
        </p:nvSpPr>
        <p:spPr>
          <a:xfrm>
            <a:off x="7645400" y="20574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High availability</a:t>
            </a:r>
          </a:p>
        </p:txBody>
      </p:sp>
      <p:sp>
        <p:nvSpPr>
          <p:cNvPr id="15" name="TextBox 14">
            <a:extLst>
              <a:ext uri="{FF2B5EF4-FFF2-40B4-BE49-F238E27FC236}">
                <a16:creationId xmlns:a16="http://schemas.microsoft.com/office/drawing/2014/main" id="{F864813A-C3AA-4B8B-994D-6A4CF8E40DD6}"/>
              </a:ext>
            </a:extLst>
          </p:cNvPr>
          <p:cNvSpPr txBox="1"/>
          <p:nvPr/>
        </p:nvSpPr>
        <p:spPr>
          <a:xfrm>
            <a:off x="7645400" y="23368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Two or more nodes behind a load balancer</a:t>
            </a:r>
          </a:p>
        </p:txBody>
      </p:sp>
      <p:sp>
        <p:nvSpPr>
          <p:cNvPr id="16" name="Rectangle: Rounded Corners 15">
            <a:extLst>
              <a:ext uri="{FF2B5EF4-FFF2-40B4-BE49-F238E27FC236}">
                <a16:creationId xmlns:a16="http://schemas.microsoft.com/office/drawing/2014/main" id="{903E139B-1491-4B5C-8ECF-146F98E3C091}"/>
              </a:ext>
            </a:extLst>
          </p:cNvPr>
          <p:cNvSpPr/>
          <p:nvPr/>
        </p:nvSpPr>
        <p:spPr>
          <a:xfrm>
            <a:off x="7112000" y="2743200"/>
            <a:ext cx="4318000" cy="7366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a:extLst>
              <a:ext uri="{FF2B5EF4-FFF2-40B4-BE49-F238E27FC236}">
                <a16:creationId xmlns:a16="http://schemas.microsoft.com/office/drawing/2014/main" id="{16CE198E-2151-4DA2-BF71-261EA477FE51}"/>
              </a:ext>
            </a:extLst>
          </p:cNvPr>
          <p:cNvSpPr/>
          <p:nvPr/>
        </p:nvSpPr>
        <p:spPr>
          <a:xfrm>
            <a:off x="7340600" y="3022600"/>
            <a:ext cx="152400" cy="152400"/>
          </a:xfrm>
          <a:prstGeom prst="ellipse">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1BD5CB30-D3B1-4CDE-B05B-27510C08589A}"/>
              </a:ext>
            </a:extLst>
          </p:cNvPr>
          <p:cNvSpPr txBox="1"/>
          <p:nvPr/>
        </p:nvSpPr>
        <p:spPr>
          <a:xfrm>
            <a:off x="7645400" y="28448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SSL / TLS</a:t>
            </a:r>
          </a:p>
        </p:txBody>
      </p:sp>
      <p:sp>
        <p:nvSpPr>
          <p:cNvPr id="19" name="TextBox 18">
            <a:extLst>
              <a:ext uri="{FF2B5EF4-FFF2-40B4-BE49-F238E27FC236}">
                <a16:creationId xmlns:a16="http://schemas.microsoft.com/office/drawing/2014/main" id="{EBF14A8B-9C28-4F8A-8103-0D9D2A43A5A9}"/>
              </a:ext>
            </a:extLst>
          </p:cNvPr>
          <p:cNvSpPr txBox="1"/>
          <p:nvPr/>
        </p:nvSpPr>
        <p:spPr>
          <a:xfrm>
            <a:off x="7645400" y="31242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Certificates, native TLS, and redirects</a:t>
            </a:r>
          </a:p>
        </p:txBody>
      </p:sp>
      <p:sp>
        <p:nvSpPr>
          <p:cNvPr id="20" name="Rectangle: Rounded Corners 19">
            <a:extLst>
              <a:ext uri="{FF2B5EF4-FFF2-40B4-BE49-F238E27FC236}">
                <a16:creationId xmlns:a16="http://schemas.microsoft.com/office/drawing/2014/main" id="{E3317B2B-ECBD-41E9-A319-3079F4C59323}"/>
              </a:ext>
            </a:extLst>
          </p:cNvPr>
          <p:cNvSpPr/>
          <p:nvPr/>
        </p:nvSpPr>
        <p:spPr>
          <a:xfrm>
            <a:off x="7112000" y="3530600"/>
            <a:ext cx="4318000" cy="7366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Oval 20">
            <a:extLst>
              <a:ext uri="{FF2B5EF4-FFF2-40B4-BE49-F238E27FC236}">
                <a16:creationId xmlns:a16="http://schemas.microsoft.com/office/drawing/2014/main" id="{5D6C0273-F7FE-47DC-998A-684E8FAA635C}"/>
              </a:ext>
            </a:extLst>
          </p:cNvPr>
          <p:cNvSpPr/>
          <p:nvPr/>
        </p:nvSpPr>
        <p:spPr>
          <a:xfrm>
            <a:off x="7340600" y="3810000"/>
            <a:ext cx="152400" cy="152400"/>
          </a:xfrm>
          <a:prstGeom prst="ellipse">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8F045E14-2288-4277-81E1-BE39DBF28E2A}"/>
              </a:ext>
            </a:extLst>
          </p:cNvPr>
          <p:cNvSpPr txBox="1"/>
          <p:nvPr/>
        </p:nvSpPr>
        <p:spPr>
          <a:xfrm>
            <a:off x="7645400" y="36322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Reverse proxy</a:t>
            </a:r>
          </a:p>
        </p:txBody>
      </p:sp>
      <p:sp>
        <p:nvSpPr>
          <p:cNvPr id="23" name="TextBox 22">
            <a:extLst>
              <a:ext uri="{FF2B5EF4-FFF2-40B4-BE49-F238E27FC236}">
                <a16:creationId xmlns:a16="http://schemas.microsoft.com/office/drawing/2014/main" id="{F7A690FC-38FE-4EAC-9767-889ADF2BE52F}"/>
              </a:ext>
            </a:extLst>
          </p:cNvPr>
          <p:cNvSpPr txBox="1"/>
          <p:nvPr/>
        </p:nvSpPr>
        <p:spPr>
          <a:xfrm>
            <a:off x="7645400" y="39116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Nginx in front, sub-paths, headers</a:t>
            </a:r>
          </a:p>
        </p:txBody>
      </p:sp>
      <p:sp>
        <p:nvSpPr>
          <p:cNvPr id="24" name="Rectangle: Rounded Corners 23">
            <a:extLst>
              <a:ext uri="{FF2B5EF4-FFF2-40B4-BE49-F238E27FC236}">
                <a16:creationId xmlns:a16="http://schemas.microsoft.com/office/drawing/2014/main" id="{0F32529D-5C90-4366-BED2-7A1912D981D6}"/>
              </a:ext>
            </a:extLst>
          </p:cNvPr>
          <p:cNvSpPr/>
          <p:nvPr/>
        </p:nvSpPr>
        <p:spPr>
          <a:xfrm>
            <a:off x="7112000" y="4318000"/>
            <a:ext cx="4318000" cy="7366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Oval 24">
            <a:extLst>
              <a:ext uri="{FF2B5EF4-FFF2-40B4-BE49-F238E27FC236}">
                <a16:creationId xmlns:a16="http://schemas.microsoft.com/office/drawing/2014/main" id="{CA37953A-3672-46E3-8DAB-58E9265458A4}"/>
              </a:ext>
            </a:extLst>
          </p:cNvPr>
          <p:cNvSpPr/>
          <p:nvPr/>
        </p:nvSpPr>
        <p:spPr>
          <a:xfrm>
            <a:off x="7340600" y="4597400"/>
            <a:ext cx="152400" cy="152400"/>
          </a:xfrm>
          <a:prstGeom prst="ellipse">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C3989CFB-0DAE-40CE-905F-5D7FB78FC65C}"/>
              </a:ext>
            </a:extLst>
          </p:cNvPr>
          <p:cNvSpPr txBox="1"/>
          <p:nvPr/>
        </p:nvSpPr>
        <p:spPr>
          <a:xfrm>
            <a:off x="7645400" y="44196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Monitoring Grafana</a:t>
            </a:r>
          </a:p>
        </p:txBody>
      </p:sp>
      <p:sp>
        <p:nvSpPr>
          <p:cNvPr id="27" name="TextBox 26">
            <a:extLst>
              <a:ext uri="{FF2B5EF4-FFF2-40B4-BE49-F238E27FC236}">
                <a16:creationId xmlns:a16="http://schemas.microsoft.com/office/drawing/2014/main" id="{0BCFF9A8-16E3-4C27-AC14-90CB4B62A6D9}"/>
              </a:ext>
            </a:extLst>
          </p:cNvPr>
          <p:cNvSpPr txBox="1"/>
          <p:nvPr/>
        </p:nvSpPr>
        <p:spPr>
          <a:xfrm>
            <a:off x="7645400" y="46990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Its own /metrics, logs and key signals</a:t>
            </a:r>
          </a:p>
        </p:txBody>
      </p:sp>
      <p:sp>
        <p:nvSpPr>
          <p:cNvPr id="28" name="Rectangle: Rounded Corners 27">
            <a:extLst>
              <a:ext uri="{FF2B5EF4-FFF2-40B4-BE49-F238E27FC236}">
                <a16:creationId xmlns:a16="http://schemas.microsoft.com/office/drawing/2014/main" id="{3FDC313D-446A-4144-B416-25FD46C29FBD}"/>
              </a:ext>
            </a:extLst>
          </p:cNvPr>
          <p:cNvSpPr/>
          <p:nvPr/>
        </p:nvSpPr>
        <p:spPr>
          <a:xfrm>
            <a:off x="7112000" y="5105400"/>
            <a:ext cx="4318000" cy="7366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Oval 28">
            <a:extLst>
              <a:ext uri="{FF2B5EF4-FFF2-40B4-BE49-F238E27FC236}">
                <a16:creationId xmlns:a16="http://schemas.microsoft.com/office/drawing/2014/main" id="{130EF18B-82D9-4B8D-A104-859EE3A81BF7}"/>
              </a:ext>
            </a:extLst>
          </p:cNvPr>
          <p:cNvSpPr/>
          <p:nvPr/>
        </p:nvSpPr>
        <p:spPr>
          <a:xfrm>
            <a:off x="7340600" y="5384800"/>
            <a:ext cx="152400" cy="152400"/>
          </a:xfrm>
          <a:prstGeom prst="ellipse">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D4B2BE0B-A2D2-446D-8041-12684B7E9A59}"/>
              </a:ext>
            </a:extLst>
          </p:cNvPr>
          <p:cNvSpPr txBox="1"/>
          <p:nvPr/>
        </p:nvSpPr>
        <p:spPr>
          <a:xfrm>
            <a:off x="7645400" y="5207000"/>
            <a:ext cx="3683000" cy="355600"/>
          </a:xfrm>
          <a:prstGeom prst="rect">
            <a:avLst/>
          </a:prstGeom>
          <a:noFill/>
        </p:spPr>
        <p:txBody>
          <a:bodyPr vertOverflow="overflow" vert="horz" wrap="square" rtlCol="0" anchor="t">
            <a:noAutofit/>
          </a:bodyPr>
          <a:lstStyle/>
          <a:p>
            <a:pPr algn="l"/>
            <a:r>
              <a:rPr lang="en-US" sz="1600" b="1">
                <a:solidFill>
                  <a:srgbClr val="FFFFFF"/>
                </a:solidFill>
                <a:latin typeface="Segoe UI"/>
                <a:cs typeface="Segoe UI"/>
              </a:rPr>
              <a:t>Troubleshooting</a:t>
            </a:r>
          </a:p>
        </p:txBody>
      </p:sp>
      <p:sp>
        <p:nvSpPr>
          <p:cNvPr id="31" name="TextBox 30">
            <a:extLst>
              <a:ext uri="{FF2B5EF4-FFF2-40B4-BE49-F238E27FC236}">
                <a16:creationId xmlns:a16="http://schemas.microsoft.com/office/drawing/2014/main" id="{D8E5313A-5D9A-47E7-B360-2B6B0039C577}"/>
              </a:ext>
            </a:extLst>
          </p:cNvPr>
          <p:cNvSpPr txBox="1"/>
          <p:nvPr/>
        </p:nvSpPr>
        <p:spPr>
          <a:xfrm>
            <a:off x="7645400" y="5486400"/>
            <a:ext cx="3632200" cy="355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A playbook for the five usual suspects</a:t>
            </a:r>
          </a:p>
        </p:txBody>
      </p:sp>
      <p:sp>
        <p:nvSpPr>
          <p:cNvPr id="32" name="Rectangle: Rounded Corners 31">
            <a:extLst>
              <a:ext uri="{FF2B5EF4-FFF2-40B4-BE49-F238E27FC236}">
                <a16:creationId xmlns:a16="http://schemas.microsoft.com/office/drawing/2014/main" id="{20019C63-FDC0-4154-861B-B96BFC4C0AD8}"/>
              </a:ext>
            </a:extLst>
          </p:cNvPr>
          <p:cNvSpPr/>
          <p:nvPr/>
        </p:nvSpPr>
        <p:spPr>
          <a:xfrm>
            <a:off x="762000" y="5029200"/>
            <a:ext cx="5588000" cy="1219200"/>
          </a:xfrm>
          <a:prstGeom prst="roundRect">
            <a:avLst/>
          </a:prstGeom>
          <a:solidFill>
            <a:srgbClr val="1A12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TextBox 32">
            <a:extLst>
              <a:ext uri="{FF2B5EF4-FFF2-40B4-BE49-F238E27FC236}">
                <a16:creationId xmlns:a16="http://schemas.microsoft.com/office/drawing/2014/main" id="{61A361CF-C7E9-4B6D-961B-F1350F97961F}"/>
              </a:ext>
            </a:extLst>
          </p:cNvPr>
          <p:cNvSpPr txBox="1"/>
          <p:nvPr/>
        </p:nvSpPr>
        <p:spPr>
          <a:xfrm>
            <a:off x="1016000" y="5207000"/>
            <a:ext cx="2540000" cy="254000"/>
          </a:xfrm>
          <a:prstGeom prst="rect">
            <a:avLst/>
          </a:prstGeom>
          <a:noFill/>
        </p:spPr>
        <p:txBody>
          <a:bodyPr vertOverflow="overflow" vert="horz" wrap="square" rtlCol="0" anchor="t">
            <a:noAutofit/>
          </a:bodyPr>
          <a:lstStyle/>
          <a:p>
            <a:pPr algn="l"/>
            <a:r>
              <a:rPr lang="en-US" sz="1500" b="1">
                <a:solidFill>
                  <a:srgbClr val="B877D9"/>
                </a:solidFill>
                <a:latin typeface="Segoe UI"/>
                <a:cs typeface="Segoe UI"/>
              </a:rPr>
              <a:t>LAB 4  ·  25 min</a:t>
            </a:r>
          </a:p>
        </p:txBody>
      </p:sp>
      <p:sp>
        <p:nvSpPr>
          <p:cNvPr id="34" name="TextBox 33">
            <a:extLst>
              <a:ext uri="{FF2B5EF4-FFF2-40B4-BE49-F238E27FC236}">
                <a16:creationId xmlns:a16="http://schemas.microsoft.com/office/drawing/2014/main" id="{64B8FB3B-8F2C-48C6-9458-27A0D87F0860}"/>
              </a:ext>
            </a:extLst>
          </p:cNvPr>
          <p:cNvSpPr txBox="1"/>
          <p:nvPr/>
        </p:nvSpPr>
        <p:spPr>
          <a:xfrm>
            <a:off x="1016000" y="5511800"/>
            <a:ext cx="5130800" cy="660400"/>
          </a:xfrm>
          <a:prstGeom prst="rect">
            <a:avLst/>
          </a:prstGeom>
          <a:noFill/>
        </p:spPr>
        <p:txBody>
          <a:bodyPr vertOverflow="overflow" vert="horz" wrap="square" rtlCol="0" anchor="t">
            <a:noAutofit/>
          </a:bodyPr>
          <a:lstStyle/>
          <a:p>
            <a:pPr algn="l"/>
            <a:r>
              <a:rPr lang="en-US" sz="1500">
                <a:solidFill>
                  <a:srgbClr val="DCC6EA"/>
                </a:solidFill>
                <a:latin typeface="Segoe UI"/>
                <a:cs typeface="Segoe UI"/>
              </a:rPr>
              <a:t>Put Grafana behind Nginx with TLS, back the whole thing up, break it on purpose, and restore it from your own backup.</a:t>
            </a:r>
          </a:p>
        </p:txBody>
      </p:sp>
    </p:spTree>
    <p:extLst>
      <p:ext uri="{BB962C8B-B14F-4D97-AF65-F5344CB8AC3E}">
        <p14:creationId xmlns:p14="http://schemas.microsoft.com/office/powerpoint/2010/main" val="3840785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02326-046F-C202-A3A9-78BF4B65E01F}"/>
              </a:ext>
            </a:extLst>
          </p:cNvPr>
          <p:cNvSpPr>
            <a:spLocks noGrp="1"/>
          </p:cNvSpPr>
          <p:nvPr>
            <p:ph type="title"/>
          </p:nvPr>
        </p:nvSpPr>
        <p:spPr>
          <a:xfrm>
            <a:off x="762000" y="406400"/>
            <a:ext cx="10668000" cy="533400"/>
          </a:xfrm>
        </p:spPr>
        <p:txBody>
          <a:bodyPr>
            <a:normAutofit/>
          </a:bodyPr>
          <a:lstStyle/>
          <a:p>
            <a:r>
              <a:rPr lang="en-US" sz="3000" b="1"/>
              <a:t>Backup &amp; Restore</a:t>
            </a:r>
          </a:p>
        </p:txBody>
      </p:sp>
      <p:sp>
        <p:nvSpPr>
          <p:cNvPr id="3" name="Rectangle 2">
            <a:extLst>
              <a:ext uri="{FF2B5EF4-FFF2-40B4-BE49-F238E27FC236}">
                <a16:creationId xmlns:a16="http://schemas.microsoft.com/office/drawing/2014/main" id="{23F3BD27-0FA7-4BC0-8C8C-48F4C45BF592}"/>
              </a:ext>
            </a:extLst>
          </p:cNvPr>
          <p:cNvSpPr/>
          <p:nvPr/>
        </p:nvSpPr>
        <p:spPr>
          <a:xfrm>
            <a:off x="762000" y="1016000"/>
            <a:ext cx="889000" cy="381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F3707A9C-AEF7-492B-BB0E-5C384B905444}"/>
              </a:ext>
            </a:extLst>
          </p:cNvPr>
          <p:cNvSpPr txBox="1"/>
          <p:nvPr/>
        </p:nvSpPr>
        <p:spPr>
          <a:xfrm>
            <a:off x="762000" y="1143000"/>
            <a:ext cx="9652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A backup you have never restored is a hypothesis, not a backup.</a:t>
            </a:r>
          </a:p>
        </p:txBody>
      </p:sp>
      <p:sp>
        <p:nvSpPr>
          <p:cNvPr id="5" name="Rectangle: Rounded Corners 4">
            <a:extLst>
              <a:ext uri="{FF2B5EF4-FFF2-40B4-BE49-F238E27FC236}">
                <a16:creationId xmlns:a16="http://schemas.microsoft.com/office/drawing/2014/main" id="{E7F0B916-3FA8-46E3-97A8-3449B7441A7D}"/>
              </a:ext>
            </a:extLst>
          </p:cNvPr>
          <p:cNvSpPr/>
          <p:nvPr/>
        </p:nvSpPr>
        <p:spPr>
          <a:xfrm>
            <a:off x="762000" y="1498600"/>
            <a:ext cx="5080000" cy="31750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D2F0DF5F-1FC7-451A-AD1F-F779DB8D84E0}"/>
              </a:ext>
            </a:extLst>
          </p:cNvPr>
          <p:cNvSpPr txBox="1"/>
          <p:nvPr/>
        </p:nvSpPr>
        <p:spPr>
          <a:xfrm>
            <a:off x="990600" y="1651000"/>
            <a:ext cx="4572000" cy="279400"/>
          </a:xfrm>
          <a:prstGeom prst="rect">
            <a:avLst/>
          </a:prstGeom>
          <a:noFill/>
        </p:spPr>
        <p:txBody>
          <a:bodyPr vertOverflow="overflow" vert="horz" wrap="square" rtlCol="0" anchor="t">
            <a:noAutofit/>
          </a:bodyPr>
          <a:lstStyle/>
          <a:p>
            <a:pPr algn="l"/>
            <a:r>
              <a:rPr lang="en-US" sz="1600" b="1">
                <a:solidFill>
                  <a:srgbClr val="B877D9"/>
                </a:solidFill>
                <a:latin typeface="Segoe UI"/>
                <a:cs typeface="Segoe UI"/>
              </a:rPr>
              <a:t>What actually has to be saved</a:t>
            </a:r>
          </a:p>
        </p:txBody>
      </p:sp>
      <p:sp>
        <p:nvSpPr>
          <p:cNvPr id="7" name="Oval 6">
            <a:extLst>
              <a:ext uri="{FF2B5EF4-FFF2-40B4-BE49-F238E27FC236}">
                <a16:creationId xmlns:a16="http://schemas.microsoft.com/office/drawing/2014/main" id="{E06A2D1A-57FC-4D54-884A-D4DF35F24148}"/>
              </a:ext>
            </a:extLst>
          </p:cNvPr>
          <p:cNvSpPr/>
          <p:nvPr/>
        </p:nvSpPr>
        <p:spPr>
          <a:xfrm>
            <a:off x="990600" y="2057400"/>
            <a:ext cx="177800" cy="1778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68052AF7-0D53-45EA-90FB-0172412A7770}"/>
              </a:ext>
            </a:extLst>
          </p:cNvPr>
          <p:cNvSpPr txBox="1"/>
          <p:nvPr/>
        </p:nvSpPr>
        <p:spPr>
          <a:xfrm>
            <a:off x="1270000" y="2032000"/>
            <a:ext cx="4368800" cy="431800"/>
          </a:xfrm>
          <a:prstGeom prst="rect">
            <a:avLst/>
          </a:prstGeom>
          <a:noFill/>
        </p:spPr>
        <p:txBody>
          <a:bodyPr vertOverflow="overflow" vert="horz" wrap="square" rtlCol="0" anchor="t">
            <a:noAutofit/>
          </a:bodyPr>
          <a:lstStyle/>
          <a:p>
            <a:pPr algn="l"/>
            <a:r>
              <a:rPr lang="en-US" sz="1400" dirty="0">
                <a:solidFill>
                  <a:srgbClr val="D2D6DB"/>
                </a:solidFill>
                <a:latin typeface="Segoe UI"/>
                <a:cs typeface="Segoe UI"/>
              </a:rPr>
              <a:t>The database - </a:t>
            </a:r>
            <a:r>
              <a:rPr lang="en-US" sz="1400" dirty="0" err="1">
                <a:solidFill>
                  <a:srgbClr val="D2D6DB"/>
                </a:solidFill>
                <a:latin typeface="Segoe UI"/>
                <a:cs typeface="Segoe UI"/>
              </a:rPr>
              <a:t>grafana.db</a:t>
            </a:r>
            <a:r>
              <a:rPr lang="en-US" sz="1400" dirty="0">
                <a:solidFill>
                  <a:srgbClr val="D2D6DB"/>
                </a:solidFill>
                <a:latin typeface="Segoe UI"/>
                <a:cs typeface="Segoe UI"/>
              </a:rPr>
              <a:t>, or a </a:t>
            </a:r>
            <a:r>
              <a:rPr lang="en-US" sz="1400" dirty="0" err="1">
                <a:solidFill>
                  <a:srgbClr val="D2D6DB"/>
                </a:solidFill>
                <a:latin typeface="Segoe UI"/>
                <a:cs typeface="Segoe UI"/>
              </a:rPr>
              <a:t>mysqldump</a:t>
            </a:r>
            <a:r>
              <a:rPr lang="en-US" sz="1400" dirty="0">
                <a:solidFill>
                  <a:srgbClr val="D2D6DB"/>
                </a:solidFill>
                <a:latin typeface="Segoe UI"/>
                <a:cs typeface="Segoe UI"/>
              </a:rPr>
              <a:t> / </a:t>
            </a:r>
            <a:r>
              <a:rPr lang="en-US" sz="1400" dirty="0" err="1">
                <a:solidFill>
                  <a:srgbClr val="D2D6DB"/>
                </a:solidFill>
                <a:latin typeface="Segoe UI"/>
                <a:cs typeface="Segoe UI"/>
              </a:rPr>
              <a:t>pg_dump</a:t>
            </a:r>
            <a:endParaRPr lang="en-US" sz="1400" dirty="0">
              <a:solidFill>
                <a:srgbClr val="D2D6DB"/>
              </a:solidFill>
              <a:latin typeface="Segoe UI"/>
              <a:cs typeface="Segoe UI"/>
            </a:endParaRPr>
          </a:p>
        </p:txBody>
      </p:sp>
      <p:sp>
        <p:nvSpPr>
          <p:cNvPr id="9" name="Oval 8">
            <a:extLst>
              <a:ext uri="{FF2B5EF4-FFF2-40B4-BE49-F238E27FC236}">
                <a16:creationId xmlns:a16="http://schemas.microsoft.com/office/drawing/2014/main" id="{F12BEB02-49F1-4C9C-9B5D-BF8EA6D9F8C5}"/>
              </a:ext>
            </a:extLst>
          </p:cNvPr>
          <p:cNvSpPr/>
          <p:nvPr/>
        </p:nvSpPr>
        <p:spPr>
          <a:xfrm>
            <a:off x="990600" y="2489200"/>
            <a:ext cx="177800" cy="1778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A577551D-23FD-47FF-9423-9075445F94DC}"/>
              </a:ext>
            </a:extLst>
          </p:cNvPr>
          <p:cNvSpPr txBox="1"/>
          <p:nvPr/>
        </p:nvSpPr>
        <p:spPr>
          <a:xfrm>
            <a:off x="1270000" y="2463800"/>
            <a:ext cx="4368800" cy="4318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grafana.ini and every .ini override you added</a:t>
            </a:r>
          </a:p>
        </p:txBody>
      </p:sp>
      <p:sp>
        <p:nvSpPr>
          <p:cNvPr id="11" name="Oval 10">
            <a:extLst>
              <a:ext uri="{FF2B5EF4-FFF2-40B4-BE49-F238E27FC236}">
                <a16:creationId xmlns:a16="http://schemas.microsoft.com/office/drawing/2014/main" id="{BA4D27AC-A962-4BFE-A57A-B640A7224EBF}"/>
              </a:ext>
            </a:extLst>
          </p:cNvPr>
          <p:cNvSpPr/>
          <p:nvPr/>
        </p:nvSpPr>
        <p:spPr>
          <a:xfrm>
            <a:off x="990600" y="2921000"/>
            <a:ext cx="177800" cy="1778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3FF69841-22F6-4727-AC72-FFF1AB451C5A}"/>
              </a:ext>
            </a:extLst>
          </p:cNvPr>
          <p:cNvSpPr txBox="1"/>
          <p:nvPr/>
        </p:nvSpPr>
        <p:spPr>
          <a:xfrm>
            <a:off x="1270000" y="2895600"/>
            <a:ext cx="4368800" cy="4318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/etc/grafana/provisioning and the dashboard JSON tree</a:t>
            </a:r>
          </a:p>
        </p:txBody>
      </p:sp>
      <p:sp>
        <p:nvSpPr>
          <p:cNvPr id="13" name="Oval 12">
            <a:extLst>
              <a:ext uri="{FF2B5EF4-FFF2-40B4-BE49-F238E27FC236}">
                <a16:creationId xmlns:a16="http://schemas.microsoft.com/office/drawing/2014/main" id="{07FD9F6A-5434-4683-A7A3-4C8ABAF9B7DF}"/>
              </a:ext>
            </a:extLst>
          </p:cNvPr>
          <p:cNvSpPr/>
          <p:nvPr/>
        </p:nvSpPr>
        <p:spPr>
          <a:xfrm>
            <a:off x="990600" y="3352800"/>
            <a:ext cx="177800" cy="1778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1B1D6EBE-D6CE-430A-BE2A-F6C6E81399BF}"/>
              </a:ext>
            </a:extLst>
          </p:cNvPr>
          <p:cNvSpPr txBox="1"/>
          <p:nvPr/>
        </p:nvSpPr>
        <p:spPr>
          <a:xfrm>
            <a:off x="1270000" y="3327400"/>
            <a:ext cx="4368800" cy="431800"/>
          </a:xfrm>
          <a:prstGeom prst="rect">
            <a:avLst/>
          </a:prstGeom>
          <a:noFill/>
        </p:spPr>
        <p:txBody>
          <a:bodyPr vertOverflow="overflow" vert="horz" wrap="square" rtlCol="0" anchor="t">
            <a:noAutofit/>
          </a:bodyPr>
          <a:lstStyle/>
          <a:p>
            <a:pPr algn="l"/>
            <a:r>
              <a:rPr lang="en-US" sz="1400" dirty="0">
                <a:solidFill>
                  <a:srgbClr val="D2D6DB"/>
                </a:solidFill>
                <a:latin typeface="Segoe UI"/>
                <a:cs typeface="Segoe UI"/>
              </a:rPr>
              <a:t>The secret key - without it, saved credentials are lost</a:t>
            </a:r>
          </a:p>
        </p:txBody>
      </p:sp>
      <p:sp>
        <p:nvSpPr>
          <p:cNvPr id="15" name="Oval 14">
            <a:extLst>
              <a:ext uri="{FF2B5EF4-FFF2-40B4-BE49-F238E27FC236}">
                <a16:creationId xmlns:a16="http://schemas.microsoft.com/office/drawing/2014/main" id="{02CC1898-B735-4FD5-A975-488EBD89408C}"/>
              </a:ext>
            </a:extLst>
          </p:cNvPr>
          <p:cNvSpPr/>
          <p:nvPr/>
        </p:nvSpPr>
        <p:spPr>
          <a:xfrm>
            <a:off x="990600" y="3784600"/>
            <a:ext cx="177800" cy="1778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FAA3B72A-7BEB-4F11-A209-6326532A18AA}"/>
              </a:ext>
            </a:extLst>
          </p:cNvPr>
          <p:cNvSpPr txBox="1"/>
          <p:nvPr/>
        </p:nvSpPr>
        <p:spPr>
          <a:xfrm>
            <a:off x="1270000" y="3759200"/>
            <a:ext cx="4368800" cy="4318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/var/lib/grafana/plugins and uploaded images</a:t>
            </a:r>
          </a:p>
        </p:txBody>
      </p:sp>
      <p:sp>
        <p:nvSpPr>
          <p:cNvPr id="17" name="Oval 16">
            <a:extLst>
              <a:ext uri="{FF2B5EF4-FFF2-40B4-BE49-F238E27FC236}">
                <a16:creationId xmlns:a16="http://schemas.microsoft.com/office/drawing/2014/main" id="{6EFABFAC-A2E4-428F-A8DC-56B0C957DD72}"/>
              </a:ext>
            </a:extLst>
          </p:cNvPr>
          <p:cNvSpPr/>
          <p:nvPr/>
        </p:nvSpPr>
        <p:spPr>
          <a:xfrm>
            <a:off x="990600" y="4216400"/>
            <a:ext cx="177800" cy="1778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D6DF8E48-E64D-4054-B760-F71927C2C118}"/>
              </a:ext>
            </a:extLst>
          </p:cNvPr>
          <p:cNvSpPr txBox="1"/>
          <p:nvPr/>
        </p:nvSpPr>
        <p:spPr>
          <a:xfrm>
            <a:off x="1270000" y="4191000"/>
            <a:ext cx="4368800" cy="4318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TLS certificates and the reverse-proxy config</a:t>
            </a:r>
          </a:p>
        </p:txBody>
      </p:sp>
      <p:sp>
        <p:nvSpPr>
          <p:cNvPr id="19" name="Rectangle: Rounded Corners 18">
            <a:extLst>
              <a:ext uri="{FF2B5EF4-FFF2-40B4-BE49-F238E27FC236}">
                <a16:creationId xmlns:a16="http://schemas.microsoft.com/office/drawing/2014/main" id="{60737F8A-1355-4976-8171-3147E6C44D59}"/>
              </a:ext>
            </a:extLst>
          </p:cNvPr>
          <p:cNvSpPr/>
          <p:nvPr/>
        </p:nvSpPr>
        <p:spPr>
          <a:xfrm>
            <a:off x="6096000" y="1498600"/>
            <a:ext cx="5334000" cy="31750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1D21BC51-C93B-4951-BFDD-771EAD3583A4}"/>
              </a:ext>
            </a:extLst>
          </p:cNvPr>
          <p:cNvSpPr txBox="1"/>
          <p:nvPr/>
        </p:nvSpPr>
        <p:spPr>
          <a:xfrm>
            <a:off x="6324600" y="1625600"/>
            <a:ext cx="38100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backup.sh</a:t>
            </a:r>
          </a:p>
        </p:txBody>
      </p:sp>
      <p:sp>
        <p:nvSpPr>
          <p:cNvPr id="21" name="TextBox 20">
            <a:extLst>
              <a:ext uri="{FF2B5EF4-FFF2-40B4-BE49-F238E27FC236}">
                <a16:creationId xmlns:a16="http://schemas.microsoft.com/office/drawing/2014/main" id="{EC92B19D-2625-4CD0-B3CC-272C8001E626}"/>
              </a:ext>
            </a:extLst>
          </p:cNvPr>
          <p:cNvSpPr txBox="1"/>
          <p:nvPr/>
        </p:nvSpPr>
        <p:spPr>
          <a:xfrm>
            <a:off x="6324600" y="1930400"/>
            <a:ext cx="4953000" cy="2616200"/>
          </a:xfrm>
          <a:prstGeom prst="rect">
            <a:avLst/>
          </a:prstGeom>
          <a:noFill/>
        </p:spPr>
        <p:txBody>
          <a:bodyPr vertOverflow="overflow" vert="horz" wrap="none" rtlCol="0" anchor="t">
            <a:noAutofit/>
          </a:bodyPr>
          <a:lstStyle/>
          <a:p>
            <a:pPr algn="l"/>
            <a:r>
              <a:rPr lang="en-US" sz="1400" dirty="0">
                <a:solidFill>
                  <a:srgbClr val="C8CDD4"/>
                </a:solidFill>
                <a:latin typeface="Consolas"/>
              </a:rPr>
              <a:t># SQLite default - snapshot it cleanly
</a:t>
            </a:r>
            <a:r>
              <a:rPr lang="en-US" sz="1400" dirty="0" err="1">
                <a:solidFill>
                  <a:srgbClr val="C8CDD4"/>
                </a:solidFill>
                <a:latin typeface="Consolas"/>
              </a:rPr>
              <a:t>systemctl</a:t>
            </a:r>
            <a:r>
              <a:rPr lang="en-US" sz="1400" dirty="0">
                <a:solidFill>
                  <a:srgbClr val="C8CDD4"/>
                </a:solidFill>
                <a:latin typeface="Consolas"/>
              </a:rPr>
              <a:t> stop </a:t>
            </a:r>
            <a:r>
              <a:rPr lang="en-US" sz="1400" dirty="0" err="1">
                <a:solidFill>
                  <a:srgbClr val="C8CDD4"/>
                </a:solidFill>
                <a:latin typeface="Consolas"/>
              </a:rPr>
              <a:t>grafana</a:t>
            </a:r>
            <a:r>
              <a:rPr lang="en-US" sz="1400" dirty="0">
                <a:solidFill>
                  <a:srgbClr val="C8CDD4"/>
                </a:solidFill>
                <a:latin typeface="Consolas"/>
              </a:rPr>
              <a:t>-server
cp /var/lib/</a:t>
            </a:r>
            <a:r>
              <a:rPr lang="en-US" sz="1400" dirty="0" err="1">
                <a:solidFill>
                  <a:srgbClr val="C8CDD4"/>
                </a:solidFill>
                <a:latin typeface="Consolas"/>
              </a:rPr>
              <a:t>grafana</a:t>
            </a:r>
            <a:r>
              <a:rPr lang="en-US" sz="1400" dirty="0">
                <a:solidFill>
                  <a:srgbClr val="C8CDD4"/>
                </a:solidFill>
                <a:latin typeface="Consolas"/>
              </a:rPr>
              <a:t>/</a:t>
            </a:r>
            <a:r>
              <a:rPr lang="en-US" sz="1400" dirty="0" err="1">
                <a:solidFill>
                  <a:srgbClr val="C8CDD4"/>
                </a:solidFill>
                <a:latin typeface="Consolas"/>
              </a:rPr>
              <a:t>grafana.db</a:t>
            </a:r>
            <a:r>
              <a:rPr lang="en-US" sz="1400" dirty="0">
                <a:solidFill>
                  <a:srgbClr val="C8CDD4"/>
                </a:solidFill>
                <a:latin typeface="Consolas"/>
              </a:rPr>
              <a:t> \
   /backup/</a:t>
            </a:r>
            <a:r>
              <a:rPr lang="en-US" sz="1400" dirty="0" err="1">
                <a:solidFill>
                  <a:srgbClr val="C8CDD4"/>
                </a:solidFill>
                <a:latin typeface="Consolas"/>
              </a:rPr>
              <a:t>grafana</a:t>
            </a:r>
            <a:r>
              <a:rPr lang="en-US" sz="1400" dirty="0">
                <a:solidFill>
                  <a:srgbClr val="C8CDD4"/>
                </a:solidFill>
                <a:latin typeface="Consolas"/>
              </a:rPr>
              <a:t>-$(date +%F).</a:t>
            </a:r>
            <a:r>
              <a:rPr lang="en-US" sz="1400" dirty="0" err="1">
                <a:solidFill>
                  <a:srgbClr val="C8CDD4"/>
                </a:solidFill>
                <a:latin typeface="Consolas"/>
              </a:rPr>
              <a:t>db</a:t>
            </a:r>
            <a:r>
              <a:rPr lang="en-US" sz="1400" dirty="0">
                <a:solidFill>
                  <a:srgbClr val="C8CDD4"/>
                </a:solidFill>
                <a:latin typeface="Consolas"/>
              </a:rPr>
              <a:t>
</a:t>
            </a:r>
            <a:r>
              <a:rPr lang="en-US" sz="1400" dirty="0" err="1">
                <a:solidFill>
                  <a:srgbClr val="C8CDD4"/>
                </a:solidFill>
                <a:latin typeface="Consolas"/>
              </a:rPr>
              <a:t>systemctl</a:t>
            </a:r>
            <a:r>
              <a:rPr lang="en-US" sz="1400" dirty="0">
                <a:solidFill>
                  <a:srgbClr val="C8CDD4"/>
                </a:solidFill>
                <a:latin typeface="Consolas"/>
              </a:rPr>
              <a:t> start </a:t>
            </a:r>
            <a:r>
              <a:rPr lang="en-US" sz="1400" dirty="0" err="1">
                <a:solidFill>
                  <a:srgbClr val="C8CDD4"/>
                </a:solidFill>
                <a:latin typeface="Consolas"/>
              </a:rPr>
              <a:t>grafana</a:t>
            </a:r>
            <a:r>
              <a:rPr lang="en-US" sz="1400" dirty="0">
                <a:solidFill>
                  <a:srgbClr val="C8CDD4"/>
                </a:solidFill>
                <a:latin typeface="Consolas"/>
              </a:rPr>
              <a:t>-server
# MySQL or Postgres instead
</a:t>
            </a:r>
            <a:r>
              <a:rPr lang="en-US" sz="1400" dirty="0" err="1">
                <a:solidFill>
                  <a:srgbClr val="C8CDD4"/>
                </a:solidFill>
                <a:latin typeface="Consolas"/>
              </a:rPr>
              <a:t>mysqldump</a:t>
            </a:r>
            <a:r>
              <a:rPr lang="en-US" sz="1400" dirty="0">
                <a:solidFill>
                  <a:srgbClr val="C8CDD4"/>
                </a:solidFill>
                <a:latin typeface="Consolas"/>
              </a:rPr>
              <a:t> </a:t>
            </a:r>
            <a:r>
              <a:rPr lang="en-US" sz="1400" dirty="0" err="1">
                <a:solidFill>
                  <a:srgbClr val="C8CDD4"/>
                </a:solidFill>
                <a:latin typeface="Consolas"/>
              </a:rPr>
              <a:t>grafana</a:t>
            </a:r>
            <a:r>
              <a:rPr lang="en-US" sz="1400" dirty="0">
                <a:solidFill>
                  <a:srgbClr val="C8CDD4"/>
                </a:solidFill>
                <a:latin typeface="Consolas"/>
              </a:rPr>
              <a:t> &gt; /backup/g-$(date +%F).</a:t>
            </a:r>
            <a:r>
              <a:rPr lang="en-US" sz="1400" dirty="0" err="1">
                <a:solidFill>
                  <a:srgbClr val="C8CDD4"/>
                </a:solidFill>
                <a:latin typeface="Consolas"/>
              </a:rPr>
              <a:t>sql</a:t>
            </a:r>
            <a:r>
              <a:rPr lang="en-US" sz="1400" dirty="0">
                <a:solidFill>
                  <a:srgbClr val="C8CDD4"/>
                </a:solidFill>
                <a:latin typeface="Consolas"/>
              </a:rPr>
              <a:t>
</a:t>
            </a:r>
            <a:r>
              <a:rPr lang="en-US" sz="1400" dirty="0" err="1">
                <a:solidFill>
                  <a:srgbClr val="C8CDD4"/>
                </a:solidFill>
                <a:latin typeface="Consolas"/>
              </a:rPr>
              <a:t>pg_dump</a:t>
            </a:r>
            <a:r>
              <a:rPr lang="en-US" sz="1400" dirty="0">
                <a:solidFill>
                  <a:srgbClr val="C8CDD4"/>
                </a:solidFill>
                <a:latin typeface="Consolas"/>
              </a:rPr>
              <a:t> </a:t>
            </a:r>
            <a:r>
              <a:rPr lang="en-US" sz="1400" dirty="0" err="1">
                <a:solidFill>
                  <a:srgbClr val="C8CDD4"/>
                </a:solidFill>
                <a:latin typeface="Consolas"/>
              </a:rPr>
              <a:t>grafana</a:t>
            </a:r>
            <a:r>
              <a:rPr lang="en-US" sz="1400" dirty="0">
                <a:solidFill>
                  <a:srgbClr val="C8CDD4"/>
                </a:solidFill>
                <a:latin typeface="Consolas"/>
              </a:rPr>
              <a:t> | </a:t>
            </a:r>
            <a:r>
              <a:rPr lang="en-US" sz="1400" dirty="0" err="1">
                <a:solidFill>
                  <a:srgbClr val="C8CDD4"/>
                </a:solidFill>
                <a:latin typeface="Consolas"/>
              </a:rPr>
              <a:t>gzip</a:t>
            </a:r>
            <a:r>
              <a:rPr lang="en-US" sz="1400" dirty="0">
                <a:solidFill>
                  <a:srgbClr val="C8CDD4"/>
                </a:solidFill>
                <a:latin typeface="Consolas"/>
              </a:rPr>
              <a:t> &gt; /backup/g.sql.gz
# Config, provisioning, plugins
tar </a:t>
            </a:r>
            <a:r>
              <a:rPr lang="en-US" sz="1400" dirty="0" err="1">
                <a:solidFill>
                  <a:srgbClr val="C8CDD4"/>
                </a:solidFill>
                <a:latin typeface="Consolas"/>
              </a:rPr>
              <a:t>czf</a:t>
            </a:r>
            <a:r>
              <a:rPr lang="en-US" sz="1400" dirty="0">
                <a:solidFill>
                  <a:srgbClr val="C8CDD4"/>
                </a:solidFill>
                <a:latin typeface="Consolas"/>
              </a:rPr>
              <a:t> /backup/</a:t>
            </a:r>
            <a:r>
              <a:rPr lang="en-US" sz="1400" dirty="0" err="1">
                <a:solidFill>
                  <a:srgbClr val="C8CDD4"/>
                </a:solidFill>
                <a:latin typeface="Consolas"/>
              </a:rPr>
              <a:t>cfg</a:t>
            </a:r>
            <a:r>
              <a:rPr lang="en-US" sz="1400" dirty="0">
                <a:solidFill>
                  <a:srgbClr val="C8CDD4"/>
                </a:solidFill>
                <a:latin typeface="Consolas"/>
              </a:rPr>
              <a:t>-$(date +%F).tgz \
    /</a:t>
            </a:r>
            <a:r>
              <a:rPr lang="en-US" sz="1400" dirty="0" err="1">
                <a:solidFill>
                  <a:srgbClr val="C8CDD4"/>
                </a:solidFill>
                <a:latin typeface="Consolas"/>
              </a:rPr>
              <a:t>etc</a:t>
            </a:r>
            <a:r>
              <a:rPr lang="en-US" sz="1400" dirty="0">
                <a:solidFill>
                  <a:srgbClr val="C8CDD4"/>
                </a:solidFill>
                <a:latin typeface="Consolas"/>
              </a:rPr>
              <a:t>/</a:t>
            </a:r>
            <a:r>
              <a:rPr lang="en-US" sz="1400" dirty="0" err="1">
                <a:solidFill>
                  <a:srgbClr val="C8CDD4"/>
                </a:solidFill>
                <a:latin typeface="Consolas"/>
              </a:rPr>
              <a:t>grafana</a:t>
            </a:r>
            <a:r>
              <a:rPr lang="en-US" sz="1400" dirty="0">
                <a:solidFill>
                  <a:srgbClr val="C8CDD4"/>
                </a:solidFill>
                <a:latin typeface="Consolas"/>
              </a:rPr>
              <a:t> /var/lib/</a:t>
            </a:r>
            <a:r>
              <a:rPr lang="en-US" sz="1400" dirty="0" err="1">
                <a:solidFill>
                  <a:srgbClr val="C8CDD4"/>
                </a:solidFill>
                <a:latin typeface="Consolas"/>
              </a:rPr>
              <a:t>grafana</a:t>
            </a:r>
            <a:r>
              <a:rPr lang="en-US" sz="1400" dirty="0">
                <a:solidFill>
                  <a:srgbClr val="C8CDD4"/>
                </a:solidFill>
                <a:latin typeface="Consolas"/>
              </a:rPr>
              <a:t>/plugins</a:t>
            </a:r>
          </a:p>
        </p:txBody>
      </p:sp>
      <p:sp>
        <p:nvSpPr>
          <p:cNvPr id="22" name="Rectangle: Rounded Corners 21">
            <a:extLst>
              <a:ext uri="{FF2B5EF4-FFF2-40B4-BE49-F238E27FC236}">
                <a16:creationId xmlns:a16="http://schemas.microsoft.com/office/drawing/2014/main" id="{F0DCFC0D-20D4-446F-A304-4A6DF6139411}"/>
              </a:ext>
            </a:extLst>
          </p:cNvPr>
          <p:cNvSpPr/>
          <p:nvPr/>
        </p:nvSpPr>
        <p:spPr>
          <a:xfrm>
            <a:off x="762000" y="4826000"/>
            <a:ext cx="6858000" cy="1397000"/>
          </a:xfrm>
          <a:prstGeom prst="roundRect">
            <a:avLst/>
          </a:prstGeom>
          <a:solidFill>
            <a:srgbClr val="181B1F"/>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4544E33A-328B-4B4A-A496-27636A88C1E7}"/>
              </a:ext>
            </a:extLst>
          </p:cNvPr>
          <p:cNvSpPr txBox="1"/>
          <p:nvPr/>
        </p:nvSpPr>
        <p:spPr>
          <a:xfrm>
            <a:off x="990600" y="4978400"/>
            <a:ext cx="6350000" cy="279400"/>
          </a:xfrm>
          <a:prstGeom prst="rect">
            <a:avLst/>
          </a:prstGeom>
          <a:noFill/>
        </p:spPr>
        <p:txBody>
          <a:bodyPr vertOverflow="overflow" vert="horz" wrap="square" rtlCol="0" anchor="t">
            <a:noAutofit/>
          </a:bodyPr>
          <a:lstStyle/>
          <a:p>
            <a:pPr algn="l"/>
            <a:r>
              <a:rPr lang="en-US" sz="1600" b="1" dirty="0">
                <a:solidFill>
                  <a:srgbClr val="B877D9"/>
                </a:solidFill>
                <a:latin typeface="Segoe UI"/>
                <a:cs typeface="Segoe UI"/>
              </a:rPr>
              <a:t>The restore drill - run it quarterly, not during the incident</a:t>
            </a:r>
          </a:p>
        </p:txBody>
      </p:sp>
      <p:sp>
        <p:nvSpPr>
          <p:cNvPr id="24" name="TextBox 23">
            <a:extLst>
              <a:ext uri="{FF2B5EF4-FFF2-40B4-BE49-F238E27FC236}">
                <a16:creationId xmlns:a16="http://schemas.microsoft.com/office/drawing/2014/main" id="{927B1FB8-B142-4EFD-B9B3-5F5C5692EDE7}"/>
              </a:ext>
            </a:extLst>
          </p:cNvPr>
          <p:cNvSpPr txBox="1"/>
          <p:nvPr/>
        </p:nvSpPr>
        <p:spPr>
          <a:xfrm>
            <a:off x="990600" y="5308600"/>
            <a:ext cx="6400800" cy="8128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Stop Grafana  →  restore the database file or dump  →  restore /etc/grafana and provisioning  →  put the same secret key back  →  start Grafana  →  log in, open one dashboard, confirm a data source still authenticates. Time it, and write the number down.</a:t>
            </a:r>
          </a:p>
        </p:txBody>
      </p:sp>
      <p:sp>
        <p:nvSpPr>
          <p:cNvPr id="25" name="Rectangle: Rounded Corners 24">
            <a:extLst>
              <a:ext uri="{FF2B5EF4-FFF2-40B4-BE49-F238E27FC236}">
                <a16:creationId xmlns:a16="http://schemas.microsoft.com/office/drawing/2014/main" id="{24B0D4FD-4108-4623-916E-F3727083F7B3}"/>
              </a:ext>
            </a:extLst>
          </p:cNvPr>
          <p:cNvSpPr/>
          <p:nvPr/>
        </p:nvSpPr>
        <p:spPr>
          <a:xfrm>
            <a:off x="7874000" y="4826000"/>
            <a:ext cx="3556000" cy="1397000"/>
          </a:xfrm>
          <a:prstGeom prst="roundRect">
            <a:avLst/>
          </a:prstGeom>
          <a:solidFill>
            <a:srgbClr val="1F1215"/>
          </a:solidFill>
          <a:ln w="15875" cap="flat" cmpd="sng" algn="ctr">
            <a:solidFill>
              <a:srgbClr val="F249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ABD8E55B-1AD0-4D05-BC60-6A7B208E14BF}"/>
              </a:ext>
            </a:extLst>
          </p:cNvPr>
          <p:cNvSpPr txBox="1"/>
          <p:nvPr/>
        </p:nvSpPr>
        <p:spPr>
          <a:xfrm>
            <a:off x="8102600" y="4978400"/>
            <a:ext cx="3098800" cy="279400"/>
          </a:xfrm>
          <a:prstGeom prst="rect">
            <a:avLst/>
          </a:prstGeom>
          <a:noFill/>
        </p:spPr>
        <p:txBody>
          <a:bodyPr vertOverflow="overflow" vert="horz" wrap="square" rtlCol="0" anchor="t">
            <a:noAutofit/>
          </a:bodyPr>
          <a:lstStyle/>
          <a:p>
            <a:pPr algn="l"/>
            <a:r>
              <a:rPr lang="en-US" sz="1600" b="1">
                <a:solidFill>
                  <a:srgbClr val="F2495C"/>
                </a:solidFill>
                <a:latin typeface="Segoe UI"/>
                <a:cs typeface="Segoe UI"/>
              </a:rPr>
              <a:t>The classic mistake</a:t>
            </a:r>
          </a:p>
        </p:txBody>
      </p:sp>
      <p:sp>
        <p:nvSpPr>
          <p:cNvPr id="27" name="TextBox 26">
            <a:extLst>
              <a:ext uri="{FF2B5EF4-FFF2-40B4-BE49-F238E27FC236}">
                <a16:creationId xmlns:a16="http://schemas.microsoft.com/office/drawing/2014/main" id="{D54BFECF-ABC3-43B6-9A83-918712757EB3}"/>
              </a:ext>
            </a:extLst>
          </p:cNvPr>
          <p:cNvSpPr txBox="1"/>
          <p:nvPr/>
        </p:nvSpPr>
        <p:spPr>
          <a:xfrm>
            <a:off x="8102600" y="5308600"/>
            <a:ext cx="3124200" cy="812800"/>
          </a:xfrm>
          <a:prstGeom prst="rect">
            <a:avLst/>
          </a:prstGeom>
          <a:noFill/>
        </p:spPr>
        <p:txBody>
          <a:bodyPr vertOverflow="overflow" vert="horz" wrap="square" rtlCol="0" anchor="t">
            <a:noAutofit/>
          </a:bodyPr>
          <a:lstStyle/>
          <a:p>
            <a:pPr algn="l"/>
            <a:r>
              <a:rPr lang="en-US" sz="1400">
                <a:solidFill>
                  <a:srgbClr val="E8AFB6"/>
                </a:solidFill>
                <a:latin typeface="Segoe UI"/>
                <a:cs typeface="Segoe UI"/>
              </a:rPr>
              <a:t>Restoring the database with a different secret_key. Everything looks fine until a data source with a stored password fails to connect.</a:t>
            </a:r>
          </a:p>
        </p:txBody>
      </p:sp>
    </p:spTree>
    <p:extLst>
      <p:ext uri="{BB962C8B-B14F-4D97-AF65-F5344CB8AC3E}">
        <p14:creationId xmlns:p14="http://schemas.microsoft.com/office/powerpoint/2010/main" val="3002810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72344-A37D-E0CA-8A85-5BD702FA677C}"/>
              </a:ext>
            </a:extLst>
          </p:cNvPr>
          <p:cNvSpPr>
            <a:spLocks noGrp="1"/>
          </p:cNvSpPr>
          <p:nvPr>
            <p:ph type="title"/>
          </p:nvPr>
        </p:nvSpPr>
        <p:spPr>
          <a:xfrm>
            <a:off x="762000" y="406400"/>
            <a:ext cx="10668000" cy="533400"/>
          </a:xfrm>
        </p:spPr>
        <p:txBody>
          <a:bodyPr>
            <a:normAutofit/>
          </a:bodyPr>
          <a:lstStyle/>
          <a:p>
            <a:r>
              <a:rPr lang="en-US" sz="3000" b="1"/>
              <a:t>High Availability</a:t>
            </a:r>
          </a:p>
        </p:txBody>
      </p:sp>
      <p:sp>
        <p:nvSpPr>
          <p:cNvPr id="3" name="Rectangle 2">
            <a:extLst>
              <a:ext uri="{FF2B5EF4-FFF2-40B4-BE49-F238E27FC236}">
                <a16:creationId xmlns:a16="http://schemas.microsoft.com/office/drawing/2014/main" id="{4E124DAC-1CB9-4998-92FB-073EB6695400}"/>
              </a:ext>
            </a:extLst>
          </p:cNvPr>
          <p:cNvSpPr/>
          <p:nvPr/>
        </p:nvSpPr>
        <p:spPr>
          <a:xfrm>
            <a:off x="762000" y="1016000"/>
            <a:ext cx="889000" cy="381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5F7CC28F-EBB5-4B90-8D67-1F9CAAD00D3D}"/>
              </a:ext>
            </a:extLst>
          </p:cNvPr>
          <p:cNvSpPr txBox="1"/>
          <p:nvPr/>
        </p:nvSpPr>
        <p:spPr>
          <a:xfrm>
            <a:off x="762000" y="1143000"/>
            <a:ext cx="10160000" cy="279400"/>
          </a:xfrm>
          <a:prstGeom prst="rect">
            <a:avLst/>
          </a:prstGeom>
          <a:noFill/>
        </p:spPr>
        <p:txBody>
          <a:bodyPr vertOverflow="overflow" vert="horz" wrap="square" rtlCol="0" anchor="t">
            <a:noAutofit/>
          </a:bodyPr>
          <a:lstStyle/>
          <a:p>
            <a:pPr algn="l"/>
            <a:r>
              <a:rPr lang="en-US" sz="1500" dirty="0">
                <a:solidFill>
                  <a:srgbClr val="A8B0BA"/>
                </a:solidFill>
                <a:latin typeface="Segoe UI"/>
                <a:cs typeface="Segoe UI"/>
              </a:rPr>
              <a:t>Grafana instances are stateless - the state is the database. That single fact is the whole design.</a:t>
            </a:r>
          </a:p>
        </p:txBody>
      </p:sp>
      <p:sp>
        <p:nvSpPr>
          <p:cNvPr id="5" name="Rectangle: Rounded Corners 4">
            <a:extLst>
              <a:ext uri="{FF2B5EF4-FFF2-40B4-BE49-F238E27FC236}">
                <a16:creationId xmlns:a16="http://schemas.microsoft.com/office/drawing/2014/main" id="{FE69F0AB-D651-4432-B4BD-A81190D88B34}"/>
              </a:ext>
            </a:extLst>
          </p:cNvPr>
          <p:cNvSpPr/>
          <p:nvPr/>
        </p:nvSpPr>
        <p:spPr>
          <a:xfrm>
            <a:off x="762000" y="2032000"/>
            <a:ext cx="1651000" cy="8128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62A01FE6-0F47-4DA5-92D1-5582FAC3744D}"/>
              </a:ext>
            </a:extLst>
          </p:cNvPr>
          <p:cNvSpPr txBox="1"/>
          <p:nvPr/>
        </p:nvSpPr>
        <p:spPr>
          <a:xfrm>
            <a:off x="990600" y="2184400"/>
            <a:ext cx="1270000" cy="2540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Users</a:t>
            </a:r>
          </a:p>
        </p:txBody>
      </p:sp>
      <p:sp>
        <p:nvSpPr>
          <p:cNvPr id="7" name="TextBox 6">
            <a:extLst>
              <a:ext uri="{FF2B5EF4-FFF2-40B4-BE49-F238E27FC236}">
                <a16:creationId xmlns:a16="http://schemas.microsoft.com/office/drawing/2014/main" id="{2D927EFB-1491-4596-9177-B0B483358CE8}"/>
              </a:ext>
            </a:extLst>
          </p:cNvPr>
          <p:cNvSpPr txBox="1"/>
          <p:nvPr/>
        </p:nvSpPr>
        <p:spPr>
          <a:xfrm>
            <a:off x="990600" y="2463800"/>
            <a:ext cx="13208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browsers and wall TVs</a:t>
            </a:r>
          </a:p>
        </p:txBody>
      </p:sp>
      <p:sp>
        <p:nvSpPr>
          <p:cNvPr id="8" name="Arrow: Right 7">
            <a:extLst>
              <a:ext uri="{FF2B5EF4-FFF2-40B4-BE49-F238E27FC236}">
                <a16:creationId xmlns:a16="http://schemas.microsoft.com/office/drawing/2014/main" id="{F556BCB8-55C4-4BC3-898D-17754430B4DA}"/>
              </a:ext>
            </a:extLst>
          </p:cNvPr>
          <p:cNvSpPr/>
          <p:nvPr/>
        </p:nvSpPr>
        <p:spPr>
          <a:xfrm>
            <a:off x="2489200" y="2336800"/>
            <a:ext cx="4064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Rounded Corners 8">
            <a:extLst>
              <a:ext uri="{FF2B5EF4-FFF2-40B4-BE49-F238E27FC236}">
                <a16:creationId xmlns:a16="http://schemas.microsoft.com/office/drawing/2014/main" id="{5A7D94B3-9E55-410B-A775-9A4BC42B6F96}"/>
              </a:ext>
            </a:extLst>
          </p:cNvPr>
          <p:cNvSpPr/>
          <p:nvPr/>
        </p:nvSpPr>
        <p:spPr>
          <a:xfrm>
            <a:off x="2997200" y="2032000"/>
            <a:ext cx="2082800" cy="8128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2DE7B059-E2C1-4F55-8C00-5CAB340FF406}"/>
              </a:ext>
            </a:extLst>
          </p:cNvPr>
          <p:cNvSpPr txBox="1"/>
          <p:nvPr/>
        </p:nvSpPr>
        <p:spPr>
          <a:xfrm>
            <a:off x="3225800" y="2184400"/>
            <a:ext cx="17780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Load balancer</a:t>
            </a:r>
          </a:p>
        </p:txBody>
      </p:sp>
      <p:sp>
        <p:nvSpPr>
          <p:cNvPr id="11" name="TextBox 10">
            <a:extLst>
              <a:ext uri="{FF2B5EF4-FFF2-40B4-BE49-F238E27FC236}">
                <a16:creationId xmlns:a16="http://schemas.microsoft.com/office/drawing/2014/main" id="{EA130F83-FFF9-4B7F-922F-7742558B5930}"/>
              </a:ext>
            </a:extLst>
          </p:cNvPr>
          <p:cNvSpPr txBox="1"/>
          <p:nvPr/>
        </p:nvSpPr>
        <p:spPr>
          <a:xfrm>
            <a:off x="3225800" y="2463800"/>
            <a:ext cx="16764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checks /api/health</a:t>
            </a:r>
          </a:p>
        </p:txBody>
      </p:sp>
      <p:sp>
        <p:nvSpPr>
          <p:cNvPr id="12" name="Arrow: Right 11">
            <a:extLst>
              <a:ext uri="{FF2B5EF4-FFF2-40B4-BE49-F238E27FC236}">
                <a16:creationId xmlns:a16="http://schemas.microsoft.com/office/drawing/2014/main" id="{FC28DFEF-6E32-4C49-B27F-19C59DE14959}"/>
              </a:ext>
            </a:extLst>
          </p:cNvPr>
          <p:cNvSpPr/>
          <p:nvPr/>
        </p:nvSpPr>
        <p:spPr>
          <a:xfrm>
            <a:off x="5156200" y="1803400"/>
            <a:ext cx="4064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Arrow: Right 12">
            <a:extLst>
              <a:ext uri="{FF2B5EF4-FFF2-40B4-BE49-F238E27FC236}">
                <a16:creationId xmlns:a16="http://schemas.microsoft.com/office/drawing/2014/main" id="{294942B3-CE32-4B4A-8B24-03775EA4392D}"/>
              </a:ext>
            </a:extLst>
          </p:cNvPr>
          <p:cNvSpPr/>
          <p:nvPr/>
        </p:nvSpPr>
        <p:spPr>
          <a:xfrm>
            <a:off x="5156200" y="2870200"/>
            <a:ext cx="4064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Rounded Corners 13">
            <a:extLst>
              <a:ext uri="{FF2B5EF4-FFF2-40B4-BE49-F238E27FC236}">
                <a16:creationId xmlns:a16="http://schemas.microsoft.com/office/drawing/2014/main" id="{A224E531-14D3-47DA-940B-525BECBDC20F}"/>
              </a:ext>
            </a:extLst>
          </p:cNvPr>
          <p:cNvSpPr/>
          <p:nvPr/>
        </p:nvSpPr>
        <p:spPr>
          <a:xfrm>
            <a:off x="5664200" y="1422400"/>
            <a:ext cx="2286000" cy="965200"/>
          </a:xfrm>
          <a:prstGeom prst="roundRect">
            <a:avLst/>
          </a:prstGeom>
          <a:solidFill>
            <a:srgbClr val="1B1E24"/>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3FC3BCA8-EAA4-4E92-B4F4-8D9062FF5BF5}"/>
              </a:ext>
            </a:extLst>
          </p:cNvPr>
          <p:cNvSpPr txBox="1"/>
          <p:nvPr/>
        </p:nvSpPr>
        <p:spPr>
          <a:xfrm>
            <a:off x="5892800" y="1600200"/>
            <a:ext cx="1905000" cy="254000"/>
          </a:xfrm>
          <a:prstGeom prst="rect">
            <a:avLst/>
          </a:prstGeom>
          <a:noFill/>
        </p:spPr>
        <p:txBody>
          <a:bodyPr vertOverflow="overflow" vert="horz" wrap="square" rtlCol="0" anchor="t">
            <a:noAutofit/>
          </a:bodyPr>
          <a:lstStyle/>
          <a:p>
            <a:pPr algn="l"/>
            <a:r>
              <a:rPr lang="en-US" sz="1500" b="1">
                <a:solidFill>
                  <a:srgbClr val="FF8800"/>
                </a:solidFill>
                <a:latin typeface="Segoe UI"/>
                <a:cs typeface="Segoe UI"/>
              </a:rPr>
              <a:t>Grafana A</a:t>
            </a:r>
          </a:p>
        </p:txBody>
      </p:sp>
      <p:sp>
        <p:nvSpPr>
          <p:cNvPr id="16" name="TextBox 15">
            <a:extLst>
              <a:ext uri="{FF2B5EF4-FFF2-40B4-BE49-F238E27FC236}">
                <a16:creationId xmlns:a16="http://schemas.microsoft.com/office/drawing/2014/main" id="{6E5E5B12-C954-40B5-A6C9-DDCA2D68AA52}"/>
              </a:ext>
            </a:extLst>
          </p:cNvPr>
          <p:cNvSpPr txBox="1"/>
          <p:nvPr/>
        </p:nvSpPr>
        <p:spPr>
          <a:xfrm>
            <a:off x="5892800" y="1905000"/>
            <a:ext cx="1879600" cy="508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same ini, same secret key</a:t>
            </a:r>
          </a:p>
        </p:txBody>
      </p:sp>
      <p:sp>
        <p:nvSpPr>
          <p:cNvPr id="17" name="Rectangle: Rounded Corners 16">
            <a:extLst>
              <a:ext uri="{FF2B5EF4-FFF2-40B4-BE49-F238E27FC236}">
                <a16:creationId xmlns:a16="http://schemas.microsoft.com/office/drawing/2014/main" id="{DC8515AB-9B8D-4C3C-85AE-B39FAA03FCFB}"/>
              </a:ext>
            </a:extLst>
          </p:cNvPr>
          <p:cNvSpPr/>
          <p:nvPr/>
        </p:nvSpPr>
        <p:spPr>
          <a:xfrm>
            <a:off x="5664200" y="2489200"/>
            <a:ext cx="2286000" cy="965200"/>
          </a:xfrm>
          <a:prstGeom prst="roundRect">
            <a:avLst/>
          </a:prstGeom>
          <a:solidFill>
            <a:srgbClr val="1B1E24"/>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BA83B642-805B-4F99-BE54-CD05CEEAB78B}"/>
              </a:ext>
            </a:extLst>
          </p:cNvPr>
          <p:cNvSpPr txBox="1"/>
          <p:nvPr/>
        </p:nvSpPr>
        <p:spPr>
          <a:xfrm>
            <a:off x="5892800" y="2667000"/>
            <a:ext cx="1905000" cy="254000"/>
          </a:xfrm>
          <a:prstGeom prst="rect">
            <a:avLst/>
          </a:prstGeom>
          <a:noFill/>
        </p:spPr>
        <p:txBody>
          <a:bodyPr vertOverflow="overflow" vert="horz" wrap="square" rtlCol="0" anchor="t">
            <a:noAutofit/>
          </a:bodyPr>
          <a:lstStyle/>
          <a:p>
            <a:pPr algn="l"/>
            <a:r>
              <a:rPr lang="en-US" sz="1500" b="1">
                <a:solidFill>
                  <a:srgbClr val="FF8800"/>
                </a:solidFill>
                <a:latin typeface="Segoe UI"/>
                <a:cs typeface="Segoe UI"/>
              </a:rPr>
              <a:t>Grafana B</a:t>
            </a:r>
          </a:p>
        </p:txBody>
      </p:sp>
      <p:sp>
        <p:nvSpPr>
          <p:cNvPr id="19" name="TextBox 18">
            <a:extLst>
              <a:ext uri="{FF2B5EF4-FFF2-40B4-BE49-F238E27FC236}">
                <a16:creationId xmlns:a16="http://schemas.microsoft.com/office/drawing/2014/main" id="{4A981A2E-2BA5-4BAF-B057-97727DDD1B14}"/>
              </a:ext>
            </a:extLst>
          </p:cNvPr>
          <p:cNvSpPr txBox="1"/>
          <p:nvPr/>
        </p:nvSpPr>
        <p:spPr>
          <a:xfrm>
            <a:off x="5892800" y="2971800"/>
            <a:ext cx="1879600" cy="508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identical and disposable</a:t>
            </a:r>
          </a:p>
        </p:txBody>
      </p:sp>
      <p:sp>
        <p:nvSpPr>
          <p:cNvPr id="20" name="Arrow: Right 19">
            <a:extLst>
              <a:ext uri="{FF2B5EF4-FFF2-40B4-BE49-F238E27FC236}">
                <a16:creationId xmlns:a16="http://schemas.microsoft.com/office/drawing/2014/main" id="{B048DA9D-E0CB-44BA-94D9-9269D3B66AEF}"/>
              </a:ext>
            </a:extLst>
          </p:cNvPr>
          <p:cNvSpPr/>
          <p:nvPr/>
        </p:nvSpPr>
        <p:spPr>
          <a:xfrm>
            <a:off x="8026400" y="1803400"/>
            <a:ext cx="3810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Arrow: Right 20">
            <a:extLst>
              <a:ext uri="{FF2B5EF4-FFF2-40B4-BE49-F238E27FC236}">
                <a16:creationId xmlns:a16="http://schemas.microsoft.com/office/drawing/2014/main" id="{B1C80B8E-0B99-4AD3-81AC-1077E571B102}"/>
              </a:ext>
            </a:extLst>
          </p:cNvPr>
          <p:cNvSpPr/>
          <p:nvPr/>
        </p:nvSpPr>
        <p:spPr>
          <a:xfrm>
            <a:off x="8026400" y="2870200"/>
            <a:ext cx="3810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Rounded Corners 21">
            <a:extLst>
              <a:ext uri="{FF2B5EF4-FFF2-40B4-BE49-F238E27FC236}">
                <a16:creationId xmlns:a16="http://schemas.microsoft.com/office/drawing/2014/main" id="{E36F8617-F0C7-4523-9076-6DFAF45A1C82}"/>
              </a:ext>
            </a:extLst>
          </p:cNvPr>
          <p:cNvSpPr/>
          <p:nvPr/>
        </p:nvSpPr>
        <p:spPr>
          <a:xfrm>
            <a:off x="8509000" y="1778000"/>
            <a:ext cx="2921000" cy="1600200"/>
          </a:xfrm>
          <a:prstGeom prst="roundRect">
            <a:avLst/>
          </a:prstGeom>
          <a:solidFill>
            <a:srgbClr val="151A2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E13170A0-8F24-43D2-81EA-F4C64CE5190D}"/>
              </a:ext>
            </a:extLst>
          </p:cNvPr>
          <p:cNvSpPr txBox="1"/>
          <p:nvPr/>
        </p:nvSpPr>
        <p:spPr>
          <a:xfrm>
            <a:off x="8737600" y="1930400"/>
            <a:ext cx="25400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Shared database</a:t>
            </a:r>
          </a:p>
        </p:txBody>
      </p:sp>
      <p:sp>
        <p:nvSpPr>
          <p:cNvPr id="24" name="TextBox 23">
            <a:extLst>
              <a:ext uri="{FF2B5EF4-FFF2-40B4-BE49-F238E27FC236}">
                <a16:creationId xmlns:a16="http://schemas.microsoft.com/office/drawing/2014/main" id="{25334767-FE5E-4A54-BB08-A72E92EE4247}"/>
              </a:ext>
            </a:extLst>
          </p:cNvPr>
          <p:cNvSpPr txBox="1"/>
          <p:nvPr/>
        </p:nvSpPr>
        <p:spPr>
          <a:xfrm>
            <a:off x="8737600" y="2209800"/>
            <a:ext cx="2489200" cy="10160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MySQL 8 or Postgres - dashboards, users, sessions, annotations, alert state. SQLite cannot do this job.</a:t>
            </a:r>
          </a:p>
        </p:txBody>
      </p:sp>
      <p:sp>
        <p:nvSpPr>
          <p:cNvPr id="25" name="Rectangle: Rounded Corners 24">
            <a:extLst>
              <a:ext uri="{FF2B5EF4-FFF2-40B4-BE49-F238E27FC236}">
                <a16:creationId xmlns:a16="http://schemas.microsoft.com/office/drawing/2014/main" id="{4538C5DA-3210-4617-B0F9-A846D6E5C69D}"/>
              </a:ext>
            </a:extLst>
          </p:cNvPr>
          <p:cNvSpPr/>
          <p:nvPr/>
        </p:nvSpPr>
        <p:spPr>
          <a:xfrm>
            <a:off x="762000" y="3124200"/>
            <a:ext cx="4191000" cy="5080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324085D6-75BB-4D90-A8BE-1A77981378D4}"/>
              </a:ext>
            </a:extLst>
          </p:cNvPr>
          <p:cNvSpPr txBox="1"/>
          <p:nvPr/>
        </p:nvSpPr>
        <p:spPr>
          <a:xfrm>
            <a:off x="990600" y="3251200"/>
            <a:ext cx="3733800" cy="2794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Image renderer: its own shared service</a:t>
            </a:r>
          </a:p>
        </p:txBody>
      </p:sp>
      <p:sp>
        <p:nvSpPr>
          <p:cNvPr id="27" name="Rectangle: Rounded Corners 26">
            <a:extLst>
              <a:ext uri="{FF2B5EF4-FFF2-40B4-BE49-F238E27FC236}">
                <a16:creationId xmlns:a16="http://schemas.microsoft.com/office/drawing/2014/main" id="{5A1CD244-214C-4189-99B0-E569F63D4F72}"/>
              </a:ext>
            </a:extLst>
          </p:cNvPr>
          <p:cNvSpPr/>
          <p:nvPr/>
        </p:nvSpPr>
        <p:spPr>
          <a:xfrm>
            <a:off x="762000" y="3632200"/>
            <a:ext cx="10668000" cy="558800"/>
          </a:xfrm>
          <a:prstGeom prst="roundRect">
            <a:avLst/>
          </a:prstGeom>
          <a:solidFill>
            <a:srgbClr val="1A12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EE8D6725-4A80-4340-BAA0-88847C5BAEE8}"/>
              </a:ext>
            </a:extLst>
          </p:cNvPr>
          <p:cNvSpPr txBox="1"/>
          <p:nvPr/>
        </p:nvSpPr>
        <p:spPr>
          <a:xfrm>
            <a:off x="990600" y="3784600"/>
            <a:ext cx="10160000" cy="279400"/>
          </a:xfrm>
          <a:prstGeom prst="rect">
            <a:avLst/>
          </a:prstGeom>
          <a:noFill/>
        </p:spPr>
        <p:txBody>
          <a:bodyPr vertOverflow="overflow" vert="horz" wrap="none" rtlCol="0" anchor="t">
            <a:noAutofit/>
          </a:bodyPr>
          <a:lstStyle/>
          <a:p>
            <a:pPr algn="l"/>
            <a:r>
              <a:rPr lang="en-US" sz="1400">
                <a:solidFill>
                  <a:srgbClr val="DCC6EA"/>
                </a:solidFill>
                <a:latin typeface="Consolas"/>
              </a:rPr>
              <a:t>[unified_alerting]  ha_peers = grafana-a:9094,grafana-b:9094   ·   ha_listen_address = ${POD_IP}:9094</a:t>
            </a:r>
          </a:p>
        </p:txBody>
      </p:sp>
      <p:sp>
        <p:nvSpPr>
          <p:cNvPr id="29" name="Rectangle: Rounded Corners 28">
            <a:extLst>
              <a:ext uri="{FF2B5EF4-FFF2-40B4-BE49-F238E27FC236}">
                <a16:creationId xmlns:a16="http://schemas.microsoft.com/office/drawing/2014/main" id="{8F910210-8D72-4EA3-A2E0-F500AD38CE00}"/>
              </a:ext>
            </a:extLst>
          </p:cNvPr>
          <p:cNvSpPr/>
          <p:nvPr/>
        </p:nvSpPr>
        <p:spPr>
          <a:xfrm>
            <a:off x="762000" y="4318000"/>
            <a:ext cx="10668000" cy="1905000"/>
          </a:xfrm>
          <a:prstGeom prst="roundRect">
            <a:avLst/>
          </a:prstGeom>
          <a:solidFill>
            <a:srgbClr val="181B1F"/>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C7364B29-E82C-45E7-A0AC-89EF47817B33}"/>
              </a:ext>
            </a:extLst>
          </p:cNvPr>
          <p:cNvSpPr txBox="1"/>
          <p:nvPr/>
        </p:nvSpPr>
        <p:spPr>
          <a:xfrm>
            <a:off x="990600" y="4470400"/>
            <a:ext cx="7620000" cy="279400"/>
          </a:xfrm>
          <a:prstGeom prst="rect">
            <a:avLst/>
          </a:prstGeom>
          <a:noFill/>
        </p:spPr>
        <p:txBody>
          <a:bodyPr vertOverflow="overflow" vert="horz" wrap="square" rtlCol="0" anchor="t">
            <a:noAutofit/>
          </a:bodyPr>
          <a:lstStyle/>
          <a:p>
            <a:pPr algn="l"/>
            <a:r>
              <a:rPr lang="en-US" sz="1700" b="1">
                <a:solidFill>
                  <a:srgbClr val="B877D9"/>
                </a:solidFill>
                <a:latin typeface="Segoe UI"/>
                <a:cs typeface="Segoe UI"/>
              </a:rPr>
              <a:t>Before you add the second instance</a:t>
            </a:r>
          </a:p>
        </p:txBody>
      </p:sp>
      <p:sp>
        <p:nvSpPr>
          <p:cNvPr id="31" name="Oval 30">
            <a:extLst>
              <a:ext uri="{FF2B5EF4-FFF2-40B4-BE49-F238E27FC236}">
                <a16:creationId xmlns:a16="http://schemas.microsoft.com/office/drawing/2014/main" id="{06BE6082-FEC8-4715-93D8-60649645B94D}"/>
              </a:ext>
            </a:extLst>
          </p:cNvPr>
          <p:cNvSpPr/>
          <p:nvPr/>
        </p:nvSpPr>
        <p:spPr>
          <a:xfrm>
            <a:off x="1016000" y="4902200"/>
            <a:ext cx="127000" cy="1270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TextBox 31">
            <a:extLst>
              <a:ext uri="{FF2B5EF4-FFF2-40B4-BE49-F238E27FC236}">
                <a16:creationId xmlns:a16="http://schemas.microsoft.com/office/drawing/2014/main" id="{D10EDFB9-0316-4F07-A7EA-0144FADB8352}"/>
              </a:ext>
            </a:extLst>
          </p:cNvPr>
          <p:cNvSpPr txBox="1"/>
          <p:nvPr/>
        </p:nvSpPr>
        <p:spPr>
          <a:xfrm>
            <a:off x="1270000" y="4851400"/>
            <a:ext cx="27940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Move off SQLite first</a:t>
            </a:r>
          </a:p>
        </p:txBody>
      </p:sp>
      <p:sp>
        <p:nvSpPr>
          <p:cNvPr id="33" name="TextBox 32">
            <a:extLst>
              <a:ext uri="{FF2B5EF4-FFF2-40B4-BE49-F238E27FC236}">
                <a16:creationId xmlns:a16="http://schemas.microsoft.com/office/drawing/2014/main" id="{587978B1-35F2-4349-925C-EDF4BA084036}"/>
              </a:ext>
            </a:extLst>
          </p:cNvPr>
          <p:cNvSpPr txBox="1"/>
          <p:nvPr/>
        </p:nvSpPr>
        <p:spPr>
          <a:xfrm>
            <a:off x="4191000" y="4851400"/>
            <a:ext cx="6985000" cy="2540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MySQL 8 or Postgres 12+, with its own backups and its own HA story.</a:t>
            </a:r>
          </a:p>
        </p:txBody>
      </p:sp>
      <p:sp>
        <p:nvSpPr>
          <p:cNvPr id="34" name="Oval 33">
            <a:extLst>
              <a:ext uri="{FF2B5EF4-FFF2-40B4-BE49-F238E27FC236}">
                <a16:creationId xmlns:a16="http://schemas.microsoft.com/office/drawing/2014/main" id="{1032AADD-5963-4057-B317-6E83B4A9CBF3}"/>
              </a:ext>
            </a:extLst>
          </p:cNvPr>
          <p:cNvSpPr/>
          <p:nvPr/>
        </p:nvSpPr>
        <p:spPr>
          <a:xfrm>
            <a:off x="1016000" y="5232400"/>
            <a:ext cx="127000" cy="127000"/>
          </a:xfrm>
          <a:prstGeom prst="ellipse">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6356D97C-28DD-4564-8F40-0E566F2BC6C5}"/>
              </a:ext>
            </a:extLst>
          </p:cNvPr>
          <p:cNvSpPr txBox="1"/>
          <p:nvPr/>
        </p:nvSpPr>
        <p:spPr>
          <a:xfrm>
            <a:off x="1270000" y="5181600"/>
            <a:ext cx="27940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No sticky sessions needed</a:t>
            </a:r>
          </a:p>
        </p:txBody>
      </p:sp>
      <p:sp>
        <p:nvSpPr>
          <p:cNvPr id="36" name="TextBox 35">
            <a:extLst>
              <a:ext uri="{FF2B5EF4-FFF2-40B4-BE49-F238E27FC236}">
                <a16:creationId xmlns:a16="http://schemas.microsoft.com/office/drawing/2014/main" id="{C9291B3C-D1B7-4A9F-B3C0-B5883EA36D47}"/>
              </a:ext>
            </a:extLst>
          </p:cNvPr>
          <p:cNvSpPr txBox="1"/>
          <p:nvPr/>
        </p:nvSpPr>
        <p:spPr>
          <a:xfrm>
            <a:off x="4191000" y="5181600"/>
            <a:ext cx="6985000" cy="2540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Sessions live in the database, so any node can serve any request.</a:t>
            </a:r>
          </a:p>
        </p:txBody>
      </p:sp>
      <p:sp>
        <p:nvSpPr>
          <p:cNvPr id="37" name="Oval 36">
            <a:extLst>
              <a:ext uri="{FF2B5EF4-FFF2-40B4-BE49-F238E27FC236}">
                <a16:creationId xmlns:a16="http://schemas.microsoft.com/office/drawing/2014/main" id="{A64D0848-A194-4C7B-9F54-CE1294A0E846}"/>
              </a:ext>
            </a:extLst>
          </p:cNvPr>
          <p:cNvSpPr/>
          <p:nvPr/>
        </p:nvSpPr>
        <p:spPr>
          <a:xfrm>
            <a:off x="1016000" y="5562600"/>
            <a:ext cx="127000" cy="127000"/>
          </a:xfrm>
          <a:prstGeom prst="ellipse">
            <a:avLst/>
          </a:prstGeom>
          <a:solidFill>
            <a:srgbClr val="FADE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TextBox 37">
            <a:extLst>
              <a:ext uri="{FF2B5EF4-FFF2-40B4-BE49-F238E27FC236}">
                <a16:creationId xmlns:a16="http://schemas.microsoft.com/office/drawing/2014/main" id="{EFFBC6C0-BD0C-4D49-909D-4307F68D3528}"/>
              </a:ext>
            </a:extLst>
          </p:cNvPr>
          <p:cNvSpPr txBox="1"/>
          <p:nvPr/>
        </p:nvSpPr>
        <p:spPr>
          <a:xfrm>
            <a:off x="1270000" y="5511800"/>
            <a:ext cx="2794000" cy="254000"/>
          </a:xfrm>
          <a:prstGeom prst="rect">
            <a:avLst/>
          </a:prstGeom>
          <a:noFill/>
        </p:spPr>
        <p:txBody>
          <a:bodyPr vertOverflow="overflow" vert="horz" wrap="square" rtlCol="0" anchor="t">
            <a:noAutofit/>
          </a:bodyPr>
          <a:lstStyle/>
          <a:p>
            <a:pPr algn="l"/>
            <a:r>
              <a:rPr lang="en-US" sz="1500" b="1">
                <a:solidFill>
                  <a:srgbClr val="FADE2A"/>
                </a:solidFill>
                <a:latin typeface="Segoe UI"/>
                <a:cs typeface="Segoe UI"/>
              </a:rPr>
              <a:t>Configure alerting peers</a:t>
            </a:r>
          </a:p>
        </p:txBody>
      </p:sp>
      <p:sp>
        <p:nvSpPr>
          <p:cNvPr id="39" name="TextBox 38">
            <a:extLst>
              <a:ext uri="{FF2B5EF4-FFF2-40B4-BE49-F238E27FC236}">
                <a16:creationId xmlns:a16="http://schemas.microsoft.com/office/drawing/2014/main" id="{15607C86-D2AF-46DC-911E-0832BC981335}"/>
              </a:ext>
            </a:extLst>
          </p:cNvPr>
          <p:cNvSpPr txBox="1"/>
          <p:nvPr/>
        </p:nvSpPr>
        <p:spPr>
          <a:xfrm>
            <a:off x="4191000" y="5511800"/>
            <a:ext cx="6985000" cy="2540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Without ha_peers each node evaluates alerts and you get duplicate pages.</a:t>
            </a:r>
          </a:p>
        </p:txBody>
      </p:sp>
      <p:sp>
        <p:nvSpPr>
          <p:cNvPr id="40" name="Oval 39">
            <a:extLst>
              <a:ext uri="{FF2B5EF4-FFF2-40B4-BE49-F238E27FC236}">
                <a16:creationId xmlns:a16="http://schemas.microsoft.com/office/drawing/2014/main" id="{81C29CCD-DE11-4A26-8D63-CB8FAC6AE4DB}"/>
              </a:ext>
            </a:extLst>
          </p:cNvPr>
          <p:cNvSpPr/>
          <p:nvPr/>
        </p:nvSpPr>
        <p:spPr>
          <a:xfrm>
            <a:off x="1016000" y="5892800"/>
            <a:ext cx="127000" cy="127000"/>
          </a:xfrm>
          <a:prstGeom prst="ellipse">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70BB2DB7-A514-4684-AB5F-D0B37BAF80BC}"/>
              </a:ext>
            </a:extLst>
          </p:cNvPr>
          <p:cNvSpPr txBox="1"/>
          <p:nvPr/>
        </p:nvSpPr>
        <p:spPr>
          <a:xfrm>
            <a:off x="1270000" y="5842000"/>
            <a:ext cx="2794000" cy="254000"/>
          </a:xfrm>
          <a:prstGeom prst="rect">
            <a:avLst/>
          </a:prstGeom>
          <a:noFill/>
        </p:spPr>
        <p:txBody>
          <a:bodyPr vertOverflow="overflow" vert="horz" wrap="square" rtlCol="0" anchor="t">
            <a:noAutofit/>
          </a:bodyPr>
          <a:lstStyle/>
          <a:p>
            <a:pPr algn="l"/>
            <a:r>
              <a:rPr lang="en-US" sz="1500" b="1">
                <a:solidFill>
                  <a:srgbClr val="FF8800"/>
                </a:solidFill>
                <a:latin typeface="Segoe UI"/>
                <a:cs typeface="Segoe UI"/>
              </a:rPr>
              <a:t>Keep the nodes identical</a:t>
            </a:r>
          </a:p>
        </p:txBody>
      </p:sp>
      <p:sp>
        <p:nvSpPr>
          <p:cNvPr id="42" name="TextBox 41">
            <a:extLst>
              <a:ext uri="{FF2B5EF4-FFF2-40B4-BE49-F238E27FC236}">
                <a16:creationId xmlns:a16="http://schemas.microsoft.com/office/drawing/2014/main" id="{4CD36510-924C-42B8-A2C5-AF5644E89492}"/>
              </a:ext>
            </a:extLst>
          </p:cNvPr>
          <p:cNvSpPr txBox="1"/>
          <p:nvPr/>
        </p:nvSpPr>
        <p:spPr>
          <a:xfrm>
            <a:off x="4191000" y="5842000"/>
            <a:ext cx="6985000" cy="254000"/>
          </a:xfrm>
          <a:prstGeom prst="rect">
            <a:avLst/>
          </a:prstGeom>
          <a:noFill/>
        </p:spPr>
        <p:txBody>
          <a:bodyPr vertOverflow="overflow" vert="horz" wrap="square" rtlCol="0" anchor="t">
            <a:noAutofit/>
          </a:bodyPr>
          <a:lstStyle/>
          <a:p>
            <a:pPr algn="l"/>
            <a:r>
              <a:rPr lang="en-US" sz="1500" dirty="0">
                <a:solidFill>
                  <a:srgbClr val="D2D6DB"/>
                </a:solidFill>
                <a:latin typeface="Segoe UI"/>
                <a:cs typeface="Segoe UI"/>
              </a:rPr>
              <a:t>Same </a:t>
            </a:r>
            <a:r>
              <a:rPr lang="en-US" sz="1500" dirty="0" err="1">
                <a:solidFill>
                  <a:srgbClr val="D2D6DB"/>
                </a:solidFill>
                <a:latin typeface="Segoe UI"/>
                <a:cs typeface="Segoe UI"/>
              </a:rPr>
              <a:t>ini</a:t>
            </a:r>
            <a:r>
              <a:rPr lang="en-US" sz="1500" dirty="0">
                <a:solidFill>
                  <a:srgbClr val="D2D6DB"/>
                </a:solidFill>
                <a:latin typeface="Segoe UI"/>
                <a:cs typeface="Segoe UI"/>
              </a:rPr>
              <a:t>, same </a:t>
            </a:r>
            <a:r>
              <a:rPr lang="en-US" sz="1500" dirty="0" err="1">
                <a:solidFill>
                  <a:srgbClr val="D2D6DB"/>
                </a:solidFill>
                <a:latin typeface="Segoe UI"/>
                <a:cs typeface="Segoe UI"/>
              </a:rPr>
              <a:t>secret_key</a:t>
            </a:r>
            <a:r>
              <a:rPr lang="en-US" sz="1500" dirty="0">
                <a:solidFill>
                  <a:srgbClr val="D2D6DB"/>
                </a:solidFill>
                <a:latin typeface="Segoe UI"/>
                <a:cs typeface="Segoe UI"/>
              </a:rPr>
              <a:t>, same provisioning - deploy together.</a:t>
            </a:r>
          </a:p>
        </p:txBody>
      </p:sp>
    </p:spTree>
    <p:extLst>
      <p:ext uri="{BB962C8B-B14F-4D97-AF65-F5344CB8AC3E}">
        <p14:creationId xmlns:p14="http://schemas.microsoft.com/office/powerpoint/2010/main" val="2911879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BD2F-D72D-CA50-12B0-1A46D87B35FF}"/>
              </a:ext>
            </a:extLst>
          </p:cNvPr>
          <p:cNvSpPr>
            <a:spLocks noGrp="1"/>
          </p:cNvSpPr>
          <p:nvPr>
            <p:ph type="title"/>
          </p:nvPr>
        </p:nvSpPr>
        <p:spPr>
          <a:xfrm>
            <a:off x="762000" y="406400"/>
            <a:ext cx="10668000" cy="533400"/>
          </a:xfrm>
        </p:spPr>
        <p:txBody>
          <a:bodyPr>
            <a:normAutofit/>
          </a:bodyPr>
          <a:lstStyle/>
          <a:p>
            <a:r>
              <a:rPr lang="en-US" sz="3000" b="1"/>
              <a:t>SSL / TLS Configuration</a:t>
            </a:r>
          </a:p>
        </p:txBody>
      </p:sp>
      <p:sp>
        <p:nvSpPr>
          <p:cNvPr id="3" name="Rectangle 2">
            <a:extLst>
              <a:ext uri="{FF2B5EF4-FFF2-40B4-BE49-F238E27FC236}">
                <a16:creationId xmlns:a16="http://schemas.microsoft.com/office/drawing/2014/main" id="{2C866360-674C-4795-9275-A268A5154171}"/>
              </a:ext>
            </a:extLst>
          </p:cNvPr>
          <p:cNvSpPr/>
          <p:nvPr/>
        </p:nvSpPr>
        <p:spPr>
          <a:xfrm>
            <a:off x="762000" y="1016000"/>
            <a:ext cx="889000" cy="381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FBFFC49E-ED34-4ACF-A80E-048A020D824E}"/>
              </a:ext>
            </a:extLst>
          </p:cNvPr>
          <p:cNvSpPr txBox="1"/>
          <p:nvPr/>
        </p:nvSpPr>
        <p:spPr>
          <a:xfrm>
            <a:off x="762000" y="1143000"/>
            <a:ext cx="10160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Two valid designs. Pick one and make sure root_url tells the truth about your public address.</a:t>
            </a:r>
          </a:p>
        </p:txBody>
      </p:sp>
      <p:sp>
        <p:nvSpPr>
          <p:cNvPr id="5" name="Rectangle: Rounded Corners 4">
            <a:extLst>
              <a:ext uri="{FF2B5EF4-FFF2-40B4-BE49-F238E27FC236}">
                <a16:creationId xmlns:a16="http://schemas.microsoft.com/office/drawing/2014/main" id="{7BB7CBBB-351A-47F1-A5D5-66804192A9A4}"/>
              </a:ext>
            </a:extLst>
          </p:cNvPr>
          <p:cNvSpPr/>
          <p:nvPr/>
        </p:nvSpPr>
        <p:spPr>
          <a:xfrm>
            <a:off x="762000" y="1498600"/>
            <a:ext cx="5334000" cy="31750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84053402-715A-424F-96D7-D1590DA520BB}"/>
              </a:ext>
            </a:extLst>
          </p:cNvPr>
          <p:cNvSpPr txBox="1"/>
          <p:nvPr/>
        </p:nvSpPr>
        <p:spPr>
          <a:xfrm>
            <a:off x="990600" y="1625600"/>
            <a:ext cx="3810000" cy="254000"/>
          </a:xfrm>
          <a:prstGeom prst="rect">
            <a:avLst/>
          </a:prstGeom>
          <a:noFill/>
        </p:spPr>
        <p:txBody>
          <a:bodyPr vertOverflow="overflow" vert="horz" wrap="square" rtlCol="0" anchor="t">
            <a:noAutofit/>
          </a:bodyPr>
          <a:lstStyle/>
          <a:p>
            <a:pPr algn="l"/>
            <a:r>
              <a:rPr lang="en-US" sz="1400" b="1" dirty="0">
                <a:solidFill>
                  <a:srgbClr val="73BF69"/>
                </a:solidFill>
                <a:latin typeface="Segoe UI"/>
                <a:cs typeface="Segoe UI"/>
              </a:rPr>
              <a:t>grafana.ini - native TLS</a:t>
            </a:r>
          </a:p>
        </p:txBody>
      </p:sp>
      <p:sp>
        <p:nvSpPr>
          <p:cNvPr id="7" name="TextBox 6">
            <a:extLst>
              <a:ext uri="{FF2B5EF4-FFF2-40B4-BE49-F238E27FC236}">
                <a16:creationId xmlns:a16="http://schemas.microsoft.com/office/drawing/2014/main" id="{799A2ADE-2C73-43F4-B384-030F1E112E47}"/>
              </a:ext>
            </a:extLst>
          </p:cNvPr>
          <p:cNvSpPr txBox="1"/>
          <p:nvPr/>
        </p:nvSpPr>
        <p:spPr>
          <a:xfrm>
            <a:off x="990600" y="1930400"/>
            <a:ext cx="4953000" cy="2616200"/>
          </a:xfrm>
          <a:prstGeom prst="rect">
            <a:avLst/>
          </a:prstGeom>
          <a:noFill/>
        </p:spPr>
        <p:txBody>
          <a:bodyPr vertOverflow="overflow" vert="horz" wrap="none" rtlCol="0" anchor="t">
            <a:noAutofit/>
          </a:bodyPr>
          <a:lstStyle/>
          <a:p>
            <a:pPr algn="l"/>
            <a:r>
              <a:rPr lang="en-US" sz="1400">
                <a:solidFill>
                  <a:srgbClr val="C8CDD4"/>
                </a:solidFill>
                <a:latin typeface="Consolas"/>
              </a:rPr>
              <a:t>[server]
protocol = https
domain   = grafana.corp.io
root_url = https://grafana.corp.io/
cert_file = /etc/grafana/certs/fullchain.pem
cert_key  = /etc/grafana/certs/privkey.pem
enforce_domain  = true
min_tls_version = TLS1.2
[security]
cookie_secure = true
strict_transport_security = true</a:t>
            </a:r>
          </a:p>
        </p:txBody>
      </p:sp>
      <p:sp>
        <p:nvSpPr>
          <p:cNvPr id="8" name="Rectangle: Rounded Corners 7">
            <a:extLst>
              <a:ext uri="{FF2B5EF4-FFF2-40B4-BE49-F238E27FC236}">
                <a16:creationId xmlns:a16="http://schemas.microsoft.com/office/drawing/2014/main" id="{08D12AB4-CE85-4547-81FD-0BA3E0D775CC}"/>
              </a:ext>
            </a:extLst>
          </p:cNvPr>
          <p:cNvSpPr/>
          <p:nvPr/>
        </p:nvSpPr>
        <p:spPr>
          <a:xfrm>
            <a:off x="6350000" y="1498600"/>
            <a:ext cx="5080000" cy="14986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8561FDE7-EF9B-4C1C-83D8-91E493CD926E}"/>
              </a:ext>
            </a:extLst>
          </p:cNvPr>
          <p:cNvSpPr txBox="1"/>
          <p:nvPr/>
        </p:nvSpPr>
        <p:spPr>
          <a:xfrm>
            <a:off x="6578600" y="1651000"/>
            <a:ext cx="4622800" cy="2540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Terminate at the proxy   ·   recommended</a:t>
            </a:r>
          </a:p>
        </p:txBody>
      </p:sp>
      <p:sp>
        <p:nvSpPr>
          <p:cNvPr id="10" name="TextBox 9">
            <a:extLst>
              <a:ext uri="{FF2B5EF4-FFF2-40B4-BE49-F238E27FC236}">
                <a16:creationId xmlns:a16="http://schemas.microsoft.com/office/drawing/2014/main" id="{175B37F0-36B6-4690-9691-0157EED8A661}"/>
              </a:ext>
            </a:extLst>
          </p:cNvPr>
          <p:cNvSpPr txBox="1"/>
          <p:nvPr/>
        </p:nvSpPr>
        <p:spPr>
          <a:xfrm>
            <a:off x="6578600" y="1955800"/>
            <a:ext cx="4648200" cy="939800"/>
          </a:xfrm>
          <a:prstGeom prst="rect">
            <a:avLst/>
          </a:prstGeom>
          <a:noFill/>
        </p:spPr>
        <p:txBody>
          <a:bodyPr vertOverflow="overflow" vert="horz" wrap="square" rtlCol="0" anchor="t">
            <a:noAutofit/>
          </a:bodyPr>
          <a:lstStyle/>
          <a:p>
            <a:pPr algn="l"/>
            <a:r>
              <a:rPr lang="en-US" sz="1400">
                <a:solidFill>
                  <a:srgbClr val="C6E3C2"/>
                </a:solidFill>
                <a:latin typeface="Segoe UI"/>
                <a:cs typeface="Segoe UI"/>
              </a:rPr>
              <a:t>Nginx or the cloud load balancer holds the certificate and talks plain HTTP to Grafana on the private network. Certificate renewal, HSTS and OCSP stay in one place, and Grafana never restarts for a cert.</a:t>
            </a:r>
          </a:p>
        </p:txBody>
      </p:sp>
      <p:sp>
        <p:nvSpPr>
          <p:cNvPr id="11" name="Rectangle: Rounded Corners 10">
            <a:extLst>
              <a:ext uri="{FF2B5EF4-FFF2-40B4-BE49-F238E27FC236}">
                <a16:creationId xmlns:a16="http://schemas.microsoft.com/office/drawing/2014/main" id="{1182E2D9-6BD1-4D79-9493-5C91888C2F61}"/>
              </a:ext>
            </a:extLst>
          </p:cNvPr>
          <p:cNvSpPr/>
          <p:nvPr/>
        </p:nvSpPr>
        <p:spPr>
          <a:xfrm>
            <a:off x="6350000" y="3149600"/>
            <a:ext cx="5080000" cy="15240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980F5E8A-B64E-482A-A5A7-523957BF0696}"/>
              </a:ext>
            </a:extLst>
          </p:cNvPr>
          <p:cNvSpPr txBox="1"/>
          <p:nvPr/>
        </p:nvSpPr>
        <p:spPr>
          <a:xfrm>
            <a:off x="6578600" y="3302000"/>
            <a:ext cx="4622800" cy="254000"/>
          </a:xfrm>
          <a:prstGeom prst="rect">
            <a:avLst/>
          </a:prstGeom>
          <a:noFill/>
        </p:spPr>
        <p:txBody>
          <a:bodyPr vertOverflow="overflow" vert="horz" wrap="square" rtlCol="0" anchor="t">
            <a:noAutofit/>
          </a:bodyPr>
          <a:lstStyle/>
          <a:p>
            <a:pPr algn="l"/>
            <a:r>
              <a:rPr lang="en-US" sz="1600" b="1">
                <a:solidFill>
                  <a:srgbClr val="6E9FFF"/>
                </a:solidFill>
                <a:latin typeface="Segoe UI"/>
                <a:cs typeface="Segoe UI"/>
              </a:rPr>
              <a:t>Native TLS in Grafana</a:t>
            </a:r>
          </a:p>
        </p:txBody>
      </p:sp>
      <p:sp>
        <p:nvSpPr>
          <p:cNvPr id="13" name="TextBox 12">
            <a:extLst>
              <a:ext uri="{FF2B5EF4-FFF2-40B4-BE49-F238E27FC236}">
                <a16:creationId xmlns:a16="http://schemas.microsoft.com/office/drawing/2014/main" id="{83804011-3DF3-4BCE-A1EC-0D6A864FE9D6}"/>
              </a:ext>
            </a:extLst>
          </p:cNvPr>
          <p:cNvSpPr txBox="1"/>
          <p:nvPr/>
        </p:nvSpPr>
        <p:spPr>
          <a:xfrm>
            <a:off x="6578600" y="3606800"/>
            <a:ext cx="4648200" cy="9398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Grafana serves HTTPS itself. Fewer moving parts and the right answer when there is no proxy - but the </a:t>
            </a:r>
            <a:r>
              <a:rPr lang="en-US" sz="1400" dirty="0" err="1">
                <a:solidFill>
                  <a:srgbClr val="B4BCC6"/>
                </a:solidFill>
                <a:latin typeface="Segoe UI"/>
                <a:cs typeface="Segoe UI"/>
              </a:rPr>
              <a:t>grafana</a:t>
            </a:r>
            <a:r>
              <a:rPr lang="en-US" sz="1400" dirty="0">
                <a:solidFill>
                  <a:srgbClr val="B4BCC6"/>
                </a:solidFill>
                <a:latin typeface="Segoe UI"/>
                <a:cs typeface="Segoe UI"/>
              </a:rPr>
              <a:t> user must be able to read the key, and every renewal needs a restart.</a:t>
            </a:r>
          </a:p>
        </p:txBody>
      </p:sp>
      <p:sp>
        <p:nvSpPr>
          <p:cNvPr id="14" name="Rectangle: Rounded Corners 13">
            <a:extLst>
              <a:ext uri="{FF2B5EF4-FFF2-40B4-BE49-F238E27FC236}">
                <a16:creationId xmlns:a16="http://schemas.microsoft.com/office/drawing/2014/main" id="{A20977F1-2BC5-407C-A717-6002CDC8849E}"/>
              </a:ext>
            </a:extLst>
          </p:cNvPr>
          <p:cNvSpPr/>
          <p:nvPr/>
        </p:nvSpPr>
        <p:spPr>
          <a:xfrm>
            <a:off x="762000" y="4826000"/>
            <a:ext cx="10668000" cy="1397000"/>
          </a:xfrm>
          <a:prstGeom prst="roundRect">
            <a:avLst/>
          </a:prstGeom>
          <a:solidFill>
            <a:srgbClr val="181B1F"/>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9B52B22A-6C0D-4347-BD6E-D03F20CBE67B}"/>
              </a:ext>
            </a:extLst>
          </p:cNvPr>
          <p:cNvSpPr txBox="1"/>
          <p:nvPr/>
        </p:nvSpPr>
        <p:spPr>
          <a:xfrm>
            <a:off x="990600" y="4978400"/>
            <a:ext cx="7620000" cy="279400"/>
          </a:xfrm>
          <a:prstGeom prst="rect">
            <a:avLst/>
          </a:prstGeom>
          <a:noFill/>
        </p:spPr>
        <p:txBody>
          <a:bodyPr vertOverflow="overflow" vert="horz" wrap="square" rtlCol="0" anchor="t">
            <a:noAutofit/>
          </a:bodyPr>
          <a:lstStyle/>
          <a:p>
            <a:pPr algn="l"/>
            <a:r>
              <a:rPr lang="en-US" sz="1700" b="1">
                <a:solidFill>
                  <a:srgbClr val="B877D9"/>
                </a:solidFill>
                <a:latin typeface="Segoe UI"/>
                <a:cs typeface="Segoe UI"/>
              </a:rPr>
              <a:t>Details that break TLS in production</a:t>
            </a:r>
          </a:p>
        </p:txBody>
      </p:sp>
      <p:sp>
        <p:nvSpPr>
          <p:cNvPr id="16" name="TextBox 15">
            <a:extLst>
              <a:ext uri="{FF2B5EF4-FFF2-40B4-BE49-F238E27FC236}">
                <a16:creationId xmlns:a16="http://schemas.microsoft.com/office/drawing/2014/main" id="{6410BAF8-E4FB-4ED9-9F63-0C13A42656D9}"/>
              </a:ext>
            </a:extLst>
          </p:cNvPr>
          <p:cNvSpPr txBox="1"/>
          <p:nvPr/>
        </p:nvSpPr>
        <p:spPr>
          <a:xfrm>
            <a:off x="990600" y="5308600"/>
            <a:ext cx="10210800" cy="838200"/>
          </a:xfrm>
          <a:prstGeom prst="rect">
            <a:avLst/>
          </a:prstGeom>
          <a:noFill/>
        </p:spPr>
        <p:txBody>
          <a:bodyPr vertOverflow="overflow" vert="horz" wrap="square" rtlCol="0" anchor="t">
            <a:noAutofit/>
          </a:bodyPr>
          <a:lstStyle/>
          <a:p>
            <a:pPr algn="l"/>
            <a:r>
              <a:rPr lang="en-US" sz="1400" dirty="0" err="1">
                <a:solidFill>
                  <a:srgbClr val="D2D6DB"/>
                </a:solidFill>
                <a:latin typeface="Segoe UI"/>
                <a:cs typeface="Segoe UI"/>
              </a:rPr>
              <a:t>root_url</a:t>
            </a:r>
            <a:r>
              <a:rPr lang="en-US" sz="1400" dirty="0">
                <a:solidFill>
                  <a:srgbClr val="D2D6DB"/>
                </a:solidFill>
                <a:latin typeface="Segoe UI"/>
                <a:cs typeface="Segoe UI"/>
              </a:rPr>
              <a:t> must match the URL users type, or share links, OAuth redirects and alert screenshots point at the wrong host.
Keys are readable by </a:t>
            </a:r>
            <a:r>
              <a:rPr lang="en-US" sz="1400" dirty="0" err="1">
                <a:solidFill>
                  <a:srgbClr val="D2D6DB"/>
                </a:solidFill>
                <a:latin typeface="Segoe UI"/>
                <a:cs typeface="Segoe UI"/>
              </a:rPr>
              <a:t>grafana</a:t>
            </a:r>
            <a:r>
              <a:rPr lang="en-US" sz="1400" dirty="0">
                <a:solidFill>
                  <a:srgbClr val="D2D6DB"/>
                </a:solidFill>
                <a:latin typeface="Segoe UI"/>
                <a:cs typeface="Segoe UI"/>
              </a:rPr>
              <a:t> only - </a:t>
            </a:r>
            <a:r>
              <a:rPr lang="en-US" sz="1400" dirty="0" err="1">
                <a:solidFill>
                  <a:srgbClr val="D2D6DB"/>
                </a:solidFill>
                <a:latin typeface="Segoe UI"/>
                <a:cs typeface="Segoe UI"/>
              </a:rPr>
              <a:t>chown</a:t>
            </a:r>
            <a:r>
              <a:rPr lang="en-US" sz="1400" dirty="0">
                <a:solidFill>
                  <a:srgbClr val="D2D6DB"/>
                </a:solidFill>
                <a:latin typeface="Segoe UI"/>
                <a:cs typeface="Segoe UI"/>
              </a:rPr>
              <a:t> </a:t>
            </a:r>
            <a:r>
              <a:rPr lang="en-US" sz="1400" dirty="0" err="1">
                <a:solidFill>
                  <a:srgbClr val="D2D6DB"/>
                </a:solidFill>
                <a:latin typeface="Segoe UI"/>
                <a:cs typeface="Segoe UI"/>
              </a:rPr>
              <a:t>grafana:grafana</a:t>
            </a:r>
            <a:r>
              <a:rPr lang="en-US" sz="1400" dirty="0">
                <a:solidFill>
                  <a:srgbClr val="D2D6DB"/>
                </a:solidFill>
                <a:latin typeface="Segoe UI"/>
                <a:cs typeface="Segoe UI"/>
              </a:rPr>
              <a:t>, </a:t>
            </a:r>
            <a:r>
              <a:rPr lang="en-US" sz="1400" dirty="0" err="1">
                <a:solidFill>
                  <a:srgbClr val="D2D6DB"/>
                </a:solidFill>
                <a:latin typeface="Segoe UI"/>
                <a:cs typeface="Segoe UI"/>
              </a:rPr>
              <a:t>chmod</a:t>
            </a:r>
            <a:r>
              <a:rPr lang="en-US" sz="1400" dirty="0">
                <a:solidFill>
                  <a:srgbClr val="D2D6DB"/>
                </a:solidFill>
                <a:latin typeface="Segoe UI"/>
                <a:cs typeface="Segoe UI"/>
              </a:rPr>
              <a:t> 640 - and Grafana refuses to start if it cannot open them.
Set </a:t>
            </a:r>
            <a:r>
              <a:rPr lang="en-US" sz="1400" dirty="0" err="1">
                <a:solidFill>
                  <a:srgbClr val="D2D6DB"/>
                </a:solidFill>
                <a:latin typeface="Segoe UI"/>
                <a:cs typeface="Segoe UI"/>
              </a:rPr>
              <a:t>cookie_secure</a:t>
            </a:r>
            <a:r>
              <a:rPr lang="en-US" sz="1400" dirty="0">
                <a:solidFill>
                  <a:srgbClr val="D2D6DB"/>
                </a:solidFill>
                <a:latin typeface="Segoe UI"/>
                <a:cs typeface="Segoe UI"/>
              </a:rPr>
              <a:t> = true the moment you are on HTTPS, and automate renewal with a reload so nobody </a:t>
            </a:r>
            <a:r>
              <a:rPr lang="en-US" sz="1400" dirty="0" err="1">
                <a:solidFill>
                  <a:srgbClr val="D2D6DB"/>
                </a:solidFill>
                <a:latin typeface="Segoe UI"/>
                <a:cs typeface="Segoe UI"/>
              </a:rPr>
              <a:t>diarises</a:t>
            </a:r>
            <a:r>
              <a:rPr lang="en-US" sz="1400" dirty="0">
                <a:solidFill>
                  <a:srgbClr val="D2D6DB"/>
                </a:solidFill>
                <a:latin typeface="Segoe UI"/>
                <a:cs typeface="Segoe UI"/>
              </a:rPr>
              <a:t> a cert expiry.</a:t>
            </a:r>
          </a:p>
        </p:txBody>
      </p:sp>
    </p:spTree>
    <p:extLst>
      <p:ext uri="{BB962C8B-B14F-4D97-AF65-F5344CB8AC3E}">
        <p14:creationId xmlns:p14="http://schemas.microsoft.com/office/powerpoint/2010/main" val="1523456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CF1CA-B2AE-B0F3-F19C-CDFF73BC6ADE}"/>
              </a:ext>
            </a:extLst>
          </p:cNvPr>
          <p:cNvSpPr>
            <a:spLocks noGrp="1"/>
          </p:cNvSpPr>
          <p:nvPr>
            <p:ph type="title"/>
          </p:nvPr>
        </p:nvSpPr>
        <p:spPr>
          <a:xfrm>
            <a:off x="762000" y="406400"/>
            <a:ext cx="10668000" cy="533400"/>
          </a:xfrm>
        </p:spPr>
        <p:txBody>
          <a:bodyPr>
            <a:normAutofit/>
          </a:bodyPr>
          <a:lstStyle/>
          <a:p>
            <a:r>
              <a:rPr lang="en-US" sz="3000" b="1"/>
              <a:t>Reverse Proxy with Nginx</a:t>
            </a:r>
          </a:p>
        </p:txBody>
      </p:sp>
      <p:sp>
        <p:nvSpPr>
          <p:cNvPr id="3" name="Rectangle 2">
            <a:extLst>
              <a:ext uri="{FF2B5EF4-FFF2-40B4-BE49-F238E27FC236}">
                <a16:creationId xmlns:a16="http://schemas.microsoft.com/office/drawing/2014/main" id="{2D6ED61F-ED88-49BF-9978-0F669F037C1A}"/>
              </a:ext>
            </a:extLst>
          </p:cNvPr>
          <p:cNvSpPr/>
          <p:nvPr/>
        </p:nvSpPr>
        <p:spPr>
          <a:xfrm>
            <a:off x="762000" y="1016000"/>
            <a:ext cx="889000" cy="381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E0EDEF85-3901-4A09-B683-3007D00D5149}"/>
              </a:ext>
            </a:extLst>
          </p:cNvPr>
          <p:cNvSpPr txBox="1"/>
          <p:nvPr/>
        </p:nvSpPr>
        <p:spPr>
          <a:xfrm>
            <a:off x="762000" y="1143000"/>
            <a:ext cx="10160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The proxy owns TLS, the hostname and the path. Grafana just has to agree with it.</a:t>
            </a:r>
          </a:p>
        </p:txBody>
      </p:sp>
      <p:sp>
        <p:nvSpPr>
          <p:cNvPr id="5" name="Rectangle: Rounded Corners 4">
            <a:extLst>
              <a:ext uri="{FF2B5EF4-FFF2-40B4-BE49-F238E27FC236}">
                <a16:creationId xmlns:a16="http://schemas.microsoft.com/office/drawing/2014/main" id="{5AA6ED46-A2B2-4E25-A6C8-B4135B739EDE}"/>
              </a:ext>
            </a:extLst>
          </p:cNvPr>
          <p:cNvSpPr/>
          <p:nvPr/>
        </p:nvSpPr>
        <p:spPr>
          <a:xfrm>
            <a:off x="762000" y="1498600"/>
            <a:ext cx="2540000" cy="7366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DE71123F-488A-429A-ADD8-5244DA26E386}"/>
              </a:ext>
            </a:extLst>
          </p:cNvPr>
          <p:cNvSpPr txBox="1"/>
          <p:nvPr/>
        </p:nvSpPr>
        <p:spPr>
          <a:xfrm>
            <a:off x="990600" y="1625600"/>
            <a:ext cx="2032000" cy="254000"/>
          </a:xfrm>
          <a:prstGeom prst="rect">
            <a:avLst/>
          </a:prstGeom>
          <a:noFill/>
        </p:spPr>
        <p:txBody>
          <a:bodyPr vertOverflow="overflow" vert="horz" wrap="square" rtlCol="0" anchor="t">
            <a:noAutofit/>
          </a:bodyPr>
          <a:lstStyle/>
          <a:p>
            <a:pPr algn="l"/>
            <a:r>
              <a:rPr lang="en-US" sz="1500" b="1">
                <a:solidFill>
                  <a:srgbClr val="FFFFFF"/>
                </a:solidFill>
                <a:latin typeface="Segoe UI"/>
                <a:cs typeface="Segoe UI"/>
              </a:rPr>
              <a:t>Browser</a:t>
            </a:r>
          </a:p>
        </p:txBody>
      </p:sp>
      <p:sp>
        <p:nvSpPr>
          <p:cNvPr id="7" name="TextBox 6">
            <a:extLst>
              <a:ext uri="{FF2B5EF4-FFF2-40B4-BE49-F238E27FC236}">
                <a16:creationId xmlns:a16="http://schemas.microsoft.com/office/drawing/2014/main" id="{55EC84F0-3436-43CC-8386-A3F22C485142}"/>
              </a:ext>
            </a:extLst>
          </p:cNvPr>
          <p:cNvSpPr txBox="1"/>
          <p:nvPr/>
        </p:nvSpPr>
        <p:spPr>
          <a:xfrm>
            <a:off x="990600" y="1905000"/>
            <a:ext cx="21590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https://grafana.corp.io</a:t>
            </a:r>
          </a:p>
        </p:txBody>
      </p:sp>
      <p:sp>
        <p:nvSpPr>
          <p:cNvPr id="8" name="Arrow: Right 7">
            <a:extLst>
              <a:ext uri="{FF2B5EF4-FFF2-40B4-BE49-F238E27FC236}">
                <a16:creationId xmlns:a16="http://schemas.microsoft.com/office/drawing/2014/main" id="{39C36F49-6F6C-443B-AF16-71BD7ED441B9}"/>
              </a:ext>
            </a:extLst>
          </p:cNvPr>
          <p:cNvSpPr/>
          <p:nvPr/>
        </p:nvSpPr>
        <p:spPr>
          <a:xfrm>
            <a:off x="3403600" y="1752600"/>
            <a:ext cx="3048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Rounded Corners 8">
            <a:extLst>
              <a:ext uri="{FF2B5EF4-FFF2-40B4-BE49-F238E27FC236}">
                <a16:creationId xmlns:a16="http://schemas.microsoft.com/office/drawing/2014/main" id="{BEFE43D2-609C-4C34-B055-4324420DC89D}"/>
              </a:ext>
            </a:extLst>
          </p:cNvPr>
          <p:cNvSpPr/>
          <p:nvPr/>
        </p:nvSpPr>
        <p:spPr>
          <a:xfrm>
            <a:off x="3810000" y="1498600"/>
            <a:ext cx="3429000" cy="7366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3540A320-E508-4D1F-80EB-36923E5E7D94}"/>
              </a:ext>
            </a:extLst>
          </p:cNvPr>
          <p:cNvSpPr txBox="1"/>
          <p:nvPr/>
        </p:nvSpPr>
        <p:spPr>
          <a:xfrm>
            <a:off x="4038600" y="1625600"/>
            <a:ext cx="29210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Nginx  ·  443</a:t>
            </a:r>
          </a:p>
        </p:txBody>
      </p:sp>
      <p:sp>
        <p:nvSpPr>
          <p:cNvPr id="11" name="TextBox 10">
            <a:extLst>
              <a:ext uri="{FF2B5EF4-FFF2-40B4-BE49-F238E27FC236}">
                <a16:creationId xmlns:a16="http://schemas.microsoft.com/office/drawing/2014/main" id="{63A2F465-6FD8-48C9-ADA3-6DE47DB6CCA4}"/>
              </a:ext>
            </a:extLst>
          </p:cNvPr>
          <p:cNvSpPr txBox="1"/>
          <p:nvPr/>
        </p:nvSpPr>
        <p:spPr>
          <a:xfrm>
            <a:off x="4038600" y="1905000"/>
            <a:ext cx="3048000" cy="2286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TLS, HSTS, headers, rate limits</a:t>
            </a:r>
          </a:p>
        </p:txBody>
      </p:sp>
      <p:sp>
        <p:nvSpPr>
          <p:cNvPr id="12" name="Arrow: Right 11">
            <a:extLst>
              <a:ext uri="{FF2B5EF4-FFF2-40B4-BE49-F238E27FC236}">
                <a16:creationId xmlns:a16="http://schemas.microsoft.com/office/drawing/2014/main" id="{7E2EDB3E-A2F0-435A-B349-CC4415B2D37B}"/>
              </a:ext>
            </a:extLst>
          </p:cNvPr>
          <p:cNvSpPr/>
          <p:nvPr/>
        </p:nvSpPr>
        <p:spPr>
          <a:xfrm>
            <a:off x="7340600" y="1752600"/>
            <a:ext cx="304800" cy="203200"/>
          </a:xfrm>
          <a:prstGeom prst="rightArrow">
            <a:avLst/>
          </a:prstGeom>
          <a:solidFill>
            <a:srgbClr val="3A41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Rounded Corners 12">
            <a:extLst>
              <a:ext uri="{FF2B5EF4-FFF2-40B4-BE49-F238E27FC236}">
                <a16:creationId xmlns:a16="http://schemas.microsoft.com/office/drawing/2014/main" id="{71670F95-30B8-42E1-9A63-190A034C19D8}"/>
              </a:ext>
            </a:extLst>
          </p:cNvPr>
          <p:cNvSpPr/>
          <p:nvPr/>
        </p:nvSpPr>
        <p:spPr>
          <a:xfrm>
            <a:off x="7747000" y="1498600"/>
            <a:ext cx="3683000" cy="7366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E26335F0-0E95-449E-899A-6B2F7D145079}"/>
              </a:ext>
            </a:extLst>
          </p:cNvPr>
          <p:cNvSpPr txBox="1"/>
          <p:nvPr/>
        </p:nvSpPr>
        <p:spPr>
          <a:xfrm>
            <a:off x="7975600" y="1625600"/>
            <a:ext cx="33020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Grafana  ·  3000 on localhost</a:t>
            </a:r>
          </a:p>
        </p:txBody>
      </p:sp>
      <p:sp>
        <p:nvSpPr>
          <p:cNvPr id="15" name="TextBox 14">
            <a:extLst>
              <a:ext uri="{FF2B5EF4-FFF2-40B4-BE49-F238E27FC236}">
                <a16:creationId xmlns:a16="http://schemas.microsoft.com/office/drawing/2014/main" id="{AE726928-CD1F-4977-BA9E-525C0DC6A5FC}"/>
              </a:ext>
            </a:extLst>
          </p:cNvPr>
          <p:cNvSpPr txBox="1"/>
          <p:nvPr/>
        </p:nvSpPr>
        <p:spPr>
          <a:xfrm>
            <a:off x="7975600" y="1905000"/>
            <a:ext cx="3225800" cy="228600"/>
          </a:xfrm>
          <a:prstGeom prst="rect">
            <a:avLst/>
          </a:prstGeom>
          <a:noFill/>
        </p:spPr>
        <p:txBody>
          <a:bodyPr vertOverflow="overflow" vert="horz" wrap="square" rtlCol="0" anchor="t">
            <a:noAutofit/>
          </a:bodyPr>
          <a:lstStyle/>
          <a:p>
            <a:pPr algn="l"/>
            <a:r>
              <a:rPr lang="en-US" sz="1400">
                <a:solidFill>
                  <a:srgbClr val="C6E3C2"/>
                </a:solidFill>
                <a:latin typeface="Segoe UI"/>
                <a:cs typeface="Segoe UI"/>
              </a:rPr>
              <a:t>plain HTTP, never exposed publicly</a:t>
            </a:r>
          </a:p>
        </p:txBody>
      </p:sp>
      <p:sp>
        <p:nvSpPr>
          <p:cNvPr id="16" name="Rectangle: Rounded Corners 15">
            <a:extLst>
              <a:ext uri="{FF2B5EF4-FFF2-40B4-BE49-F238E27FC236}">
                <a16:creationId xmlns:a16="http://schemas.microsoft.com/office/drawing/2014/main" id="{A24DA8E2-9C88-47DC-9C8F-479976EBB166}"/>
              </a:ext>
            </a:extLst>
          </p:cNvPr>
          <p:cNvSpPr/>
          <p:nvPr/>
        </p:nvSpPr>
        <p:spPr>
          <a:xfrm>
            <a:off x="762000" y="2438400"/>
            <a:ext cx="5969000" cy="37846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0C38CED1-F093-4068-9B4A-C0BB7F7ADF9D}"/>
              </a:ext>
            </a:extLst>
          </p:cNvPr>
          <p:cNvSpPr txBox="1"/>
          <p:nvPr/>
        </p:nvSpPr>
        <p:spPr>
          <a:xfrm>
            <a:off x="990600" y="2565400"/>
            <a:ext cx="43180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/etc/nginx/conf.d/grafana.conf</a:t>
            </a:r>
          </a:p>
        </p:txBody>
      </p:sp>
      <p:sp>
        <p:nvSpPr>
          <p:cNvPr id="18" name="TextBox 17">
            <a:extLst>
              <a:ext uri="{FF2B5EF4-FFF2-40B4-BE49-F238E27FC236}">
                <a16:creationId xmlns:a16="http://schemas.microsoft.com/office/drawing/2014/main" id="{9835F778-C034-4D73-9335-2CB04EA50E93}"/>
              </a:ext>
            </a:extLst>
          </p:cNvPr>
          <p:cNvSpPr txBox="1"/>
          <p:nvPr/>
        </p:nvSpPr>
        <p:spPr>
          <a:xfrm>
            <a:off x="990600" y="2870200"/>
            <a:ext cx="5588000" cy="3251200"/>
          </a:xfrm>
          <a:prstGeom prst="rect">
            <a:avLst/>
          </a:prstGeom>
          <a:noFill/>
        </p:spPr>
        <p:txBody>
          <a:bodyPr vertOverflow="overflow" vert="horz" wrap="none" rtlCol="0" anchor="t">
            <a:noAutofit/>
          </a:bodyPr>
          <a:lstStyle/>
          <a:p>
            <a:pPr algn="l"/>
            <a:r>
              <a:rPr lang="en-US" sz="1400">
                <a:solidFill>
                  <a:srgbClr val="C8CDD4"/>
                </a:solidFill>
                <a:latin typeface="Consolas"/>
              </a:rPr>
              <a:t>server {
  listen 443 ssl http2;
  server_name grafana.corp.io;
  ssl_certificate     /etc/ssl/fullchain.pem;
  ssl_certificate_key /etc/ssl/privkey.pem;
  location / {
    proxy_pass http://127.0.0.1:3000/;
    proxy_set_header Host $host;
    proxy_set_header X-Forwarded-For $remote_addr;
    proxy_set_header X-Forwarded-Proto $scheme;
    proxy_set_header Upgrade $http_upgrade;
    proxy_set_header Connection "Upgrade";
    proxy_read_timeout 120s;
  }
}</a:t>
            </a:r>
          </a:p>
        </p:txBody>
      </p:sp>
      <p:sp>
        <p:nvSpPr>
          <p:cNvPr id="19" name="Rectangle: Rounded Corners 18">
            <a:extLst>
              <a:ext uri="{FF2B5EF4-FFF2-40B4-BE49-F238E27FC236}">
                <a16:creationId xmlns:a16="http://schemas.microsoft.com/office/drawing/2014/main" id="{01D4C90C-DBA9-44E9-971D-A8A8C338BD16}"/>
              </a:ext>
            </a:extLst>
          </p:cNvPr>
          <p:cNvSpPr/>
          <p:nvPr/>
        </p:nvSpPr>
        <p:spPr>
          <a:xfrm>
            <a:off x="6985000" y="2438400"/>
            <a:ext cx="4445000" cy="1219200"/>
          </a:xfrm>
          <a:prstGeom prst="roundRect">
            <a:avLst/>
          </a:prstGeom>
          <a:solidFill>
            <a:srgbClr val="1B1E24"/>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E818BFEF-5F06-4C78-951A-5C85F9127ADE}"/>
              </a:ext>
            </a:extLst>
          </p:cNvPr>
          <p:cNvSpPr txBox="1"/>
          <p:nvPr/>
        </p:nvSpPr>
        <p:spPr>
          <a:xfrm>
            <a:off x="7213600" y="2590800"/>
            <a:ext cx="3987800" cy="254000"/>
          </a:xfrm>
          <a:prstGeom prst="rect">
            <a:avLst/>
          </a:prstGeom>
          <a:noFill/>
        </p:spPr>
        <p:txBody>
          <a:bodyPr vertOverflow="overflow" vert="horz" wrap="square" rtlCol="0" anchor="t">
            <a:noAutofit/>
          </a:bodyPr>
          <a:lstStyle/>
          <a:p>
            <a:pPr algn="l"/>
            <a:r>
              <a:rPr lang="en-US" sz="1500" b="1">
                <a:solidFill>
                  <a:srgbClr val="FF8800"/>
                </a:solidFill>
                <a:latin typeface="Segoe UI"/>
                <a:cs typeface="Segoe UI"/>
              </a:rPr>
              <a:t>Serving under a sub-path</a:t>
            </a:r>
          </a:p>
        </p:txBody>
      </p:sp>
      <p:sp>
        <p:nvSpPr>
          <p:cNvPr id="21" name="TextBox 20">
            <a:extLst>
              <a:ext uri="{FF2B5EF4-FFF2-40B4-BE49-F238E27FC236}">
                <a16:creationId xmlns:a16="http://schemas.microsoft.com/office/drawing/2014/main" id="{98BE721F-EAB0-4113-9CCD-2B91AFA7F957}"/>
              </a:ext>
            </a:extLst>
          </p:cNvPr>
          <p:cNvSpPr txBox="1"/>
          <p:nvPr/>
        </p:nvSpPr>
        <p:spPr>
          <a:xfrm>
            <a:off x="7213600" y="2895600"/>
            <a:ext cx="4013200" cy="685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root_url = https://corp.io/grafana/ plus serve_from_sub_path = true, and keep the trailing slash in proxy_pass.</a:t>
            </a:r>
          </a:p>
        </p:txBody>
      </p:sp>
      <p:sp>
        <p:nvSpPr>
          <p:cNvPr id="22" name="Rectangle: Rounded Corners 21">
            <a:extLst>
              <a:ext uri="{FF2B5EF4-FFF2-40B4-BE49-F238E27FC236}">
                <a16:creationId xmlns:a16="http://schemas.microsoft.com/office/drawing/2014/main" id="{5C41FD4F-95C9-4191-8DFD-1955F52FD023}"/>
              </a:ext>
            </a:extLst>
          </p:cNvPr>
          <p:cNvSpPr/>
          <p:nvPr/>
        </p:nvSpPr>
        <p:spPr>
          <a:xfrm>
            <a:off x="6985000" y="3721100"/>
            <a:ext cx="4445000" cy="1219200"/>
          </a:xfrm>
          <a:prstGeom prst="roundRect">
            <a:avLst/>
          </a:prstGeom>
          <a:solidFill>
            <a:srgbClr val="1B1E24"/>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6FF93D4C-BA81-4E9D-9194-2B1EEDEA3986}"/>
              </a:ext>
            </a:extLst>
          </p:cNvPr>
          <p:cNvSpPr txBox="1"/>
          <p:nvPr/>
        </p:nvSpPr>
        <p:spPr>
          <a:xfrm>
            <a:off x="7213600" y="3873500"/>
            <a:ext cx="39878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Grafana Live needs Upgrade</a:t>
            </a:r>
          </a:p>
        </p:txBody>
      </p:sp>
      <p:sp>
        <p:nvSpPr>
          <p:cNvPr id="24" name="TextBox 23">
            <a:extLst>
              <a:ext uri="{FF2B5EF4-FFF2-40B4-BE49-F238E27FC236}">
                <a16:creationId xmlns:a16="http://schemas.microsoft.com/office/drawing/2014/main" id="{F1F882F6-A1FA-4E7D-AD74-9934600B8491}"/>
              </a:ext>
            </a:extLst>
          </p:cNvPr>
          <p:cNvSpPr txBox="1"/>
          <p:nvPr/>
        </p:nvSpPr>
        <p:spPr>
          <a:xfrm>
            <a:off x="7213600" y="4178300"/>
            <a:ext cx="4013200" cy="685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Without the Upgrade and Connection headers, live panels and streaming just silently stop refreshing.</a:t>
            </a:r>
          </a:p>
        </p:txBody>
      </p:sp>
      <p:sp>
        <p:nvSpPr>
          <p:cNvPr id="25" name="Rectangle: Rounded Corners 24">
            <a:extLst>
              <a:ext uri="{FF2B5EF4-FFF2-40B4-BE49-F238E27FC236}">
                <a16:creationId xmlns:a16="http://schemas.microsoft.com/office/drawing/2014/main" id="{94889F62-7771-4001-B86A-1750B5AD4A92}"/>
              </a:ext>
            </a:extLst>
          </p:cNvPr>
          <p:cNvSpPr/>
          <p:nvPr/>
        </p:nvSpPr>
        <p:spPr>
          <a:xfrm>
            <a:off x="6985000" y="5003800"/>
            <a:ext cx="4445000" cy="1219200"/>
          </a:xfrm>
          <a:prstGeom prst="roundRect">
            <a:avLst/>
          </a:prstGeom>
          <a:solidFill>
            <a:srgbClr val="1B1E24"/>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D96F6B66-D412-44C1-AB25-8FC374BE12AA}"/>
              </a:ext>
            </a:extLst>
          </p:cNvPr>
          <p:cNvSpPr txBox="1"/>
          <p:nvPr/>
        </p:nvSpPr>
        <p:spPr>
          <a:xfrm>
            <a:off x="7213600" y="5156200"/>
            <a:ext cx="3987800" cy="254000"/>
          </a:xfrm>
          <a:prstGeom prst="rect">
            <a:avLst/>
          </a:prstGeom>
          <a:noFill/>
        </p:spPr>
        <p:txBody>
          <a:bodyPr vertOverflow="overflow" vert="horz" wrap="square" rtlCol="0" anchor="t">
            <a:noAutofit/>
          </a:bodyPr>
          <a:lstStyle/>
          <a:p>
            <a:pPr algn="l"/>
            <a:r>
              <a:rPr lang="en-US" sz="1500" b="1">
                <a:solidFill>
                  <a:srgbClr val="FADE2A"/>
                </a:solidFill>
                <a:latin typeface="Segoe UI"/>
                <a:cs typeface="Segoe UI"/>
              </a:rPr>
              <a:t>Forwarded headers matter</a:t>
            </a:r>
          </a:p>
        </p:txBody>
      </p:sp>
      <p:sp>
        <p:nvSpPr>
          <p:cNvPr id="27" name="TextBox 26">
            <a:extLst>
              <a:ext uri="{FF2B5EF4-FFF2-40B4-BE49-F238E27FC236}">
                <a16:creationId xmlns:a16="http://schemas.microsoft.com/office/drawing/2014/main" id="{D9C98E73-DC1F-43D5-90B3-635EFD53BD3C}"/>
              </a:ext>
            </a:extLst>
          </p:cNvPr>
          <p:cNvSpPr txBox="1"/>
          <p:nvPr/>
        </p:nvSpPr>
        <p:spPr>
          <a:xfrm>
            <a:off x="7213600" y="5461000"/>
            <a:ext cx="4013200" cy="685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X-Forwarded-Proto is how Grafana knows the session is HTTPS. Get it wrong and users bounce on login redirects.</a:t>
            </a:r>
          </a:p>
        </p:txBody>
      </p:sp>
    </p:spTree>
    <p:extLst>
      <p:ext uri="{BB962C8B-B14F-4D97-AF65-F5344CB8AC3E}">
        <p14:creationId xmlns:p14="http://schemas.microsoft.com/office/powerpoint/2010/main" val="1228533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239BC-A4BC-E021-164C-2C435C3950F9}"/>
              </a:ext>
            </a:extLst>
          </p:cNvPr>
          <p:cNvSpPr>
            <a:spLocks noGrp="1"/>
          </p:cNvSpPr>
          <p:nvPr>
            <p:ph type="title"/>
          </p:nvPr>
        </p:nvSpPr>
        <p:spPr>
          <a:xfrm>
            <a:off x="762000" y="406400"/>
            <a:ext cx="10668000" cy="533400"/>
          </a:xfrm>
        </p:spPr>
        <p:txBody>
          <a:bodyPr>
            <a:normAutofit/>
          </a:bodyPr>
          <a:lstStyle/>
          <a:p>
            <a:r>
              <a:rPr lang="en-US" sz="3000" b="1"/>
              <a:t>Monitoring Grafana Itself</a:t>
            </a:r>
          </a:p>
        </p:txBody>
      </p:sp>
      <p:sp>
        <p:nvSpPr>
          <p:cNvPr id="3" name="Rectangle 2">
            <a:extLst>
              <a:ext uri="{FF2B5EF4-FFF2-40B4-BE49-F238E27FC236}">
                <a16:creationId xmlns:a16="http://schemas.microsoft.com/office/drawing/2014/main" id="{5E69703D-0855-4830-90CC-CFF560B059C9}"/>
              </a:ext>
            </a:extLst>
          </p:cNvPr>
          <p:cNvSpPr/>
          <p:nvPr/>
        </p:nvSpPr>
        <p:spPr>
          <a:xfrm>
            <a:off x="762000" y="1016000"/>
            <a:ext cx="889000" cy="381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71BDBA11-5969-4CF3-849B-486811BBE24A}"/>
              </a:ext>
            </a:extLst>
          </p:cNvPr>
          <p:cNvSpPr txBox="1"/>
          <p:nvPr/>
        </p:nvSpPr>
        <p:spPr>
          <a:xfrm>
            <a:off x="762000" y="1143000"/>
            <a:ext cx="10414000" cy="279400"/>
          </a:xfrm>
          <a:prstGeom prst="rect">
            <a:avLst/>
          </a:prstGeom>
          <a:noFill/>
        </p:spPr>
        <p:txBody>
          <a:bodyPr vertOverflow="overflow" vert="horz" wrap="square" rtlCol="0" anchor="t">
            <a:noAutofit/>
          </a:bodyPr>
          <a:lstStyle/>
          <a:p>
            <a:pPr algn="l"/>
            <a:r>
              <a:rPr lang="en-US" sz="1500" dirty="0">
                <a:solidFill>
                  <a:srgbClr val="A8B0BA"/>
                </a:solidFill>
                <a:latin typeface="Segoe UI"/>
                <a:cs typeface="Segoe UI"/>
              </a:rPr>
              <a:t>Grafana exposes Prometheus metrics about itself. Scrape it with the Grafana you are monitoring - and with one you are not.</a:t>
            </a:r>
          </a:p>
        </p:txBody>
      </p:sp>
      <p:sp>
        <p:nvSpPr>
          <p:cNvPr id="5" name="Rectangle: Rounded Corners 4">
            <a:extLst>
              <a:ext uri="{FF2B5EF4-FFF2-40B4-BE49-F238E27FC236}">
                <a16:creationId xmlns:a16="http://schemas.microsoft.com/office/drawing/2014/main" id="{40E9AFAA-A51B-4F8F-A715-F6125E1E75C0}"/>
              </a:ext>
            </a:extLst>
          </p:cNvPr>
          <p:cNvSpPr/>
          <p:nvPr/>
        </p:nvSpPr>
        <p:spPr>
          <a:xfrm>
            <a:off x="762000" y="1498600"/>
            <a:ext cx="5334000" cy="28448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8369C1F1-1F97-48BE-9B45-236C0889E80D}"/>
              </a:ext>
            </a:extLst>
          </p:cNvPr>
          <p:cNvSpPr txBox="1"/>
          <p:nvPr/>
        </p:nvSpPr>
        <p:spPr>
          <a:xfrm>
            <a:off x="990600" y="1625600"/>
            <a:ext cx="3810000" cy="254000"/>
          </a:xfrm>
          <a:prstGeom prst="rect">
            <a:avLst/>
          </a:prstGeom>
          <a:noFill/>
        </p:spPr>
        <p:txBody>
          <a:bodyPr vertOverflow="overflow" vert="horz" wrap="square" rtlCol="0" anchor="t">
            <a:noAutofit/>
          </a:bodyPr>
          <a:lstStyle/>
          <a:p>
            <a:pPr algn="l"/>
            <a:r>
              <a:rPr lang="en-US" sz="1400" b="1">
                <a:solidFill>
                  <a:srgbClr val="73BF69"/>
                </a:solidFill>
                <a:latin typeface="Segoe UI"/>
                <a:cs typeface="Segoe UI"/>
              </a:rPr>
              <a:t>enable, then scrape</a:t>
            </a:r>
          </a:p>
        </p:txBody>
      </p:sp>
      <p:sp>
        <p:nvSpPr>
          <p:cNvPr id="7" name="TextBox 6">
            <a:extLst>
              <a:ext uri="{FF2B5EF4-FFF2-40B4-BE49-F238E27FC236}">
                <a16:creationId xmlns:a16="http://schemas.microsoft.com/office/drawing/2014/main" id="{BFB1402E-A4C9-4C33-8AF9-24F29DD3C4F3}"/>
              </a:ext>
            </a:extLst>
          </p:cNvPr>
          <p:cNvSpPr txBox="1"/>
          <p:nvPr/>
        </p:nvSpPr>
        <p:spPr>
          <a:xfrm>
            <a:off x="990600" y="1930400"/>
            <a:ext cx="4953000" cy="2286000"/>
          </a:xfrm>
          <a:prstGeom prst="rect">
            <a:avLst/>
          </a:prstGeom>
          <a:noFill/>
        </p:spPr>
        <p:txBody>
          <a:bodyPr vertOverflow="overflow" vert="horz" wrap="none" rtlCol="0" anchor="t">
            <a:noAutofit/>
          </a:bodyPr>
          <a:lstStyle/>
          <a:p>
            <a:pPr algn="l"/>
            <a:r>
              <a:rPr lang="en-US" sz="1400">
                <a:solidFill>
                  <a:srgbClr val="C8CDD4"/>
                </a:solidFill>
                <a:latin typeface="Consolas"/>
              </a:rPr>
              <a:t># grafana.ini
[metrics]
enabled = true
# prometheus.yml
scrape_configs:
  - job_name: grafana
    metrics_path: /metrics
    static_configs:
      - targets: ['grafana:3000']</a:t>
            </a:r>
          </a:p>
        </p:txBody>
      </p:sp>
      <p:graphicFrame>
        <p:nvGraphicFramePr>
          <p:cNvPr id="9" name="Table 8">
            <a:extLst>
              <a:ext uri="{FF2B5EF4-FFF2-40B4-BE49-F238E27FC236}">
                <a16:creationId xmlns:a16="http://schemas.microsoft.com/office/drawing/2014/main" id="{88A0029A-1F66-4909-ADF9-CD0BEFE59A4C}"/>
              </a:ext>
            </a:extLst>
          </p:cNvPr>
          <p:cNvGraphicFramePr>
            <a:graphicFrameLocks noGrp="1"/>
          </p:cNvGraphicFramePr>
          <p:nvPr>
            <p:extLst>
              <p:ext uri="{D42A27DB-BD31-4B8C-83A1-F6EECF244321}">
                <p14:modId xmlns:p14="http://schemas.microsoft.com/office/powerpoint/2010/main" val="1455011464"/>
              </p:ext>
            </p:extLst>
          </p:nvPr>
        </p:nvGraphicFramePr>
        <p:xfrm>
          <a:off x="6350000" y="1498600"/>
          <a:ext cx="5080000" cy="343916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3901597678"/>
                    </a:ext>
                  </a:extLst>
                </a:gridCol>
                <a:gridCol w="2133600">
                  <a:extLst>
                    <a:ext uri="{9D8B030D-6E8A-4147-A177-3AD203B41FA5}">
                      <a16:colId xmlns:a16="http://schemas.microsoft.com/office/drawing/2014/main" val="985206708"/>
                    </a:ext>
                  </a:extLst>
                </a:gridCol>
              </a:tblGrid>
              <a:tr h="330200">
                <a:tc>
                  <a:txBody>
                    <a:bodyPr/>
                    <a:lstStyle/>
                    <a:p>
                      <a:r>
                        <a:rPr lang="en-US" sz="1500" b="1" dirty="0">
                          <a:solidFill>
                            <a:srgbClr val="B877D9"/>
                          </a:solidFill>
                        </a:rPr>
                        <a:t>Signal</a:t>
                      </a:r>
                    </a:p>
                  </a:txBody>
                  <a:tcPr anchor="ctr">
                    <a:solidFill>
                      <a:srgbClr val="1A1222"/>
                    </a:solidFill>
                  </a:tcPr>
                </a:tc>
                <a:tc>
                  <a:txBody>
                    <a:bodyPr/>
                    <a:lstStyle/>
                    <a:p>
                      <a:r>
                        <a:rPr lang="en-US" sz="1500" b="1">
                          <a:solidFill>
                            <a:srgbClr val="B877D9"/>
                          </a:solidFill>
                        </a:rPr>
                        <a:t>Why you care</a:t>
                      </a:r>
                    </a:p>
                  </a:txBody>
                  <a:tcPr anchor="ctr">
                    <a:solidFill>
                      <a:srgbClr val="1A1222"/>
                    </a:solidFill>
                  </a:tcPr>
                </a:tc>
                <a:extLst>
                  <a:ext uri="{0D108BD9-81ED-4DB2-BD59-A6C34878D82A}">
                    <a16:rowId xmlns:a16="http://schemas.microsoft.com/office/drawing/2014/main" val="1824122513"/>
                  </a:ext>
                </a:extLst>
              </a:tr>
              <a:tr h="330200">
                <a:tc>
                  <a:txBody>
                    <a:bodyPr/>
                    <a:lstStyle/>
                    <a:p>
                      <a:r>
                        <a:rPr lang="en-US" sz="1400">
                          <a:solidFill>
                            <a:srgbClr val="FFFFFF"/>
                          </a:solidFill>
                          <a:latin typeface="Consolas"/>
                        </a:rPr>
                        <a:t>grafana_http_request_duration_seconds</a:t>
                      </a:r>
                    </a:p>
                  </a:txBody>
                  <a:tcPr anchor="ctr">
                    <a:solidFill>
                      <a:srgbClr val="1B1E24"/>
                    </a:solidFill>
                  </a:tcPr>
                </a:tc>
                <a:tc>
                  <a:txBody>
                    <a:bodyPr/>
                    <a:lstStyle/>
                    <a:p>
                      <a:r>
                        <a:rPr lang="en-US" sz="1400">
                          <a:solidFill>
                            <a:srgbClr val="B4BCC6"/>
                          </a:solidFill>
                          <a:latin typeface="Segoe UI"/>
                          <a:cs typeface="Segoe UI"/>
                        </a:rPr>
                        <a:t>p95 latency of UI and API</a:t>
                      </a:r>
                    </a:p>
                  </a:txBody>
                  <a:tcPr anchor="ctr">
                    <a:solidFill>
                      <a:srgbClr val="1B1E24"/>
                    </a:solidFill>
                  </a:tcPr>
                </a:tc>
                <a:extLst>
                  <a:ext uri="{0D108BD9-81ED-4DB2-BD59-A6C34878D82A}">
                    <a16:rowId xmlns:a16="http://schemas.microsoft.com/office/drawing/2014/main" val="3374286160"/>
                  </a:ext>
                </a:extLst>
              </a:tr>
              <a:tr h="330200">
                <a:tc>
                  <a:txBody>
                    <a:bodyPr/>
                    <a:lstStyle/>
                    <a:p>
                      <a:r>
                        <a:rPr lang="en-US" sz="1400">
                          <a:solidFill>
                            <a:srgbClr val="FFFFFF"/>
                          </a:solidFill>
                          <a:latin typeface="Consolas"/>
                        </a:rPr>
                        <a:t>grafana_api_response_status_total</a:t>
                      </a:r>
                    </a:p>
                  </a:txBody>
                  <a:tcPr anchor="ctr">
                    <a:solidFill>
                      <a:srgbClr val="181B1F"/>
                    </a:solidFill>
                  </a:tcPr>
                </a:tc>
                <a:tc>
                  <a:txBody>
                    <a:bodyPr/>
                    <a:lstStyle/>
                    <a:p>
                      <a:r>
                        <a:rPr lang="en-US" sz="1400" dirty="0">
                          <a:solidFill>
                            <a:srgbClr val="B4BCC6"/>
                          </a:solidFill>
                          <a:latin typeface="Segoe UI"/>
                          <a:cs typeface="Segoe UI"/>
                        </a:rPr>
                        <a:t>5xx rate - the error budget</a:t>
                      </a:r>
                    </a:p>
                  </a:txBody>
                  <a:tcPr anchor="ctr">
                    <a:solidFill>
                      <a:srgbClr val="181B1F"/>
                    </a:solidFill>
                  </a:tcPr>
                </a:tc>
                <a:extLst>
                  <a:ext uri="{0D108BD9-81ED-4DB2-BD59-A6C34878D82A}">
                    <a16:rowId xmlns:a16="http://schemas.microsoft.com/office/drawing/2014/main" val="1389436337"/>
                  </a:ext>
                </a:extLst>
              </a:tr>
              <a:tr h="330200">
                <a:tc>
                  <a:txBody>
                    <a:bodyPr/>
                    <a:lstStyle/>
                    <a:p>
                      <a:r>
                        <a:rPr lang="en-US" sz="1400">
                          <a:solidFill>
                            <a:srgbClr val="FFFFFF"/>
                          </a:solidFill>
                          <a:latin typeface="Consolas"/>
                        </a:rPr>
                        <a:t>grafana_alerting_rule_evaluation_failures_total</a:t>
                      </a:r>
                    </a:p>
                  </a:txBody>
                  <a:tcPr anchor="ctr">
                    <a:solidFill>
                      <a:srgbClr val="1B1E24"/>
                    </a:solidFill>
                  </a:tcPr>
                </a:tc>
                <a:tc>
                  <a:txBody>
                    <a:bodyPr/>
                    <a:lstStyle/>
                    <a:p>
                      <a:r>
                        <a:rPr lang="en-US" sz="1400">
                          <a:solidFill>
                            <a:srgbClr val="B4BCC6"/>
                          </a:solidFill>
                          <a:latin typeface="Segoe UI"/>
                          <a:cs typeface="Segoe UI"/>
                        </a:rPr>
                        <a:t>alerting failing quietly</a:t>
                      </a:r>
                    </a:p>
                  </a:txBody>
                  <a:tcPr anchor="ctr">
                    <a:solidFill>
                      <a:srgbClr val="1B1E24"/>
                    </a:solidFill>
                  </a:tcPr>
                </a:tc>
                <a:extLst>
                  <a:ext uri="{0D108BD9-81ED-4DB2-BD59-A6C34878D82A}">
                    <a16:rowId xmlns:a16="http://schemas.microsoft.com/office/drawing/2014/main" val="2484521650"/>
                  </a:ext>
                </a:extLst>
              </a:tr>
              <a:tr h="330200">
                <a:tc>
                  <a:txBody>
                    <a:bodyPr/>
                    <a:lstStyle/>
                    <a:p>
                      <a:r>
                        <a:rPr lang="en-US" sz="1400">
                          <a:solidFill>
                            <a:srgbClr val="FFFFFF"/>
                          </a:solidFill>
                          <a:latin typeface="Consolas"/>
                        </a:rPr>
                        <a:t>grafana_stat_totals_dashboard</a:t>
                      </a:r>
                    </a:p>
                  </a:txBody>
                  <a:tcPr anchor="ctr">
                    <a:solidFill>
                      <a:srgbClr val="181B1F"/>
                    </a:solidFill>
                  </a:tcPr>
                </a:tc>
                <a:tc>
                  <a:txBody>
                    <a:bodyPr/>
                    <a:lstStyle/>
                    <a:p>
                      <a:r>
                        <a:rPr lang="en-US" sz="1400">
                          <a:solidFill>
                            <a:srgbClr val="B4BCC6"/>
                          </a:solidFill>
                          <a:latin typeface="Segoe UI"/>
                          <a:cs typeface="Segoe UI"/>
                        </a:rPr>
                        <a:t>how fast the estate is growing</a:t>
                      </a:r>
                    </a:p>
                  </a:txBody>
                  <a:tcPr anchor="ctr">
                    <a:solidFill>
                      <a:srgbClr val="181B1F"/>
                    </a:solidFill>
                  </a:tcPr>
                </a:tc>
                <a:extLst>
                  <a:ext uri="{0D108BD9-81ED-4DB2-BD59-A6C34878D82A}">
                    <a16:rowId xmlns:a16="http://schemas.microsoft.com/office/drawing/2014/main" val="1389462471"/>
                  </a:ext>
                </a:extLst>
              </a:tr>
              <a:tr h="330200">
                <a:tc>
                  <a:txBody>
                    <a:bodyPr/>
                    <a:lstStyle/>
                    <a:p>
                      <a:r>
                        <a:rPr lang="en-US" sz="1400">
                          <a:solidFill>
                            <a:srgbClr val="FFFFFF"/>
                          </a:solidFill>
                          <a:latin typeface="Consolas"/>
                        </a:rPr>
                        <a:t>process_resident_memory_bytes</a:t>
                      </a:r>
                    </a:p>
                  </a:txBody>
                  <a:tcPr anchor="ctr">
                    <a:solidFill>
                      <a:srgbClr val="1B1E24"/>
                    </a:solidFill>
                  </a:tcPr>
                </a:tc>
                <a:tc>
                  <a:txBody>
                    <a:bodyPr/>
                    <a:lstStyle/>
                    <a:p>
                      <a:r>
                        <a:rPr lang="en-US" sz="1400">
                          <a:solidFill>
                            <a:srgbClr val="B4BCC6"/>
                          </a:solidFill>
                          <a:latin typeface="Segoe UI"/>
                          <a:cs typeface="Segoe UI"/>
                        </a:rPr>
                        <a:t>memory trend before the OOM</a:t>
                      </a:r>
                    </a:p>
                  </a:txBody>
                  <a:tcPr anchor="ctr">
                    <a:solidFill>
                      <a:srgbClr val="1B1E24"/>
                    </a:solidFill>
                  </a:tcPr>
                </a:tc>
                <a:extLst>
                  <a:ext uri="{0D108BD9-81ED-4DB2-BD59-A6C34878D82A}">
                    <a16:rowId xmlns:a16="http://schemas.microsoft.com/office/drawing/2014/main" val="3669637942"/>
                  </a:ext>
                </a:extLst>
              </a:tr>
              <a:tr h="330200">
                <a:tc>
                  <a:txBody>
                    <a:bodyPr/>
                    <a:lstStyle/>
                    <a:p>
                      <a:r>
                        <a:rPr lang="en-US" sz="1400">
                          <a:solidFill>
                            <a:srgbClr val="FFFFFF"/>
                          </a:solidFill>
                          <a:latin typeface="Consolas"/>
                        </a:rPr>
                        <a:t>go_goroutines</a:t>
                      </a:r>
                    </a:p>
                  </a:txBody>
                  <a:tcPr anchor="ctr">
                    <a:solidFill>
                      <a:srgbClr val="181B1F"/>
                    </a:solidFill>
                  </a:tcPr>
                </a:tc>
                <a:tc>
                  <a:txBody>
                    <a:bodyPr/>
                    <a:lstStyle/>
                    <a:p>
                      <a:r>
                        <a:rPr lang="en-US" sz="1400">
                          <a:solidFill>
                            <a:srgbClr val="B4BCC6"/>
                          </a:solidFill>
                          <a:latin typeface="Segoe UI"/>
                          <a:cs typeface="Segoe UI"/>
                        </a:rPr>
                        <a:t>leak detector after upgrades</a:t>
                      </a:r>
                    </a:p>
                  </a:txBody>
                  <a:tcPr anchor="ctr">
                    <a:solidFill>
                      <a:srgbClr val="181B1F"/>
                    </a:solidFill>
                  </a:tcPr>
                </a:tc>
                <a:extLst>
                  <a:ext uri="{0D108BD9-81ED-4DB2-BD59-A6C34878D82A}">
                    <a16:rowId xmlns:a16="http://schemas.microsoft.com/office/drawing/2014/main" val="3475516789"/>
                  </a:ext>
                </a:extLst>
              </a:tr>
            </a:tbl>
          </a:graphicData>
        </a:graphic>
      </p:graphicFrame>
      <p:sp>
        <p:nvSpPr>
          <p:cNvPr id="10" name="Rectangle: Rounded Corners 9">
            <a:extLst>
              <a:ext uri="{FF2B5EF4-FFF2-40B4-BE49-F238E27FC236}">
                <a16:creationId xmlns:a16="http://schemas.microsoft.com/office/drawing/2014/main" id="{A37B01EE-E1CC-4755-82D5-FD298C416450}"/>
              </a:ext>
            </a:extLst>
          </p:cNvPr>
          <p:cNvSpPr/>
          <p:nvPr/>
        </p:nvSpPr>
        <p:spPr>
          <a:xfrm>
            <a:off x="762000" y="4521200"/>
            <a:ext cx="5207000" cy="1701800"/>
          </a:xfrm>
          <a:prstGeom prst="roundRect">
            <a:avLst/>
          </a:prstGeom>
          <a:solidFill>
            <a:srgbClr val="1B1E24"/>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DA16BA29-D01C-47B7-86CC-D5F43BC7549E}"/>
              </a:ext>
            </a:extLst>
          </p:cNvPr>
          <p:cNvSpPr txBox="1"/>
          <p:nvPr/>
        </p:nvSpPr>
        <p:spPr>
          <a:xfrm>
            <a:off x="990600" y="4673600"/>
            <a:ext cx="3810000" cy="279400"/>
          </a:xfrm>
          <a:prstGeom prst="rect">
            <a:avLst/>
          </a:prstGeom>
          <a:noFill/>
        </p:spPr>
        <p:txBody>
          <a:bodyPr vertOverflow="overflow" vert="horz" wrap="square" rtlCol="0" anchor="t">
            <a:noAutofit/>
          </a:bodyPr>
          <a:lstStyle/>
          <a:p>
            <a:pPr algn="l"/>
            <a:r>
              <a:rPr lang="en-US" sz="1600" b="1">
                <a:solidFill>
                  <a:srgbClr val="FF8800"/>
                </a:solidFill>
                <a:latin typeface="Segoe UI"/>
                <a:cs typeface="Segoe UI"/>
              </a:rPr>
              <a:t>Logs</a:t>
            </a:r>
          </a:p>
        </p:txBody>
      </p:sp>
      <p:sp>
        <p:nvSpPr>
          <p:cNvPr id="12" name="TextBox 11">
            <a:extLst>
              <a:ext uri="{FF2B5EF4-FFF2-40B4-BE49-F238E27FC236}">
                <a16:creationId xmlns:a16="http://schemas.microsoft.com/office/drawing/2014/main" id="{66D72D92-15D6-43E2-AA65-5B97723D5CC4}"/>
              </a:ext>
            </a:extLst>
          </p:cNvPr>
          <p:cNvSpPr txBox="1"/>
          <p:nvPr/>
        </p:nvSpPr>
        <p:spPr>
          <a:xfrm>
            <a:off x="990600" y="4978400"/>
            <a:ext cx="4826000" cy="254000"/>
          </a:xfrm>
          <a:prstGeom prst="rect">
            <a:avLst/>
          </a:prstGeom>
          <a:noFill/>
        </p:spPr>
        <p:txBody>
          <a:bodyPr vertOverflow="overflow" vert="horz" wrap="none" rtlCol="0" anchor="t">
            <a:noAutofit/>
          </a:bodyPr>
          <a:lstStyle/>
          <a:p>
            <a:pPr algn="l"/>
            <a:r>
              <a:rPr lang="en-US" sz="1400">
                <a:solidFill>
                  <a:srgbClr val="C8CDD4"/>
                </a:solidFill>
                <a:latin typeface="Consolas"/>
              </a:rPr>
              <a:t>/var/log/grafana/grafana.log   ·   level = info   ·   format = json</a:t>
            </a:r>
          </a:p>
        </p:txBody>
      </p:sp>
      <p:sp>
        <p:nvSpPr>
          <p:cNvPr id="13" name="TextBox 12">
            <a:extLst>
              <a:ext uri="{FF2B5EF4-FFF2-40B4-BE49-F238E27FC236}">
                <a16:creationId xmlns:a16="http://schemas.microsoft.com/office/drawing/2014/main" id="{4173EBA6-579E-4629-899D-99AD7A17CD4D}"/>
              </a:ext>
            </a:extLst>
          </p:cNvPr>
          <p:cNvSpPr txBox="1"/>
          <p:nvPr/>
        </p:nvSpPr>
        <p:spPr>
          <a:xfrm>
            <a:off x="990600" y="5308600"/>
            <a:ext cx="4775200" cy="8382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Ship them to Loki and you can correlate a slow dashboard with the query that caused it. Switch to debug only while reproducing something - it is very chatty.</a:t>
            </a:r>
          </a:p>
        </p:txBody>
      </p:sp>
      <p:sp>
        <p:nvSpPr>
          <p:cNvPr id="14" name="Rectangle: Rounded Corners 13">
            <a:extLst>
              <a:ext uri="{FF2B5EF4-FFF2-40B4-BE49-F238E27FC236}">
                <a16:creationId xmlns:a16="http://schemas.microsoft.com/office/drawing/2014/main" id="{E1B380D1-9E44-4894-A496-B4E18881F37F}"/>
              </a:ext>
            </a:extLst>
          </p:cNvPr>
          <p:cNvSpPr/>
          <p:nvPr/>
        </p:nvSpPr>
        <p:spPr>
          <a:xfrm>
            <a:off x="6350000" y="5054600"/>
            <a:ext cx="5080000" cy="1168400"/>
          </a:xfrm>
          <a:prstGeom prst="roundRect">
            <a:avLst/>
          </a:prstGeom>
          <a:solidFill>
            <a:srgbClr val="1B1E24"/>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BD5C8F23-FD79-488E-8ACF-4A43C418F60D}"/>
              </a:ext>
            </a:extLst>
          </p:cNvPr>
          <p:cNvSpPr txBox="1"/>
          <p:nvPr/>
        </p:nvSpPr>
        <p:spPr>
          <a:xfrm>
            <a:off x="6578600" y="5156200"/>
            <a:ext cx="4318000" cy="2794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Health and synthetic checks</a:t>
            </a:r>
          </a:p>
        </p:txBody>
      </p:sp>
      <p:sp>
        <p:nvSpPr>
          <p:cNvPr id="16" name="TextBox 15">
            <a:extLst>
              <a:ext uri="{FF2B5EF4-FFF2-40B4-BE49-F238E27FC236}">
                <a16:creationId xmlns:a16="http://schemas.microsoft.com/office/drawing/2014/main" id="{AEEA5C7D-57C8-4BDF-92B1-4386D847A70D}"/>
              </a:ext>
            </a:extLst>
          </p:cNvPr>
          <p:cNvSpPr txBox="1"/>
          <p:nvPr/>
        </p:nvSpPr>
        <p:spPr>
          <a:xfrm>
            <a:off x="6578600" y="5435600"/>
            <a:ext cx="4699000" cy="254000"/>
          </a:xfrm>
          <a:prstGeom prst="rect">
            <a:avLst/>
          </a:prstGeom>
          <a:noFill/>
        </p:spPr>
        <p:txBody>
          <a:bodyPr vertOverflow="overflow" vert="horz" wrap="none" rtlCol="0" anchor="t">
            <a:noAutofit/>
          </a:bodyPr>
          <a:lstStyle/>
          <a:p>
            <a:pPr algn="l"/>
            <a:r>
              <a:rPr lang="en-US" sz="1400">
                <a:solidFill>
                  <a:srgbClr val="C8CDD4"/>
                </a:solidFill>
                <a:latin typeface="Consolas"/>
              </a:rPr>
              <a:t>GET /api/health  →  {"database":"ok","version":"…"}</a:t>
            </a:r>
          </a:p>
        </p:txBody>
      </p:sp>
      <p:sp>
        <p:nvSpPr>
          <p:cNvPr id="17" name="TextBox 16">
            <a:extLst>
              <a:ext uri="{FF2B5EF4-FFF2-40B4-BE49-F238E27FC236}">
                <a16:creationId xmlns:a16="http://schemas.microsoft.com/office/drawing/2014/main" id="{F7033D74-327B-4896-A9F8-E4CCC207D729}"/>
              </a:ext>
            </a:extLst>
          </p:cNvPr>
          <p:cNvSpPr txBox="1"/>
          <p:nvPr/>
        </p:nvSpPr>
        <p:spPr>
          <a:xfrm>
            <a:off x="6578600" y="5715000"/>
            <a:ext cx="4699000" cy="457200"/>
          </a:xfrm>
          <a:prstGeom prst="rect">
            <a:avLst/>
          </a:prstGeom>
          <a:noFill/>
        </p:spPr>
        <p:txBody>
          <a:bodyPr vertOverflow="overflow" vert="horz" wrap="square" rtlCol="0" anchor="t">
            <a:noAutofit/>
          </a:bodyPr>
          <a:lstStyle/>
          <a:p>
            <a:pPr algn="l"/>
            <a:r>
              <a:rPr lang="en-US" sz="1400">
                <a:solidFill>
                  <a:srgbClr val="C6E3C2"/>
                </a:solidFill>
                <a:latin typeface="Segoe UI"/>
                <a:cs typeface="Segoe UI"/>
              </a:rPr>
              <a:t>Point the load balancer at /api/health, then add a probe that logs in and renders a panel.</a:t>
            </a:r>
          </a:p>
        </p:txBody>
      </p:sp>
    </p:spTree>
    <p:extLst>
      <p:ext uri="{BB962C8B-B14F-4D97-AF65-F5344CB8AC3E}">
        <p14:creationId xmlns:p14="http://schemas.microsoft.com/office/powerpoint/2010/main" val="2375941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E98AB-E3E4-ECD4-1B92-ED774B5057F3}"/>
              </a:ext>
            </a:extLst>
          </p:cNvPr>
          <p:cNvSpPr>
            <a:spLocks noGrp="1"/>
          </p:cNvSpPr>
          <p:nvPr>
            <p:ph type="title"/>
          </p:nvPr>
        </p:nvSpPr>
        <p:spPr>
          <a:xfrm>
            <a:off x="762000" y="406400"/>
            <a:ext cx="10668000" cy="533400"/>
          </a:xfrm>
        </p:spPr>
        <p:txBody>
          <a:bodyPr>
            <a:normAutofit/>
          </a:bodyPr>
          <a:lstStyle/>
          <a:p>
            <a:r>
              <a:rPr lang="en-US" sz="3000" b="1"/>
              <a:t>Troubleshooting Playbook</a:t>
            </a:r>
          </a:p>
        </p:txBody>
      </p:sp>
      <p:sp>
        <p:nvSpPr>
          <p:cNvPr id="3" name="Rectangle 2">
            <a:extLst>
              <a:ext uri="{FF2B5EF4-FFF2-40B4-BE49-F238E27FC236}">
                <a16:creationId xmlns:a16="http://schemas.microsoft.com/office/drawing/2014/main" id="{266F4FC5-0EB1-47BA-B5F1-5A7A205BFC15}"/>
              </a:ext>
            </a:extLst>
          </p:cNvPr>
          <p:cNvSpPr/>
          <p:nvPr/>
        </p:nvSpPr>
        <p:spPr>
          <a:xfrm>
            <a:off x="762000" y="1016000"/>
            <a:ext cx="889000" cy="381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87760A21-90ED-488C-8C32-24EAB1DFB7C8}"/>
              </a:ext>
            </a:extLst>
          </p:cNvPr>
          <p:cNvSpPr txBox="1"/>
          <p:nvPr/>
        </p:nvSpPr>
        <p:spPr>
          <a:xfrm>
            <a:off x="762000" y="1143000"/>
            <a:ext cx="9906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Seven symptoms that cover most of what you will actually be paged for.</a:t>
            </a:r>
          </a:p>
        </p:txBody>
      </p:sp>
      <p:graphicFrame>
        <p:nvGraphicFramePr>
          <p:cNvPr id="6" name="Table 5">
            <a:extLst>
              <a:ext uri="{FF2B5EF4-FFF2-40B4-BE49-F238E27FC236}">
                <a16:creationId xmlns:a16="http://schemas.microsoft.com/office/drawing/2014/main" id="{21D5BE6C-5822-4AB7-B4EE-D714D3C136B3}"/>
              </a:ext>
            </a:extLst>
          </p:cNvPr>
          <p:cNvGraphicFramePr>
            <a:graphicFrameLocks noGrp="1"/>
          </p:cNvGraphicFramePr>
          <p:nvPr>
            <p:extLst>
              <p:ext uri="{D42A27DB-BD31-4B8C-83A1-F6EECF244321}">
                <p14:modId xmlns:p14="http://schemas.microsoft.com/office/powerpoint/2010/main" val="1930970823"/>
              </p:ext>
            </p:extLst>
          </p:nvPr>
        </p:nvGraphicFramePr>
        <p:xfrm>
          <a:off x="762000" y="1498600"/>
          <a:ext cx="10668000" cy="26416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4138890663"/>
                    </a:ext>
                  </a:extLst>
                </a:gridCol>
                <a:gridCol w="4064000">
                  <a:extLst>
                    <a:ext uri="{9D8B030D-6E8A-4147-A177-3AD203B41FA5}">
                      <a16:colId xmlns:a16="http://schemas.microsoft.com/office/drawing/2014/main" val="4035607123"/>
                    </a:ext>
                  </a:extLst>
                </a:gridCol>
                <a:gridCol w="3429000">
                  <a:extLst>
                    <a:ext uri="{9D8B030D-6E8A-4147-A177-3AD203B41FA5}">
                      <a16:colId xmlns:a16="http://schemas.microsoft.com/office/drawing/2014/main" val="1380042004"/>
                    </a:ext>
                  </a:extLst>
                </a:gridCol>
              </a:tblGrid>
              <a:tr h="330200">
                <a:tc>
                  <a:txBody>
                    <a:bodyPr/>
                    <a:lstStyle/>
                    <a:p>
                      <a:r>
                        <a:rPr lang="en-US" sz="1500" b="1">
                          <a:solidFill>
                            <a:srgbClr val="B877D9"/>
                          </a:solidFill>
                        </a:rPr>
                        <a:t>Symptom</a:t>
                      </a:r>
                    </a:p>
                  </a:txBody>
                  <a:tcPr anchor="ctr">
                    <a:solidFill>
                      <a:srgbClr val="1A1222"/>
                    </a:solidFill>
                  </a:tcPr>
                </a:tc>
                <a:tc>
                  <a:txBody>
                    <a:bodyPr/>
                    <a:lstStyle/>
                    <a:p>
                      <a:r>
                        <a:rPr lang="en-US" sz="1500" b="1">
                          <a:solidFill>
                            <a:srgbClr val="B877D9"/>
                          </a:solidFill>
                        </a:rPr>
                        <a:t>Usual cause</a:t>
                      </a:r>
                    </a:p>
                  </a:txBody>
                  <a:tcPr anchor="ctr">
                    <a:solidFill>
                      <a:srgbClr val="1A1222"/>
                    </a:solidFill>
                  </a:tcPr>
                </a:tc>
                <a:tc>
                  <a:txBody>
                    <a:bodyPr/>
                    <a:lstStyle/>
                    <a:p>
                      <a:r>
                        <a:rPr lang="en-US" sz="1500" b="1">
                          <a:solidFill>
                            <a:srgbClr val="B877D9"/>
                          </a:solidFill>
                        </a:rPr>
                        <a:t>First move</a:t>
                      </a:r>
                    </a:p>
                  </a:txBody>
                  <a:tcPr anchor="ctr">
                    <a:solidFill>
                      <a:srgbClr val="1A1222"/>
                    </a:solidFill>
                  </a:tcPr>
                </a:tc>
                <a:extLst>
                  <a:ext uri="{0D108BD9-81ED-4DB2-BD59-A6C34878D82A}">
                    <a16:rowId xmlns:a16="http://schemas.microsoft.com/office/drawing/2014/main" val="2172637026"/>
                  </a:ext>
                </a:extLst>
              </a:tr>
              <a:tr h="330200">
                <a:tc>
                  <a:txBody>
                    <a:bodyPr/>
                    <a:lstStyle/>
                    <a:p>
                      <a:r>
                        <a:rPr lang="en-US" sz="1400" b="1">
                          <a:solidFill>
                            <a:srgbClr val="FFFFFF"/>
                          </a:solidFill>
                        </a:rPr>
                        <a:t>Login redirect loop</a:t>
                      </a:r>
                    </a:p>
                  </a:txBody>
                  <a:tcPr anchor="ctr">
                    <a:solidFill>
                      <a:srgbClr val="1B1E24"/>
                    </a:solidFill>
                  </a:tcPr>
                </a:tc>
                <a:tc>
                  <a:txBody>
                    <a:bodyPr/>
                    <a:lstStyle/>
                    <a:p>
                      <a:r>
                        <a:rPr lang="en-US" sz="1400" b="0">
                          <a:solidFill>
                            <a:srgbClr val="B4BCC6"/>
                          </a:solidFill>
                        </a:rPr>
                        <a:t>root_url or X-Forwarded-Proto is wrong</a:t>
                      </a:r>
                    </a:p>
                  </a:txBody>
                  <a:tcPr anchor="ctr">
                    <a:solidFill>
                      <a:srgbClr val="1B1E24"/>
                    </a:solidFill>
                  </a:tcPr>
                </a:tc>
                <a:tc>
                  <a:txBody>
                    <a:bodyPr/>
                    <a:lstStyle/>
                    <a:p>
                      <a:r>
                        <a:rPr lang="en-US" sz="1400" b="0">
                          <a:solidFill>
                            <a:srgbClr val="B4BCC6"/>
                          </a:solidFill>
                        </a:rPr>
                        <a:t>curl -I through the proxy</a:t>
                      </a:r>
                    </a:p>
                  </a:txBody>
                  <a:tcPr anchor="ctr">
                    <a:solidFill>
                      <a:srgbClr val="1B1E24"/>
                    </a:solidFill>
                  </a:tcPr>
                </a:tc>
                <a:extLst>
                  <a:ext uri="{0D108BD9-81ED-4DB2-BD59-A6C34878D82A}">
                    <a16:rowId xmlns:a16="http://schemas.microsoft.com/office/drawing/2014/main" val="1229763727"/>
                  </a:ext>
                </a:extLst>
              </a:tr>
              <a:tr h="330200">
                <a:tc>
                  <a:txBody>
                    <a:bodyPr/>
                    <a:lstStyle/>
                    <a:p>
                      <a:r>
                        <a:rPr lang="en-US" sz="1400" b="1">
                          <a:solidFill>
                            <a:srgbClr val="FFFFFF"/>
                          </a:solidFill>
                        </a:rPr>
                        <a:t>Panel says No data</a:t>
                      </a:r>
                    </a:p>
                  </a:txBody>
                  <a:tcPr anchor="ctr">
                    <a:solidFill>
                      <a:srgbClr val="181B1F"/>
                    </a:solidFill>
                  </a:tcPr>
                </a:tc>
                <a:tc>
                  <a:txBody>
                    <a:bodyPr/>
                    <a:lstStyle/>
                    <a:p>
                      <a:r>
                        <a:rPr lang="en-US" sz="1400" b="0">
                          <a:solidFill>
                            <a:srgbClr val="B4BCC6"/>
                          </a:solidFill>
                        </a:rPr>
                        <a:t>data source uid mismatch or time range</a:t>
                      </a:r>
                    </a:p>
                  </a:txBody>
                  <a:tcPr anchor="ctr">
                    <a:solidFill>
                      <a:srgbClr val="181B1F"/>
                    </a:solidFill>
                  </a:tcPr>
                </a:tc>
                <a:tc>
                  <a:txBody>
                    <a:bodyPr/>
                    <a:lstStyle/>
                    <a:p>
                      <a:r>
                        <a:rPr lang="en-US" sz="1400" b="0">
                          <a:solidFill>
                            <a:srgbClr val="B4BCC6"/>
                          </a:solidFill>
                        </a:rPr>
                        <a:t>run the query in Explore</a:t>
                      </a:r>
                    </a:p>
                  </a:txBody>
                  <a:tcPr anchor="ctr">
                    <a:solidFill>
                      <a:srgbClr val="181B1F"/>
                    </a:solidFill>
                  </a:tcPr>
                </a:tc>
                <a:extLst>
                  <a:ext uri="{0D108BD9-81ED-4DB2-BD59-A6C34878D82A}">
                    <a16:rowId xmlns:a16="http://schemas.microsoft.com/office/drawing/2014/main" val="3808403362"/>
                  </a:ext>
                </a:extLst>
              </a:tr>
              <a:tr h="330200">
                <a:tc>
                  <a:txBody>
                    <a:bodyPr/>
                    <a:lstStyle/>
                    <a:p>
                      <a:r>
                        <a:rPr lang="en-US" sz="1400" b="1">
                          <a:solidFill>
                            <a:srgbClr val="FFFFFF"/>
                          </a:solidFill>
                        </a:rPr>
                        <a:t>Provisioned dashboard missing</a:t>
                      </a:r>
                    </a:p>
                  </a:txBody>
                  <a:tcPr anchor="ctr">
                    <a:solidFill>
                      <a:srgbClr val="1B1E24"/>
                    </a:solidFill>
                  </a:tcPr>
                </a:tc>
                <a:tc>
                  <a:txBody>
                    <a:bodyPr/>
                    <a:lstStyle/>
                    <a:p>
                      <a:r>
                        <a:rPr lang="en-US" sz="1400" b="0">
                          <a:solidFill>
                            <a:srgbClr val="B4BCC6"/>
                          </a:solidFill>
                        </a:rPr>
                        <a:t>wrong path or unreadable file</a:t>
                      </a:r>
                    </a:p>
                  </a:txBody>
                  <a:tcPr anchor="ctr">
                    <a:solidFill>
                      <a:srgbClr val="1B1E24"/>
                    </a:solidFill>
                  </a:tcPr>
                </a:tc>
                <a:tc>
                  <a:txBody>
                    <a:bodyPr/>
                    <a:lstStyle/>
                    <a:p>
                      <a:r>
                        <a:rPr lang="en-US" sz="1400" b="0">
                          <a:solidFill>
                            <a:srgbClr val="B4BCC6"/>
                          </a:solidFill>
                        </a:rPr>
                        <a:t>grep provisioning in the log</a:t>
                      </a:r>
                    </a:p>
                  </a:txBody>
                  <a:tcPr anchor="ctr">
                    <a:solidFill>
                      <a:srgbClr val="1B1E24"/>
                    </a:solidFill>
                  </a:tcPr>
                </a:tc>
                <a:extLst>
                  <a:ext uri="{0D108BD9-81ED-4DB2-BD59-A6C34878D82A}">
                    <a16:rowId xmlns:a16="http://schemas.microsoft.com/office/drawing/2014/main" val="3222327750"/>
                  </a:ext>
                </a:extLst>
              </a:tr>
              <a:tr h="330200">
                <a:tc>
                  <a:txBody>
                    <a:bodyPr/>
                    <a:lstStyle/>
                    <a:p>
                      <a:r>
                        <a:rPr lang="en-US" sz="1400" b="1">
                          <a:solidFill>
                            <a:srgbClr val="FFFFFF"/>
                          </a:solidFill>
                        </a:rPr>
                        <a:t>412 when saving a dashboard</a:t>
                      </a:r>
                    </a:p>
                  </a:txBody>
                  <a:tcPr anchor="ctr">
                    <a:solidFill>
                      <a:srgbClr val="181B1F"/>
                    </a:solidFill>
                  </a:tcPr>
                </a:tc>
                <a:tc>
                  <a:txBody>
                    <a:bodyPr/>
                    <a:lstStyle/>
                    <a:p>
                      <a:r>
                        <a:rPr lang="en-US" sz="1400" b="0">
                          <a:solidFill>
                            <a:srgbClr val="B4BCC6"/>
                          </a:solidFill>
                        </a:rPr>
                        <a:t>someone else changed the version</a:t>
                      </a:r>
                    </a:p>
                  </a:txBody>
                  <a:tcPr anchor="ctr">
                    <a:solidFill>
                      <a:srgbClr val="181B1F"/>
                    </a:solidFill>
                  </a:tcPr>
                </a:tc>
                <a:tc>
                  <a:txBody>
                    <a:bodyPr/>
                    <a:lstStyle/>
                    <a:p>
                      <a:r>
                        <a:rPr lang="en-US" sz="1400" b="0">
                          <a:solidFill>
                            <a:srgbClr val="B4BCC6"/>
                          </a:solidFill>
                        </a:rPr>
                        <a:t>re-fetch, then overwrite: true</a:t>
                      </a:r>
                    </a:p>
                  </a:txBody>
                  <a:tcPr anchor="ctr">
                    <a:solidFill>
                      <a:srgbClr val="181B1F"/>
                    </a:solidFill>
                  </a:tcPr>
                </a:tc>
                <a:extLst>
                  <a:ext uri="{0D108BD9-81ED-4DB2-BD59-A6C34878D82A}">
                    <a16:rowId xmlns:a16="http://schemas.microsoft.com/office/drawing/2014/main" val="632951429"/>
                  </a:ext>
                </a:extLst>
              </a:tr>
              <a:tr h="330200">
                <a:tc>
                  <a:txBody>
                    <a:bodyPr/>
                    <a:lstStyle/>
                    <a:p>
                      <a:r>
                        <a:rPr lang="en-US" sz="1400" b="1">
                          <a:solidFill>
                            <a:srgbClr val="FFFFFF"/>
                          </a:solidFill>
                        </a:rPr>
                        <a:t>Duplicate alert notifications</a:t>
                      </a:r>
                    </a:p>
                  </a:txBody>
                  <a:tcPr anchor="ctr">
                    <a:solidFill>
                      <a:srgbClr val="1B1E24"/>
                    </a:solidFill>
                  </a:tcPr>
                </a:tc>
                <a:tc>
                  <a:txBody>
                    <a:bodyPr/>
                    <a:lstStyle/>
                    <a:p>
                      <a:r>
                        <a:rPr lang="en-US" sz="1400" b="0">
                          <a:solidFill>
                            <a:srgbClr val="B4BCC6"/>
                          </a:solidFill>
                        </a:rPr>
                        <a:t>HA nodes without ha_peers</a:t>
                      </a:r>
                    </a:p>
                  </a:txBody>
                  <a:tcPr anchor="ctr">
                    <a:solidFill>
                      <a:srgbClr val="1B1E24"/>
                    </a:solidFill>
                  </a:tcPr>
                </a:tc>
                <a:tc>
                  <a:txBody>
                    <a:bodyPr/>
                    <a:lstStyle/>
                    <a:p>
                      <a:r>
                        <a:rPr lang="en-US" sz="1400" b="0">
                          <a:solidFill>
                            <a:srgbClr val="B4BCC6"/>
                          </a:solidFill>
                        </a:rPr>
                        <a:t>check unified_alerting config</a:t>
                      </a:r>
                    </a:p>
                  </a:txBody>
                  <a:tcPr anchor="ctr">
                    <a:solidFill>
                      <a:srgbClr val="1B1E24"/>
                    </a:solidFill>
                  </a:tcPr>
                </a:tc>
                <a:extLst>
                  <a:ext uri="{0D108BD9-81ED-4DB2-BD59-A6C34878D82A}">
                    <a16:rowId xmlns:a16="http://schemas.microsoft.com/office/drawing/2014/main" val="130036032"/>
                  </a:ext>
                </a:extLst>
              </a:tr>
              <a:tr h="330200">
                <a:tc>
                  <a:txBody>
                    <a:bodyPr/>
                    <a:lstStyle/>
                    <a:p>
                      <a:r>
                        <a:rPr lang="en-US" sz="1400" b="1">
                          <a:solidFill>
                            <a:srgbClr val="FFFFFF"/>
                          </a:solidFill>
                        </a:rPr>
                        <a:t>Dashboards slow to load</a:t>
                      </a:r>
                    </a:p>
                  </a:txBody>
                  <a:tcPr anchor="ctr">
                    <a:solidFill>
                      <a:srgbClr val="181B1F"/>
                    </a:solidFill>
                  </a:tcPr>
                </a:tc>
                <a:tc>
                  <a:txBody>
                    <a:bodyPr/>
                    <a:lstStyle/>
                    <a:p>
                      <a:r>
                        <a:rPr lang="en-US" sz="1400" b="0">
                          <a:solidFill>
                            <a:srgbClr val="B4BCC6"/>
                          </a:solidFill>
                        </a:rPr>
                        <a:t>too many panels or heavy queries</a:t>
                      </a:r>
                    </a:p>
                  </a:txBody>
                  <a:tcPr anchor="ctr">
                    <a:solidFill>
                      <a:srgbClr val="181B1F"/>
                    </a:solidFill>
                  </a:tcPr>
                </a:tc>
                <a:tc>
                  <a:txBody>
                    <a:bodyPr/>
                    <a:lstStyle/>
                    <a:p>
                      <a:r>
                        <a:rPr lang="en-US" sz="1400" b="0">
                          <a:solidFill>
                            <a:srgbClr val="B4BCC6"/>
                          </a:solidFill>
                        </a:rPr>
                        <a:t>query inspector plus p95 metric</a:t>
                      </a:r>
                    </a:p>
                  </a:txBody>
                  <a:tcPr anchor="ctr">
                    <a:solidFill>
                      <a:srgbClr val="181B1F"/>
                    </a:solidFill>
                  </a:tcPr>
                </a:tc>
                <a:extLst>
                  <a:ext uri="{0D108BD9-81ED-4DB2-BD59-A6C34878D82A}">
                    <a16:rowId xmlns:a16="http://schemas.microsoft.com/office/drawing/2014/main" val="3024087276"/>
                  </a:ext>
                </a:extLst>
              </a:tr>
              <a:tr h="330200">
                <a:tc>
                  <a:txBody>
                    <a:bodyPr/>
                    <a:lstStyle/>
                    <a:p>
                      <a:r>
                        <a:rPr lang="en-US" sz="1400" b="1">
                          <a:solidFill>
                            <a:srgbClr val="FFFFFF"/>
                          </a:solidFill>
                        </a:rPr>
                        <a:t>Data source broken after restore</a:t>
                      </a:r>
                    </a:p>
                  </a:txBody>
                  <a:tcPr anchor="ctr">
                    <a:solidFill>
                      <a:srgbClr val="1B1E24"/>
                    </a:solidFill>
                  </a:tcPr>
                </a:tc>
                <a:tc>
                  <a:txBody>
                    <a:bodyPr/>
                    <a:lstStyle/>
                    <a:p>
                      <a:r>
                        <a:rPr lang="en-US" sz="1400" b="0">
                          <a:solidFill>
                            <a:srgbClr val="B4BCC6"/>
                          </a:solidFill>
                        </a:rPr>
                        <a:t>secret_key differs from the backup</a:t>
                      </a:r>
                    </a:p>
                  </a:txBody>
                  <a:tcPr anchor="ctr">
                    <a:solidFill>
                      <a:srgbClr val="1B1E24"/>
                    </a:solidFill>
                  </a:tcPr>
                </a:tc>
                <a:tc>
                  <a:txBody>
                    <a:bodyPr/>
                    <a:lstStyle/>
                    <a:p>
                      <a:r>
                        <a:rPr lang="en-US" sz="1400" b="0">
                          <a:solidFill>
                            <a:srgbClr val="B4BCC6"/>
                          </a:solidFill>
                        </a:rPr>
                        <a:t>re-enter the credential</a:t>
                      </a:r>
                    </a:p>
                  </a:txBody>
                  <a:tcPr anchor="ctr">
                    <a:solidFill>
                      <a:srgbClr val="1B1E24"/>
                    </a:solidFill>
                  </a:tcPr>
                </a:tc>
                <a:extLst>
                  <a:ext uri="{0D108BD9-81ED-4DB2-BD59-A6C34878D82A}">
                    <a16:rowId xmlns:a16="http://schemas.microsoft.com/office/drawing/2014/main" val="1662243174"/>
                  </a:ext>
                </a:extLst>
              </a:tr>
            </a:tbl>
          </a:graphicData>
        </a:graphic>
      </p:graphicFrame>
      <p:sp>
        <p:nvSpPr>
          <p:cNvPr id="7" name="Rectangle: Rounded Corners 6">
            <a:extLst>
              <a:ext uri="{FF2B5EF4-FFF2-40B4-BE49-F238E27FC236}">
                <a16:creationId xmlns:a16="http://schemas.microsoft.com/office/drawing/2014/main" id="{241E11CC-43B7-433C-9F14-2FEB336EAE27}"/>
              </a:ext>
            </a:extLst>
          </p:cNvPr>
          <p:cNvSpPr/>
          <p:nvPr/>
        </p:nvSpPr>
        <p:spPr>
          <a:xfrm>
            <a:off x="762000" y="4521200"/>
            <a:ext cx="5461000" cy="17018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FC15FDDC-C236-44FE-8148-58EDDB6E1D88}"/>
              </a:ext>
            </a:extLst>
          </p:cNvPr>
          <p:cNvSpPr txBox="1"/>
          <p:nvPr/>
        </p:nvSpPr>
        <p:spPr>
          <a:xfrm>
            <a:off x="990600" y="4648200"/>
            <a:ext cx="48260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The first four commands, every time</a:t>
            </a:r>
          </a:p>
        </p:txBody>
      </p:sp>
      <p:sp>
        <p:nvSpPr>
          <p:cNvPr id="9" name="TextBox 8">
            <a:extLst>
              <a:ext uri="{FF2B5EF4-FFF2-40B4-BE49-F238E27FC236}">
                <a16:creationId xmlns:a16="http://schemas.microsoft.com/office/drawing/2014/main" id="{28AFCA24-FE3C-477F-8EDC-501954153A58}"/>
              </a:ext>
            </a:extLst>
          </p:cNvPr>
          <p:cNvSpPr txBox="1"/>
          <p:nvPr/>
        </p:nvSpPr>
        <p:spPr>
          <a:xfrm>
            <a:off x="990600" y="4978400"/>
            <a:ext cx="5080000" cy="1117600"/>
          </a:xfrm>
          <a:prstGeom prst="rect">
            <a:avLst/>
          </a:prstGeom>
          <a:noFill/>
        </p:spPr>
        <p:txBody>
          <a:bodyPr vertOverflow="overflow" vert="horz" wrap="none" rtlCol="0" anchor="t">
            <a:noAutofit/>
          </a:bodyPr>
          <a:lstStyle/>
          <a:p>
            <a:pPr algn="l"/>
            <a:r>
              <a:rPr lang="en-US" sz="1400">
                <a:solidFill>
                  <a:srgbClr val="C8CDD4"/>
                </a:solidFill>
                <a:latin typeface="Consolas"/>
              </a:rPr>
              <a:t>journalctl -u grafana-server -f
tail -f /var/log/grafana/grafana.log | jq .
curl -s localhost:3000/api/health | jq .
grep -ri provision /var/log/grafana/</a:t>
            </a:r>
          </a:p>
        </p:txBody>
      </p:sp>
      <p:sp>
        <p:nvSpPr>
          <p:cNvPr id="10" name="Rectangle: Rounded Corners 9">
            <a:extLst>
              <a:ext uri="{FF2B5EF4-FFF2-40B4-BE49-F238E27FC236}">
                <a16:creationId xmlns:a16="http://schemas.microsoft.com/office/drawing/2014/main" id="{95B806C2-88BC-454A-8B57-4C3F1E12CC69}"/>
              </a:ext>
            </a:extLst>
          </p:cNvPr>
          <p:cNvSpPr/>
          <p:nvPr/>
        </p:nvSpPr>
        <p:spPr>
          <a:xfrm>
            <a:off x="6477000" y="4521200"/>
            <a:ext cx="4953000" cy="1701800"/>
          </a:xfrm>
          <a:prstGeom prst="roundRect">
            <a:avLst/>
          </a:prstGeom>
          <a:solidFill>
            <a:srgbClr val="1B1E24"/>
          </a:solidFill>
          <a:ln w="15875" cap="flat" cmpd="sng" algn="ctr">
            <a:solidFill>
              <a:srgbClr val="FADE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0210FB98-2DB7-4A28-93C8-FC47315327C7}"/>
              </a:ext>
            </a:extLst>
          </p:cNvPr>
          <p:cNvSpPr txBox="1"/>
          <p:nvPr/>
        </p:nvSpPr>
        <p:spPr>
          <a:xfrm>
            <a:off x="6705600" y="4648200"/>
            <a:ext cx="4318000" cy="279400"/>
          </a:xfrm>
          <a:prstGeom prst="rect">
            <a:avLst/>
          </a:prstGeom>
          <a:noFill/>
        </p:spPr>
        <p:txBody>
          <a:bodyPr vertOverflow="overflow" vert="horz" wrap="square" rtlCol="0" anchor="t">
            <a:noAutofit/>
          </a:bodyPr>
          <a:lstStyle/>
          <a:p>
            <a:pPr algn="l"/>
            <a:r>
              <a:rPr lang="en-US" sz="1600" b="1">
                <a:solidFill>
                  <a:srgbClr val="FADE2A"/>
                </a:solidFill>
                <a:latin typeface="Segoe UI"/>
                <a:cs typeface="Segoe UI"/>
              </a:rPr>
              <a:t>When it is not Grafana</a:t>
            </a:r>
          </a:p>
        </p:txBody>
      </p:sp>
      <p:sp>
        <p:nvSpPr>
          <p:cNvPr id="12" name="TextBox 11">
            <a:extLst>
              <a:ext uri="{FF2B5EF4-FFF2-40B4-BE49-F238E27FC236}">
                <a16:creationId xmlns:a16="http://schemas.microsoft.com/office/drawing/2014/main" id="{3B16DCFB-A8AD-437E-AA53-712A2EADFA70}"/>
              </a:ext>
            </a:extLst>
          </p:cNvPr>
          <p:cNvSpPr txBox="1"/>
          <p:nvPr/>
        </p:nvSpPr>
        <p:spPr>
          <a:xfrm>
            <a:off x="6705600" y="4978400"/>
            <a:ext cx="4495800" cy="11430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Query the data source directly before blaming the dashboard. Then check the proxy access log, the browser console, and clock skew between nodes - a two-minute offset makes perfectly good panels look empty.</a:t>
            </a:r>
          </a:p>
        </p:txBody>
      </p:sp>
    </p:spTree>
    <p:extLst>
      <p:ext uri="{BB962C8B-B14F-4D97-AF65-F5344CB8AC3E}">
        <p14:creationId xmlns:p14="http://schemas.microsoft.com/office/powerpoint/2010/main" val="35456801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88BD93-7E50-45E3-9629-FEE4F44B29AE}"/>
              </a:ext>
            </a:extLst>
          </p:cNvPr>
          <p:cNvSpPr/>
          <p:nvPr/>
        </p:nvSpPr>
        <p:spPr>
          <a:xfrm>
            <a:off x="0" y="0"/>
            <a:ext cx="101600" cy="68580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Rounded Corners 2">
            <a:extLst>
              <a:ext uri="{FF2B5EF4-FFF2-40B4-BE49-F238E27FC236}">
                <a16:creationId xmlns:a16="http://schemas.microsoft.com/office/drawing/2014/main" id="{F3EA55F5-B5DE-4C5C-8B28-9ADC741D8245}"/>
              </a:ext>
            </a:extLst>
          </p:cNvPr>
          <p:cNvSpPr/>
          <p:nvPr/>
        </p:nvSpPr>
        <p:spPr>
          <a:xfrm>
            <a:off x="762000" y="406400"/>
            <a:ext cx="1219200" cy="533400"/>
          </a:xfrm>
          <a:prstGeom prst="round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111217"/>
                </a:solidFill>
                <a:latin typeface="Segoe UI"/>
                <a:cs typeface="Segoe UI"/>
              </a:rPr>
              <a:t>LAB 4</a:t>
            </a:r>
          </a:p>
        </p:txBody>
      </p:sp>
      <p:sp>
        <p:nvSpPr>
          <p:cNvPr id="4" name="TextBox 3">
            <a:extLst>
              <a:ext uri="{FF2B5EF4-FFF2-40B4-BE49-F238E27FC236}">
                <a16:creationId xmlns:a16="http://schemas.microsoft.com/office/drawing/2014/main" id="{2E82FDF7-AAA9-4617-80F2-23A7E8017776}"/>
              </a:ext>
            </a:extLst>
          </p:cNvPr>
          <p:cNvSpPr txBox="1"/>
          <p:nvPr/>
        </p:nvSpPr>
        <p:spPr>
          <a:xfrm>
            <a:off x="2159000" y="457200"/>
            <a:ext cx="7620000" cy="457200"/>
          </a:xfrm>
          <a:prstGeom prst="rect">
            <a:avLst/>
          </a:prstGeom>
          <a:noFill/>
        </p:spPr>
        <p:txBody>
          <a:bodyPr vertOverflow="overflow" vert="horz" wrap="square" rtlCol="0" anchor="t">
            <a:noAutofit/>
          </a:bodyPr>
          <a:lstStyle/>
          <a:p>
            <a:pPr algn="l"/>
            <a:r>
              <a:rPr lang="en-US" sz="2800" b="1">
                <a:solidFill>
                  <a:srgbClr val="FFFFFF"/>
                </a:solidFill>
                <a:latin typeface="Segoe UI"/>
                <a:cs typeface="Segoe UI"/>
              </a:rPr>
              <a:t>Harden It, Break It, Restore It</a:t>
            </a:r>
          </a:p>
        </p:txBody>
      </p:sp>
      <p:sp>
        <p:nvSpPr>
          <p:cNvPr id="5" name="TextBox 4">
            <a:extLst>
              <a:ext uri="{FF2B5EF4-FFF2-40B4-BE49-F238E27FC236}">
                <a16:creationId xmlns:a16="http://schemas.microsoft.com/office/drawing/2014/main" id="{3B923D33-C404-4E40-96CD-7017C6628CBB}"/>
              </a:ext>
            </a:extLst>
          </p:cNvPr>
          <p:cNvSpPr txBox="1"/>
          <p:nvPr/>
        </p:nvSpPr>
        <p:spPr>
          <a:xfrm>
            <a:off x="2159000" y="863600"/>
            <a:ext cx="8890000" cy="2540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25 minutes  ·  pairs  ·  TLS in front, metrics on, and a restore you have actually performed</a:t>
            </a:r>
          </a:p>
        </p:txBody>
      </p:sp>
      <p:sp>
        <p:nvSpPr>
          <p:cNvPr id="6" name="Rectangle: Rounded Corners 5">
            <a:extLst>
              <a:ext uri="{FF2B5EF4-FFF2-40B4-BE49-F238E27FC236}">
                <a16:creationId xmlns:a16="http://schemas.microsoft.com/office/drawing/2014/main" id="{E7F8BAB7-D83A-4B2C-B9A5-F06FE5C705FC}"/>
              </a:ext>
            </a:extLst>
          </p:cNvPr>
          <p:cNvSpPr/>
          <p:nvPr/>
        </p:nvSpPr>
        <p:spPr>
          <a:xfrm>
            <a:off x="762000" y="1422400"/>
            <a:ext cx="6604000" cy="41402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0E932BDE-AB2D-4C90-A196-D2F843D2DA65}"/>
              </a:ext>
            </a:extLst>
          </p:cNvPr>
          <p:cNvSpPr txBox="1"/>
          <p:nvPr/>
        </p:nvSpPr>
        <p:spPr>
          <a:xfrm>
            <a:off x="990600" y="1574800"/>
            <a:ext cx="3810000" cy="279400"/>
          </a:xfrm>
          <a:prstGeom prst="rect">
            <a:avLst/>
          </a:prstGeom>
          <a:noFill/>
        </p:spPr>
        <p:txBody>
          <a:bodyPr vertOverflow="overflow" vert="horz" wrap="square" rtlCol="0" anchor="t">
            <a:noAutofit/>
          </a:bodyPr>
          <a:lstStyle/>
          <a:p>
            <a:pPr algn="l"/>
            <a:r>
              <a:rPr lang="en-US" sz="1700" b="1">
                <a:solidFill>
                  <a:srgbClr val="B877D9"/>
                </a:solidFill>
                <a:latin typeface="Segoe UI"/>
                <a:cs typeface="Segoe UI"/>
              </a:rPr>
              <a:t>Steps</a:t>
            </a:r>
          </a:p>
        </p:txBody>
      </p:sp>
      <p:sp>
        <p:nvSpPr>
          <p:cNvPr id="8" name="Oval 7">
            <a:extLst>
              <a:ext uri="{FF2B5EF4-FFF2-40B4-BE49-F238E27FC236}">
                <a16:creationId xmlns:a16="http://schemas.microsoft.com/office/drawing/2014/main" id="{5AA119B0-E29F-4359-8301-E59E72FB73AA}"/>
              </a:ext>
            </a:extLst>
          </p:cNvPr>
          <p:cNvSpPr/>
          <p:nvPr/>
        </p:nvSpPr>
        <p:spPr>
          <a:xfrm>
            <a:off x="990600" y="1930400"/>
            <a:ext cx="304800" cy="304800"/>
          </a:xfrm>
          <a:prstGeom prst="ellipse">
            <a:avLst/>
          </a:prstGeom>
          <a:solidFill>
            <a:srgbClr val="1A12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77D9"/>
                </a:solidFill>
                <a:latin typeface="Segoe UI"/>
                <a:cs typeface="Segoe UI"/>
              </a:rPr>
              <a:t>1</a:t>
            </a:r>
          </a:p>
        </p:txBody>
      </p:sp>
      <p:sp>
        <p:nvSpPr>
          <p:cNvPr id="9" name="TextBox 8">
            <a:extLst>
              <a:ext uri="{FF2B5EF4-FFF2-40B4-BE49-F238E27FC236}">
                <a16:creationId xmlns:a16="http://schemas.microsoft.com/office/drawing/2014/main" id="{C75EED9A-DE0D-473A-807E-2A9B64F4ED67}"/>
              </a:ext>
            </a:extLst>
          </p:cNvPr>
          <p:cNvSpPr txBox="1"/>
          <p:nvPr/>
        </p:nvSpPr>
        <p:spPr>
          <a:xfrm>
            <a:off x="1422400" y="19431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Put Nginx in front of Grafana with a self-signed certificate. Set root_url and cookie_secure, reload, and open the UI over HTTPS.</a:t>
            </a:r>
          </a:p>
        </p:txBody>
      </p:sp>
      <p:sp>
        <p:nvSpPr>
          <p:cNvPr id="10" name="Oval 9">
            <a:extLst>
              <a:ext uri="{FF2B5EF4-FFF2-40B4-BE49-F238E27FC236}">
                <a16:creationId xmlns:a16="http://schemas.microsoft.com/office/drawing/2014/main" id="{960450BF-E6B0-440D-A583-CF22007190EC}"/>
              </a:ext>
            </a:extLst>
          </p:cNvPr>
          <p:cNvSpPr/>
          <p:nvPr/>
        </p:nvSpPr>
        <p:spPr>
          <a:xfrm>
            <a:off x="990600" y="2514600"/>
            <a:ext cx="304800" cy="304800"/>
          </a:xfrm>
          <a:prstGeom prst="ellipse">
            <a:avLst/>
          </a:prstGeom>
          <a:solidFill>
            <a:srgbClr val="1A12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77D9"/>
                </a:solidFill>
                <a:latin typeface="Segoe UI"/>
                <a:cs typeface="Segoe UI"/>
              </a:rPr>
              <a:t>2</a:t>
            </a:r>
          </a:p>
        </p:txBody>
      </p:sp>
      <p:sp>
        <p:nvSpPr>
          <p:cNvPr id="11" name="TextBox 10">
            <a:extLst>
              <a:ext uri="{FF2B5EF4-FFF2-40B4-BE49-F238E27FC236}">
                <a16:creationId xmlns:a16="http://schemas.microsoft.com/office/drawing/2014/main" id="{0ECCC800-2DF1-449A-9F5B-9498F5CE0CE5}"/>
              </a:ext>
            </a:extLst>
          </p:cNvPr>
          <p:cNvSpPr txBox="1"/>
          <p:nvPr/>
        </p:nvSpPr>
        <p:spPr>
          <a:xfrm>
            <a:off x="1422400" y="25273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Prove the headers work: log out and back in, then check that a share link uses the HTTPS hostname.</a:t>
            </a:r>
          </a:p>
        </p:txBody>
      </p:sp>
      <p:sp>
        <p:nvSpPr>
          <p:cNvPr id="12" name="Oval 11">
            <a:extLst>
              <a:ext uri="{FF2B5EF4-FFF2-40B4-BE49-F238E27FC236}">
                <a16:creationId xmlns:a16="http://schemas.microsoft.com/office/drawing/2014/main" id="{0156DF70-21FD-4C28-833F-337FD9C926D8}"/>
              </a:ext>
            </a:extLst>
          </p:cNvPr>
          <p:cNvSpPr/>
          <p:nvPr/>
        </p:nvSpPr>
        <p:spPr>
          <a:xfrm>
            <a:off x="990600" y="3098800"/>
            <a:ext cx="304800" cy="304800"/>
          </a:xfrm>
          <a:prstGeom prst="ellipse">
            <a:avLst/>
          </a:prstGeom>
          <a:solidFill>
            <a:srgbClr val="1A12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77D9"/>
                </a:solidFill>
                <a:latin typeface="Segoe UI"/>
                <a:cs typeface="Segoe UI"/>
              </a:rPr>
              <a:t>3</a:t>
            </a:r>
          </a:p>
        </p:txBody>
      </p:sp>
      <p:sp>
        <p:nvSpPr>
          <p:cNvPr id="13" name="TextBox 12">
            <a:extLst>
              <a:ext uri="{FF2B5EF4-FFF2-40B4-BE49-F238E27FC236}">
                <a16:creationId xmlns:a16="http://schemas.microsoft.com/office/drawing/2014/main" id="{8049AF96-3976-408D-BB8C-4971DF0C77BC}"/>
              </a:ext>
            </a:extLst>
          </p:cNvPr>
          <p:cNvSpPr txBox="1"/>
          <p:nvPr/>
        </p:nvSpPr>
        <p:spPr>
          <a:xfrm>
            <a:off x="1422400" y="31115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Enable [metrics], scrape /metrics from Prometheus, and import the Grafana self-monitoring dashboard.</a:t>
            </a:r>
          </a:p>
        </p:txBody>
      </p:sp>
      <p:sp>
        <p:nvSpPr>
          <p:cNvPr id="14" name="Oval 13">
            <a:extLst>
              <a:ext uri="{FF2B5EF4-FFF2-40B4-BE49-F238E27FC236}">
                <a16:creationId xmlns:a16="http://schemas.microsoft.com/office/drawing/2014/main" id="{72CC5927-5E72-4212-9D9C-63CFA6D06138}"/>
              </a:ext>
            </a:extLst>
          </p:cNvPr>
          <p:cNvSpPr/>
          <p:nvPr/>
        </p:nvSpPr>
        <p:spPr>
          <a:xfrm>
            <a:off x="990600" y="3683000"/>
            <a:ext cx="304800" cy="304800"/>
          </a:xfrm>
          <a:prstGeom prst="ellipse">
            <a:avLst/>
          </a:prstGeom>
          <a:solidFill>
            <a:srgbClr val="1A12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77D9"/>
                </a:solidFill>
                <a:latin typeface="Segoe UI"/>
                <a:cs typeface="Segoe UI"/>
              </a:rPr>
              <a:t>4</a:t>
            </a:r>
          </a:p>
        </p:txBody>
      </p:sp>
      <p:sp>
        <p:nvSpPr>
          <p:cNvPr id="15" name="TextBox 14">
            <a:extLst>
              <a:ext uri="{FF2B5EF4-FFF2-40B4-BE49-F238E27FC236}">
                <a16:creationId xmlns:a16="http://schemas.microsoft.com/office/drawing/2014/main" id="{3024D324-D49A-4667-99FB-727FA8E4132A}"/>
              </a:ext>
            </a:extLst>
          </p:cNvPr>
          <p:cNvSpPr txBox="1"/>
          <p:nvPr/>
        </p:nvSpPr>
        <p:spPr>
          <a:xfrm>
            <a:off x="1422400" y="3695700"/>
            <a:ext cx="5715000" cy="558800"/>
          </a:xfrm>
          <a:prstGeom prst="rect">
            <a:avLst/>
          </a:prstGeom>
          <a:noFill/>
        </p:spPr>
        <p:txBody>
          <a:bodyPr vertOverflow="overflow" vert="horz" wrap="square" rtlCol="0" anchor="t">
            <a:noAutofit/>
          </a:bodyPr>
          <a:lstStyle/>
          <a:p>
            <a:pPr algn="l"/>
            <a:r>
              <a:rPr lang="en-US" sz="1500" dirty="0">
                <a:solidFill>
                  <a:srgbClr val="D2D6DB"/>
                </a:solidFill>
                <a:latin typeface="Segoe UI"/>
                <a:cs typeface="Segoe UI"/>
              </a:rPr>
              <a:t>Take a full backup - database, /</a:t>
            </a:r>
            <a:r>
              <a:rPr lang="en-US" sz="1500" dirty="0" err="1">
                <a:solidFill>
                  <a:srgbClr val="D2D6DB"/>
                </a:solidFill>
                <a:latin typeface="Segoe UI"/>
                <a:cs typeface="Segoe UI"/>
              </a:rPr>
              <a:t>etc</a:t>
            </a:r>
            <a:r>
              <a:rPr lang="en-US" sz="1500" dirty="0">
                <a:solidFill>
                  <a:srgbClr val="D2D6DB"/>
                </a:solidFill>
                <a:latin typeface="Segoe UI"/>
                <a:cs typeface="Segoe UI"/>
              </a:rPr>
              <a:t>/</a:t>
            </a:r>
            <a:r>
              <a:rPr lang="en-US" sz="1500" dirty="0" err="1">
                <a:solidFill>
                  <a:srgbClr val="D2D6DB"/>
                </a:solidFill>
                <a:latin typeface="Segoe UI"/>
                <a:cs typeface="Segoe UI"/>
              </a:rPr>
              <a:t>grafana</a:t>
            </a:r>
            <a:r>
              <a:rPr lang="en-US" sz="1500" dirty="0">
                <a:solidFill>
                  <a:srgbClr val="D2D6DB"/>
                </a:solidFill>
                <a:latin typeface="Segoe UI"/>
                <a:cs typeface="Segoe UI"/>
              </a:rPr>
              <a:t>, the provisioning tree, and the secret key.</a:t>
            </a:r>
          </a:p>
        </p:txBody>
      </p:sp>
      <p:sp>
        <p:nvSpPr>
          <p:cNvPr id="16" name="Oval 15">
            <a:extLst>
              <a:ext uri="{FF2B5EF4-FFF2-40B4-BE49-F238E27FC236}">
                <a16:creationId xmlns:a16="http://schemas.microsoft.com/office/drawing/2014/main" id="{DE50052F-5D7B-4C3D-8DD6-BE737579D0EF}"/>
              </a:ext>
            </a:extLst>
          </p:cNvPr>
          <p:cNvSpPr/>
          <p:nvPr/>
        </p:nvSpPr>
        <p:spPr>
          <a:xfrm>
            <a:off x="990600" y="4267200"/>
            <a:ext cx="304800" cy="304800"/>
          </a:xfrm>
          <a:prstGeom prst="ellipse">
            <a:avLst/>
          </a:prstGeom>
          <a:solidFill>
            <a:srgbClr val="1A12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77D9"/>
                </a:solidFill>
                <a:latin typeface="Segoe UI"/>
                <a:cs typeface="Segoe UI"/>
              </a:rPr>
              <a:t>5</a:t>
            </a:r>
          </a:p>
        </p:txBody>
      </p:sp>
      <p:sp>
        <p:nvSpPr>
          <p:cNvPr id="17" name="TextBox 16">
            <a:extLst>
              <a:ext uri="{FF2B5EF4-FFF2-40B4-BE49-F238E27FC236}">
                <a16:creationId xmlns:a16="http://schemas.microsoft.com/office/drawing/2014/main" id="{118DF863-2C01-4289-837B-54569A95399B}"/>
              </a:ext>
            </a:extLst>
          </p:cNvPr>
          <p:cNvSpPr txBox="1"/>
          <p:nvPr/>
        </p:nvSpPr>
        <p:spPr>
          <a:xfrm>
            <a:off x="1422400" y="42799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Break it deliberately: delete a dashboard, then stop the service.</a:t>
            </a:r>
          </a:p>
        </p:txBody>
      </p:sp>
      <p:sp>
        <p:nvSpPr>
          <p:cNvPr id="18" name="Oval 17">
            <a:extLst>
              <a:ext uri="{FF2B5EF4-FFF2-40B4-BE49-F238E27FC236}">
                <a16:creationId xmlns:a16="http://schemas.microsoft.com/office/drawing/2014/main" id="{3C70E3B3-298E-4A12-8EBF-6A1962E5D902}"/>
              </a:ext>
            </a:extLst>
          </p:cNvPr>
          <p:cNvSpPr/>
          <p:nvPr/>
        </p:nvSpPr>
        <p:spPr>
          <a:xfrm>
            <a:off x="990600" y="4851400"/>
            <a:ext cx="304800" cy="304800"/>
          </a:xfrm>
          <a:prstGeom prst="ellipse">
            <a:avLst/>
          </a:prstGeom>
          <a:solidFill>
            <a:srgbClr val="1A12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77D9"/>
                </a:solidFill>
                <a:latin typeface="Segoe UI"/>
                <a:cs typeface="Segoe UI"/>
              </a:rPr>
              <a:t>6</a:t>
            </a:r>
          </a:p>
        </p:txBody>
      </p:sp>
      <p:sp>
        <p:nvSpPr>
          <p:cNvPr id="19" name="TextBox 18">
            <a:extLst>
              <a:ext uri="{FF2B5EF4-FFF2-40B4-BE49-F238E27FC236}">
                <a16:creationId xmlns:a16="http://schemas.microsoft.com/office/drawing/2014/main" id="{71783F23-2883-4558-B887-EEA064EEE038}"/>
              </a:ext>
            </a:extLst>
          </p:cNvPr>
          <p:cNvSpPr txBox="1"/>
          <p:nvPr/>
        </p:nvSpPr>
        <p:spPr>
          <a:xfrm>
            <a:off x="1422400" y="4864100"/>
            <a:ext cx="5715000" cy="558800"/>
          </a:xfrm>
          <a:prstGeom prst="rect">
            <a:avLst/>
          </a:prstGeom>
          <a:noFill/>
        </p:spPr>
        <p:txBody>
          <a:bodyPr vertOverflow="overflow" vert="horz" wrap="square" rtlCol="0" anchor="t">
            <a:noAutofit/>
          </a:bodyPr>
          <a:lstStyle/>
          <a:p>
            <a:pPr algn="l"/>
            <a:r>
              <a:rPr lang="en-US" sz="1500">
                <a:solidFill>
                  <a:srgbClr val="D2D6DB"/>
                </a:solidFill>
                <a:latin typeface="Segoe UI"/>
                <a:cs typeface="Segoe UI"/>
              </a:rPr>
              <a:t>Restore from your own backup, log in, open that dashboard, and write down how many minutes it took.</a:t>
            </a:r>
          </a:p>
        </p:txBody>
      </p:sp>
      <p:sp>
        <p:nvSpPr>
          <p:cNvPr id="20" name="Rectangle: Rounded Corners 19">
            <a:extLst>
              <a:ext uri="{FF2B5EF4-FFF2-40B4-BE49-F238E27FC236}">
                <a16:creationId xmlns:a16="http://schemas.microsoft.com/office/drawing/2014/main" id="{984A028E-1AA5-4701-8752-082B10E0FA73}"/>
              </a:ext>
            </a:extLst>
          </p:cNvPr>
          <p:cNvSpPr/>
          <p:nvPr/>
        </p:nvSpPr>
        <p:spPr>
          <a:xfrm>
            <a:off x="7620000" y="1422400"/>
            <a:ext cx="3810000" cy="12954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819A5D6E-D5B2-49B2-87BA-54D689AB83C3}"/>
              </a:ext>
            </a:extLst>
          </p:cNvPr>
          <p:cNvSpPr txBox="1"/>
          <p:nvPr/>
        </p:nvSpPr>
        <p:spPr>
          <a:xfrm>
            <a:off x="7848600" y="1549400"/>
            <a:ext cx="33528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Why this matters</a:t>
            </a:r>
          </a:p>
        </p:txBody>
      </p:sp>
      <p:sp>
        <p:nvSpPr>
          <p:cNvPr id="22" name="TextBox 21">
            <a:extLst>
              <a:ext uri="{FF2B5EF4-FFF2-40B4-BE49-F238E27FC236}">
                <a16:creationId xmlns:a16="http://schemas.microsoft.com/office/drawing/2014/main" id="{B99F66D2-672F-4F50-B52C-9F0C89EC9DAE}"/>
              </a:ext>
            </a:extLst>
          </p:cNvPr>
          <p:cNvSpPr txBox="1"/>
          <p:nvPr/>
        </p:nvSpPr>
        <p:spPr>
          <a:xfrm>
            <a:off x="7848600" y="1828800"/>
            <a:ext cx="3378200" cy="812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Every production incident you will have with Grafana lives in this lab: certificates, headers, backups, and the clock.</a:t>
            </a:r>
          </a:p>
        </p:txBody>
      </p:sp>
      <p:sp>
        <p:nvSpPr>
          <p:cNvPr id="23" name="Rectangle: Rounded Corners 22">
            <a:extLst>
              <a:ext uri="{FF2B5EF4-FFF2-40B4-BE49-F238E27FC236}">
                <a16:creationId xmlns:a16="http://schemas.microsoft.com/office/drawing/2014/main" id="{8DB33503-426C-4FB7-8D18-BA04DD43FCF3}"/>
              </a:ext>
            </a:extLst>
          </p:cNvPr>
          <p:cNvSpPr/>
          <p:nvPr/>
        </p:nvSpPr>
        <p:spPr>
          <a:xfrm>
            <a:off x="7620000" y="2895600"/>
            <a:ext cx="3810000" cy="1295400"/>
          </a:xfrm>
          <a:prstGeom prst="roundRect">
            <a:avLst/>
          </a:prstGeom>
          <a:solidFill>
            <a:srgbClr val="1A1222"/>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810421A3-24D8-4B17-8F83-5755034EEF34}"/>
              </a:ext>
            </a:extLst>
          </p:cNvPr>
          <p:cNvSpPr txBox="1"/>
          <p:nvPr/>
        </p:nvSpPr>
        <p:spPr>
          <a:xfrm>
            <a:off x="7848600" y="3022600"/>
            <a:ext cx="3352800" cy="254000"/>
          </a:xfrm>
          <a:prstGeom prst="rect">
            <a:avLst/>
          </a:prstGeom>
          <a:noFill/>
        </p:spPr>
        <p:txBody>
          <a:bodyPr vertOverflow="overflow" vert="horz" wrap="square" rtlCol="0" anchor="t">
            <a:noAutofit/>
          </a:bodyPr>
          <a:lstStyle/>
          <a:p>
            <a:pPr algn="l"/>
            <a:r>
              <a:rPr lang="en-US" sz="1500" b="1">
                <a:solidFill>
                  <a:srgbClr val="B877D9"/>
                </a:solidFill>
                <a:latin typeface="Segoe UI"/>
                <a:cs typeface="Segoe UI"/>
              </a:rPr>
              <a:t>Done when</a:t>
            </a:r>
          </a:p>
        </p:txBody>
      </p:sp>
      <p:sp>
        <p:nvSpPr>
          <p:cNvPr id="25" name="TextBox 24">
            <a:extLst>
              <a:ext uri="{FF2B5EF4-FFF2-40B4-BE49-F238E27FC236}">
                <a16:creationId xmlns:a16="http://schemas.microsoft.com/office/drawing/2014/main" id="{3CA933DA-F1AC-4FCE-97E1-A63F4CD000EC}"/>
              </a:ext>
            </a:extLst>
          </p:cNvPr>
          <p:cNvSpPr txBox="1"/>
          <p:nvPr/>
        </p:nvSpPr>
        <p:spPr>
          <a:xfrm>
            <a:off x="7848600" y="3302000"/>
            <a:ext cx="3378200" cy="812800"/>
          </a:xfrm>
          <a:prstGeom prst="rect">
            <a:avLst/>
          </a:prstGeom>
          <a:noFill/>
        </p:spPr>
        <p:txBody>
          <a:bodyPr vertOverflow="overflow" vert="horz" wrap="square" rtlCol="0" anchor="t">
            <a:noAutofit/>
          </a:bodyPr>
          <a:lstStyle/>
          <a:p>
            <a:pPr algn="l"/>
            <a:r>
              <a:rPr lang="en-US" sz="1400">
                <a:solidFill>
                  <a:srgbClr val="DCC6EA"/>
                </a:solidFill>
                <a:latin typeface="Segoe UI"/>
                <a:cs typeface="Segoe UI"/>
              </a:rPr>
              <a:t>The UI answers on HTTPS, /metrics is being scraped, and the dashboard you deleted is back from your backup.</a:t>
            </a:r>
          </a:p>
        </p:txBody>
      </p:sp>
      <p:sp>
        <p:nvSpPr>
          <p:cNvPr id="26" name="Rectangle: Rounded Corners 25">
            <a:extLst>
              <a:ext uri="{FF2B5EF4-FFF2-40B4-BE49-F238E27FC236}">
                <a16:creationId xmlns:a16="http://schemas.microsoft.com/office/drawing/2014/main" id="{85FF1582-178A-4EC9-98A7-9D96F63C5D34}"/>
              </a:ext>
            </a:extLst>
          </p:cNvPr>
          <p:cNvSpPr/>
          <p:nvPr/>
        </p:nvSpPr>
        <p:spPr>
          <a:xfrm>
            <a:off x="7620000" y="4368800"/>
            <a:ext cx="3810000" cy="11938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AEE54D95-A698-412B-8247-8CE2075DD1DC}"/>
              </a:ext>
            </a:extLst>
          </p:cNvPr>
          <p:cNvSpPr txBox="1"/>
          <p:nvPr/>
        </p:nvSpPr>
        <p:spPr>
          <a:xfrm>
            <a:off x="7848600" y="4495800"/>
            <a:ext cx="33528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Stretch</a:t>
            </a:r>
          </a:p>
        </p:txBody>
      </p:sp>
      <p:sp>
        <p:nvSpPr>
          <p:cNvPr id="28" name="TextBox 27">
            <a:extLst>
              <a:ext uri="{FF2B5EF4-FFF2-40B4-BE49-F238E27FC236}">
                <a16:creationId xmlns:a16="http://schemas.microsoft.com/office/drawing/2014/main" id="{47742EF8-A700-406A-A9AE-7A76099E14B2}"/>
              </a:ext>
            </a:extLst>
          </p:cNvPr>
          <p:cNvSpPr txBox="1"/>
          <p:nvPr/>
        </p:nvSpPr>
        <p:spPr>
          <a:xfrm>
            <a:off x="7848600" y="4775200"/>
            <a:ext cx="3378200" cy="711200"/>
          </a:xfrm>
          <a:prstGeom prst="rect">
            <a:avLst/>
          </a:prstGeom>
          <a:noFill/>
        </p:spPr>
        <p:txBody>
          <a:bodyPr vertOverflow="overflow" vert="horz" wrap="square" rtlCol="0" anchor="t">
            <a:noAutofit/>
          </a:bodyPr>
          <a:lstStyle/>
          <a:p>
            <a:pPr algn="l"/>
            <a:r>
              <a:rPr lang="en-US" sz="1400">
                <a:solidFill>
                  <a:srgbClr val="C6E3C2"/>
                </a:solidFill>
                <a:latin typeface="Segoe UI"/>
                <a:cs typeface="Segoe UI"/>
              </a:rPr>
              <a:t>Start a second Grafana against a shared Postgres, put both behind Nginx, and set ha_peers.</a:t>
            </a:r>
          </a:p>
        </p:txBody>
      </p:sp>
      <p:sp>
        <p:nvSpPr>
          <p:cNvPr id="29" name="TextBox 28">
            <a:extLst>
              <a:ext uri="{FF2B5EF4-FFF2-40B4-BE49-F238E27FC236}">
                <a16:creationId xmlns:a16="http://schemas.microsoft.com/office/drawing/2014/main" id="{9E5EC4DC-E095-434F-9B19-1CED874E9DE7}"/>
              </a:ext>
            </a:extLst>
          </p:cNvPr>
          <p:cNvSpPr txBox="1"/>
          <p:nvPr/>
        </p:nvSpPr>
        <p:spPr>
          <a:xfrm>
            <a:off x="762000" y="5740400"/>
            <a:ext cx="10668000" cy="279400"/>
          </a:xfrm>
          <a:prstGeom prst="rect">
            <a:avLst/>
          </a:prstGeom>
          <a:noFill/>
        </p:spPr>
        <p:txBody>
          <a:bodyPr vertOverflow="overflow" vert="horz" wrap="none" rtlCol="0" anchor="t">
            <a:noAutofit/>
          </a:bodyPr>
          <a:lstStyle/>
          <a:p>
            <a:pPr algn="l"/>
            <a:r>
              <a:rPr lang="en-US" sz="1400">
                <a:solidFill>
                  <a:srgbClr val="8A929C"/>
                </a:solidFill>
                <a:latin typeface="Consolas"/>
              </a:rPr>
              <a:t>nginx -t  ·  systemctl reload nginx  ·  curl -k https://localhost/api/health  ·  ss -tlnp | grep 3000</a:t>
            </a:r>
          </a:p>
        </p:txBody>
      </p:sp>
    </p:spTree>
    <p:extLst>
      <p:ext uri="{BB962C8B-B14F-4D97-AF65-F5344CB8AC3E}">
        <p14:creationId xmlns:p14="http://schemas.microsoft.com/office/powerpoint/2010/main" val="40825124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1ABDB-F8D9-527C-E0EB-4BB009CF7340}"/>
              </a:ext>
            </a:extLst>
          </p:cNvPr>
          <p:cNvSpPr>
            <a:spLocks noGrp="1"/>
          </p:cNvSpPr>
          <p:nvPr>
            <p:ph type="title"/>
          </p:nvPr>
        </p:nvSpPr>
        <p:spPr>
          <a:xfrm>
            <a:off x="762000" y="406400"/>
            <a:ext cx="10668000" cy="533400"/>
          </a:xfrm>
        </p:spPr>
        <p:txBody>
          <a:bodyPr>
            <a:normAutofit/>
          </a:bodyPr>
          <a:lstStyle/>
          <a:p>
            <a:r>
              <a:rPr lang="en-US" sz="2800" b="1"/>
              <a:t>Capstone · Observability Stack as Code</a:t>
            </a:r>
          </a:p>
        </p:txBody>
      </p:sp>
      <p:sp>
        <p:nvSpPr>
          <p:cNvPr id="3" name="Rectangle 2">
            <a:extLst>
              <a:ext uri="{FF2B5EF4-FFF2-40B4-BE49-F238E27FC236}">
                <a16:creationId xmlns:a16="http://schemas.microsoft.com/office/drawing/2014/main" id="{875D6F9F-BC19-4EF8-B77F-5FF566AA5031}"/>
              </a:ext>
            </a:extLst>
          </p:cNvPr>
          <p:cNvSpPr/>
          <p:nvPr/>
        </p:nvSpPr>
        <p:spPr>
          <a:xfrm>
            <a:off x="762000" y="1016000"/>
            <a:ext cx="889000" cy="381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4C8E400C-3ABE-47A0-8D30-78CDB21537E4}"/>
              </a:ext>
            </a:extLst>
          </p:cNvPr>
          <p:cNvSpPr txBox="1"/>
          <p:nvPr/>
        </p:nvSpPr>
        <p:spPr>
          <a:xfrm>
            <a:off x="762000" y="1143000"/>
            <a:ext cx="10414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Acme Payments hands you an empty VM and a new service to observe. Everything you build has to live in git.</a:t>
            </a:r>
          </a:p>
        </p:txBody>
      </p:sp>
      <p:sp>
        <p:nvSpPr>
          <p:cNvPr id="5" name="Rectangle: Rounded Corners 4">
            <a:extLst>
              <a:ext uri="{FF2B5EF4-FFF2-40B4-BE49-F238E27FC236}">
                <a16:creationId xmlns:a16="http://schemas.microsoft.com/office/drawing/2014/main" id="{D09644BA-3086-48C3-BAD2-E73689905903}"/>
              </a:ext>
            </a:extLst>
          </p:cNvPr>
          <p:cNvSpPr/>
          <p:nvPr/>
        </p:nvSpPr>
        <p:spPr>
          <a:xfrm>
            <a:off x="762000" y="1498600"/>
            <a:ext cx="5969000" cy="4038600"/>
          </a:xfrm>
          <a:prstGeom prst="roundRect">
            <a:avLst/>
          </a:prstGeom>
          <a:solidFill>
            <a:srgbClr val="1B1E24"/>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1003613A-F08F-416C-B5AF-6401A9DA2F00}"/>
              </a:ext>
            </a:extLst>
          </p:cNvPr>
          <p:cNvSpPr txBox="1"/>
          <p:nvPr/>
        </p:nvSpPr>
        <p:spPr>
          <a:xfrm>
            <a:off x="990600" y="1651000"/>
            <a:ext cx="3810000" cy="279400"/>
          </a:xfrm>
          <a:prstGeom prst="rect">
            <a:avLst/>
          </a:prstGeom>
          <a:noFill/>
        </p:spPr>
        <p:txBody>
          <a:bodyPr vertOverflow="overflow" vert="horz" wrap="square" rtlCol="0" anchor="t">
            <a:noAutofit/>
          </a:bodyPr>
          <a:lstStyle/>
          <a:p>
            <a:pPr algn="l"/>
            <a:r>
              <a:rPr lang="en-US" sz="1700" b="1">
                <a:solidFill>
                  <a:srgbClr val="FF8800"/>
                </a:solidFill>
                <a:latin typeface="Segoe UI"/>
                <a:cs typeface="Segoe UI"/>
              </a:rPr>
              <a:t>The brief</a:t>
            </a:r>
          </a:p>
        </p:txBody>
      </p:sp>
      <p:sp>
        <p:nvSpPr>
          <p:cNvPr id="7" name="Oval 6">
            <a:extLst>
              <a:ext uri="{FF2B5EF4-FFF2-40B4-BE49-F238E27FC236}">
                <a16:creationId xmlns:a16="http://schemas.microsoft.com/office/drawing/2014/main" id="{B7A52522-2DA3-4245-8E34-1E8BA5B6DA60}"/>
              </a:ext>
            </a:extLst>
          </p:cNvPr>
          <p:cNvSpPr/>
          <p:nvPr/>
        </p:nvSpPr>
        <p:spPr>
          <a:xfrm>
            <a:off x="990600" y="2032000"/>
            <a:ext cx="279400" cy="279400"/>
          </a:xfrm>
          <a:prstGeom prst="ellipse">
            <a:avLst/>
          </a:prstGeom>
          <a:solidFill>
            <a:srgbClr val="2A1C0B"/>
          </a:solidFill>
          <a:ln w="12700"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8800"/>
                </a:solidFill>
                <a:latin typeface="Segoe UI"/>
                <a:cs typeface="Segoe UI"/>
              </a:rPr>
              <a:t>1</a:t>
            </a:r>
          </a:p>
        </p:txBody>
      </p:sp>
      <p:sp>
        <p:nvSpPr>
          <p:cNvPr id="8" name="TextBox 7">
            <a:extLst>
              <a:ext uri="{FF2B5EF4-FFF2-40B4-BE49-F238E27FC236}">
                <a16:creationId xmlns:a16="http://schemas.microsoft.com/office/drawing/2014/main" id="{E8EA99D3-C4CE-41BD-8424-BF1DFDC5059D}"/>
              </a:ext>
            </a:extLst>
          </p:cNvPr>
          <p:cNvSpPr txBox="1"/>
          <p:nvPr/>
        </p:nvSpPr>
        <p:spPr>
          <a:xfrm>
            <a:off x="1397000" y="2032000"/>
            <a:ext cx="5130800" cy="4826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Grafana behind Nginx with TLS and a root_url that matches the public name.</a:t>
            </a:r>
          </a:p>
        </p:txBody>
      </p:sp>
      <p:sp>
        <p:nvSpPr>
          <p:cNvPr id="9" name="Oval 8">
            <a:extLst>
              <a:ext uri="{FF2B5EF4-FFF2-40B4-BE49-F238E27FC236}">
                <a16:creationId xmlns:a16="http://schemas.microsoft.com/office/drawing/2014/main" id="{98ACDC8C-5077-4EA6-8336-7294DDE6F52C}"/>
              </a:ext>
            </a:extLst>
          </p:cNvPr>
          <p:cNvSpPr/>
          <p:nvPr/>
        </p:nvSpPr>
        <p:spPr>
          <a:xfrm>
            <a:off x="990600" y="2514600"/>
            <a:ext cx="279400" cy="279400"/>
          </a:xfrm>
          <a:prstGeom prst="ellipse">
            <a:avLst/>
          </a:prstGeom>
          <a:solidFill>
            <a:srgbClr val="2A1C0B"/>
          </a:solidFill>
          <a:ln w="12700"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8800"/>
                </a:solidFill>
                <a:latin typeface="Segoe UI"/>
                <a:cs typeface="Segoe UI"/>
              </a:rPr>
              <a:t>2</a:t>
            </a:r>
          </a:p>
        </p:txBody>
      </p:sp>
      <p:sp>
        <p:nvSpPr>
          <p:cNvPr id="10" name="TextBox 9">
            <a:extLst>
              <a:ext uri="{FF2B5EF4-FFF2-40B4-BE49-F238E27FC236}">
                <a16:creationId xmlns:a16="http://schemas.microsoft.com/office/drawing/2014/main" id="{E1F7BAE2-9588-4E6C-BC76-CC7E89F8507D}"/>
              </a:ext>
            </a:extLst>
          </p:cNvPr>
          <p:cNvSpPr txBox="1"/>
          <p:nvPr/>
        </p:nvSpPr>
        <p:spPr>
          <a:xfrm>
            <a:off x="1397000" y="2514600"/>
            <a:ext cx="5130800" cy="4826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Prometheus and Loki data sources provisioned from YAML, with fixed uids.</a:t>
            </a:r>
          </a:p>
        </p:txBody>
      </p:sp>
      <p:sp>
        <p:nvSpPr>
          <p:cNvPr id="11" name="Oval 10">
            <a:extLst>
              <a:ext uri="{FF2B5EF4-FFF2-40B4-BE49-F238E27FC236}">
                <a16:creationId xmlns:a16="http://schemas.microsoft.com/office/drawing/2014/main" id="{DF941F99-0FB8-459C-BEF7-0A10EC20251E}"/>
              </a:ext>
            </a:extLst>
          </p:cNvPr>
          <p:cNvSpPr/>
          <p:nvPr/>
        </p:nvSpPr>
        <p:spPr>
          <a:xfrm>
            <a:off x="990600" y="2997200"/>
            <a:ext cx="279400" cy="279400"/>
          </a:xfrm>
          <a:prstGeom prst="ellipse">
            <a:avLst/>
          </a:prstGeom>
          <a:solidFill>
            <a:srgbClr val="2A1C0B"/>
          </a:solidFill>
          <a:ln w="12700"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8800"/>
                </a:solidFill>
                <a:latin typeface="Segoe UI"/>
                <a:cs typeface="Segoe UI"/>
              </a:rPr>
              <a:t>3</a:t>
            </a:r>
          </a:p>
        </p:txBody>
      </p:sp>
      <p:sp>
        <p:nvSpPr>
          <p:cNvPr id="12" name="TextBox 11">
            <a:extLst>
              <a:ext uri="{FF2B5EF4-FFF2-40B4-BE49-F238E27FC236}">
                <a16:creationId xmlns:a16="http://schemas.microsoft.com/office/drawing/2014/main" id="{463C6EE7-AE13-4EED-895E-FB953EC7CEC8}"/>
              </a:ext>
            </a:extLst>
          </p:cNvPr>
          <p:cNvSpPr txBox="1"/>
          <p:nvPr/>
        </p:nvSpPr>
        <p:spPr>
          <a:xfrm>
            <a:off x="1397000" y="2997200"/>
            <a:ext cx="5130800" cy="4826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Folders Platform and Payments created by Terraform, plus a team with Editor on Payments.</a:t>
            </a:r>
          </a:p>
        </p:txBody>
      </p:sp>
      <p:sp>
        <p:nvSpPr>
          <p:cNvPr id="13" name="Oval 12">
            <a:extLst>
              <a:ext uri="{FF2B5EF4-FFF2-40B4-BE49-F238E27FC236}">
                <a16:creationId xmlns:a16="http://schemas.microsoft.com/office/drawing/2014/main" id="{0619BFE2-249E-4811-819D-061C58122DBA}"/>
              </a:ext>
            </a:extLst>
          </p:cNvPr>
          <p:cNvSpPr/>
          <p:nvPr/>
        </p:nvSpPr>
        <p:spPr>
          <a:xfrm>
            <a:off x="990600" y="3479800"/>
            <a:ext cx="279400" cy="279400"/>
          </a:xfrm>
          <a:prstGeom prst="ellipse">
            <a:avLst/>
          </a:prstGeom>
          <a:solidFill>
            <a:srgbClr val="2A1C0B"/>
          </a:solidFill>
          <a:ln w="12700"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8800"/>
                </a:solidFill>
                <a:latin typeface="Segoe UI"/>
                <a:cs typeface="Segoe UI"/>
              </a:rPr>
              <a:t>4</a:t>
            </a:r>
          </a:p>
        </p:txBody>
      </p:sp>
      <p:sp>
        <p:nvSpPr>
          <p:cNvPr id="14" name="TextBox 13">
            <a:extLst>
              <a:ext uri="{FF2B5EF4-FFF2-40B4-BE49-F238E27FC236}">
                <a16:creationId xmlns:a16="http://schemas.microsoft.com/office/drawing/2014/main" id="{D5836B03-EA05-4F46-8298-002D1E4159CD}"/>
              </a:ext>
            </a:extLst>
          </p:cNvPr>
          <p:cNvSpPr txBox="1"/>
          <p:nvPr/>
        </p:nvSpPr>
        <p:spPr>
          <a:xfrm>
            <a:off x="1397000" y="3479800"/>
            <a:ext cx="5130800" cy="4826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Three dashboards as code: service overview (rate, errors, duration), host health, and log errors.</a:t>
            </a:r>
          </a:p>
        </p:txBody>
      </p:sp>
      <p:sp>
        <p:nvSpPr>
          <p:cNvPr id="15" name="Oval 14">
            <a:extLst>
              <a:ext uri="{FF2B5EF4-FFF2-40B4-BE49-F238E27FC236}">
                <a16:creationId xmlns:a16="http://schemas.microsoft.com/office/drawing/2014/main" id="{414F8DB8-0B94-4B1A-877C-8F089D2DD1C2}"/>
              </a:ext>
            </a:extLst>
          </p:cNvPr>
          <p:cNvSpPr/>
          <p:nvPr/>
        </p:nvSpPr>
        <p:spPr>
          <a:xfrm>
            <a:off x="990600" y="3962400"/>
            <a:ext cx="279400" cy="279400"/>
          </a:xfrm>
          <a:prstGeom prst="ellipse">
            <a:avLst/>
          </a:prstGeom>
          <a:solidFill>
            <a:srgbClr val="2A1C0B"/>
          </a:solidFill>
          <a:ln w="12700"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8800"/>
                </a:solidFill>
                <a:latin typeface="Segoe UI"/>
                <a:cs typeface="Segoe UI"/>
              </a:rPr>
              <a:t>5</a:t>
            </a:r>
          </a:p>
        </p:txBody>
      </p:sp>
      <p:sp>
        <p:nvSpPr>
          <p:cNvPr id="16" name="TextBox 15">
            <a:extLst>
              <a:ext uri="{FF2B5EF4-FFF2-40B4-BE49-F238E27FC236}">
                <a16:creationId xmlns:a16="http://schemas.microsoft.com/office/drawing/2014/main" id="{EA0C74DD-98B7-44BC-930F-B4AC01B2EFBC}"/>
              </a:ext>
            </a:extLst>
          </p:cNvPr>
          <p:cNvSpPr txBox="1"/>
          <p:nvPr/>
        </p:nvSpPr>
        <p:spPr>
          <a:xfrm>
            <a:off x="1397000" y="3962400"/>
            <a:ext cx="5130800" cy="482600"/>
          </a:xfrm>
          <a:prstGeom prst="rect">
            <a:avLst/>
          </a:prstGeom>
          <a:noFill/>
        </p:spPr>
        <p:txBody>
          <a:bodyPr vertOverflow="overflow" vert="horz" wrap="square" rtlCol="0" anchor="t">
            <a:noAutofit/>
          </a:bodyPr>
          <a:lstStyle/>
          <a:p>
            <a:pPr algn="l"/>
            <a:r>
              <a:rPr lang="en-US" sz="1400" dirty="0">
                <a:solidFill>
                  <a:srgbClr val="D2D6DB"/>
                </a:solidFill>
                <a:latin typeface="Segoe UI"/>
                <a:cs typeface="Segoe UI"/>
              </a:rPr>
              <a:t>One alert rule as code - p95 latency above 500 </a:t>
            </a:r>
            <a:r>
              <a:rPr lang="en-US" sz="1400" dirty="0" err="1">
                <a:solidFill>
                  <a:srgbClr val="D2D6DB"/>
                </a:solidFill>
                <a:latin typeface="Segoe UI"/>
                <a:cs typeface="Segoe UI"/>
              </a:rPr>
              <a:t>ms</a:t>
            </a:r>
            <a:r>
              <a:rPr lang="en-US" sz="1400" dirty="0">
                <a:solidFill>
                  <a:srgbClr val="D2D6DB"/>
                </a:solidFill>
                <a:latin typeface="Segoe UI"/>
                <a:cs typeface="Segoe UI"/>
              </a:rPr>
              <a:t> for five minutes - with a contact point.</a:t>
            </a:r>
          </a:p>
        </p:txBody>
      </p:sp>
      <p:sp>
        <p:nvSpPr>
          <p:cNvPr id="17" name="Oval 16">
            <a:extLst>
              <a:ext uri="{FF2B5EF4-FFF2-40B4-BE49-F238E27FC236}">
                <a16:creationId xmlns:a16="http://schemas.microsoft.com/office/drawing/2014/main" id="{4CB0E5E7-BB6E-4D87-B5E4-43974798EFAB}"/>
              </a:ext>
            </a:extLst>
          </p:cNvPr>
          <p:cNvSpPr/>
          <p:nvPr/>
        </p:nvSpPr>
        <p:spPr>
          <a:xfrm>
            <a:off x="990600" y="4445000"/>
            <a:ext cx="279400" cy="279400"/>
          </a:xfrm>
          <a:prstGeom prst="ellipse">
            <a:avLst/>
          </a:prstGeom>
          <a:solidFill>
            <a:srgbClr val="2A1C0B"/>
          </a:solidFill>
          <a:ln w="12700"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8800"/>
                </a:solidFill>
                <a:latin typeface="Segoe UI"/>
                <a:cs typeface="Segoe UI"/>
              </a:rPr>
              <a:t>6</a:t>
            </a:r>
          </a:p>
        </p:txBody>
      </p:sp>
      <p:sp>
        <p:nvSpPr>
          <p:cNvPr id="18" name="TextBox 17">
            <a:extLst>
              <a:ext uri="{FF2B5EF4-FFF2-40B4-BE49-F238E27FC236}">
                <a16:creationId xmlns:a16="http://schemas.microsoft.com/office/drawing/2014/main" id="{326701BF-3393-4FE4-8C7F-08F2B19562E9}"/>
              </a:ext>
            </a:extLst>
          </p:cNvPr>
          <p:cNvSpPr txBox="1"/>
          <p:nvPr/>
        </p:nvSpPr>
        <p:spPr>
          <a:xfrm>
            <a:off x="1397000" y="4445000"/>
            <a:ext cx="5130800" cy="4826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A backup script, and a restore you have actually performed and timed.</a:t>
            </a:r>
          </a:p>
        </p:txBody>
      </p:sp>
      <p:sp>
        <p:nvSpPr>
          <p:cNvPr id="19" name="Oval 18">
            <a:extLst>
              <a:ext uri="{FF2B5EF4-FFF2-40B4-BE49-F238E27FC236}">
                <a16:creationId xmlns:a16="http://schemas.microsoft.com/office/drawing/2014/main" id="{1F510F75-5C2B-4E23-9B94-09843F500D58}"/>
              </a:ext>
            </a:extLst>
          </p:cNvPr>
          <p:cNvSpPr/>
          <p:nvPr/>
        </p:nvSpPr>
        <p:spPr>
          <a:xfrm>
            <a:off x="990600" y="4927600"/>
            <a:ext cx="279400" cy="279400"/>
          </a:xfrm>
          <a:prstGeom prst="ellipse">
            <a:avLst/>
          </a:prstGeom>
          <a:solidFill>
            <a:srgbClr val="2A1C0B"/>
          </a:solidFill>
          <a:ln w="12700"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8800"/>
                </a:solidFill>
                <a:latin typeface="Segoe UI"/>
                <a:cs typeface="Segoe UI"/>
              </a:rPr>
              <a:t>7</a:t>
            </a:r>
          </a:p>
        </p:txBody>
      </p:sp>
      <p:sp>
        <p:nvSpPr>
          <p:cNvPr id="20" name="TextBox 19">
            <a:extLst>
              <a:ext uri="{FF2B5EF4-FFF2-40B4-BE49-F238E27FC236}">
                <a16:creationId xmlns:a16="http://schemas.microsoft.com/office/drawing/2014/main" id="{B46E3778-318B-41EA-B9D4-78C85D271F42}"/>
              </a:ext>
            </a:extLst>
          </p:cNvPr>
          <p:cNvSpPr txBox="1"/>
          <p:nvPr/>
        </p:nvSpPr>
        <p:spPr>
          <a:xfrm>
            <a:off x="1397000" y="4927600"/>
            <a:ext cx="5130800" cy="482600"/>
          </a:xfrm>
          <a:prstGeom prst="rect">
            <a:avLst/>
          </a:prstGeom>
          <a:noFill/>
        </p:spPr>
        <p:txBody>
          <a:bodyPr vertOverflow="overflow" vert="horz" wrap="square" rtlCol="0" anchor="t">
            <a:noAutofit/>
          </a:bodyPr>
          <a:lstStyle/>
          <a:p>
            <a:pPr algn="l"/>
            <a:r>
              <a:rPr lang="en-US" sz="1400">
                <a:solidFill>
                  <a:srgbClr val="D2D6DB"/>
                </a:solidFill>
                <a:latin typeface="Segoe UI"/>
                <a:cs typeface="Segoe UI"/>
              </a:rPr>
              <a:t>A README that shows a new engineer how to change a dashboard safely.</a:t>
            </a:r>
          </a:p>
        </p:txBody>
      </p:sp>
      <p:sp>
        <p:nvSpPr>
          <p:cNvPr id="21" name="Rectangle: Rounded Corners 20">
            <a:extLst>
              <a:ext uri="{FF2B5EF4-FFF2-40B4-BE49-F238E27FC236}">
                <a16:creationId xmlns:a16="http://schemas.microsoft.com/office/drawing/2014/main" id="{AAE6ECB7-D5D7-44F9-A371-A0CFFEBA2761}"/>
              </a:ext>
            </a:extLst>
          </p:cNvPr>
          <p:cNvSpPr/>
          <p:nvPr/>
        </p:nvSpPr>
        <p:spPr>
          <a:xfrm>
            <a:off x="6985000" y="1498600"/>
            <a:ext cx="4445000" cy="2413000"/>
          </a:xfrm>
          <a:prstGeom prst="roundRect">
            <a:avLst/>
          </a:prstGeom>
          <a:solidFill>
            <a:srgbClr val="0B0C0E"/>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AB786B95-1E58-4381-864B-0E46DB5A6465}"/>
              </a:ext>
            </a:extLst>
          </p:cNvPr>
          <p:cNvSpPr txBox="1"/>
          <p:nvPr/>
        </p:nvSpPr>
        <p:spPr>
          <a:xfrm>
            <a:off x="7213600" y="1625600"/>
            <a:ext cx="3810000" cy="254000"/>
          </a:xfrm>
          <a:prstGeom prst="rect">
            <a:avLst/>
          </a:prstGeom>
          <a:noFill/>
        </p:spPr>
        <p:txBody>
          <a:bodyPr vertOverflow="overflow" vert="horz" wrap="square" rtlCol="0" anchor="t">
            <a:noAutofit/>
          </a:bodyPr>
          <a:lstStyle/>
          <a:p>
            <a:pPr algn="l"/>
            <a:r>
              <a:rPr lang="en-US" sz="1500" b="1">
                <a:solidFill>
                  <a:srgbClr val="73BF69"/>
                </a:solidFill>
                <a:latin typeface="Segoe UI"/>
                <a:cs typeface="Segoe UI"/>
              </a:rPr>
              <a:t>Repository layout</a:t>
            </a:r>
          </a:p>
        </p:txBody>
      </p:sp>
      <p:sp>
        <p:nvSpPr>
          <p:cNvPr id="23" name="TextBox 22">
            <a:extLst>
              <a:ext uri="{FF2B5EF4-FFF2-40B4-BE49-F238E27FC236}">
                <a16:creationId xmlns:a16="http://schemas.microsoft.com/office/drawing/2014/main" id="{A17D8411-46AF-4D07-9A7F-7D8052413A9D}"/>
              </a:ext>
            </a:extLst>
          </p:cNvPr>
          <p:cNvSpPr txBox="1"/>
          <p:nvPr/>
        </p:nvSpPr>
        <p:spPr>
          <a:xfrm>
            <a:off x="7213600" y="1930400"/>
            <a:ext cx="4064000" cy="1854200"/>
          </a:xfrm>
          <a:prstGeom prst="rect">
            <a:avLst/>
          </a:prstGeom>
          <a:noFill/>
        </p:spPr>
        <p:txBody>
          <a:bodyPr vertOverflow="overflow" vert="horz" wrap="none" rtlCol="0" anchor="t">
            <a:noAutofit/>
          </a:bodyPr>
          <a:lstStyle/>
          <a:p>
            <a:pPr algn="l"/>
            <a:r>
              <a:rPr lang="en-US" sz="1400">
                <a:solidFill>
                  <a:srgbClr val="C8CDD4"/>
                </a:solidFill>
                <a:latin typeface="Consolas"/>
              </a:rPr>
              <a:t>acme-observability/
├── terraform/      folders, teams, alerts
├── provisioning/   datasources, providers
├── dashboards/
│   ├── platform/
│   └── payments/
├── scripts/backup.sh
└── README.md</a:t>
            </a:r>
          </a:p>
        </p:txBody>
      </p:sp>
      <p:sp>
        <p:nvSpPr>
          <p:cNvPr id="24" name="Rectangle: Rounded Corners 23">
            <a:extLst>
              <a:ext uri="{FF2B5EF4-FFF2-40B4-BE49-F238E27FC236}">
                <a16:creationId xmlns:a16="http://schemas.microsoft.com/office/drawing/2014/main" id="{06673BB5-FEC8-433B-AB55-7998A4D8D270}"/>
              </a:ext>
            </a:extLst>
          </p:cNvPr>
          <p:cNvSpPr/>
          <p:nvPr/>
        </p:nvSpPr>
        <p:spPr>
          <a:xfrm>
            <a:off x="6985000" y="4064000"/>
            <a:ext cx="4445000" cy="14732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8D628254-872E-47CD-8866-11253C292619}"/>
              </a:ext>
            </a:extLst>
          </p:cNvPr>
          <p:cNvSpPr txBox="1"/>
          <p:nvPr/>
        </p:nvSpPr>
        <p:spPr>
          <a:xfrm>
            <a:off x="7213600" y="4191000"/>
            <a:ext cx="3810000" cy="254000"/>
          </a:xfrm>
          <a:prstGeom prst="rect">
            <a:avLst/>
          </a:prstGeom>
          <a:noFill/>
        </p:spPr>
        <p:txBody>
          <a:bodyPr vertOverflow="overflow" vert="horz" wrap="square" rtlCol="0" anchor="t">
            <a:noAutofit/>
          </a:bodyPr>
          <a:lstStyle/>
          <a:p>
            <a:pPr algn="l"/>
            <a:r>
              <a:rPr lang="en-US" sz="1500" b="1">
                <a:solidFill>
                  <a:srgbClr val="6E9FFF"/>
                </a:solidFill>
                <a:latin typeface="Segoe UI"/>
                <a:cs typeface="Segoe UI"/>
              </a:rPr>
              <a:t>How you present it</a:t>
            </a:r>
          </a:p>
        </p:txBody>
      </p:sp>
      <p:sp>
        <p:nvSpPr>
          <p:cNvPr id="26" name="TextBox 25">
            <a:extLst>
              <a:ext uri="{FF2B5EF4-FFF2-40B4-BE49-F238E27FC236}">
                <a16:creationId xmlns:a16="http://schemas.microsoft.com/office/drawing/2014/main" id="{B199FFF7-49BA-456D-94B5-8EED7A655811}"/>
              </a:ext>
            </a:extLst>
          </p:cNvPr>
          <p:cNvSpPr txBox="1"/>
          <p:nvPr/>
        </p:nvSpPr>
        <p:spPr>
          <a:xfrm>
            <a:off x="7213600" y="4495800"/>
            <a:ext cx="4013200" cy="939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Five minutes each: show the repo, run terraform plan on a clean tree, open one dashboard over HTTPS, and describe the restore you ran.</a:t>
            </a:r>
          </a:p>
        </p:txBody>
      </p:sp>
      <p:sp>
        <p:nvSpPr>
          <p:cNvPr id="27" name="Rectangle: Rounded Corners 26">
            <a:extLst>
              <a:ext uri="{FF2B5EF4-FFF2-40B4-BE49-F238E27FC236}">
                <a16:creationId xmlns:a16="http://schemas.microsoft.com/office/drawing/2014/main" id="{7396A6BE-8F23-4769-82A9-6C729BE2B8AF}"/>
              </a:ext>
            </a:extLst>
          </p:cNvPr>
          <p:cNvSpPr/>
          <p:nvPr/>
        </p:nvSpPr>
        <p:spPr>
          <a:xfrm>
            <a:off x="762000" y="5689600"/>
            <a:ext cx="10668000" cy="5334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A0C27DC8-0202-4F62-8608-0664797A85C9}"/>
              </a:ext>
            </a:extLst>
          </p:cNvPr>
          <p:cNvSpPr txBox="1"/>
          <p:nvPr/>
        </p:nvSpPr>
        <p:spPr>
          <a:xfrm>
            <a:off x="990600" y="5816600"/>
            <a:ext cx="10160000" cy="279400"/>
          </a:xfrm>
          <a:prstGeom prst="rect">
            <a:avLst/>
          </a:prstGeom>
          <a:noFill/>
        </p:spPr>
        <p:txBody>
          <a:bodyPr vertOverflow="overflow" vert="horz" wrap="square" rtlCol="0" anchor="t">
            <a:noAutofit/>
          </a:bodyPr>
          <a:lstStyle/>
          <a:p>
            <a:pPr algn="l"/>
            <a:r>
              <a:rPr lang="en-US" sz="1500">
                <a:solidFill>
                  <a:srgbClr val="C6E3C2"/>
                </a:solidFill>
                <a:latin typeface="Segoe UI"/>
                <a:cs typeface="Segoe UI"/>
              </a:rPr>
              <a:t>30 minutes now to plan and start  ·  finish it in your own environment  ·  bring it to the follow-up session</a:t>
            </a:r>
          </a:p>
        </p:txBody>
      </p:sp>
    </p:spTree>
    <p:extLst>
      <p:ext uri="{BB962C8B-B14F-4D97-AF65-F5344CB8AC3E}">
        <p14:creationId xmlns:p14="http://schemas.microsoft.com/office/powerpoint/2010/main" val="3000577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00F2E-2AA0-2173-D81C-71ECF286A86C}"/>
              </a:ext>
            </a:extLst>
          </p:cNvPr>
          <p:cNvSpPr>
            <a:spLocks noGrp="1"/>
          </p:cNvSpPr>
          <p:nvPr>
            <p:ph type="title"/>
          </p:nvPr>
        </p:nvSpPr>
        <p:spPr>
          <a:xfrm>
            <a:off x="762000" y="406400"/>
            <a:ext cx="10668000" cy="533400"/>
          </a:xfrm>
        </p:spPr>
        <p:txBody>
          <a:bodyPr>
            <a:normAutofit/>
          </a:bodyPr>
          <a:lstStyle/>
          <a:p>
            <a:r>
              <a:rPr lang="en-US" sz="3000" b="1"/>
              <a:t>How the Capstone Is Marked</a:t>
            </a:r>
          </a:p>
        </p:txBody>
      </p:sp>
      <p:sp>
        <p:nvSpPr>
          <p:cNvPr id="3" name="Rectangle 2">
            <a:extLst>
              <a:ext uri="{FF2B5EF4-FFF2-40B4-BE49-F238E27FC236}">
                <a16:creationId xmlns:a16="http://schemas.microsoft.com/office/drawing/2014/main" id="{E6513D40-4C2A-41DB-B658-279A0067F533}"/>
              </a:ext>
            </a:extLst>
          </p:cNvPr>
          <p:cNvSpPr/>
          <p:nvPr/>
        </p:nvSpPr>
        <p:spPr>
          <a:xfrm>
            <a:off x="762000" y="1016000"/>
            <a:ext cx="889000" cy="381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568836C-6AA0-40CB-ADB8-F831F84DFD99}"/>
              </a:ext>
            </a:extLst>
          </p:cNvPr>
          <p:cNvSpPr txBox="1"/>
          <p:nvPr/>
        </p:nvSpPr>
        <p:spPr>
          <a:xfrm>
            <a:off x="762000" y="1143000"/>
            <a:ext cx="10414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Nothing here rewards clever tricks. It rewards work another engineer can pick up on a Monday.</a:t>
            </a:r>
          </a:p>
        </p:txBody>
      </p:sp>
      <p:graphicFrame>
        <p:nvGraphicFramePr>
          <p:cNvPr id="6" name="Table 5">
            <a:extLst>
              <a:ext uri="{FF2B5EF4-FFF2-40B4-BE49-F238E27FC236}">
                <a16:creationId xmlns:a16="http://schemas.microsoft.com/office/drawing/2014/main" id="{4426E260-601B-4E0B-95A3-5849C80C9F0C}"/>
              </a:ext>
            </a:extLst>
          </p:cNvPr>
          <p:cNvGraphicFramePr>
            <a:graphicFrameLocks noGrp="1"/>
          </p:cNvGraphicFramePr>
          <p:nvPr>
            <p:extLst>
              <p:ext uri="{D42A27DB-BD31-4B8C-83A1-F6EECF244321}">
                <p14:modId xmlns:p14="http://schemas.microsoft.com/office/powerpoint/2010/main" val="3968323005"/>
              </p:ext>
            </p:extLst>
          </p:nvPr>
        </p:nvGraphicFramePr>
        <p:xfrm>
          <a:off x="762000" y="1498600"/>
          <a:ext cx="10668000" cy="249936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1233792372"/>
                    </a:ext>
                  </a:extLst>
                </a:gridCol>
                <a:gridCol w="1143000">
                  <a:extLst>
                    <a:ext uri="{9D8B030D-6E8A-4147-A177-3AD203B41FA5}">
                      <a16:colId xmlns:a16="http://schemas.microsoft.com/office/drawing/2014/main" val="1841796052"/>
                    </a:ext>
                  </a:extLst>
                </a:gridCol>
                <a:gridCol w="6985000">
                  <a:extLst>
                    <a:ext uri="{9D8B030D-6E8A-4147-A177-3AD203B41FA5}">
                      <a16:colId xmlns:a16="http://schemas.microsoft.com/office/drawing/2014/main" val="1316561118"/>
                    </a:ext>
                  </a:extLst>
                </a:gridCol>
              </a:tblGrid>
              <a:tr h="330200">
                <a:tc>
                  <a:txBody>
                    <a:bodyPr/>
                    <a:lstStyle/>
                    <a:p>
                      <a:pPr algn="l"/>
                      <a:r>
                        <a:rPr lang="en-US" sz="1500" b="1">
                          <a:solidFill>
                            <a:srgbClr val="FF8800"/>
                          </a:solidFill>
                        </a:rPr>
                        <a:t>Criterion</a:t>
                      </a:r>
                    </a:p>
                  </a:txBody>
                  <a:tcPr anchor="ctr">
                    <a:solidFill>
                      <a:srgbClr val="2A1C0B"/>
                    </a:solidFill>
                  </a:tcPr>
                </a:tc>
                <a:tc>
                  <a:txBody>
                    <a:bodyPr/>
                    <a:lstStyle/>
                    <a:p>
                      <a:pPr algn="ctr"/>
                      <a:r>
                        <a:rPr lang="en-US" sz="1500" b="1">
                          <a:solidFill>
                            <a:srgbClr val="FF8800"/>
                          </a:solidFill>
                        </a:rPr>
                        <a:t>Weight</a:t>
                      </a:r>
                    </a:p>
                  </a:txBody>
                  <a:tcPr anchor="ctr">
                    <a:solidFill>
                      <a:srgbClr val="2A1C0B"/>
                    </a:solidFill>
                  </a:tcPr>
                </a:tc>
                <a:tc>
                  <a:txBody>
                    <a:bodyPr/>
                    <a:lstStyle/>
                    <a:p>
                      <a:pPr algn="l"/>
                      <a:r>
                        <a:rPr lang="en-US" sz="1500" b="1">
                          <a:solidFill>
                            <a:srgbClr val="FF8800"/>
                          </a:solidFill>
                        </a:rPr>
                        <a:t>What full marks looks like</a:t>
                      </a:r>
                    </a:p>
                  </a:txBody>
                  <a:tcPr anchor="ctr">
                    <a:solidFill>
                      <a:srgbClr val="2A1C0B"/>
                    </a:solidFill>
                  </a:tcPr>
                </a:tc>
                <a:extLst>
                  <a:ext uri="{0D108BD9-81ED-4DB2-BD59-A6C34878D82A}">
                    <a16:rowId xmlns:a16="http://schemas.microsoft.com/office/drawing/2014/main" val="1358259054"/>
                  </a:ext>
                </a:extLst>
              </a:tr>
              <a:tr h="330200">
                <a:tc>
                  <a:txBody>
                    <a:bodyPr/>
                    <a:lstStyle/>
                    <a:p>
                      <a:pPr algn="l"/>
                      <a:r>
                        <a:rPr lang="en-US" sz="1400" b="1">
                          <a:solidFill>
                            <a:srgbClr val="FFFFFF"/>
                          </a:solidFill>
                        </a:rPr>
                        <a:t>Reproducibility</a:t>
                      </a:r>
                    </a:p>
                  </a:txBody>
                  <a:tcPr anchor="ctr">
                    <a:solidFill>
                      <a:srgbClr val="1B1E24"/>
                    </a:solidFill>
                  </a:tcPr>
                </a:tc>
                <a:tc>
                  <a:txBody>
                    <a:bodyPr/>
                    <a:lstStyle/>
                    <a:p>
                      <a:pPr algn="ctr"/>
                      <a:r>
                        <a:rPr lang="en-US" sz="1400" b="1">
                          <a:solidFill>
                            <a:srgbClr val="FFFFFF"/>
                          </a:solidFill>
                        </a:rPr>
                        <a:t>25</a:t>
                      </a:r>
                    </a:p>
                  </a:txBody>
                  <a:tcPr anchor="ctr">
                    <a:solidFill>
                      <a:srgbClr val="1B1E24"/>
                    </a:solidFill>
                  </a:tcPr>
                </a:tc>
                <a:tc>
                  <a:txBody>
                    <a:bodyPr/>
                    <a:lstStyle/>
                    <a:p>
                      <a:pPr algn="l"/>
                      <a:r>
                        <a:rPr lang="en-US" sz="1400" b="0">
                          <a:solidFill>
                            <a:srgbClr val="B4BCC6"/>
                          </a:solidFill>
                        </a:rPr>
                        <a:t>A teammate clones the repo and applies it into an empty Grafana with no manual clicks.</a:t>
                      </a:r>
                    </a:p>
                  </a:txBody>
                  <a:tcPr anchor="ctr">
                    <a:solidFill>
                      <a:srgbClr val="1B1E24"/>
                    </a:solidFill>
                  </a:tcPr>
                </a:tc>
                <a:extLst>
                  <a:ext uri="{0D108BD9-81ED-4DB2-BD59-A6C34878D82A}">
                    <a16:rowId xmlns:a16="http://schemas.microsoft.com/office/drawing/2014/main" val="3055485057"/>
                  </a:ext>
                </a:extLst>
              </a:tr>
              <a:tr h="330200">
                <a:tc>
                  <a:txBody>
                    <a:bodyPr/>
                    <a:lstStyle/>
                    <a:p>
                      <a:pPr algn="l"/>
                      <a:r>
                        <a:rPr lang="en-US" sz="1400" b="1">
                          <a:solidFill>
                            <a:srgbClr val="FFFFFF"/>
                          </a:solidFill>
                        </a:rPr>
                        <a:t>Dashboard quality</a:t>
                      </a:r>
                    </a:p>
                  </a:txBody>
                  <a:tcPr anchor="ctr">
                    <a:solidFill>
                      <a:srgbClr val="181B1F"/>
                    </a:solidFill>
                  </a:tcPr>
                </a:tc>
                <a:tc>
                  <a:txBody>
                    <a:bodyPr/>
                    <a:lstStyle/>
                    <a:p>
                      <a:pPr algn="ctr"/>
                      <a:r>
                        <a:rPr lang="en-US" sz="1400" b="1">
                          <a:solidFill>
                            <a:srgbClr val="FFFFFF"/>
                          </a:solidFill>
                        </a:rPr>
                        <a:t>20</a:t>
                      </a:r>
                    </a:p>
                  </a:txBody>
                  <a:tcPr anchor="ctr">
                    <a:solidFill>
                      <a:srgbClr val="181B1F"/>
                    </a:solidFill>
                  </a:tcPr>
                </a:tc>
                <a:tc>
                  <a:txBody>
                    <a:bodyPr/>
                    <a:lstStyle/>
                    <a:p>
                      <a:pPr algn="l"/>
                      <a:r>
                        <a:rPr lang="en-US" sz="1400" b="0">
                          <a:solidFill>
                            <a:srgbClr val="B4BCC6"/>
                          </a:solidFill>
                        </a:rPr>
                        <a:t>Panels answer a stated question; units, thresholds and variables are all set.</a:t>
                      </a:r>
                    </a:p>
                  </a:txBody>
                  <a:tcPr anchor="ctr">
                    <a:solidFill>
                      <a:srgbClr val="181B1F"/>
                    </a:solidFill>
                  </a:tcPr>
                </a:tc>
                <a:extLst>
                  <a:ext uri="{0D108BD9-81ED-4DB2-BD59-A6C34878D82A}">
                    <a16:rowId xmlns:a16="http://schemas.microsoft.com/office/drawing/2014/main" val="835015809"/>
                  </a:ext>
                </a:extLst>
              </a:tr>
              <a:tr h="330200">
                <a:tc>
                  <a:txBody>
                    <a:bodyPr/>
                    <a:lstStyle/>
                    <a:p>
                      <a:pPr algn="l"/>
                      <a:r>
                        <a:rPr lang="en-US" sz="1400" b="1">
                          <a:solidFill>
                            <a:srgbClr val="FFFFFF"/>
                          </a:solidFill>
                        </a:rPr>
                        <a:t>Automation coverage</a:t>
                      </a:r>
                    </a:p>
                  </a:txBody>
                  <a:tcPr anchor="ctr">
                    <a:solidFill>
                      <a:srgbClr val="1B1E24"/>
                    </a:solidFill>
                  </a:tcPr>
                </a:tc>
                <a:tc>
                  <a:txBody>
                    <a:bodyPr/>
                    <a:lstStyle/>
                    <a:p>
                      <a:pPr algn="ctr"/>
                      <a:r>
                        <a:rPr lang="en-US" sz="1400" b="1">
                          <a:solidFill>
                            <a:srgbClr val="FFFFFF"/>
                          </a:solidFill>
                        </a:rPr>
                        <a:t>20</a:t>
                      </a:r>
                    </a:p>
                  </a:txBody>
                  <a:tcPr anchor="ctr">
                    <a:solidFill>
                      <a:srgbClr val="1B1E24"/>
                    </a:solidFill>
                  </a:tcPr>
                </a:tc>
                <a:tc>
                  <a:txBody>
                    <a:bodyPr/>
                    <a:lstStyle/>
                    <a:p>
                      <a:pPr algn="l"/>
                      <a:r>
                        <a:rPr lang="en-US" sz="1400" b="0">
                          <a:solidFill>
                            <a:srgbClr val="B4BCC6"/>
                          </a:solidFill>
                        </a:rPr>
                        <a:t>Data sources, folders, dashboards and alert rules all come from code.</a:t>
                      </a:r>
                    </a:p>
                  </a:txBody>
                  <a:tcPr anchor="ctr">
                    <a:solidFill>
                      <a:srgbClr val="1B1E24"/>
                    </a:solidFill>
                  </a:tcPr>
                </a:tc>
                <a:extLst>
                  <a:ext uri="{0D108BD9-81ED-4DB2-BD59-A6C34878D82A}">
                    <a16:rowId xmlns:a16="http://schemas.microsoft.com/office/drawing/2014/main" val="3952072032"/>
                  </a:ext>
                </a:extLst>
              </a:tr>
              <a:tr h="330200">
                <a:tc>
                  <a:txBody>
                    <a:bodyPr/>
                    <a:lstStyle/>
                    <a:p>
                      <a:pPr algn="l"/>
                      <a:r>
                        <a:rPr lang="en-US" sz="1400" b="1">
                          <a:solidFill>
                            <a:srgbClr val="FFFFFF"/>
                          </a:solidFill>
                        </a:rPr>
                        <a:t>Security</a:t>
                      </a:r>
                    </a:p>
                  </a:txBody>
                  <a:tcPr anchor="ctr">
                    <a:solidFill>
                      <a:srgbClr val="181B1F"/>
                    </a:solidFill>
                  </a:tcPr>
                </a:tc>
                <a:tc>
                  <a:txBody>
                    <a:bodyPr/>
                    <a:lstStyle/>
                    <a:p>
                      <a:pPr algn="ctr"/>
                      <a:r>
                        <a:rPr lang="en-US" sz="1400" b="1">
                          <a:solidFill>
                            <a:srgbClr val="FFFFFF"/>
                          </a:solidFill>
                        </a:rPr>
                        <a:t>15</a:t>
                      </a:r>
                    </a:p>
                  </a:txBody>
                  <a:tcPr anchor="ctr">
                    <a:solidFill>
                      <a:srgbClr val="181B1F"/>
                    </a:solidFill>
                  </a:tcPr>
                </a:tc>
                <a:tc>
                  <a:txBody>
                    <a:bodyPr/>
                    <a:lstStyle/>
                    <a:p>
                      <a:pPr algn="l"/>
                      <a:r>
                        <a:rPr lang="en-US" sz="1400" b="0">
                          <a:solidFill>
                            <a:srgbClr val="B4BCC6"/>
                          </a:solidFill>
                        </a:rPr>
                        <a:t>TLS end to end, no secrets in git, one least-privilege service account per pipeline.</a:t>
                      </a:r>
                    </a:p>
                  </a:txBody>
                  <a:tcPr anchor="ctr">
                    <a:solidFill>
                      <a:srgbClr val="181B1F"/>
                    </a:solidFill>
                  </a:tcPr>
                </a:tc>
                <a:extLst>
                  <a:ext uri="{0D108BD9-81ED-4DB2-BD59-A6C34878D82A}">
                    <a16:rowId xmlns:a16="http://schemas.microsoft.com/office/drawing/2014/main" val="4081716176"/>
                  </a:ext>
                </a:extLst>
              </a:tr>
              <a:tr h="330200">
                <a:tc>
                  <a:txBody>
                    <a:bodyPr/>
                    <a:lstStyle/>
                    <a:p>
                      <a:pPr algn="l"/>
                      <a:r>
                        <a:rPr lang="en-US" sz="1400" b="1">
                          <a:solidFill>
                            <a:srgbClr val="FFFFFF"/>
                          </a:solidFill>
                        </a:rPr>
                        <a:t>Recoverability</a:t>
                      </a:r>
                    </a:p>
                  </a:txBody>
                  <a:tcPr anchor="ctr">
                    <a:solidFill>
                      <a:srgbClr val="1B1E24"/>
                    </a:solidFill>
                  </a:tcPr>
                </a:tc>
                <a:tc>
                  <a:txBody>
                    <a:bodyPr/>
                    <a:lstStyle/>
                    <a:p>
                      <a:pPr algn="ctr"/>
                      <a:r>
                        <a:rPr lang="en-US" sz="1400" b="1">
                          <a:solidFill>
                            <a:srgbClr val="FFFFFF"/>
                          </a:solidFill>
                        </a:rPr>
                        <a:t>10</a:t>
                      </a:r>
                    </a:p>
                  </a:txBody>
                  <a:tcPr anchor="ctr">
                    <a:solidFill>
                      <a:srgbClr val="1B1E24"/>
                    </a:solidFill>
                  </a:tcPr>
                </a:tc>
                <a:tc>
                  <a:txBody>
                    <a:bodyPr/>
                    <a:lstStyle/>
                    <a:p>
                      <a:pPr algn="l"/>
                      <a:r>
                        <a:rPr lang="en-US" sz="1400" b="0">
                          <a:solidFill>
                            <a:srgbClr val="B4BCC6"/>
                          </a:solidFill>
                        </a:rPr>
                        <a:t>A backup script plus a restore you performed, with the elapsed time written down.</a:t>
                      </a:r>
                    </a:p>
                  </a:txBody>
                  <a:tcPr anchor="ctr">
                    <a:solidFill>
                      <a:srgbClr val="1B1E24"/>
                    </a:solidFill>
                  </a:tcPr>
                </a:tc>
                <a:extLst>
                  <a:ext uri="{0D108BD9-81ED-4DB2-BD59-A6C34878D82A}">
                    <a16:rowId xmlns:a16="http://schemas.microsoft.com/office/drawing/2014/main" val="2167388950"/>
                  </a:ext>
                </a:extLst>
              </a:tr>
              <a:tr h="330200">
                <a:tc>
                  <a:txBody>
                    <a:bodyPr/>
                    <a:lstStyle/>
                    <a:p>
                      <a:pPr algn="l"/>
                      <a:r>
                        <a:rPr lang="en-US" sz="1400" b="1">
                          <a:solidFill>
                            <a:srgbClr val="FFFFFF"/>
                          </a:solidFill>
                        </a:rPr>
                        <a:t>Documentation</a:t>
                      </a:r>
                    </a:p>
                  </a:txBody>
                  <a:tcPr anchor="ctr">
                    <a:solidFill>
                      <a:srgbClr val="181B1F"/>
                    </a:solidFill>
                  </a:tcPr>
                </a:tc>
                <a:tc>
                  <a:txBody>
                    <a:bodyPr/>
                    <a:lstStyle/>
                    <a:p>
                      <a:pPr algn="ctr"/>
                      <a:r>
                        <a:rPr lang="en-US" sz="1400" b="1">
                          <a:solidFill>
                            <a:srgbClr val="FFFFFF"/>
                          </a:solidFill>
                        </a:rPr>
                        <a:t>10</a:t>
                      </a:r>
                    </a:p>
                  </a:txBody>
                  <a:tcPr anchor="ctr">
                    <a:solidFill>
                      <a:srgbClr val="181B1F"/>
                    </a:solidFill>
                  </a:tcPr>
                </a:tc>
                <a:tc>
                  <a:txBody>
                    <a:bodyPr/>
                    <a:lstStyle/>
                    <a:p>
                      <a:pPr algn="l"/>
                      <a:r>
                        <a:rPr lang="en-US" sz="1400" b="0">
                          <a:solidFill>
                            <a:srgbClr val="B4BCC6"/>
                          </a:solidFill>
                        </a:rPr>
                        <a:t>A README that gets a new engineer from clone to a merged dashboard change.</a:t>
                      </a:r>
                    </a:p>
                  </a:txBody>
                  <a:tcPr anchor="ctr">
                    <a:solidFill>
                      <a:srgbClr val="181B1F"/>
                    </a:solidFill>
                  </a:tcPr>
                </a:tc>
                <a:extLst>
                  <a:ext uri="{0D108BD9-81ED-4DB2-BD59-A6C34878D82A}">
                    <a16:rowId xmlns:a16="http://schemas.microsoft.com/office/drawing/2014/main" val="308708540"/>
                  </a:ext>
                </a:extLst>
              </a:tr>
            </a:tbl>
          </a:graphicData>
        </a:graphic>
      </p:graphicFrame>
      <p:sp>
        <p:nvSpPr>
          <p:cNvPr id="7" name="Rectangle: Rounded Corners 6">
            <a:extLst>
              <a:ext uri="{FF2B5EF4-FFF2-40B4-BE49-F238E27FC236}">
                <a16:creationId xmlns:a16="http://schemas.microsoft.com/office/drawing/2014/main" id="{26DAF520-366F-45BA-B984-0CC5C7E3D94D}"/>
              </a:ext>
            </a:extLst>
          </p:cNvPr>
          <p:cNvSpPr/>
          <p:nvPr/>
        </p:nvSpPr>
        <p:spPr>
          <a:xfrm>
            <a:off x="762000" y="4470400"/>
            <a:ext cx="5207000" cy="17526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1135268D-6D20-4603-BAB0-065D3578829B}"/>
              </a:ext>
            </a:extLst>
          </p:cNvPr>
          <p:cNvSpPr txBox="1"/>
          <p:nvPr/>
        </p:nvSpPr>
        <p:spPr>
          <a:xfrm>
            <a:off x="990600" y="4622800"/>
            <a:ext cx="4826000" cy="2794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Self-check before you call it done</a:t>
            </a:r>
          </a:p>
        </p:txBody>
      </p:sp>
      <p:sp>
        <p:nvSpPr>
          <p:cNvPr id="9" name="Oval 8">
            <a:extLst>
              <a:ext uri="{FF2B5EF4-FFF2-40B4-BE49-F238E27FC236}">
                <a16:creationId xmlns:a16="http://schemas.microsoft.com/office/drawing/2014/main" id="{CF23FA2F-559E-4B22-AA24-C17C51121EAB}"/>
              </a:ext>
            </a:extLst>
          </p:cNvPr>
          <p:cNvSpPr/>
          <p:nvPr/>
        </p:nvSpPr>
        <p:spPr>
          <a:xfrm>
            <a:off x="990600" y="5016500"/>
            <a:ext cx="152400" cy="1524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4FA2B477-7DB7-4B54-B050-533BCD9D1112}"/>
              </a:ext>
            </a:extLst>
          </p:cNvPr>
          <p:cNvSpPr txBox="1"/>
          <p:nvPr/>
        </p:nvSpPr>
        <p:spPr>
          <a:xfrm>
            <a:off x="1244600" y="4978400"/>
            <a:ext cx="4572000" cy="279400"/>
          </a:xfrm>
          <a:prstGeom prst="rect">
            <a:avLst/>
          </a:prstGeom>
          <a:noFill/>
        </p:spPr>
        <p:txBody>
          <a:bodyPr vertOverflow="overflow" vert="horz" wrap="square" rtlCol="0" anchor="t">
            <a:noAutofit/>
          </a:bodyPr>
          <a:lstStyle/>
          <a:p>
            <a:pPr algn="l"/>
            <a:r>
              <a:rPr lang="en-US" sz="1400" dirty="0">
                <a:solidFill>
                  <a:srgbClr val="C6E3C2"/>
                </a:solidFill>
                <a:latin typeface="Segoe UI"/>
                <a:cs typeface="Segoe UI"/>
              </a:rPr>
              <a:t>Delete everything and apply again - does it come back?</a:t>
            </a:r>
          </a:p>
        </p:txBody>
      </p:sp>
      <p:sp>
        <p:nvSpPr>
          <p:cNvPr id="11" name="Oval 10">
            <a:extLst>
              <a:ext uri="{FF2B5EF4-FFF2-40B4-BE49-F238E27FC236}">
                <a16:creationId xmlns:a16="http://schemas.microsoft.com/office/drawing/2014/main" id="{FE49892E-5D7A-4019-91C6-C2F6E672F3FB}"/>
              </a:ext>
            </a:extLst>
          </p:cNvPr>
          <p:cNvSpPr/>
          <p:nvPr/>
        </p:nvSpPr>
        <p:spPr>
          <a:xfrm>
            <a:off x="990600" y="5321300"/>
            <a:ext cx="152400" cy="1524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E466F019-4890-4ACD-B237-ECF61BD74456}"/>
              </a:ext>
            </a:extLst>
          </p:cNvPr>
          <p:cNvSpPr txBox="1"/>
          <p:nvPr/>
        </p:nvSpPr>
        <p:spPr>
          <a:xfrm>
            <a:off x="1244600" y="5283200"/>
            <a:ext cx="4572000" cy="279400"/>
          </a:xfrm>
          <a:prstGeom prst="rect">
            <a:avLst/>
          </a:prstGeom>
          <a:noFill/>
        </p:spPr>
        <p:txBody>
          <a:bodyPr vertOverflow="overflow" vert="horz" wrap="square" rtlCol="0" anchor="t">
            <a:noAutofit/>
          </a:bodyPr>
          <a:lstStyle/>
          <a:p>
            <a:pPr algn="l"/>
            <a:r>
              <a:rPr lang="en-US" sz="1400">
                <a:solidFill>
                  <a:srgbClr val="C6E3C2"/>
                </a:solidFill>
                <a:latin typeface="Segoe UI"/>
                <a:cs typeface="Segoe UI"/>
              </a:rPr>
              <a:t>Is there a single secret anywhere in the repo?</a:t>
            </a:r>
          </a:p>
        </p:txBody>
      </p:sp>
      <p:sp>
        <p:nvSpPr>
          <p:cNvPr id="13" name="Oval 12">
            <a:extLst>
              <a:ext uri="{FF2B5EF4-FFF2-40B4-BE49-F238E27FC236}">
                <a16:creationId xmlns:a16="http://schemas.microsoft.com/office/drawing/2014/main" id="{122347A8-66E2-4181-9FE8-29566E4AF936}"/>
              </a:ext>
            </a:extLst>
          </p:cNvPr>
          <p:cNvSpPr/>
          <p:nvPr/>
        </p:nvSpPr>
        <p:spPr>
          <a:xfrm>
            <a:off x="990600" y="5626100"/>
            <a:ext cx="152400" cy="1524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FE3E4BB5-B403-43AA-B1E7-3EB9BD218B97}"/>
              </a:ext>
            </a:extLst>
          </p:cNvPr>
          <p:cNvSpPr txBox="1"/>
          <p:nvPr/>
        </p:nvSpPr>
        <p:spPr>
          <a:xfrm>
            <a:off x="1244600" y="5588000"/>
            <a:ext cx="4572000" cy="279400"/>
          </a:xfrm>
          <a:prstGeom prst="rect">
            <a:avLst/>
          </a:prstGeom>
          <a:noFill/>
        </p:spPr>
        <p:txBody>
          <a:bodyPr vertOverflow="overflow" vert="horz" wrap="square" rtlCol="0" anchor="t">
            <a:noAutofit/>
          </a:bodyPr>
          <a:lstStyle/>
          <a:p>
            <a:pPr algn="l"/>
            <a:r>
              <a:rPr lang="en-US" sz="1400">
                <a:solidFill>
                  <a:srgbClr val="C6E3C2"/>
                </a:solidFill>
                <a:latin typeface="Segoe UI"/>
                <a:cs typeface="Segoe UI"/>
              </a:rPr>
              <a:t>Does terraform plan report no changes?</a:t>
            </a:r>
          </a:p>
        </p:txBody>
      </p:sp>
      <p:sp>
        <p:nvSpPr>
          <p:cNvPr id="15" name="Oval 14">
            <a:extLst>
              <a:ext uri="{FF2B5EF4-FFF2-40B4-BE49-F238E27FC236}">
                <a16:creationId xmlns:a16="http://schemas.microsoft.com/office/drawing/2014/main" id="{660B8847-A91C-4DF1-B4BA-DF1009F0B102}"/>
              </a:ext>
            </a:extLst>
          </p:cNvPr>
          <p:cNvSpPr/>
          <p:nvPr/>
        </p:nvSpPr>
        <p:spPr>
          <a:xfrm>
            <a:off x="990600" y="5930900"/>
            <a:ext cx="152400" cy="152400"/>
          </a:xfrm>
          <a:prstGeom prst="ellipse">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5833ED50-2B13-4546-9BB2-63D5FBC3FEEE}"/>
              </a:ext>
            </a:extLst>
          </p:cNvPr>
          <p:cNvSpPr txBox="1"/>
          <p:nvPr/>
        </p:nvSpPr>
        <p:spPr>
          <a:xfrm>
            <a:off x="1244600" y="5892800"/>
            <a:ext cx="4572000" cy="279400"/>
          </a:xfrm>
          <a:prstGeom prst="rect">
            <a:avLst/>
          </a:prstGeom>
          <a:noFill/>
        </p:spPr>
        <p:txBody>
          <a:bodyPr vertOverflow="overflow" vert="horz" wrap="square" rtlCol="0" anchor="t">
            <a:noAutofit/>
          </a:bodyPr>
          <a:lstStyle/>
          <a:p>
            <a:pPr algn="l"/>
            <a:r>
              <a:rPr lang="en-US" sz="1400">
                <a:solidFill>
                  <a:srgbClr val="C6E3C2"/>
                </a:solidFill>
                <a:latin typeface="Segoe UI"/>
                <a:cs typeface="Segoe UI"/>
              </a:rPr>
              <a:t>Can you restore without reading the internet?</a:t>
            </a:r>
          </a:p>
        </p:txBody>
      </p:sp>
      <p:sp>
        <p:nvSpPr>
          <p:cNvPr id="17" name="Rectangle: Rounded Corners 16">
            <a:extLst>
              <a:ext uri="{FF2B5EF4-FFF2-40B4-BE49-F238E27FC236}">
                <a16:creationId xmlns:a16="http://schemas.microsoft.com/office/drawing/2014/main" id="{8423E840-753F-4D77-B00C-8C6F196560C5}"/>
              </a:ext>
            </a:extLst>
          </p:cNvPr>
          <p:cNvSpPr/>
          <p:nvPr/>
        </p:nvSpPr>
        <p:spPr>
          <a:xfrm>
            <a:off x="6223000" y="4470400"/>
            <a:ext cx="5207000" cy="1752600"/>
          </a:xfrm>
          <a:prstGeom prst="roundRect">
            <a:avLst/>
          </a:prstGeom>
          <a:solidFill>
            <a:srgbClr val="1B1E24"/>
          </a:solidFill>
          <a:ln w="15875" cap="flat" cmpd="sng" algn="ctr">
            <a:solidFill>
              <a:srgbClr val="B877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0F65620A-6822-4A74-B3DD-7478F0B034EA}"/>
              </a:ext>
            </a:extLst>
          </p:cNvPr>
          <p:cNvSpPr txBox="1"/>
          <p:nvPr/>
        </p:nvSpPr>
        <p:spPr>
          <a:xfrm>
            <a:off x="6451600" y="4622800"/>
            <a:ext cx="4826000" cy="279400"/>
          </a:xfrm>
          <a:prstGeom prst="rect">
            <a:avLst/>
          </a:prstGeom>
          <a:noFill/>
        </p:spPr>
        <p:txBody>
          <a:bodyPr vertOverflow="overflow" vert="horz" wrap="square" rtlCol="0" anchor="t">
            <a:noAutofit/>
          </a:bodyPr>
          <a:lstStyle/>
          <a:p>
            <a:pPr algn="l"/>
            <a:r>
              <a:rPr lang="en-US" sz="1600" b="1">
                <a:solidFill>
                  <a:srgbClr val="B877D9"/>
                </a:solidFill>
                <a:latin typeface="Segoe UI"/>
                <a:cs typeface="Segoe UI"/>
              </a:rPr>
              <a:t>Where teams usually lose marks</a:t>
            </a:r>
          </a:p>
        </p:txBody>
      </p:sp>
      <p:sp>
        <p:nvSpPr>
          <p:cNvPr id="19" name="TextBox 18">
            <a:extLst>
              <a:ext uri="{FF2B5EF4-FFF2-40B4-BE49-F238E27FC236}">
                <a16:creationId xmlns:a16="http://schemas.microsoft.com/office/drawing/2014/main" id="{05019278-ABA6-4A12-A858-E5F3ACCC45F1}"/>
              </a:ext>
            </a:extLst>
          </p:cNvPr>
          <p:cNvSpPr txBox="1"/>
          <p:nvPr/>
        </p:nvSpPr>
        <p:spPr>
          <a:xfrm>
            <a:off x="6451600" y="4978400"/>
            <a:ext cx="4775200" cy="11430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Dashboards built in the UI and exported at the end, so the repo cannot recreate them.  ·  Secrets committed "temporarily".  ·  A backup script nobody ever ran.  ·  A README that only makes sense to the person who wrote it.</a:t>
            </a:r>
          </a:p>
        </p:txBody>
      </p:sp>
    </p:spTree>
    <p:extLst>
      <p:ext uri="{BB962C8B-B14F-4D97-AF65-F5344CB8AC3E}">
        <p14:creationId xmlns:p14="http://schemas.microsoft.com/office/powerpoint/2010/main" val="851488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0B091-8419-0766-EFFD-C96A551A3AE0}"/>
              </a:ext>
            </a:extLst>
          </p:cNvPr>
          <p:cNvSpPr>
            <a:spLocks noGrp="1"/>
          </p:cNvSpPr>
          <p:nvPr>
            <p:ph type="title"/>
          </p:nvPr>
        </p:nvSpPr>
        <p:spPr>
          <a:xfrm>
            <a:off x="762000" y="406400"/>
            <a:ext cx="10668000" cy="533400"/>
          </a:xfrm>
        </p:spPr>
        <p:txBody>
          <a:bodyPr>
            <a:normAutofit/>
          </a:bodyPr>
          <a:lstStyle/>
          <a:p>
            <a:r>
              <a:rPr lang="en-US" sz="3000" b="1"/>
              <a:t>Wrap-Up · Five Days, One Habit</a:t>
            </a:r>
          </a:p>
        </p:txBody>
      </p:sp>
      <p:sp>
        <p:nvSpPr>
          <p:cNvPr id="3" name="Rectangle 2">
            <a:extLst>
              <a:ext uri="{FF2B5EF4-FFF2-40B4-BE49-F238E27FC236}">
                <a16:creationId xmlns:a16="http://schemas.microsoft.com/office/drawing/2014/main" id="{8F383648-6ED5-47A5-8D4B-98B4BC2B30C5}"/>
              </a:ext>
            </a:extLst>
          </p:cNvPr>
          <p:cNvSpPr/>
          <p:nvPr/>
        </p:nvSpPr>
        <p:spPr>
          <a:xfrm>
            <a:off x="762000" y="1016000"/>
            <a:ext cx="889000" cy="381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C8FCB3B0-07E0-4CD1-9F00-539AC825C6E0}"/>
              </a:ext>
            </a:extLst>
          </p:cNvPr>
          <p:cNvSpPr txBox="1"/>
          <p:nvPr/>
        </p:nvSpPr>
        <p:spPr>
          <a:xfrm>
            <a:off x="762000" y="1143000"/>
            <a:ext cx="10414000" cy="279400"/>
          </a:xfrm>
          <a:prstGeom prst="rect">
            <a:avLst/>
          </a:prstGeom>
          <a:noFill/>
        </p:spPr>
        <p:txBody>
          <a:bodyPr vertOverflow="overflow" vert="horz" wrap="square" rtlCol="0" anchor="t">
            <a:noAutofit/>
          </a:bodyPr>
          <a:lstStyle/>
          <a:p>
            <a:pPr algn="l"/>
            <a:r>
              <a:rPr lang="en-US" sz="1500">
                <a:solidFill>
                  <a:srgbClr val="A8B0BA"/>
                </a:solidFill>
                <a:latin typeface="Segoe UI"/>
                <a:cs typeface="Segoe UI"/>
              </a:rPr>
              <a:t>You started by installing Grafana. You finish able to rebuild the whole thing from a repository.</a:t>
            </a:r>
          </a:p>
        </p:txBody>
      </p:sp>
      <p:sp>
        <p:nvSpPr>
          <p:cNvPr id="5" name="Rectangle: Rounded Corners 4">
            <a:extLst>
              <a:ext uri="{FF2B5EF4-FFF2-40B4-BE49-F238E27FC236}">
                <a16:creationId xmlns:a16="http://schemas.microsoft.com/office/drawing/2014/main" id="{36F8C86F-AD05-493C-8FF1-D7C947917923}"/>
              </a:ext>
            </a:extLst>
          </p:cNvPr>
          <p:cNvSpPr/>
          <p:nvPr/>
        </p:nvSpPr>
        <p:spPr>
          <a:xfrm>
            <a:off x="762000" y="1498600"/>
            <a:ext cx="5461000" cy="3810000"/>
          </a:xfrm>
          <a:prstGeom prst="roundRect">
            <a:avLst/>
          </a:prstGeom>
          <a:solidFill>
            <a:srgbClr val="1B1E24"/>
          </a:solidFill>
          <a:ln w="15875" cap="flat" cmpd="sng" algn="ctr">
            <a:solidFill>
              <a:srgbClr val="2C30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2414916-0BEC-49A7-B5E1-7B4845A0852A}"/>
              </a:ext>
            </a:extLst>
          </p:cNvPr>
          <p:cNvSpPr txBox="1"/>
          <p:nvPr/>
        </p:nvSpPr>
        <p:spPr>
          <a:xfrm>
            <a:off x="990600" y="1651000"/>
            <a:ext cx="3810000" cy="279400"/>
          </a:xfrm>
          <a:prstGeom prst="rect">
            <a:avLst/>
          </a:prstGeom>
          <a:noFill/>
        </p:spPr>
        <p:txBody>
          <a:bodyPr vertOverflow="overflow" vert="horz" wrap="square" rtlCol="0" anchor="t">
            <a:noAutofit/>
          </a:bodyPr>
          <a:lstStyle/>
          <a:p>
            <a:pPr algn="l"/>
            <a:r>
              <a:rPr lang="en-US" sz="1700" b="1">
                <a:solidFill>
                  <a:srgbClr val="FF8800"/>
                </a:solidFill>
                <a:latin typeface="Segoe UI"/>
                <a:cs typeface="Segoe UI"/>
              </a:rPr>
              <a:t>The road behind you</a:t>
            </a:r>
          </a:p>
        </p:txBody>
      </p:sp>
      <p:sp>
        <p:nvSpPr>
          <p:cNvPr id="7" name="Rectangle 6">
            <a:extLst>
              <a:ext uri="{FF2B5EF4-FFF2-40B4-BE49-F238E27FC236}">
                <a16:creationId xmlns:a16="http://schemas.microsoft.com/office/drawing/2014/main" id="{3E26CABE-0540-44E3-B3CD-9B6AD47E29C0}"/>
              </a:ext>
            </a:extLst>
          </p:cNvPr>
          <p:cNvSpPr/>
          <p:nvPr/>
        </p:nvSpPr>
        <p:spPr>
          <a:xfrm>
            <a:off x="990600" y="2082800"/>
            <a:ext cx="50800" cy="660400"/>
          </a:xfrm>
          <a:prstGeom prst="rect">
            <a:avLst/>
          </a:prstGeom>
          <a:solidFill>
            <a:srgbClr val="6E9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FD31B2D3-D2B9-49EB-8422-A1EA97B30B32}"/>
              </a:ext>
            </a:extLst>
          </p:cNvPr>
          <p:cNvSpPr txBox="1"/>
          <p:nvPr/>
        </p:nvSpPr>
        <p:spPr>
          <a:xfrm>
            <a:off x="1193800" y="2082800"/>
            <a:ext cx="1524000" cy="279400"/>
          </a:xfrm>
          <a:prstGeom prst="rect">
            <a:avLst/>
          </a:prstGeom>
          <a:noFill/>
        </p:spPr>
        <p:txBody>
          <a:bodyPr vertOverflow="overflow" vert="horz" wrap="square" rtlCol="0" anchor="t">
            <a:noAutofit/>
          </a:bodyPr>
          <a:lstStyle/>
          <a:p>
            <a:pPr algn="l"/>
            <a:r>
              <a:rPr lang="en-US" sz="1600" b="1">
                <a:solidFill>
                  <a:srgbClr val="6E9FFF"/>
                </a:solidFill>
                <a:latin typeface="Segoe UI"/>
                <a:cs typeface="Segoe UI"/>
              </a:rPr>
              <a:t>Days 1–2</a:t>
            </a:r>
          </a:p>
        </p:txBody>
      </p:sp>
      <p:sp>
        <p:nvSpPr>
          <p:cNvPr id="9" name="TextBox 8">
            <a:extLst>
              <a:ext uri="{FF2B5EF4-FFF2-40B4-BE49-F238E27FC236}">
                <a16:creationId xmlns:a16="http://schemas.microsoft.com/office/drawing/2014/main" id="{F215CB33-8E86-44E7-A392-2D490034101E}"/>
              </a:ext>
            </a:extLst>
          </p:cNvPr>
          <p:cNvSpPr txBox="1"/>
          <p:nvPr/>
        </p:nvSpPr>
        <p:spPr>
          <a:xfrm>
            <a:off x="1193800" y="2387600"/>
            <a:ext cx="4876800" cy="431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Foundations, data sources and your first queries</a:t>
            </a:r>
          </a:p>
        </p:txBody>
      </p:sp>
      <p:sp>
        <p:nvSpPr>
          <p:cNvPr id="10" name="Rectangle 9">
            <a:extLst>
              <a:ext uri="{FF2B5EF4-FFF2-40B4-BE49-F238E27FC236}">
                <a16:creationId xmlns:a16="http://schemas.microsoft.com/office/drawing/2014/main" id="{23BC31EA-AE9D-44F4-A521-D59F557EA4C3}"/>
              </a:ext>
            </a:extLst>
          </p:cNvPr>
          <p:cNvSpPr/>
          <p:nvPr/>
        </p:nvSpPr>
        <p:spPr>
          <a:xfrm>
            <a:off x="990600" y="2870200"/>
            <a:ext cx="50800" cy="660400"/>
          </a:xfrm>
          <a:prstGeom prst="rect">
            <a:avLst/>
          </a:prstGeom>
          <a:solidFill>
            <a:srgbClr val="73BF6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9A0C0F13-4DF6-4153-9874-EA6656B5B064}"/>
              </a:ext>
            </a:extLst>
          </p:cNvPr>
          <p:cNvSpPr txBox="1"/>
          <p:nvPr/>
        </p:nvSpPr>
        <p:spPr>
          <a:xfrm>
            <a:off x="1193800" y="2870200"/>
            <a:ext cx="1524000" cy="2794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Day 3</a:t>
            </a:r>
          </a:p>
        </p:txBody>
      </p:sp>
      <p:sp>
        <p:nvSpPr>
          <p:cNvPr id="12" name="TextBox 11">
            <a:extLst>
              <a:ext uri="{FF2B5EF4-FFF2-40B4-BE49-F238E27FC236}">
                <a16:creationId xmlns:a16="http://schemas.microsoft.com/office/drawing/2014/main" id="{2D8FA0A8-F65F-4D28-9913-E1A8F71A91E5}"/>
              </a:ext>
            </a:extLst>
          </p:cNvPr>
          <p:cNvSpPr txBox="1"/>
          <p:nvPr/>
        </p:nvSpPr>
        <p:spPr>
          <a:xfrm>
            <a:off x="1193800" y="3175000"/>
            <a:ext cx="4876800" cy="431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Dashboards, panels, variables, transformations</a:t>
            </a:r>
          </a:p>
        </p:txBody>
      </p:sp>
      <p:sp>
        <p:nvSpPr>
          <p:cNvPr id="13" name="Rectangle 12">
            <a:extLst>
              <a:ext uri="{FF2B5EF4-FFF2-40B4-BE49-F238E27FC236}">
                <a16:creationId xmlns:a16="http://schemas.microsoft.com/office/drawing/2014/main" id="{50FACA52-88CC-48D4-BE3F-203130F34082}"/>
              </a:ext>
            </a:extLst>
          </p:cNvPr>
          <p:cNvSpPr/>
          <p:nvPr/>
        </p:nvSpPr>
        <p:spPr>
          <a:xfrm>
            <a:off x="990600" y="3657600"/>
            <a:ext cx="50800" cy="660400"/>
          </a:xfrm>
          <a:prstGeom prst="rect">
            <a:avLst/>
          </a:prstGeom>
          <a:solidFill>
            <a:srgbClr val="FADE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A4DBF75D-685A-45FD-9958-E221CF8B2959}"/>
              </a:ext>
            </a:extLst>
          </p:cNvPr>
          <p:cNvSpPr txBox="1"/>
          <p:nvPr/>
        </p:nvSpPr>
        <p:spPr>
          <a:xfrm>
            <a:off x="1193800" y="3657600"/>
            <a:ext cx="1524000" cy="279400"/>
          </a:xfrm>
          <a:prstGeom prst="rect">
            <a:avLst/>
          </a:prstGeom>
          <a:noFill/>
        </p:spPr>
        <p:txBody>
          <a:bodyPr vertOverflow="overflow" vert="horz" wrap="square" rtlCol="0" anchor="t">
            <a:noAutofit/>
          </a:bodyPr>
          <a:lstStyle/>
          <a:p>
            <a:pPr algn="l"/>
            <a:r>
              <a:rPr lang="en-US" sz="1600" b="1">
                <a:solidFill>
                  <a:srgbClr val="FADE2A"/>
                </a:solidFill>
                <a:latin typeface="Segoe UI"/>
                <a:cs typeface="Segoe UI"/>
              </a:rPr>
              <a:t>Day 4</a:t>
            </a:r>
          </a:p>
        </p:txBody>
      </p:sp>
      <p:sp>
        <p:nvSpPr>
          <p:cNvPr id="15" name="TextBox 14">
            <a:extLst>
              <a:ext uri="{FF2B5EF4-FFF2-40B4-BE49-F238E27FC236}">
                <a16:creationId xmlns:a16="http://schemas.microsoft.com/office/drawing/2014/main" id="{618F0210-4DF9-4AA3-B04A-2FAB7083D91A}"/>
              </a:ext>
            </a:extLst>
          </p:cNvPr>
          <p:cNvSpPr txBox="1"/>
          <p:nvPr/>
        </p:nvSpPr>
        <p:spPr>
          <a:xfrm>
            <a:off x="1193800" y="3962400"/>
            <a:ext cx="4876800" cy="431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Alerting, notifications, users and permissions</a:t>
            </a:r>
          </a:p>
        </p:txBody>
      </p:sp>
      <p:sp>
        <p:nvSpPr>
          <p:cNvPr id="16" name="Rectangle 15">
            <a:extLst>
              <a:ext uri="{FF2B5EF4-FFF2-40B4-BE49-F238E27FC236}">
                <a16:creationId xmlns:a16="http://schemas.microsoft.com/office/drawing/2014/main" id="{E9E62CF7-4F64-4627-B4A3-92A41744D32E}"/>
              </a:ext>
            </a:extLst>
          </p:cNvPr>
          <p:cNvSpPr/>
          <p:nvPr/>
        </p:nvSpPr>
        <p:spPr>
          <a:xfrm>
            <a:off x="990600" y="4445000"/>
            <a:ext cx="50800" cy="660400"/>
          </a:xfrm>
          <a:prstGeom prst="rect">
            <a:avLst/>
          </a:prstGeom>
          <a:solidFill>
            <a:srgbClr val="FF8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ACB27A1D-B14D-4CB5-9383-08F0F6B400A0}"/>
              </a:ext>
            </a:extLst>
          </p:cNvPr>
          <p:cNvSpPr txBox="1"/>
          <p:nvPr/>
        </p:nvSpPr>
        <p:spPr>
          <a:xfrm>
            <a:off x="1193800" y="4445000"/>
            <a:ext cx="1524000" cy="279400"/>
          </a:xfrm>
          <a:prstGeom prst="rect">
            <a:avLst/>
          </a:prstGeom>
          <a:noFill/>
        </p:spPr>
        <p:txBody>
          <a:bodyPr vertOverflow="overflow" vert="horz" wrap="square" rtlCol="0" anchor="t">
            <a:noAutofit/>
          </a:bodyPr>
          <a:lstStyle/>
          <a:p>
            <a:pPr algn="l"/>
            <a:r>
              <a:rPr lang="en-US" sz="1600" b="1">
                <a:solidFill>
                  <a:srgbClr val="FF8800"/>
                </a:solidFill>
                <a:latin typeface="Segoe UI"/>
                <a:cs typeface="Segoe UI"/>
              </a:rPr>
              <a:t>Day 5</a:t>
            </a:r>
          </a:p>
        </p:txBody>
      </p:sp>
      <p:sp>
        <p:nvSpPr>
          <p:cNvPr id="18" name="TextBox 17">
            <a:extLst>
              <a:ext uri="{FF2B5EF4-FFF2-40B4-BE49-F238E27FC236}">
                <a16:creationId xmlns:a16="http://schemas.microsoft.com/office/drawing/2014/main" id="{BED5E904-A6FE-4DE1-BF92-A61CCB458F5B}"/>
              </a:ext>
            </a:extLst>
          </p:cNvPr>
          <p:cNvSpPr txBox="1"/>
          <p:nvPr/>
        </p:nvSpPr>
        <p:spPr>
          <a:xfrm>
            <a:off x="1193800" y="4749800"/>
            <a:ext cx="4876800" cy="431800"/>
          </a:xfrm>
          <a:prstGeom prst="rect">
            <a:avLst/>
          </a:prstGeom>
          <a:noFill/>
        </p:spPr>
        <p:txBody>
          <a:bodyPr vertOverflow="overflow" vert="horz" wrap="square" rtlCol="0" anchor="t">
            <a:noAutofit/>
          </a:bodyPr>
          <a:lstStyle/>
          <a:p>
            <a:pPr algn="l"/>
            <a:r>
              <a:rPr lang="en-US" sz="1400">
                <a:solidFill>
                  <a:srgbClr val="B4BCC6"/>
                </a:solidFill>
                <a:latin typeface="Segoe UI"/>
                <a:cs typeface="Segoe UI"/>
              </a:rPr>
              <a:t>API, provisioning, Terraform and production</a:t>
            </a:r>
          </a:p>
        </p:txBody>
      </p:sp>
      <p:sp>
        <p:nvSpPr>
          <p:cNvPr id="19" name="Rectangle: Rounded Corners 18">
            <a:extLst>
              <a:ext uri="{FF2B5EF4-FFF2-40B4-BE49-F238E27FC236}">
                <a16:creationId xmlns:a16="http://schemas.microsoft.com/office/drawing/2014/main" id="{74B10BAA-8397-455A-A0E7-A54F044E0104}"/>
              </a:ext>
            </a:extLst>
          </p:cNvPr>
          <p:cNvSpPr/>
          <p:nvPr/>
        </p:nvSpPr>
        <p:spPr>
          <a:xfrm>
            <a:off x="6604000" y="1498600"/>
            <a:ext cx="4826000" cy="1854200"/>
          </a:xfrm>
          <a:prstGeom prst="roundRect">
            <a:avLst/>
          </a:prstGeom>
          <a:solidFill>
            <a:srgbClr val="151A22"/>
          </a:solidFill>
          <a:ln w="15875" cap="flat" cmpd="sng" algn="ctr">
            <a:solidFill>
              <a:srgbClr val="6E9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279EA333-8355-403A-A369-2BC572DDFE1E}"/>
              </a:ext>
            </a:extLst>
          </p:cNvPr>
          <p:cNvSpPr txBox="1"/>
          <p:nvPr/>
        </p:nvSpPr>
        <p:spPr>
          <a:xfrm>
            <a:off x="6832600" y="1651000"/>
            <a:ext cx="4318000" cy="279400"/>
          </a:xfrm>
          <a:prstGeom prst="rect">
            <a:avLst/>
          </a:prstGeom>
          <a:noFill/>
        </p:spPr>
        <p:txBody>
          <a:bodyPr vertOverflow="overflow" vert="horz" wrap="square" rtlCol="0" anchor="t">
            <a:noAutofit/>
          </a:bodyPr>
          <a:lstStyle/>
          <a:p>
            <a:pPr algn="l"/>
            <a:r>
              <a:rPr lang="en-US" sz="1600" b="1">
                <a:solidFill>
                  <a:srgbClr val="6E9FFF"/>
                </a:solidFill>
                <a:latin typeface="Segoe UI"/>
                <a:cs typeface="Segoe UI"/>
              </a:rPr>
              <a:t>What to do this week</a:t>
            </a:r>
          </a:p>
        </p:txBody>
      </p:sp>
      <p:sp>
        <p:nvSpPr>
          <p:cNvPr id="21" name="TextBox 20">
            <a:extLst>
              <a:ext uri="{FF2B5EF4-FFF2-40B4-BE49-F238E27FC236}">
                <a16:creationId xmlns:a16="http://schemas.microsoft.com/office/drawing/2014/main" id="{051674A0-F302-4B23-AED1-3D03B8FB14AE}"/>
              </a:ext>
            </a:extLst>
          </p:cNvPr>
          <p:cNvSpPr txBox="1"/>
          <p:nvPr/>
        </p:nvSpPr>
        <p:spPr>
          <a:xfrm>
            <a:off x="6832600" y="2006600"/>
            <a:ext cx="4394200" cy="1193800"/>
          </a:xfrm>
          <a:prstGeom prst="rect">
            <a:avLst/>
          </a:prstGeom>
          <a:noFill/>
        </p:spPr>
        <p:txBody>
          <a:bodyPr vertOverflow="overflow" vert="horz" wrap="square" rtlCol="0" anchor="t">
            <a:noAutofit/>
          </a:bodyPr>
          <a:lstStyle/>
          <a:p>
            <a:pPr algn="l"/>
            <a:r>
              <a:rPr lang="en-US" sz="1400" dirty="0">
                <a:solidFill>
                  <a:srgbClr val="B4BCC6"/>
                </a:solidFill>
                <a:latin typeface="Segoe UI"/>
                <a:cs typeface="Segoe UI"/>
              </a:rPr>
              <a:t>Finish the capstone.  Then take one dashboard that already matters to your team, put it in git, and provision it. One is enough to prove the pattern - the rest follows.</a:t>
            </a:r>
          </a:p>
        </p:txBody>
      </p:sp>
      <p:sp>
        <p:nvSpPr>
          <p:cNvPr id="22" name="Rectangle: Rounded Corners 21">
            <a:extLst>
              <a:ext uri="{FF2B5EF4-FFF2-40B4-BE49-F238E27FC236}">
                <a16:creationId xmlns:a16="http://schemas.microsoft.com/office/drawing/2014/main" id="{9817A21B-3045-41F7-A70B-F2C93D35F49E}"/>
              </a:ext>
            </a:extLst>
          </p:cNvPr>
          <p:cNvSpPr/>
          <p:nvPr/>
        </p:nvSpPr>
        <p:spPr>
          <a:xfrm>
            <a:off x="6604000" y="3530600"/>
            <a:ext cx="4826000" cy="1778000"/>
          </a:xfrm>
          <a:prstGeom prst="roundRect">
            <a:avLst/>
          </a:prstGeom>
          <a:solidFill>
            <a:srgbClr val="0F1A12"/>
          </a:solidFill>
          <a:ln w="15875" cap="flat" cmpd="sng" algn="ctr">
            <a:solidFill>
              <a:srgbClr val="73BF6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17F26E82-62D1-44B9-AAB2-D4BB42843B29}"/>
              </a:ext>
            </a:extLst>
          </p:cNvPr>
          <p:cNvSpPr txBox="1"/>
          <p:nvPr/>
        </p:nvSpPr>
        <p:spPr>
          <a:xfrm>
            <a:off x="6832600" y="3683000"/>
            <a:ext cx="4318000" cy="279400"/>
          </a:xfrm>
          <a:prstGeom prst="rect">
            <a:avLst/>
          </a:prstGeom>
          <a:noFill/>
        </p:spPr>
        <p:txBody>
          <a:bodyPr vertOverflow="overflow" vert="horz" wrap="square" rtlCol="0" anchor="t">
            <a:noAutofit/>
          </a:bodyPr>
          <a:lstStyle/>
          <a:p>
            <a:pPr algn="l"/>
            <a:r>
              <a:rPr lang="en-US" sz="1600" b="1">
                <a:solidFill>
                  <a:srgbClr val="73BF69"/>
                </a:solidFill>
                <a:latin typeface="Segoe UI"/>
                <a:cs typeface="Segoe UI"/>
              </a:rPr>
              <a:t>Three habits worth keeping</a:t>
            </a:r>
          </a:p>
        </p:txBody>
      </p:sp>
      <p:sp>
        <p:nvSpPr>
          <p:cNvPr id="24" name="TextBox 23">
            <a:extLst>
              <a:ext uri="{FF2B5EF4-FFF2-40B4-BE49-F238E27FC236}">
                <a16:creationId xmlns:a16="http://schemas.microsoft.com/office/drawing/2014/main" id="{D374B1EA-7581-4BC9-AA45-EB68EFEE74EC}"/>
              </a:ext>
            </a:extLst>
          </p:cNvPr>
          <p:cNvSpPr txBox="1"/>
          <p:nvPr/>
        </p:nvSpPr>
        <p:spPr>
          <a:xfrm>
            <a:off x="6832600" y="4038600"/>
            <a:ext cx="4394200" cy="1143000"/>
          </a:xfrm>
          <a:prstGeom prst="rect">
            <a:avLst/>
          </a:prstGeom>
          <a:noFill/>
        </p:spPr>
        <p:txBody>
          <a:bodyPr vertOverflow="overflow" vert="horz" wrap="square" rtlCol="0" anchor="t">
            <a:noAutofit/>
          </a:bodyPr>
          <a:lstStyle/>
          <a:p>
            <a:pPr algn="l"/>
            <a:r>
              <a:rPr lang="en-US" sz="1400">
                <a:solidFill>
                  <a:srgbClr val="C6E3C2"/>
                </a:solidFill>
                <a:latin typeface="Segoe UI"/>
                <a:cs typeface="Segoe UI"/>
              </a:rPr>
              <a:t>Nothing gets clicked in production.  ·  uid is the primary key.  ·  A restore you have never run is not a backup.</a:t>
            </a:r>
          </a:p>
        </p:txBody>
      </p:sp>
      <p:sp>
        <p:nvSpPr>
          <p:cNvPr id="25" name="Rectangle: Rounded Corners 24">
            <a:extLst>
              <a:ext uri="{FF2B5EF4-FFF2-40B4-BE49-F238E27FC236}">
                <a16:creationId xmlns:a16="http://schemas.microsoft.com/office/drawing/2014/main" id="{62D4C990-936A-446E-B048-89F11D0A44E3}"/>
              </a:ext>
            </a:extLst>
          </p:cNvPr>
          <p:cNvSpPr/>
          <p:nvPr/>
        </p:nvSpPr>
        <p:spPr>
          <a:xfrm>
            <a:off x="762000" y="5537200"/>
            <a:ext cx="10668000" cy="685800"/>
          </a:xfrm>
          <a:prstGeom prst="roundRect">
            <a:avLst/>
          </a:prstGeom>
          <a:solidFill>
            <a:srgbClr val="2A1C0B"/>
          </a:solidFill>
          <a:ln w="15875" cap="flat" cmpd="sng" algn="ctr">
            <a:solidFill>
              <a:srgbClr val="FF88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D703FF4E-C02E-4268-90E9-5D4BA24FF0BE}"/>
              </a:ext>
            </a:extLst>
          </p:cNvPr>
          <p:cNvSpPr txBox="1"/>
          <p:nvPr/>
        </p:nvSpPr>
        <p:spPr>
          <a:xfrm>
            <a:off x="762000" y="5740400"/>
            <a:ext cx="10668000" cy="330200"/>
          </a:xfrm>
          <a:prstGeom prst="rect">
            <a:avLst/>
          </a:prstGeom>
          <a:noFill/>
        </p:spPr>
        <p:txBody>
          <a:bodyPr vertOverflow="overflow" vert="horz" wrap="square" rtlCol="0" anchor="t">
            <a:noAutofit/>
          </a:bodyPr>
          <a:lstStyle/>
          <a:p>
            <a:pPr algn="l"/>
            <a:r>
              <a:rPr lang="en-US" sz="1900" b="1" dirty="0">
                <a:solidFill>
                  <a:srgbClr val="FF8800"/>
                </a:solidFill>
                <a:latin typeface="Segoe UI"/>
                <a:cs typeface="Segoe UI"/>
              </a:rPr>
              <a:t>Questions - and bring your capstone to the follow-up session</a:t>
            </a:r>
          </a:p>
        </p:txBody>
      </p:sp>
    </p:spTree>
    <p:extLst>
      <p:ext uri="{BB962C8B-B14F-4D97-AF65-F5344CB8AC3E}">
        <p14:creationId xmlns:p14="http://schemas.microsoft.com/office/powerpoint/2010/main" val="2570874477"/>
      </p:ext>
    </p:extLst>
  </p:cSld>
  <p:clrMapOvr>
    <a:masterClrMapping/>
  </p:clrMapOvr>
</p:sld>
</file>

<file path=ppt/theme/theme1.xml><?xml version="1.0" encoding="utf-8"?>
<a:theme xmlns:a="http://schemas.openxmlformats.org/drawingml/2006/main" name="Office Theme [1785715526690]">
  <a:themeElements>
    <a:clrScheme name="Office">
      <a:dk1>
        <a:srgbClr val="F2F4F7"/>
      </a:dk1>
      <a:lt1>
        <a:srgbClr val="111217"/>
      </a:lt1>
      <a:dk2>
        <a:srgbClr val="D2D6DB"/>
      </a:dk2>
      <a:lt2>
        <a:srgbClr val="1B1E24"/>
      </a:lt2>
      <a:accent1>
        <a:srgbClr val="FF8800"/>
      </a:accent1>
      <a:accent2>
        <a:srgbClr val="6E9FFF"/>
      </a:accent2>
      <a:accent3>
        <a:srgbClr val="73BF69"/>
      </a:accent3>
      <a:accent4>
        <a:srgbClr val="F2495C"/>
      </a:accent4>
      <a:accent5>
        <a:srgbClr val="B877D9"/>
      </a:accent5>
      <a:accent6>
        <a:srgbClr val="FADE2A"/>
      </a:accent6>
      <a:hlink>
        <a:srgbClr val="0563C1"/>
      </a:hlink>
      <a:folHlink>
        <a:srgbClr val="954F72"/>
      </a:folHlink>
    </a:clrScheme>
    <a:fontScheme name="Office">
      <a:majorFont>
        <a:latin typeface="Segoe UI Semibold"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AE067EE-5914-415E-BA65-9402BFF1616D}">
  <we:reference id="WA200010725" version="1.0.0.1" store="Omex" storeType="OMEX"/>
  <we:alternateReferences>
    <we:reference id="WA200010725" version="1.0.0.1" store="WA200010725" storeType="OMEX"/>
  </we:alternateReferences>
  <we:properties>
    <we:property name="claude.fileId" value="&quot;403bb089-1d60-47d1-9830-cf62ab3936e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34</TotalTime>
  <Words>7695</Words>
  <Application>Microsoft Office PowerPoint</Application>
  <PresentationFormat>Widescreen</PresentationFormat>
  <Paragraphs>698</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Consolas</vt:lpstr>
      <vt:lpstr>Segoe UI</vt:lpstr>
      <vt:lpstr>Segoe UI Semibold</vt:lpstr>
      <vt:lpstr>Office Theme [1785715526690]</vt:lpstr>
      <vt:lpstr>PowerPoint Presentation</vt:lpstr>
      <vt:lpstr>From Clicking to Code</vt:lpstr>
      <vt:lpstr>PowerPoint Presentation</vt:lpstr>
      <vt:lpstr>How the Grafana HTTP API Fits Together</vt:lpstr>
      <vt:lpstr>Authentication - Who Is Calling?</vt:lpstr>
      <vt:lpstr>Dashboard API</vt:lpstr>
      <vt:lpstr>Folder API</vt:lpstr>
      <vt:lpstr>User, Org &amp; Team API</vt:lpstr>
      <vt:lpstr>Data Source API</vt:lpstr>
      <vt:lpstr>Drive Grafana from the Command Line</vt:lpstr>
      <vt:lpstr>PowerPoint Presentation</vt:lpstr>
      <vt:lpstr>How Provisioning Works</vt:lpstr>
      <vt:lpstr>YAML Configuration - The Provider Files</vt:lpstr>
      <vt:lpstr>JSON Provisioning - Dashboard Anatomy</vt:lpstr>
      <vt:lpstr>Dashboards as Code</vt:lpstr>
      <vt:lpstr>Folder Provisioning &amp; Trade-offs</vt:lpstr>
      <vt:lpstr>Provision Everything From Files</vt:lpstr>
      <vt:lpstr>PowerPoint Presentation</vt:lpstr>
      <vt:lpstr>PowerPoint Presentation</vt:lpstr>
      <vt:lpstr>Three Ways to Automate - Pick On Purpose</vt:lpstr>
      <vt:lpstr>The Grafana Terraform Provider</vt:lpstr>
      <vt:lpstr>Provisioning Folders, Data Sources &amp; Dashboards</vt:lpstr>
      <vt:lpstr>Workflow, State and Drift</vt:lpstr>
      <vt:lpstr>Automation Best Practices</vt:lpstr>
      <vt:lpstr>PowerPoint Presentation</vt:lpstr>
      <vt:lpstr>PowerPoint Presentation</vt:lpstr>
      <vt:lpstr>Backup &amp; Restore</vt:lpstr>
      <vt:lpstr>High Availability</vt:lpstr>
      <vt:lpstr>SSL / TLS Configuration</vt:lpstr>
      <vt:lpstr>Reverse Proxy with Nginx</vt:lpstr>
      <vt:lpstr>Monitoring Grafana Itself</vt:lpstr>
      <vt:lpstr>Troubleshooting Playbook</vt:lpstr>
      <vt:lpstr>PowerPoint Presentation</vt:lpstr>
      <vt:lpstr>Capstone · Observability Stack as Code</vt:lpstr>
      <vt:lpstr>How the Capstone Is Marked</vt:lpstr>
      <vt:lpstr>Wrap-Up · Five Days, One Habit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Vikash Verma</dc:creator>
  <cp:lastModifiedBy>Vikash Verma</cp:lastModifiedBy>
  <cp:revision>3</cp:revision>
  <dcterms:created xsi:type="dcterms:W3CDTF">2026-08-03T00:03:27Z</dcterms:created>
  <dcterms:modified xsi:type="dcterms:W3CDTF">2026-08-03T00:37:59Z</dcterms:modified>
</cp:coreProperties>
</file>