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8" r:id="rId2"/>
    <p:sldId id="369" r:id="rId3"/>
    <p:sldId id="285" r:id="rId4"/>
    <p:sldId id="312" r:id="rId5"/>
    <p:sldId id="313" r:id="rId6"/>
    <p:sldId id="291" r:id="rId7"/>
    <p:sldId id="292" r:id="rId8"/>
    <p:sldId id="293" r:id="rId9"/>
    <p:sldId id="342" r:id="rId10"/>
    <p:sldId id="340" r:id="rId11"/>
    <p:sldId id="341" r:id="rId12"/>
    <p:sldId id="361" r:id="rId13"/>
    <p:sldId id="362" r:id="rId14"/>
    <p:sldId id="294" r:id="rId15"/>
    <p:sldId id="296" r:id="rId16"/>
    <p:sldId id="314" r:id="rId17"/>
    <p:sldId id="316" r:id="rId18"/>
    <p:sldId id="299" r:id="rId19"/>
    <p:sldId id="343" r:id="rId20"/>
    <p:sldId id="344" r:id="rId21"/>
    <p:sldId id="363" r:id="rId22"/>
    <p:sldId id="364" r:id="rId23"/>
    <p:sldId id="365" r:id="rId24"/>
    <p:sldId id="317" r:id="rId25"/>
    <p:sldId id="301" r:id="rId26"/>
    <p:sldId id="328" r:id="rId27"/>
    <p:sldId id="303" r:id="rId28"/>
    <p:sldId id="318" r:id="rId29"/>
    <p:sldId id="370" r:id="rId30"/>
    <p:sldId id="346" r:id="rId31"/>
    <p:sldId id="359" r:id="rId32"/>
    <p:sldId id="305" r:id="rId33"/>
    <p:sldId id="329" r:id="rId34"/>
    <p:sldId id="319" r:id="rId35"/>
    <p:sldId id="348" r:id="rId36"/>
    <p:sldId id="366" r:id="rId37"/>
    <p:sldId id="367" r:id="rId38"/>
    <p:sldId id="349" r:id="rId39"/>
    <p:sldId id="37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9" autoAdjust="0"/>
    <p:restoredTop sz="94660"/>
  </p:normalViewPr>
  <p:slideViewPr>
    <p:cSldViewPr snapToGrid="0">
      <p:cViewPr varScale="1">
        <p:scale>
          <a:sx n="63" d="100"/>
          <a:sy n="63" d="100"/>
        </p:scale>
        <p:origin x="9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FDEFC-401F-D769-B9B5-2F467556A9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735A28-EAEF-BB12-1F6C-24BE0AD742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3B3000-0A46-CA96-F991-3A65B211E796}"/>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BBC90B41-7DB4-1F73-1B55-2A63076EAD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0A3ED5-B955-81CB-72FE-830B9D1967D6}"/>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2560856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72B60-0526-3A2A-BC44-5CF8B2A840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0BF423-E378-61D5-AAAB-566CE26C5A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0EE6E8-893D-6DAC-E31A-19AC27A27502}"/>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026AAF5D-92FD-2389-7546-C944D57522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FCD330-9354-CCFD-C5C1-D2324B73DCD7}"/>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2496809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A6E14-3EFD-8742-60D5-37E21AC606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AB7CFD-9BF1-315A-1212-94BF61848E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EAAA5DC-330C-4894-D39E-791FD39F1959}"/>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85004C90-FF6A-54B3-9F47-CD4BF016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AA564-FC98-FF7B-8D3F-8ECD4E993FBA}"/>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3867812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2DC64-CF58-8602-7494-78AC3B71AA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E5B70-52F5-CBC1-1F00-3E9C8B8E99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C7BE2C-84F0-9FBD-ABD9-51110097058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D1F251-13A2-CD18-D9BA-B3FEE07CEAEF}"/>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6" name="Footer Placeholder 5">
            <a:extLst>
              <a:ext uri="{FF2B5EF4-FFF2-40B4-BE49-F238E27FC236}">
                <a16:creationId xmlns:a16="http://schemas.microsoft.com/office/drawing/2014/main" id="{49675D5C-E20F-6954-7BD5-34558A6DEE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0E5F81-96C5-464A-C086-7321243AF9C4}"/>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3933902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734CF-B81E-98D2-3696-50E1F1F19E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9F675D-33BE-B19D-AC97-D072CAA61B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74E1CC-91BF-8CDB-07AF-200C660543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15985FB-EEC6-5A18-E2DE-FF6E35EF63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A993B9-4939-F235-A38F-85FCC21A3A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A508DF-9681-D83A-2512-00E85AE24755}"/>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8" name="Footer Placeholder 7">
            <a:extLst>
              <a:ext uri="{FF2B5EF4-FFF2-40B4-BE49-F238E27FC236}">
                <a16:creationId xmlns:a16="http://schemas.microsoft.com/office/drawing/2014/main" id="{675AFA52-491B-F224-612E-1B3D867ACD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27C5AA-63CD-6FC9-D0E1-B1F7E2FD537A}"/>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404547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79248-2441-6F6E-C63D-7093A4A9B0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32FDE0-7360-C5C3-3804-A6F766C7F8F3}"/>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4" name="Footer Placeholder 3">
            <a:extLst>
              <a:ext uri="{FF2B5EF4-FFF2-40B4-BE49-F238E27FC236}">
                <a16:creationId xmlns:a16="http://schemas.microsoft.com/office/drawing/2014/main" id="{1E63F102-957E-8A90-4051-24900D244D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CF393B-E6C5-DAD4-B061-9A0FECC7C2F8}"/>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4044628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E31649-C321-90AD-D5FB-1B161439241A}"/>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3" name="Footer Placeholder 2">
            <a:extLst>
              <a:ext uri="{FF2B5EF4-FFF2-40B4-BE49-F238E27FC236}">
                <a16:creationId xmlns:a16="http://schemas.microsoft.com/office/drawing/2014/main" id="{CEDF724E-60C7-9E62-5278-85CA845704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77A42E4-4CB9-2480-D787-8CD6F30BA72A}"/>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2914300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C5774-2955-3152-54B1-CA496D0B71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CC1D51-6638-829F-0DA9-4676128379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CCCD60-D9E3-D18C-4262-2357BF00F5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49B069-B68E-327F-07EF-143FF17EEDF3}"/>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6" name="Footer Placeholder 5">
            <a:extLst>
              <a:ext uri="{FF2B5EF4-FFF2-40B4-BE49-F238E27FC236}">
                <a16:creationId xmlns:a16="http://schemas.microsoft.com/office/drawing/2014/main" id="{ADC87308-D3FD-EC02-7690-F0D394240E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89C293-4AF9-1A8E-9CBB-3464092DFD64}"/>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130473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C139-2FAB-5878-5730-4A90B8DD7C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B87F25-A69D-E8B3-F929-7CCD795BF4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3D740F-86CE-4F0D-C95C-C9602F93F3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BA4622-9C03-0DA7-0C90-596AFE67EF9C}"/>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6" name="Footer Placeholder 5">
            <a:extLst>
              <a:ext uri="{FF2B5EF4-FFF2-40B4-BE49-F238E27FC236}">
                <a16:creationId xmlns:a16="http://schemas.microsoft.com/office/drawing/2014/main" id="{55C236FF-4D32-D476-FECA-78413267A4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F64A8F-FAB6-B6B1-286B-97FC14732861}"/>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3670563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9D885-9CCC-0F60-9970-06DD9D3D67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882E17-45B1-B678-AA43-C55D935802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34A74C-80BD-1F1F-8782-0FD6FB0408F9}"/>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A87036C7-46C7-8364-DDE8-2C46F8B60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D8A053-8F1B-CE5C-A149-1F84CFB59191}"/>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533070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CC5414-F841-9812-469A-1C5C4489B9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D7D2D8-10C0-BB59-5D07-2F1D7DEF42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ED1BA-144F-E1BC-8A79-9D53B1D65FCD}"/>
              </a:ext>
            </a:extLst>
          </p:cNvPr>
          <p:cNvSpPr>
            <a:spLocks noGrp="1"/>
          </p:cNvSpPr>
          <p:nvPr>
            <p:ph type="dt" sz="half" idx="10"/>
          </p:nvPr>
        </p:nvSpPr>
        <p:spPr/>
        <p:txBody>
          <a:body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8716BB25-DCB5-5A40-A1CB-02EBAABA3B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89376C-374B-D928-A38C-A8FDD2A5E8DE}"/>
              </a:ext>
            </a:extLst>
          </p:cNvPr>
          <p:cNvSpPr>
            <a:spLocks noGrp="1"/>
          </p:cNvSpPr>
          <p:nvPr>
            <p:ph type="sldNum" sz="quarter" idx="12"/>
          </p:nvPr>
        </p:nvSpPr>
        <p:spPr/>
        <p:txBody>
          <a:bodyPr/>
          <a:lstStyle/>
          <a:p>
            <a:fld id="{EA8B7447-7C14-454F-B1EA-6E36E8115615}" type="slidenum">
              <a:rPr lang="en-US" smtClean="0"/>
              <a:t>‹#›</a:t>
            </a:fld>
            <a:endParaRPr lang="en-US"/>
          </a:p>
        </p:txBody>
      </p:sp>
    </p:spTree>
    <p:extLst>
      <p:ext uri="{BB962C8B-B14F-4D97-AF65-F5344CB8AC3E}">
        <p14:creationId xmlns:p14="http://schemas.microsoft.com/office/powerpoint/2010/main" val="130649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171A22"/>
            </a:gs>
            <a:gs pos="100000">
              <a:srgbClr val="0A0B0F"/>
            </a:gs>
          </a:gsLst>
          <a:lin ang="27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798654-2B7F-B2AD-D716-1C10040D5B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B8E1D4-AB95-DB1B-C970-862C31BF8C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DA603-B72E-2778-84D5-1ADB5B33B8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06A164-9FFD-47FF-87DB-F8F45E504163}" type="datetimeFigureOut">
              <a:rPr lang="en-US" smtClean="0"/>
              <a:t>8/3/2026</a:t>
            </a:fld>
            <a:endParaRPr lang="en-US"/>
          </a:p>
        </p:txBody>
      </p:sp>
      <p:sp>
        <p:nvSpPr>
          <p:cNvPr id="5" name="Footer Placeholder 4">
            <a:extLst>
              <a:ext uri="{FF2B5EF4-FFF2-40B4-BE49-F238E27FC236}">
                <a16:creationId xmlns:a16="http://schemas.microsoft.com/office/drawing/2014/main" id="{B8648F7D-8742-9FB6-2AC1-9C22FD0979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193DEF-7661-B46B-D4CB-CF1A930612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8B7447-7C14-454F-B1EA-6E36E8115615}" type="slidenum">
              <a:rPr lang="en-US" smtClean="0"/>
              <a:t>‹#›</a:t>
            </a:fld>
            <a:endParaRPr lang="en-US"/>
          </a:p>
        </p:txBody>
      </p:sp>
      <p:grpSp>
        <p:nvGrpSpPr>
          <p:cNvPr id="90" name="Deco"/>
          <p:cNvGrpSpPr/>
          <p:nvPr/>
        </p:nvGrpSpPr>
        <p:grpSpPr>
          <a:xfrm>
            <a:off x="0" y="0"/>
            <a:ext cx="12192000" cy="6858000"/>
            <a:chOff x="0" y="0"/>
            <a:chExt cx="12192000" cy="6858000"/>
          </a:xfrm>
        </p:grpSpPr>
        <p:sp>
          <p:nvSpPr>
            <p:cNvPr id="91" name="AccentBar"/>
            <p:cNvSpPr/>
            <p:nvPr/>
          </p:nvSpPr>
          <p:spPr>
            <a:xfrm>
              <a:off x="0" y="0"/>
              <a:ext cx="60960" cy="6858000"/>
            </a:xfrm>
            <a:prstGeom prst="rect">
              <a:avLst/>
            </a:prstGeom>
            <a:gradFill>
              <a:gsLst>
                <a:gs pos="0">
                  <a:srgbClr val="F46800"/>
                </a:gs>
                <a:gs pos="100000">
                  <a:srgbClr val="B877D9"/>
                </a:gs>
              </a:gsLst>
              <a:lin ang="5400000" scaled="1"/>
            </a:gradFill>
            <a:ln>
              <a:noFill/>
            </a:ln>
          </p:spPr>
          <p:txBody>
            <a:bodyPr/>
            <a:lstStyle/>
            <a:p>
              <a:endParaRPr/>
            </a:p>
          </p:txBody>
        </p:sp>
        <p:sp>
          <p:nvSpPr>
            <p:cNvPr id="92" name="Hairline"/>
            <p:cNvSpPr/>
            <p:nvPr/>
          </p:nvSpPr>
          <p:spPr>
            <a:xfrm>
              <a:off x="0" y="6781800"/>
              <a:ext cx="12192000" cy="12700"/>
            </a:xfrm>
            <a:prstGeom prst="rect">
              <a:avLst/>
            </a:prstGeom>
            <a:solidFill>
              <a:srgbClr val="2A2F3A"/>
            </a:solidFill>
            <a:ln>
              <a:noFill/>
            </a:ln>
          </p:spPr>
          <p:txBody>
            <a:bodyPr/>
            <a:lstStyle/>
            <a:p>
              <a:endParaRPr/>
            </a:p>
          </p:txBody>
        </p:sp>
      </p:grpSp>
    </p:spTree>
    <p:extLst>
      <p:ext uri="{BB962C8B-B14F-4D97-AF65-F5344CB8AC3E}">
        <p14:creationId xmlns:p14="http://schemas.microsoft.com/office/powerpoint/2010/main" val="31309731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D6DBE4"/>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D6DBE4"/>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D6DBE4"/>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D6DBE4"/>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D9FC5-050C-AB8F-685E-0CEB2447A177}"/>
              </a:ext>
            </a:extLst>
          </p:cNvPr>
          <p:cNvSpPr>
            <a:spLocks noGrp="1"/>
          </p:cNvSpPr>
          <p:nvPr>
            <p:ph type="ctrTitle"/>
          </p:nvPr>
        </p:nvSpPr>
        <p:spPr>
          <a:xfrm>
            <a:off x="1143000" y="2133600"/>
            <a:ext cx="10033000" cy="1524000"/>
          </a:xfrm>
        </p:spPr>
        <p:txBody>
          <a:bodyPr>
            <a:normAutofit fontScale="90000"/>
          </a:bodyPr>
          <a:lstStyle/>
          <a:p>
            <a:pPr algn="l">
              <a:buNone/>
            </a:pPr>
            <a:r>
              <a:rPr lang="en-US" sz="5400" b="1" dirty="0">
                <a:solidFill>
                  <a:srgbClr val="FFFFFF"/>
                </a:solidFill>
              </a:rPr>
              <a:t>Data Sources &amp; Dashboard Development</a:t>
            </a:r>
          </a:p>
        </p:txBody>
      </p:sp>
      <p:sp>
        <p:nvSpPr>
          <p:cNvPr id="201" name="S201"/>
          <p:cNvSpPr/>
          <p:nvPr/>
        </p:nvSpPr>
        <p:spPr>
          <a:xfrm>
            <a:off x="1231900" y="1473200"/>
            <a:ext cx="4191000" cy="406400"/>
          </a:xfrm>
          <a:prstGeom prst="roundRect">
            <a:avLst/>
          </a:prstGeom>
          <a:solidFill>
            <a:srgbClr val="2A1608"/>
          </a:solidFill>
          <a:ln w="12700">
            <a:solidFill>
              <a:srgbClr val="F46800"/>
            </a:solidFill>
          </a:ln>
        </p:spPr>
        <p:txBody>
          <a:bodyPr wrap="square" lIns="127000" tIns="76200" rIns="127000" bIns="76200" anchor="ctr"/>
          <a:lstStyle/>
          <a:p>
            <a:pPr algn="ctr">
              <a:buNone/>
            </a:pPr>
            <a:r>
              <a:rPr lang="en-US" sz="1400" b="1" spc="200" dirty="0">
                <a:solidFill>
                  <a:srgbClr val="FF9830"/>
                </a:solidFill>
              </a:rPr>
              <a:t>GRAFANA TRAINING · DAY 2</a:t>
            </a:r>
          </a:p>
        </p:txBody>
      </p:sp>
      <p:sp>
        <p:nvSpPr>
          <p:cNvPr id="202" name="S202"/>
          <p:cNvSpPr/>
          <p:nvPr/>
        </p:nvSpPr>
        <p:spPr>
          <a:xfrm>
            <a:off x="1231900" y="3708400"/>
            <a:ext cx="1651000" cy="50800"/>
          </a:xfrm>
          <a:prstGeom prst="rect">
            <a:avLst/>
          </a:prstGeom>
          <a:solidFill>
            <a:srgbClr val="F46800"/>
          </a:solidFill>
          <a:ln>
            <a:noFill/>
          </a:ln>
        </p:spPr>
        <p:txBody>
          <a:bodyPr wrap="square" lIns="127000" tIns="76200" rIns="127000" bIns="76200" anchor="ctr"/>
          <a:lstStyle/>
          <a:p>
            <a:endParaRPr/>
          </a:p>
        </p:txBody>
      </p:sp>
      <p:sp>
        <p:nvSpPr>
          <p:cNvPr id="203" name="S203"/>
          <p:cNvSpPr/>
          <p:nvPr/>
        </p:nvSpPr>
        <p:spPr>
          <a:xfrm>
            <a:off x="1231900" y="4978400"/>
            <a:ext cx="2362200" cy="812800"/>
          </a:xfrm>
          <a:prstGeom prst="roundRect">
            <a:avLst/>
          </a:prstGeom>
          <a:solidFill>
            <a:srgbClr val="161A22"/>
          </a:solidFill>
          <a:ln w="12700">
            <a:solidFill>
              <a:srgbClr val="2B3140"/>
            </a:solidFill>
          </a:ln>
        </p:spPr>
        <p:txBody>
          <a:bodyPr wrap="square" lIns="127000" tIns="76200" rIns="127000" bIns="76200" anchor="ctr"/>
          <a:lstStyle/>
          <a:p>
            <a:pPr algn="ctr">
              <a:buNone/>
            </a:pPr>
            <a:r>
              <a:rPr lang="en-US" sz="1400" b="1" dirty="0">
                <a:solidFill>
                  <a:srgbClr val="F46800"/>
                </a:solidFill>
              </a:rPr>
              <a:t>M5</a:t>
            </a:r>
          </a:p>
          <a:p>
            <a:pPr algn="ctr">
              <a:buNone/>
            </a:pPr>
            <a:r>
              <a:rPr lang="en-US" sz="1500" b="1" dirty="0">
                <a:solidFill>
                  <a:srgbClr val="E8EBF0"/>
                </a:solidFill>
              </a:rPr>
              <a:t>Data Sources</a:t>
            </a:r>
          </a:p>
        </p:txBody>
      </p:sp>
      <p:sp>
        <p:nvSpPr>
          <p:cNvPr id="204" name="S204"/>
          <p:cNvSpPr/>
          <p:nvPr/>
        </p:nvSpPr>
        <p:spPr>
          <a:xfrm>
            <a:off x="3746500" y="4978400"/>
            <a:ext cx="2362200" cy="812800"/>
          </a:xfrm>
          <a:prstGeom prst="roundRect">
            <a:avLst/>
          </a:prstGeom>
          <a:solidFill>
            <a:srgbClr val="161A22"/>
          </a:solidFill>
          <a:ln w="12700">
            <a:solidFill>
              <a:srgbClr val="2B3140"/>
            </a:solidFill>
          </a:ln>
        </p:spPr>
        <p:txBody>
          <a:bodyPr wrap="square" lIns="127000" tIns="76200" rIns="127000" bIns="76200" anchor="ctr"/>
          <a:lstStyle/>
          <a:p>
            <a:pPr algn="ctr">
              <a:buNone/>
            </a:pPr>
            <a:r>
              <a:rPr lang="en-US" sz="1400" b="1" dirty="0">
                <a:solidFill>
                  <a:srgbClr val="FF9830"/>
                </a:solidFill>
              </a:rPr>
              <a:t>M6</a:t>
            </a:r>
          </a:p>
          <a:p>
            <a:pPr algn="ctr">
              <a:buNone/>
            </a:pPr>
            <a:r>
              <a:rPr lang="en-US" sz="1500" b="1" dirty="0">
                <a:solidFill>
                  <a:srgbClr val="E8EBF0"/>
                </a:solidFill>
              </a:rPr>
              <a:t>Prometheus</a:t>
            </a:r>
          </a:p>
        </p:txBody>
      </p:sp>
      <p:sp>
        <p:nvSpPr>
          <p:cNvPr id="205" name="S205"/>
          <p:cNvSpPr/>
          <p:nvPr/>
        </p:nvSpPr>
        <p:spPr>
          <a:xfrm>
            <a:off x="6261100" y="4978400"/>
            <a:ext cx="2362200" cy="812800"/>
          </a:xfrm>
          <a:prstGeom prst="roundRect">
            <a:avLst/>
          </a:prstGeom>
          <a:solidFill>
            <a:srgbClr val="161A22"/>
          </a:solidFill>
          <a:ln w="12700">
            <a:solidFill>
              <a:srgbClr val="2B3140"/>
            </a:solidFill>
          </a:ln>
        </p:spPr>
        <p:txBody>
          <a:bodyPr wrap="square" lIns="127000" tIns="76200" rIns="127000" bIns="76200" anchor="ctr"/>
          <a:lstStyle/>
          <a:p>
            <a:pPr algn="ctr">
              <a:buNone/>
            </a:pPr>
            <a:r>
              <a:rPr lang="en-US" sz="1400" b="1" dirty="0">
                <a:solidFill>
                  <a:srgbClr val="3274D9"/>
                </a:solidFill>
              </a:rPr>
              <a:t>M7</a:t>
            </a:r>
          </a:p>
          <a:p>
            <a:pPr algn="ctr">
              <a:buNone/>
            </a:pPr>
            <a:r>
              <a:rPr lang="en-US" sz="1500" b="1" dirty="0">
                <a:solidFill>
                  <a:srgbClr val="E8EBF0"/>
                </a:solidFill>
              </a:rPr>
              <a:t>Dashboards</a:t>
            </a:r>
          </a:p>
        </p:txBody>
      </p:sp>
      <p:sp>
        <p:nvSpPr>
          <p:cNvPr id="206" name="S206"/>
          <p:cNvSpPr/>
          <p:nvPr/>
        </p:nvSpPr>
        <p:spPr>
          <a:xfrm>
            <a:off x="8775700" y="4978400"/>
            <a:ext cx="2362200" cy="812800"/>
          </a:xfrm>
          <a:prstGeom prst="roundRect">
            <a:avLst/>
          </a:prstGeom>
          <a:solidFill>
            <a:srgbClr val="161A22"/>
          </a:solidFill>
          <a:ln w="12700">
            <a:solidFill>
              <a:srgbClr val="2B3140"/>
            </a:solidFill>
          </a:ln>
        </p:spPr>
        <p:txBody>
          <a:bodyPr wrap="square" lIns="127000" tIns="76200" rIns="127000" bIns="76200" anchor="ctr"/>
          <a:lstStyle/>
          <a:p>
            <a:pPr algn="ctr">
              <a:buNone/>
            </a:pPr>
            <a:r>
              <a:rPr lang="en-US" sz="1400" b="1" dirty="0">
                <a:solidFill>
                  <a:srgbClr val="B877D9"/>
                </a:solidFill>
              </a:rPr>
              <a:t>M8</a:t>
            </a:r>
          </a:p>
          <a:p>
            <a:pPr algn="ctr">
              <a:buNone/>
            </a:pPr>
            <a:r>
              <a:rPr lang="en-US" sz="1500" b="1" dirty="0">
                <a:solidFill>
                  <a:srgbClr val="E8EBF0"/>
                </a:solidFill>
              </a:rPr>
              <a:t>Visualizations</a:t>
            </a:r>
          </a:p>
        </p:txBody>
      </p:sp>
      <p:sp>
        <p:nvSpPr>
          <p:cNvPr id="207" name="S207"/>
          <p:cNvSpPr/>
          <p:nvPr/>
        </p:nvSpPr>
        <p:spPr>
          <a:xfrm>
            <a:off x="1231900" y="6019800"/>
            <a:ext cx="9906000" cy="355600"/>
          </a:xfrm>
          <a:prstGeom prst="rect">
            <a:avLst/>
          </a:prstGeom>
          <a:noFill/>
          <a:ln>
            <a:noFill/>
          </a:ln>
        </p:spPr>
        <p:txBody>
          <a:bodyPr wrap="square" lIns="127000" tIns="76200" rIns="127000" bIns="76200" anchor="ctr"/>
          <a:lstStyle/>
          <a:p>
            <a:pPr algn="l">
              <a:buNone/>
            </a:pPr>
            <a:r>
              <a:rPr lang="en-US" sz="1400" dirty="0">
                <a:solidFill>
                  <a:srgbClr val="9AA5B5"/>
                </a:solidFill>
              </a:rPr>
              <a:t>Lab environment: Grafana · Prometheus · PostgreSQL · Node Exporter</a:t>
            </a:r>
          </a:p>
        </p:txBody>
      </p:sp>
    </p:spTree>
    <p:extLst>
      <p:ext uri="{BB962C8B-B14F-4D97-AF65-F5344CB8AC3E}">
        <p14:creationId xmlns:p14="http://schemas.microsoft.com/office/powerpoint/2010/main" val="3073364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EFC5F-3591-DF3B-5654-D4DB3204E162}"/>
              </a:ext>
            </a:extLst>
          </p:cNvPr>
          <p:cNvSpPr>
            <a:spLocks noGrp="1"/>
          </p:cNvSpPr>
          <p:nvPr>
            <p:ph type="title"/>
          </p:nvPr>
        </p:nvSpPr>
        <p:spPr>
          <a:xfrm>
            <a:off x="762000" y="279400"/>
            <a:ext cx="10668000" cy="508000"/>
          </a:xfrm>
        </p:spPr>
        <p:txBody>
          <a:bodyPr>
            <a:normAutofit fontScale="90000"/>
          </a:bodyPr>
          <a:lstStyle/>
          <a:p>
            <a:r>
              <a:rPr lang="en-US"/>
              <a:t>How Today Runs</a:t>
            </a:r>
          </a:p>
        </p:txBody>
      </p:sp>
      <p:sp>
        <p:nvSpPr>
          <p:cNvPr id="3" name="Rectangle 2">
            <a:extLst>
              <a:ext uri="{FF2B5EF4-FFF2-40B4-BE49-F238E27FC236}">
                <a16:creationId xmlns:a16="http://schemas.microsoft.com/office/drawing/2014/main" id="{985D897A-4543-4807-8BF4-095F42CE380B}"/>
              </a:ext>
            </a:extLst>
          </p:cNvPr>
          <p:cNvSpPr/>
          <p:nvPr/>
        </p:nvSpPr>
        <p:spPr>
          <a:xfrm>
            <a:off x="762000" y="812800"/>
            <a:ext cx="1524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EA4F8CAC-0A0C-4004-B6C6-32E8CCF3739B}"/>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Four cycles of teach, check, then build - roughly 55 minutes each</a:t>
            </a:r>
          </a:p>
        </p:txBody>
      </p:sp>
      <p:sp>
        <p:nvSpPr>
          <p:cNvPr id="5" name="Rectangle 4">
            <a:extLst>
              <a:ext uri="{FF2B5EF4-FFF2-40B4-BE49-F238E27FC236}">
                <a16:creationId xmlns:a16="http://schemas.microsoft.com/office/drawing/2014/main" id="{C1EF3B99-DBA7-4682-8E4D-D77BABA0937C}"/>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374183D-73B1-4012-A9BF-D20E4D92F3D5}"/>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E6D16FC0-F8FA-43F7-B8EC-721237A0B1B7}"/>
              </a:ext>
            </a:extLst>
          </p:cNvPr>
          <p:cNvSpPr/>
          <p:nvPr/>
        </p:nvSpPr>
        <p:spPr>
          <a:xfrm>
            <a:off x="914400" y="1524000"/>
            <a:ext cx="4064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1</a:t>
            </a:r>
          </a:p>
        </p:txBody>
      </p:sp>
      <p:sp>
        <p:nvSpPr>
          <p:cNvPr id="8" name="TextBox 7">
            <a:extLst>
              <a:ext uri="{FF2B5EF4-FFF2-40B4-BE49-F238E27FC236}">
                <a16:creationId xmlns:a16="http://schemas.microsoft.com/office/drawing/2014/main" id="{9AAF55AF-8C77-4AE3-BB90-13F47F5F0840}"/>
              </a:ext>
            </a:extLst>
          </p:cNvPr>
          <p:cNvSpPr txBox="1"/>
          <p:nvPr/>
        </p:nvSpPr>
        <p:spPr>
          <a:xfrm>
            <a:off x="1422400" y="1524000"/>
            <a:ext cx="4419600" cy="355600"/>
          </a:xfrm>
          <a:prstGeom prst="rect">
            <a:avLst/>
          </a:prstGeom>
          <a:noFill/>
        </p:spPr>
        <p:txBody>
          <a:bodyPr vertOverflow="overflow" vert="horz" wrap="square" rtlCol="0" anchor="t">
            <a:noAutofit/>
          </a:bodyPr>
          <a:lstStyle/>
          <a:p>
            <a:pPr algn="l"/>
            <a:r>
              <a:rPr lang="en-US" sz="1700" b="1">
                <a:solidFill>
                  <a:srgbClr val="FFFFFF"/>
                </a:solidFill>
              </a:rPr>
              <a:t>Data Sources</a:t>
            </a:r>
          </a:p>
        </p:txBody>
      </p:sp>
      <p:sp>
        <p:nvSpPr>
          <p:cNvPr id="9" name="TextBox 8">
            <a:extLst>
              <a:ext uri="{FF2B5EF4-FFF2-40B4-BE49-F238E27FC236}">
                <a16:creationId xmlns:a16="http://schemas.microsoft.com/office/drawing/2014/main" id="{1CAE0713-8705-4614-9427-98158C2A0746}"/>
              </a:ext>
            </a:extLst>
          </p:cNvPr>
          <p:cNvSpPr txBox="1"/>
          <p:nvPr/>
        </p:nvSpPr>
        <p:spPr>
          <a:xfrm>
            <a:off x="939800" y="2006600"/>
            <a:ext cx="4927600" cy="1371600"/>
          </a:xfrm>
          <a:prstGeom prst="rect">
            <a:avLst/>
          </a:prstGeom>
          <a:noFill/>
        </p:spPr>
        <p:txBody>
          <a:bodyPr vertOverflow="overflow" vert="horz" wrap="square" rtlCol="0" anchor="t">
            <a:noAutofit/>
          </a:bodyPr>
          <a:lstStyle/>
          <a:p>
            <a:pPr algn="l"/>
            <a:r>
              <a:rPr lang="en-US" sz="1500">
                <a:solidFill>
                  <a:srgbClr val="B4BECC"/>
                </a:solidFill>
              </a:rPr>
              <a:t>Theory: what a source is, and the seven you will meet
Check: scenario discussion + Quiz 1
Build: Lab 1 - wire Prometheus, PostgreSQL, Loki</a:t>
            </a:r>
          </a:p>
        </p:txBody>
      </p:sp>
      <p:sp>
        <p:nvSpPr>
          <p:cNvPr id="10" name="Rectangle 9">
            <a:extLst>
              <a:ext uri="{FF2B5EF4-FFF2-40B4-BE49-F238E27FC236}">
                <a16:creationId xmlns:a16="http://schemas.microsoft.com/office/drawing/2014/main" id="{032825B1-75CB-4B3D-8595-B90CD0E2F4CD}"/>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7928968E-B449-4ABD-90C8-3810A38A8094}"/>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22A7815A-EFCA-46FD-991B-BC1712E997B5}"/>
              </a:ext>
            </a:extLst>
          </p:cNvPr>
          <p:cNvSpPr/>
          <p:nvPr/>
        </p:nvSpPr>
        <p:spPr>
          <a:xfrm>
            <a:off x="6324600" y="1524000"/>
            <a:ext cx="4064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2</a:t>
            </a:r>
          </a:p>
        </p:txBody>
      </p:sp>
      <p:sp>
        <p:nvSpPr>
          <p:cNvPr id="13" name="TextBox 12">
            <a:extLst>
              <a:ext uri="{FF2B5EF4-FFF2-40B4-BE49-F238E27FC236}">
                <a16:creationId xmlns:a16="http://schemas.microsoft.com/office/drawing/2014/main" id="{9FB3A65D-3FBB-4EAD-8FD5-1775B83E7D86}"/>
              </a:ext>
            </a:extLst>
          </p:cNvPr>
          <p:cNvSpPr txBox="1"/>
          <p:nvPr/>
        </p:nvSpPr>
        <p:spPr>
          <a:xfrm>
            <a:off x="6832600" y="1524000"/>
            <a:ext cx="4419600" cy="355600"/>
          </a:xfrm>
          <a:prstGeom prst="rect">
            <a:avLst/>
          </a:prstGeom>
          <a:noFill/>
        </p:spPr>
        <p:txBody>
          <a:bodyPr vertOverflow="overflow" vert="horz" wrap="square" rtlCol="0" anchor="t">
            <a:noAutofit/>
          </a:bodyPr>
          <a:lstStyle/>
          <a:p>
            <a:pPr algn="l"/>
            <a:r>
              <a:rPr lang="en-US" sz="1700" b="1">
                <a:solidFill>
                  <a:srgbClr val="FFFFFF"/>
                </a:solidFill>
              </a:rPr>
              <a:t>Prometheus</a:t>
            </a:r>
          </a:p>
        </p:txBody>
      </p:sp>
      <p:sp>
        <p:nvSpPr>
          <p:cNvPr id="14" name="TextBox 13">
            <a:extLst>
              <a:ext uri="{FF2B5EF4-FFF2-40B4-BE49-F238E27FC236}">
                <a16:creationId xmlns:a16="http://schemas.microsoft.com/office/drawing/2014/main" id="{CD02EA31-B19A-4080-9680-B52688111341}"/>
              </a:ext>
            </a:extLst>
          </p:cNvPr>
          <p:cNvSpPr txBox="1"/>
          <p:nvPr/>
        </p:nvSpPr>
        <p:spPr>
          <a:xfrm>
            <a:off x="6350000" y="2006600"/>
            <a:ext cx="4927600" cy="1371600"/>
          </a:xfrm>
          <a:prstGeom prst="rect">
            <a:avLst/>
          </a:prstGeom>
          <a:noFill/>
        </p:spPr>
        <p:txBody>
          <a:bodyPr vertOverflow="overflow" vert="horz" wrap="square" rtlCol="0" anchor="t">
            <a:noAutofit/>
          </a:bodyPr>
          <a:lstStyle/>
          <a:p>
            <a:pPr algn="l"/>
            <a:r>
              <a:rPr lang="en-US" sz="1500">
                <a:solidFill>
                  <a:srgbClr val="B4BECC"/>
                </a:solidFill>
              </a:rPr>
              <a:t>Theory: architecture, scraping, the data model, PromQL
Check: Quiz 2 on pull, series and cardinality
Build: Lab 2 - query and graph live metrics</a:t>
            </a:r>
          </a:p>
        </p:txBody>
      </p:sp>
      <p:sp>
        <p:nvSpPr>
          <p:cNvPr id="15" name="Rectangle 14">
            <a:extLst>
              <a:ext uri="{FF2B5EF4-FFF2-40B4-BE49-F238E27FC236}">
                <a16:creationId xmlns:a16="http://schemas.microsoft.com/office/drawing/2014/main" id="{3C30C98D-0B02-45DE-8C49-93C933B774BD}"/>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AD240235-F8A7-4A5B-973E-9B85B64F6863}"/>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4DF5BE80-1647-47AC-862C-706D4089D4A1}"/>
              </a:ext>
            </a:extLst>
          </p:cNvPr>
          <p:cNvSpPr/>
          <p:nvPr/>
        </p:nvSpPr>
        <p:spPr>
          <a:xfrm>
            <a:off x="914400" y="3987800"/>
            <a:ext cx="4064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3</a:t>
            </a:r>
          </a:p>
        </p:txBody>
      </p:sp>
      <p:sp>
        <p:nvSpPr>
          <p:cNvPr id="18" name="TextBox 17">
            <a:extLst>
              <a:ext uri="{FF2B5EF4-FFF2-40B4-BE49-F238E27FC236}">
                <a16:creationId xmlns:a16="http://schemas.microsoft.com/office/drawing/2014/main" id="{1812051C-175B-46D0-8704-7A3EF926C1E2}"/>
              </a:ext>
            </a:extLst>
          </p:cNvPr>
          <p:cNvSpPr txBox="1"/>
          <p:nvPr/>
        </p:nvSpPr>
        <p:spPr>
          <a:xfrm>
            <a:off x="1422400" y="3987800"/>
            <a:ext cx="4419600" cy="355600"/>
          </a:xfrm>
          <a:prstGeom prst="rect">
            <a:avLst/>
          </a:prstGeom>
          <a:noFill/>
        </p:spPr>
        <p:txBody>
          <a:bodyPr vertOverflow="overflow" vert="horz" wrap="square" rtlCol="0" anchor="t">
            <a:noAutofit/>
          </a:bodyPr>
          <a:lstStyle/>
          <a:p>
            <a:pPr algn="l"/>
            <a:r>
              <a:rPr lang="en-US" sz="1700" b="1">
                <a:solidFill>
                  <a:srgbClr val="FFFFFF"/>
                </a:solidFill>
              </a:rPr>
              <a:t>Dashboards</a:t>
            </a:r>
          </a:p>
        </p:txBody>
      </p:sp>
      <p:sp>
        <p:nvSpPr>
          <p:cNvPr id="19" name="TextBox 18">
            <a:extLst>
              <a:ext uri="{FF2B5EF4-FFF2-40B4-BE49-F238E27FC236}">
                <a16:creationId xmlns:a16="http://schemas.microsoft.com/office/drawing/2014/main" id="{EB3C2B5E-6BAD-46B6-85AA-BB94803B0B00}"/>
              </a:ext>
            </a:extLst>
          </p:cNvPr>
          <p:cNvSpPr txBox="1"/>
          <p:nvPr/>
        </p:nvSpPr>
        <p:spPr>
          <a:xfrm>
            <a:off x="939800" y="4470400"/>
            <a:ext cx="4927600" cy="1371600"/>
          </a:xfrm>
          <a:prstGeom prst="rect">
            <a:avLst/>
          </a:prstGeom>
          <a:noFill/>
        </p:spPr>
        <p:txBody>
          <a:bodyPr vertOverflow="overflow" vert="horz" wrap="square" rtlCol="0" anchor="t">
            <a:noAutofit/>
          </a:bodyPr>
          <a:lstStyle/>
          <a:p>
            <a:pPr algn="l"/>
            <a:r>
              <a:rPr lang="en-US" sz="1500">
                <a:solidFill>
                  <a:srgbClr val="B4BECC"/>
                </a:solidFill>
              </a:rPr>
              <a:t>Theory: design principles, anatomy, variables, rows
Check: critique an inherited board + Quiz 3
Build: Lab 3 - lay out your own board</a:t>
            </a:r>
          </a:p>
        </p:txBody>
      </p:sp>
      <p:sp>
        <p:nvSpPr>
          <p:cNvPr id="20" name="Rectangle 19">
            <a:extLst>
              <a:ext uri="{FF2B5EF4-FFF2-40B4-BE49-F238E27FC236}">
                <a16:creationId xmlns:a16="http://schemas.microsoft.com/office/drawing/2014/main" id="{93AD33FE-E342-4DD9-A1CB-AFBD34D8CEB8}"/>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3BB2C06D-DC1B-46E6-822A-0E526EDB520A}"/>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E0AB4391-C9D2-4023-870B-D3F0DB1C1850}"/>
              </a:ext>
            </a:extLst>
          </p:cNvPr>
          <p:cNvSpPr/>
          <p:nvPr/>
        </p:nvSpPr>
        <p:spPr>
          <a:xfrm>
            <a:off x="6324600" y="3987800"/>
            <a:ext cx="4064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4</a:t>
            </a:r>
          </a:p>
        </p:txBody>
      </p:sp>
      <p:sp>
        <p:nvSpPr>
          <p:cNvPr id="23" name="TextBox 22">
            <a:extLst>
              <a:ext uri="{FF2B5EF4-FFF2-40B4-BE49-F238E27FC236}">
                <a16:creationId xmlns:a16="http://schemas.microsoft.com/office/drawing/2014/main" id="{A3A88ACA-4A8E-4557-A669-7A6964024A0B}"/>
              </a:ext>
            </a:extLst>
          </p:cNvPr>
          <p:cNvSpPr txBox="1"/>
          <p:nvPr/>
        </p:nvSpPr>
        <p:spPr>
          <a:xfrm>
            <a:off x="6832600" y="3987800"/>
            <a:ext cx="4419600" cy="355600"/>
          </a:xfrm>
          <a:prstGeom prst="rect">
            <a:avLst/>
          </a:prstGeom>
          <a:noFill/>
        </p:spPr>
        <p:txBody>
          <a:bodyPr vertOverflow="overflow" vert="horz" wrap="square" rtlCol="0" anchor="t">
            <a:noAutofit/>
          </a:bodyPr>
          <a:lstStyle/>
          <a:p>
            <a:pPr algn="l"/>
            <a:r>
              <a:rPr lang="en-US" sz="1700" b="1">
                <a:solidFill>
                  <a:srgbClr val="FFFFFF"/>
                </a:solidFill>
              </a:rPr>
              <a:t>Panels</a:t>
            </a:r>
          </a:p>
        </p:txBody>
      </p:sp>
      <p:sp>
        <p:nvSpPr>
          <p:cNvPr id="24" name="TextBox 23">
            <a:extLst>
              <a:ext uri="{FF2B5EF4-FFF2-40B4-BE49-F238E27FC236}">
                <a16:creationId xmlns:a16="http://schemas.microsoft.com/office/drawing/2014/main" id="{97D9614F-9BD5-44EC-9BA3-0576B19BC6C2}"/>
              </a:ext>
            </a:extLst>
          </p:cNvPr>
          <p:cNvSpPr txBox="1"/>
          <p:nvPr/>
        </p:nvSpPr>
        <p:spPr>
          <a:xfrm>
            <a:off x="6350000" y="4470400"/>
            <a:ext cx="4927600" cy="1371600"/>
          </a:xfrm>
          <a:prstGeom prst="rect">
            <a:avLst/>
          </a:prstGeom>
          <a:noFill/>
        </p:spPr>
        <p:txBody>
          <a:bodyPr vertOverflow="overflow" vert="horz" wrap="square" rtlCol="0" anchor="t">
            <a:noAutofit/>
          </a:bodyPr>
          <a:lstStyle/>
          <a:p>
            <a:pPr algn="l"/>
            <a:r>
              <a:rPr lang="en-US" sz="1500">
                <a:solidFill>
                  <a:srgbClr val="B4BECC"/>
                </a:solidFill>
              </a:rPr>
              <a:t>Theory: the gallery and how to choose
Check: rapid fire, name that panel
Build: finish Lab 3, then teach it back</a:t>
            </a:r>
          </a:p>
        </p:txBody>
      </p:sp>
    </p:spTree>
    <p:extLst>
      <p:ext uri="{BB962C8B-B14F-4D97-AF65-F5344CB8AC3E}">
        <p14:creationId xmlns:p14="http://schemas.microsoft.com/office/powerpoint/2010/main" val="2702158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E2F2-9E19-112A-6841-F05C77B1F065}"/>
              </a:ext>
            </a:extLst>
          </p:cNvPr>
          <p:cNvSpPr>
            <a:spLocks noGrp="1"/>
          </p:cNvSpPr>
          <p:nvPr>
            <p:ph type="title"/>
          </p:nvPr>
        </p:nvSpPr>
        <p:spPr>
          <a:xfrm>
            <a:off x="838200" y="2489200"/>
            <a:ext cx="7874000" cy="1016000"/>
          </a:xfrm>
        </p:spPr>
        <p:txBody>
          <a:bodyPr/>
          <a:lstStyle/>
          <a:p>
            <a:pPr algn="l">
              <a:buNone/>
            </a:pPr>
            <a:r>
              <a:rPr lang="en-US" sz="4400" b="1" dirty="0">
                <a:solidFill>
                  <a:srgbClr val="FFFFFF"/>
                </a:solidFill>
              </a:rPr>
              <a:t>Working with Data Sources</a:t>
            </a:r>
          </a:p>
        </p:txBody>
      </p:sp>
      <p:sp>
        <p:nvSpPr>
          <p:cNvPr id="3" name="Text Placeholder 2">
            <a:extLst>
              <a:ext uri="{FF2B5EF4-FFF2-40B4-BE49-F238E27FC236}">
                <a16:creationId xmlns:a16="http://schemas.microsoft.com/office/drawing/2014/main" id="{7CC1F066-CAD1-64CA-269D-EF6699D825E9}"/>
              </a:ext>
            </a:extLst>
          </p:cNvPr>
          <p:cNvSpPr>
            <a:spLocks noGrp="1"/>
          </p:cNvSpPr>
          <p:nvPr>
            <p:ph type="body" idx="1"/>
          </p:nvPr>
        </p:nvSpPr>
        <p:spPr>
          <a:xfrm>
            <a:off x="838200" y="3632200"/>
            <a:ext cx="8890000" cy="762000"/>
          </a:xfrm>
        </p:spPr>
        <p:txBody>
          <a:bodyPr/>
          <a:lstStyle/>
          <a:p>
            <a:pPr algn="l">
              <a:buNone/>
            </a:pPr>
            <a:r>
              <a:rPr lang="en-US" sz="1700" b="0" dirty="0">
                <a:solidFill>
                  <a:srgbClr val="A9B2C1"/>
                </a:solidFill>
              </a:rPr>
              <a:t>The connectors that turn Grafana into a single pane of glass across metrics, logs, SQL and cloud.</a:t>
            </a:r>
          </a:p>
        </p:txBody>
      </p:sp>
      <p:sp>
        <p:nvSpPr>
          <p:cNvPr id="401" name="S401"/>
          <p:cNvSpPr/>
          <p:nvPr/>
        </p:nvSpPr>
        <p:spPr>
          <a:xfrm>
            <a:off x="7620000" y="1524000"/>
            <a:ext cx="3810000" cy="3048000"/>
          </a:xfrm>
          <a:prstGeom prst="rect">
            <a:avLst/>
          </a:prstGeom>
          <a:noFill/>
          <a:ln>
            <a:noFill/>
          </a:ln>
        </p:spPr>
        <p:txBody>
          <a:bodyPr wrap="square" lIns="0" tIns="50800" rIns="0" bIns="50800" anchor="ctr"/>
          <a:lstStyle/>
          <a:p>
            <a:pPr algn="r">
              <a:buNone/>
            </a:pPr>
            <a:r>
              <a:rPr lang="en-US" sz="16000" b="1" dirty="0">
                <a:solidFill>
                  <a:srgbClr val="1B202B"/>
                </a:solidFill>
              </a:rPr>
              <a:t>05</a:t>
            </a:r>
          </a:p>
        </p:txBody>
      </p:sp>
      <p:sp>
        <p:nvSpPr>
          <p:cNvPr id="402" name="S402"/>
          <p:cNvSpPr/>
          <p:nvPr/>
        </p:nvSpPr>
        <p:spPr>
          <a:xfrm>
            <a:off x="838200" y="1905000"/>
            <a:ext cx="3302000" cy="406400"/>
          </a:xfrm>
          <a:prstGeom prst="roundRect">
            <a:avLst/>
          </a:prstGeom>
          <a:solidFill>
            <a:srgbClr val="2A1608"/>
          </a:solidFill>
          <a:ln w="12700">
            <a:solidFill>
              <a:srgbClr val="F46800"/>
            </a:solidFill>
          </a:ln>
        </p:spPr>
        <p:txBody>
          <a:bodyPr wrap="square" lIns="127000" tIns="50800" rIns="127000" bIns="50800" anchor="ctr"/>
          <a:lstStyle/>
          <a:p>
            <a:pPr algn="ctr">
              <a:buNone/>
            </a:pPr>
            <a:r>
              <a:rPr lang="en-US" sz="1400" b="1" dirty="0">
                <a:solidFill>
                  <a:srgbClr val="FF9830"/>
                </a:solidFill>
              </a:rPr>
              <a:t>MODULE 5</a:t>
            </a:r>
          </a:p>
        </p:txBody>
      </p:sp>
      <p:sp>
        <p:nvSpPr>
          <p:cNvPr id="403" name="S403"/>
          <p:cNvSpPr/>
          <p:nvPr/>
        </p:nvSpPr>
        <p:spPr>
          <a:xfrm>
            <a:off x="838200" y="3581400"/>
            <a:ext cx="1524000" cy="50800"/>
          </a:xfrm>
          <a:prstGeom prst="rect">
            <a:avLst/>
          </a:prstGeom>
          <a:solidFill>
            <a:srgbClr val="F46800"/>
          </a:solidFill>
          <a:ln>
            <a:noFill/>
          </a:ln>
        </p:spPr>
        <p:txBody>
          <a:bodyPr wrap="square" lIns="127000" tIns="50800" rIns="127000" bIns="50800" anchor="ctr"/>
          <a:lstStyle/>
          <a:p>
            <a:endParaRPr/>
          </a:p>
        </p:txBody>
      </p:sp>
    </p:spTree>
    <p:extLst>
      <p:ext uri="{BB962C8B-B14F-4D97-AF65-F5344CB8AC3E}">
        <p14:creationId xmlns:p14="http://schemas.microsoft.com/office/powerpoint/2010/main" val="1275197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5B9FB-9048-578E-DD36-0404171DEC81}"/>
              </a:ext>
            </a:extLst>
          </p:cNvPr>
          <p:cNvSpPr>
            <a:spLocks noGrp="1"/>
          </p:cNvSpPr>
          <p:nvPr>
            <p:ph type="title"/>
          </p:nvPr>
        </p:nvSpPr>
        <p:spPr>
          <a:xfrm>
            <a:off x="762000" y="355600"/>
            <a:ext cx="10668000" cy="584200"/>
          </a:xfrm>
        </p:spPr>
        <p:txBody>
          <a:bodyPr/>
          <a:lstStyle/>
          <a:p>
            <a:pPr algn="l">
              <a:buNone/>
            </a:pPr>
            <a:r>
              <a:rPr lang="en-US" sz="3400" b="1" dirty="0">
                <a:solidFill>
                  <a:srgbClr val="FFFFFF"/>
                </a:solidFill>
              </a:rPr>
              <a:t>What Are Data Sources?</a:t>
            </a:r>
          </a:p>
        </p:txBody>
      </p:sp>
      <p:sp>
        <p:nvSpPr>
          <p:cNvPr id="401" name="S401"/>
          <p:cNvSpPr/>
          <p:nvPr/>
        </p:nvSpPr>
        <p:spPr>
          <a:xfrm>
            <a:off x="762000" y="1219200"/>
            <a:ext cx="3429000" cy="1676400"/>
          </a:xfrm>
          <a:prstGeom prst="roundRect">
            <a:avLst/>
          </a:prstGeom>
          <a:solidFill>
            <a:srgbClr val="151922"/>
          </a:solidFill>
          <a:ln w="12700">
            <a:solidFill>
              <a:srgbClr val="262C38"/>
            </a:solidFill>
          </a:ln>
        </p:spPr>
        <p:txBody>
          <a:bodyPr wrap="square" lIns="152400" tIns="101600" rIns="152400" bIns="101600" anchor="ctr"/>
          <a:lstStyle/>
          <a:p>
            <a:endParaRPr/>
          </a:p>
        </p:txBody>
      </p:sp>
      <p:sp>
        <p:nvSpPr>
          <p:cNvPr id="402" name="S402"/>
          <p:cNvSpPr/>
          <p:nvPr/>
        </p:nvSpPr>
        <p:spPr>
          <a:xfrm>
            <a:off x="939800" y="1371600"/>
            <a:ext cx="3073400" cy="381000"/>
          </a:xfrm>
          <a:prstGeom prst="rect">
            <a:avLst/>
          </a:prstGeom>
          <a:noFill/>
          <a:ln>
            <a:noFill/>
          </a:ln>
        </p:spPr>
        <p:txBody>
          <a:bodyPr wrap="square" lIns="0" tIns="101600" rIns="0" bIns="101600" anchor="ctr"/>
          <a:lstStyle/>
          <a:p>
            <a:pPr algn="l">
              <a:buNone/>
            </a:pPr>
            <a:r>
              <a:rPr lang="en-US" sz="1700" b="1" dirty="0">
                <a:solidFill>
                  <a:srgbClr val="F46800"/>
                </a:solidFill>
              </a:rPr>
              <a:t>A named connection</a:t>
            </a:r>
          </a:p>
        </p:txBody>
      </p:sp>
      <p:sp>
        <p:nvSpPr>
          <p:cNvPr id="403" name="S403"/>
          <p:cNvSpPr/>
          <p:nvPr/>
        </p:nvSpPr>
        <p:spPr>
          <a:xfrm>
            <a:off x="939800" y="1778000"/>
            <a:ext cx="3073400" cy="990600"/>
          </a:xfrm>
          <a:prstGeom prst="rect">
            <a:avLst/>
          </a:prstGeom>
          <a:noFill/>
          <a:ln>
            <a:noFill/>
          </a:ln>
        </p:spPr>
        <p:txBody>
          <a:bodyPr wrap="square" lIns="0" tIns="101600" rIns="0" bIns="101600" anchor="t"/>
          <a:lstStyle/>
          <a:p>
            <a:pPr algn="l">
              <a:buNone/>
            </a:pPr>
            <a:r>
              <a:rPr lang="en-US" sz="1400" b="0" dirty="0">
                <a:solidFill>
                  <a:srgbClr val="B4BECC"/>
                </a:solidFill>
              </a:rPr>
              <a:t>Stores URL, auth and TLS for one backend.</a:t>
            </a:r>
          </a:p>
        </p:txBody>
      </p:sp>
      <p:sp>
        <p:nvSpPr>
          <p:cNvPr id="431" name="S431"/>
          <p:cNvSpPr/>
          <p:nvPr/>
        </p:nvSpPr>
        <p:spPr>
          <a:xfrm>
            <a:off x="762000" y="990600"/>
            <a:ext cx="1524000" cy="50800"/>
          </a:xfrm>
          <a:prstGeom prst="rect">
            <a:avLst/>
          </a:prstGeom>
          <a:solidFill>
            <a:srgbClr val="F46800"/>
          </a:solidFill>
          <a:ln>
            <a:noFill/>
          </a:ln>
        </p:spPr>
        <p:txBody>
          <a:bodyPr wrap="square" lIns="152400" tIns="101600" rIns="152400" bIns="101600" anchor="ctr"/>
          <a:lstStyle/>
          <a:p>
            <a:endParaRPr/>
          </a:p>
        </p:txBody>
      </p:sp>
      <p:sp>
        <p:nvSpPr>
          <p:cNvPr id="432" name="S432"/>
          <p:cNvSpPr/>
          <p:nvPr/>
        </p:nvSpPr>
        <p:spPr>
          <a:xfrm>
            <a:off x="762000" y="1219200"/>
            <a:ext cx="3429000" cy="50800"/>
          </a:xfrm>
          <a:prstGeom prst="rect">
            <a:avLst/>
          </a:prstGeom>
          <a:solidFill>
            <a:srgbClr val="F46800"/>
          </a:solidFill>
          <a:ln>
            <a:noFill/>
          </a:ln>
        </p:spPr>
        <p:txBody>
          <a:bodyPr wrap="square" lIns="152400" tIns="101600" rIns="152400" bIns="101600" anchor="ctr"/>
          <a:lstStyle/>
          <a:p>
            <a:endParaRPr/>
          </a:p>
        </p:txBody>
      </p:sp>
      <p:sp>
        <p:nvSpPr>
          <p:cNvPr id="433" name="S433"/>
          <p:cNvSpPr/>
          <p:nvPr/>
        </p:nvSpPr>
        <p:spPr>
          <a:xfrm>
            <a:off x="4381500" y="1219200"/>
            <a:ext cx="3429000" cy="1676400"/>
          </a:xfrm>
          <a:prstGeom prst="roundRect">
            <a:avLst/>
          </a:prstGeom>
          <a:solidFill>
            <a:srgbClr val="151922"/>
          </a:solidFill>
          <a:ln w="12700">
            <a:solidFill>
              <a:srgbClr val="262C38"/>
            </a:solidFill>
          </a:ln>
        </p:spPr>
        <p:txBody>
          <a:bodyPr wrap="square" lIns="152400" tIns="101600" rIns="152400" bIns="101600" anchor="ctr"/>
          <a:lstStyle/>
          <a:p>
            <a:endParaRPr/>
          </a:p>
        </p:txBody>
      </p:sp>
      <p:sp>
        <p:nvSpPr>
          <p:cNvPr id="434" name="S434"/>
          <p:cNvSpPr/>
          <p:nvPr/>
        </p:nvSpPr>
        <p:spPr>
          <a:xfrm>
            <a:off x="4381500" y="1219200"/>
            <a:ext cx="3429000" cy="50800"/>
          </a:xfrm>
          <a:prstGeom prst="rect">
            <a:avLst/>
          </a:prstGeom>
          <a:solidFill>
            <a:srgbClr val="3274D9"/>
          </a:solidFill>
          <a:ln>
            <a:noFill/>
          </a:ln>
        </p:spPr>
        <p:txBody>
          <a:bodyPr wrap="square" lIns="152400" tIns="101600" rIns="152400" bIns="101600" anchor="ctr"/>
          <a:lstStyle/>
          <a:p>
            <a:endParaRPr/>
          </a:p>
        </p:txBody>
      </p:sp>
      <p:sp>
        <p:nvSpPr>
          <p:cNvPr id="435" name="S435"/>
          <p:cNvSpPr/>
          <p:nvPr/>
        </p:nvSpPr>
        <p:spPr>
          <a:xfrm>
            <a:off x="4559300" y="1371600"/>
            <a:ext cx="3073400" cy="381000"/>
          </a:xfrm>
          <a:prstGeom prst="rect">
            <a:avLst/>
          </a:prstGeom>
          <a:noFill/>
          <a:ln>
            <a:noFill/>
          </a:ln>
        </p:spPr>
        <p:txBody>
          <a:bodyPr wrap="square" lIns="0" tIns="101600" rIns="0" bIns="101600" anchor="ctr"/>
          <a:lstStyle/>
          <a:p>
            <a:pPr algn="l">
              <a:buNone/>
            </a:pPr>
            <a:r>
              <a:rPr lang="en-US" sz="1700" b="1" dirty="0">
                <a:solidFill>
                  <a:srgbClr val="3274D9"/>
                </a:solidFill>
              </a:rPr>
              <a:t>A query language adapter</a:t>
            </a:r>
          </a:p>
        </p:txBody>
      </p:sp>
      <p:sp>
        <p:nvSpPr>
          <p:cNvPr id="436" name="S436"/>
          <p:cNvSpPr/>
          <p:nvPr/>
        </p:nvSpPr>
        <p:spPr>
          <a:xfrm>
            <a:off x="4559300" y="1778000"/>
            <a:ext cx="3073400" cy="990600"/>
          </a:xfrm>
          <a:prstGeom prst="rect">
            <a:avLst/>
          </a:prstGeom>
          <a:noFill/>
          <a:ln>
            <a:noFill/>
          </a:ln>
        </p:spPr>
        <p:txBody>
          <a:bodyPr wrap="square" lIns="0" tIns="101600" rIns="0" bIns="101600" anchor="t"/>
          <a:lstStyle/>
          <a:p>
            <a:pPr algn="l">
              <a:buNone/>
            </a:pPr>
            <a:r>
              <a:rPr lang="en-US" sz="1400" b="0" dirty="0">
                <a:solidFill>
                  <a:srgbClr val="B4BECC"/>
                </a:solidFill>
              </a:rPr>
              <a:t>Each type ships its own query editor: PromQL, SQL, Lucene, LogQL, plus its own capabilities.</a:t>
            </a:r>
          </a:p>
        </p:txBody>
      </p:sp>
      <p:sp>
        <p:nvSpPr>
          <p:cNvPr id="437" name="S437"/>
          <p:cNvSpPr/>
          <p:nvPr/>
        </p:nvSpPr>
        <p:spPr>
          <a:xfrm>
            <a:off x="8001000" y="1219200"/>
            <a:ext cx="3429000" cy="1676400"/>
          </a:xfrm>
          <a:prstGeom prst="roundRect">
            <a:avLst/>
          </a:prstGeom>
          <a:solidFill>
            <a:srgbClr val="151922"/>
          </a:solidFill>
          <a:ln w="12700">
            <a:solidFill>
              <a:srgbClr val="262C38"/>
            </a:solidFill>
          </a:ln>
        </p:spPr>
        <p:txBody>
          <a:bodyPr wrap="square" lIns="152400" tIns="101600" rIns="152400" bIns="101600" anchor="ctr"/>
          <a:lstStyle/>
          <a:p>
            <a:endParaRPr/>
          </a:p>
        </p:txBody>
      </p:sp>
      <p:sp>
        <p:nvSpPr>
          <p:cNvPr id="438" name="S438"/>
          <p:cNvSpPr/>
          <p:nvPr/>
        </p:nvSpPr>
        <p:spPr>
          <a:xfrm>
            <a:off x="8001000" y="1219200"/>
            <a:ext cx="3429000" cy="50800"/>
          </a:xfrm>
          <a:prstGeom prst="rect">
            <a:avLst/>
          </a:prstGeom>
          <a:solidFill>
            <a:srgbClr val="56A64B"/>
          </a:solidFill>
          <a:ln>
            <a:noFill/>
          </a:ln>
        </p:spPr>
        <p:txBody>
          <a:bodyPr wrap="square" lIns="152400" tIns="101600" rIns="152400" bIns="101600" anchor="ctr"/>
          <a:lstStyle/>
          <a:p>
            <a:endParaRPr/>
          </a:p>
        </p:txBody>
      </p:sp>
      <p:sp>
        <p:nvSpPr>
          <p:cNvPr id="439" name="S439"/>
          <p:cNvSpPr/>
          <p:nvPr/>
        </p:nvSpPr>
        <p:spPr>
          <a:xfrm>
            <a:off x="8178800" y="1371600"/>
            <a:ext cx="3073400" cy="381000"/>
          </a:xfrm>
          <a:prstGeom prst="rect">
            <a:avLst/>
          </a:prstGeom>
          <a:noFill/>
          <a:ln>
            <a:noFill/>
          </a:ln>
        </p:spPr>
        <p:txBody>
          <a:bodyPr wrap="square" lIns="0" tIns="101600" rIns="0" bIns="101600" anchor="ctr"/>
          <a:lstStyle/>
          <a:p>
            <a:pPr algn="l">
              <a:buNone/>
            </a:pPr>
            <a:r>
              <a:rPr lang="en-US" sz="1700" b="1" dirty="0">
                <a:solidFill>
                  <a:srgbClr val="56A64B"/>
                </a:solidFill>
              </a:rPr>
              <a:t>A shared, governed asset</a:t>
            </a:r>
          </a:p>
        </p:txBody>
      </p:sp>
      <p:sp>
        <p:nvSpPr>
          <p:cNvPr id="440" name="S440"/>
          <p:cNvSpPr/>
          <p:nvPr/>
        </p:nvSpPr>
        <p:spPr>
          <a:xfrm>
            <a:off x="8178800" y="1778000"/>
            <a:ext cx="3073400" cy="990600"/>
          </a:xfrm>
          <a:prstGeom prst="rect">
            <a:avLst/>
          </a:prstGeom>
          <a:noFill/>
          <a:ln>
            <a:noFill/>
          </a:ln>
        </p:spPr>
        <p:txBody>
          <a:bodyPr wrap="square" lIns="0" tIns="101600" rIns="0" bIns="101600" anchor="t"/>
          <a:lstStyle/>
          <a:p>
            <a:pPr algn="l">
              <a:buNone/>
            </a:pPr>
            <a:r>
              <a:rPr lang="en-US" sz="1400" b="0" dirty="0">
                <a:solidFill>
                  <a:srgbClr val="B4BECC"/>
                </a:solidFill>
              </a:rPr>
              <a:t>Reusable across dashboards, alerts and Explore. Permissions and provisioning are centrally managed.</a:t>
            </a:r>
          </a:p>
        </p:txBody>
      </p:sp>
      <p:sp>
        <p:nvSpPr>
          <p:cNvPr id="481" name="S481"/>
          <p:cNvSpPr/>
          <p:nvPr/>
        </p:nvSpPr>
        <p:spPr>
          <a:xfrm>
            <a:off x="762000" y="3073400"/>
            <a:ext cx="6604000" cy="355600"/>
          </a:xfrm>
          <a:prstGeom prst="rect">
            <a:avLst/>
          </a:prstGeom>
          <a:noFill/>
          <a:ln>
            <a:noFill/>
          </a:ln>
        </p:spPr>
        <p:txBody>
          <a:bodyPr wrap="square" lIns="0" tIns="101600" rIns="0" bIns="101600" anchor="ctr"/>
          <a:lstStyle/>
          <a:p>
            <a:pPr algn="l">
              <a:buNone/>
            </a:pPr>
            <a:r>
              <a:rPr lang="en-US" sz="1900" b="1" dirty="0">
                <a:solidFill>
                  <a:srgbClr val="FFFFFF"/>
                </a:solidFill>
              </a:rPr>
              <a:t>How a panel actually gets its data</a:t>
            </a:r>
          </a:p>
        </p:txBody>
      </p:sp>
      <p:sp>
        <p:nvSpPr>
          <p:cNvPr id="482" name="S482"/>
          <p:cNvSpPr/>
          <p:nvPr/>
        </p:nvSpPr>
        <p:spPr>
          <a:xfrm>
            <a:off x="762000" y="3556000"/>
            <a:ext cx="1905000" cy="1244600"/>
          </a:xfrm>
          <a:prstGeom prst="roundRect">
            <a:avLst/>
          </a:prstGeom>
          <a:solidFill>
            <a:srgbClr val="141821"/>
          </a:solidFill>
          <a:ln w="12700">
            <a:solidFill>
              <a:srgbClr val="2B3140"/>
            </a:solidFill>
          </a:ln>
        </p:spPr>
        <p:txBody>
          <a:bodyPr wrap="square" lIns="152400" tIns="101600" rIns="152400" bIns="101600" anchor="ctr"/>
          <a:lstStyle/>
          <a:p>
            <a:endParaRPr/>
          </a:p>
        </p:txBody>
      </p:sp>
      <p:sp>
        <p:nvSpPr>
          <p:cNvPr id="483" name="S483"/>
          <p:cNvSpPr/>
          <p:nvPr/>
        </p:nvSpPr>
        <p:spPr>
          <a:xfrm>
            <a:off x="863600" y="3657600"/>
            <a:ext cx="1701800" cy="330200"/>
          </a:xfrm>
          <a:prstGeom prst="rect">
            <a:avLst/>
          </a:prstGeom>
          <a:noFill/>
          <a:ln>
            <a:noFill/>
          </a:ln>
        </p:spPr>
        <p:txBody>
          <a:bodyPr wrap="square" lIns="0" tIns="101600" rIns="0" bIns="101600" anchor="ctr"/>
          <a:lstStyle/>
          <a:p>
            <a:pPr algn="ctr">
              <a:buNone/>
            </a:pPr>
            <a:r>
              <a:rPr lang="en-US" sz="1500" b="1" dirty="0">
                <a:solidFill>
                  <a:srgbClr val="FF9830"/>
                </a:solidFill>
              </a:rPr>
              <a:t>Panel</a:t>
            </a:r>
          </a:p>
        </p:txBody>
      </p:sp>
      <p:sp>
        <p:nvSpPr>
          <p:cNvPr id="484" name="S484"/>
          <p:cNvSpPr/>
          <p:nvPr/>
        </p:nvSpPr>
        <p:spPr>
          <a:xfrm>
            <a:off x="863600" y="4013200"/>
            <a:ext cx="1701800" cy="685800"/>
          </a:xfrm>
          <a:prstGeom prst="rect">
            <a:avLst/>
          </a:prstGeom>
          <a:noFill/>
          <a:ln>
            <a:noFill/>
          </a:ln>
        </p:spPr>
        <p:txBody>
          <a:bodyPr wrap="square" lIns="0" tIns="101600" rIns="0" bIns="101600" anchor="t"/>
          <a:lstStyle/>
          <a:p>
            <a:pPr algn="ctr">
              <a:buNone/>
            </a:pPr>
            <a:r>
              <a:rPr lang="en-US" sz="1400" b="0" dirty="0">
                <a:solidFill>
                  <a:srgbClr val="A9B2C1"/>
                </a:solidFill>
              </a:rPr>
              <a:t>Time range + refresh</a:t>
            </a:r>
          </a:p>
        </p:txBody>
      </p:sp>
      <p:sp>
        <p:nvSpPr>
          <p:cNvPr id="485" name="S485"/>
          <p:cNvSpPr/>
          <p:nvPr/>
        </p:nvSpPr>
        <p:spPr>
          <a:xfrm>
            <a:off x="2705100" y="4038600"/>
            <a:ext cx="203200" cy="254000"/>
          </a:xfrm>
          <a:prstGeom prst="rightArrow">
            <a:avLst/>
          </a:prstGeom>
          <a:solidFill>
            <a:srgbClr val="3A4252"/>
          </a:solidFill>
          <a:ln>
            <a:noFill/>
          </a:ln>
        </p:spPr>
        <p:txBody>
          <a:bodyPr wrap="square" lIns="152400" tIns="101600" rIns="152400" bIns="101600" anchor="ctr"/>
          <a:lstStyle/>
          <a:p>
            <a:endParaRPr/>
          </a:p>
        </p:txBody>
      </p:sp>
      <p:sp>
        <p:nvSpPr>
          <p:cNvPr id="486" name="S486"/>
          <p:cNvSpPr/>
          <p:nvPr/>
        </p:nvSpPr>
        <p:spPr>
          <a:xfrm>
            <a:off x="2946400" y="3556000"/>
            <a:ext cx="1905000" cy="1244600"/>
          </a:xfrm>
          <a:prstGeom prst="roundRect">
            <a:avLst/>
          </a:prstGeom>
          <a:solidFill>
            <a:srgbClr val="141821"/>
          </a:solidFill>
          <a:ln w="12700">
            <a:solidFill>
              <a:srgbClr val="2B3140"/>
            </a:solidFill>
          </a:ln>
        </p:spPr>
        <p:txBody>
          <a:bodyPr wrap="square" lIns="152400" tIns="101600" rIns="152400" bIns="101600" anchor="ctr"/>
          <a:lstStyle/>
          <a:p>
            <a:endParaRPr/>
          </a:p>
        </p:txBody>
      </p:sp>
      <p:sp>
        <p:nvSpPr>
          <p:cNvPr id="487" name="S487"/>
          <p:cNvSpPr/>
          <p:nvPr/>
        </p:nvSpPr>
        <p:spPr>
          <a:xfrm>
            <a:off x="3048000" y="3657600"/>
            <a:ext cx="1701800" cy="330200"/>
          </a:xfrm>
          <a:prstGeom prst="rect">
            <a:avLst/>
          </a:prstGeom>
          <a:noFill/>
          <a:ln>
            <a:noFill/>
          </a:ln>
        </p:spPr>
        <p:txBody>
          <a:bodyPr wrap="square" lIns="0" tIns="101600" rIns="0" bIns="101600" anchor="ctr"/>
          <a:lstStyle/>
          <a:p>
            <a:pPr algn="ctr">
              <a:buNone/>
            </a:pPr>
            <a:r>
              <a:rPr lang="en-US" sz="1500" b="1" dirty="0">
                <a:solidFill>
                  <a:srgbClr val="F46800"/>
                </a:solidFill>
              </a:rPr>
              <a:t>Query editor</a:t>
            </a:r>
          </a:p>
        </p:txBody>
      </p:sp>
      <p:sp>
        <p:nvSpPr>
          <p:cNvPr id="488" name="S488"/>
          <p:cNvSpPr/>
          <p:nvPr/>
        </p:nvSpPr>
        <p:spPr>
          <a:xfrm>
            <a:off x="3048000" y="4013200"/>
            <a:ext cx="1701800" cy="685800"/>
          </a:xfrm>
          <a:prstGeom prst="rect">
            <a:avLst/>
          </a:prstGeom>
          <a:noFill/>
          <a:ln>
            <a:noFill/>
          </a:ln>
        </p:spPr>
        <p:txBody>
          <a:bodyPr wrap="square" lIns="0" tIns="101600" rIns="0" bIns="101600" anchor="t"/>
          <a:lstStyle/>
          <a:p>
            <a:pPr algn="ctr">
              <a:buNone/>
            </a:pPr>
            <a:r>
              <a:rPr lang="en-US" sz="1400" b="0" dirty="0">
                <a:solidFill>
                  <a:srgbClr val="A9B2C1"/>
                </a:solidFill>
              </a:rPr>
              <a:t>PromQL / SQL / LogQL</a:t>
            </a:r>
          </a:p>
        </p:txBody>
      </p:sp>
      <p:sp>
        <p:nvSpPr>
          <p:cNvPr id="489" name="S489"/>
          <p:cNvSpPr/>
          <p:nvPr/>
        </p:nvSpPr>
        <p:spPr>
          <a:xfrm>
            <a:off x="4889500" y="4038600"/>
            <a:ext cx="203200" cy="254000"/>
          </a:xfrm>
          <a:prstGeom prst="rightArrow">
            <a:avLst/>
          </a:prstGeom>
          <a:solidFill>
            <a:srgbClr val="3A4252"/>
          </a:solidFill>
          <a:ln>
            <a:noFill/>
          </a:ln>
        </p:spPr>
        <p:txBody>
          <a:bodyPr wrap="square" lIns="152400" tIns="101600" rIns="152400" bIns="101600" anchor="ctr"/>
          <a:lstStyle/>
          <a:p>
            <a:endParaRPr/>
          </a:p>
        </p:txBody>
      </p:sp>
      <p:sp>
        <p:nvSpPr>
          <p:cNvPr id="490" name="S490"/>
          <p:cNvSpPr/>
          <p:nvPr/>
        </p:nvSpPr>
        <p:spPr>
          <a:xfrm>
            <a:off x="5130800" y="3556000"/>
            <a:ext cx="1905000" cy="1244600"/>
          </a:xfrm>
          <a:prstGeom prst="roundRect">
            <a:avLst/>
          </a:prstGeom>
          <a:solidFill>
            <a:srgbClr val="141821"/>
          </a:solidFill>
          <a:ln w="12700">
            <a:solidFill>
              <a:srgbClr val="2B3140"/>
            </a:solidFill>
          </a:ln>
        </p:spPr>
        <p:txBody>
          <a:bodyPr wrap="square" lIns="152400" tIns="101600" rIns="152400" bIns="101600" anchor="ctr"/>
          <a:lstStyle/>
          <a:p>
            <a:endParaRPr/>
          </a:p>
        </p:txBody>
      </p:sp>
      <p:sp>
        <p:nvSpPr>
          <p:cNvPr id="491" name="S491"/>
          <p:cNvSpPr/>
          <p:nvPr/>
        </p:nvSpPr>
        <p:spPr>
          <a:xfrm>
            <a:off x="5232400" y="3657600"/>
            <a:ext cx="1701800" cy="330200"/>
          </a:xfrm>
          <a:prstGeom prst="rect">
            <a:avLst/>
          </a:prstGeom>
          <a:noFill/>
          <a:ln>
            <a:noFill/>
          </a:ln>
        </p:spPr>
        <p:txBody>
          <a:bodyPr wrap="square" lIns="0" tIns="101600" rIns="0" bIns="101600" anchor="ctr"/>
          <a:lstStyle/>
          <a:p>
            <a:pPr algn="ctr">
              <a:buNone/>
            </a:pPr>
            <a:r>
              <a:rPr lang="en-US" sz="1500" b="1" dirty="0">
                <a:solidFill>
                  <a:srgbClr val="3274D9"/>
                </a:solidFill>
              </a:rPr>
              <a:t>Data source plugin</a:t>
            </a:r>
          </a:p>
        </p:txBody>
      </p:sp>
      <p:sp>
        <p:nvSpPr>
          <p:cNvPr id="492" name="S492"/>
          <p:cNvSpPr/>
          <p:nvPr/>
        </p:nvSpPr>
        <p:spPr>
          <a:xfrm>
            <a:off x="5232400" y="4013200"/>
            <a:ext cx="1701800" cy="685800"/>
          </a:xfrm>
          <a:prstGeom prst="rect">
            <a:avLst/>
          </a:prstGeom>
          <a:noFill/>
          <a:ln>
            <a:noFill/>
          </a:ln>
        </p:spPr>
        <p:txBody>
          <a:bodyPr wrap="square" lIns="0" tIns="101600" rIns="0" bIns="101600" anchor="t"/>
          <a:lstStyle/>
          <a:p>
            <a:pPr algn="ctr">
              <a:buNone/>
            </a:pPr>
            <a:r>
              <a:rPr lang="en-US" sz="1400" b="0" dirty="0">
                <a:solidFill>
                  <a:srgbClr val="A9B2C1"/>
                </a:solidFill>
              </a:rPr>
              <a:t>Auth, transport, parsing</a:t>
            </a:r>
          </a:p>
        </p:txBody>
      </p:sp>
      <p:sp>
        <p:nvSpPr>
          <p:cNvPr id="493" name="S493"/>
          <p:cNvSpPr/>
          <p:nvPr/>
        </p:nvSpPr>
        <p:spPr>
          <a:xfrm>
            <a:off x="7073900" y="4038600"/>
            <a:ext cx="203200" cy="254000"/>
          </a:xfrm>
          <a:prstGeom prst="rightArrow">
            <a:avLst/>
          </a:prstGeom>
          <a:solidFill>
            <a:srgbClr val="3A4252"/>
          </a:solidFill>
          <a:ln>
            <a:noFill/>
          </a:ln>
        </p:spPr>
        <p:txBody>
          <a:bodyPr wrap="square" lIns="152400" tIns="101600" rIns="152400" bIns="101600" anchor="ctr"/>
          <a:lstStyle/>
          <a:p>
            <a:endParaRPr/>
          </a:p>
        </p:txBody>
      </p:sp>
      <p:sp>
        <p:nvSpPr>
          <p:cNvPr id="494" name="S494"/>
          <p:cNvSpPr/>
          <p:nvPr/>
        </p:nvSpPr>
        <p:spPr>
          <a:xfrm>
            <a:off x="7315200" y="3556000"/>
            <a:ext cx="1905000" cy="1244600"/>
          </a:xfrm>
          <a:prstGeom prst="roundRect">
            <a:avLst/>
          </a:prstGeom>
          <a:solidFill>
            <a:srgbClr val="141821"/>
          </a:solidFill>
          <a:ln w="12700">
            <a:solidFill>
              <a:srgbClr val="2B3140"/>
            </a:solidFill>
          </a:ln>
        </p:spPr>
        <p:txBody>
          <a:bodyPr wrap="square" lIns="152400" tIns="101600" rIns="152400" bIns="101600" anchor="ctr"/>
          <a:lstStyle/>
          <a:p>
            <a:endParaRPr/>
          </a:p>
        </p:txBody>
      </p:sp>
      <p:sp>
        <p:nvSpPr>
          <p:cNvPr id="495" name="S495"/>
          <p:cNvSpPr/>
          <p:nvPr/>
        </p:nvSpPr>
        <p:spPr>
          <a:xfrm>
            <a:off x="7416800" y="3657600"/>
            <a:ext cx="1701800" cy="330200"/>
          </a:xfrm>
          <a:prstGeom prst="rect">
            <a:avLst/>
          </a:prstGeom>
          <a:noFill/>
          <a:ln>
            <a:noFill/>
          </a:ln>
        </p:spPr>
        <p:txBody>
          <a:bodyPr wrap="square" lIns="0" tIns="101600" rIns="0" bIns="101600" anchor="ctr"/>
          <a:lstStyle/>
          <a:p>
            <a:pPr algn="ctr">
              <a:buNone/>
            </a:pPr>
            <a:r>
              <a:rPr lang="en-US" sz="1500" b="1" dirty="0">
                <a:solidFill>
                  <a:srgbClr val="B877D9"/>
                </a:solidFill>
              </a:rPr>
              <a:t>Backend store</a:t>
            </a:r>
          </a:p>
        </p:txBody>
      </p:sp>
      <p:sp>
        <p:nvSpPr>
          <p:cNvPr id="496" name="S496"/>
          <p:cNvSpPr/>
          <p:nvPr/>
        </p:nvSpPr>
        <p:spPr>
          <a:xfrm>
            <a:off x="7416800" y="4013200"/>
            <a:ext cx="1701800" cy="685800"/>
          </a:xfrm>
          <a:prstGeom prst="rect">
            <a:avLst/>
          </a:prstGeom>
          <a:noFill/>
          <a:ln>
            <a:noFill/>
          </a:ln>
        </p:spPr>
        <p:txBody>
          <a:bodyPr wrap="square" lIns="0" tIns="101600" rIns="0" bIns="101600" anchor="t"/>
          <a:lstStyle/>
          <a:p>
            <a:pPr algn="ctr">
              <a:buNone/>
            </a:pPr>
            <a:r>
              <a:rPr lang="en-US" sz="1400" b="0" dirty="0">
                <a:solidFill>
                  <a:srgbClr val="A9B2C1"/>
                </a:solidFill>
              </a:rPr>
              <a:t>Prometheus, PG, Loki</a:t>
            </a:r>
          </a:p>
        </p:txBody>
      </p:sp>
      <p:sp>
        <p:nvSpPr>
          <p:cNvPr id="497" name="S497"/>
          <p:cNvSpPr/>
          <p:nvPr/>
        </p:nvSpPr>
        <p:spPr>
          <a:xfrm>
            <a:off x="9258300" y="4038600"/>
            <a:ext cx="203200" cy="254000"/>
          </a:xfrm>
          <a:prstGeom prst="rightArrow">
            <a:avLst/>
          </a:prstGeom>
          <a:solidFill>
            <a:srgbClr val="3A4252"/>
          </a:solidFill>
          <a:ln>
            <a:noFill/>
          </a:ln>
        </p:spPr>
        <p:txBody>
          <a:bodyPr wrap="square" lIns="152400" tIns="101600" rIns="152400" bIns="101600" anchor="ctr"/>
          <a:lstStyle/>
          <a:p>
            <a:endParaRPr/>
          </a:p>
        </p:txBody>
      </p:sp>
      <p:sp>
        <p:nvSpPr>
          <p:cNvPr id="498" name="S498"/>
          <p:cNvSpPr/>
          <p:nvPr/>
        </p:nvSpPr>
        <p:spPr>
          <a:xfrm>
            <a:off x="9499600" y="3556000"/>
            <a:ext cx="1905000" cy="1244600"/>
          </a:xfrm>
          <a:prstGeom prst="roundRect">
            <a:avLst/>
          </a:prstGeom>
          <a:solidFill>
            <a:srgbClr val="141821"/>
          </a:solidFill>
          <a:ln w="12700">
            <a:solidFill>
              <a:srgbClr val="2B3140"/>
            </a:solidFill>
          </a:ln>
        </p:spPr>
        <p:txBody>
          <a:bodyPr wrap="square" lIns="152400" tIns="101600" rIns="152400" bIns="101600" anchor="ctr"/>
          <a:lstStyle/>
          <a:p>
            <a:endParaRPr/>
          </a:p>
        </p:txBody>
      </p:sp>
      <p:sp>
        <p:nvSpPr>
          <p:cNvPr id="499" name="S499"/>
          <p:cNvSpPr/>
          <p:nvPr/>
        </p:nvSpPr>
        <p:spPr>
          <a:xfrm>
            <a:off x="9601200" y="3657600"/>
            <a:ext cx="1701800" cy="330200"/>
          </a:xfrm>
          <a:prstGeom prst="rect">
            <a:avLst/>
          </a:prstGeom>
          <a:noFill/>
          <a:ln>
            <a:noFill/>
          </a:ln>
        </p:spPr>
        <p:txBody>
          <a:bodyPr wrap="square" lIns="0" tIns="101600" rIns="0" bIns="101600" anchor="ctr"/>
          <a:lstStyle/>
          <a:p>
            <a:pPr algn="ctr">
              <a:buNone/>
            </a:pPr>
            <a:r>
              <a:rPr lang="en-US" sz="1500" b="1" dirty="0">
                <a:solidFill>
                  <a:srgbClr val="56A64B"/>
                </a:solidFill>
              </a:rPr>
              <a:t>Data frames</a:t>
            </a:r>
          </a:p>
        </p:txBody>
      </p:sp>
      <p:sp>
        <p:nvSpPr>
          <p:cNvPr id="500" name="S500"/>
          <p:cNvSpPr/>
          <p:nvPr/>
        </p:nvSpPr>
        <p:spPr>
          <a:xfrm>
            <a:off x="9601200" y="4013200"/>
            <a:ext cx="1701800" cy="685800"/>
          </a:xfrm>
          <a:prstGeom prst="rect">
            <a:avLst/>
          </a:prstGeom>
          <a:noFill/>
          <a:ln>
            <a:noFill/>
          </a:ln>
        </p:spPr>
        <p:txBody>
          <a:bodyPr wrap="square" lIns="0" tIns="101600" rIns="0" bIns="101600" anchor="t"/>
          <a:lstStyle/>
          <a:p>
            <a:pPr algn="ctr">
              <a:buNone/>
            </a:pPr>
            <a:r>
              <a:rPr lang="en-US" sz="1400" b="0" dirty="0">
                <a:solidFill>
                  <a:srgbClr val="A9B2C1"/>
                </a:solidFill>
              </a:rPr>
              <a:t>Rendered by the panel</a:t>
            </a:r>
          </a:p>
        </p:txBody>
      </p:sp>
      <p:sp>
        <p:nvSpPr>
          <p:cNvPr id="501" name="S501"/>
          <p:cNvSpPr/>
          <p:nvPr/>
        </p:nvSpPr>
        <p:spPr>
          <a:xfrm>
            <a:off x="762000" y="5029200"/>
            <a:ext cx="5207000" cy="1143000"/>
          </a:xfrm>
          <a:prstGeom prst="roundRect">
            <a:avLst/>
          </a:prstGeom>
          <a:solidFill>
            <a:srgbClr val="111620"/>
          </a:solidFill>
          <a:ln w="12700">
            <a:solidFill>
              <a:srgbClr val="262C38"/>
            </a:solidFill>
          </a:ln>
        </p:spPr>
        <p:txBody>
          <a:bodyPr wrap="square" lIns="152400" tIns="101600" rIns="152400" bIns="101600" anchor="ctr"/>
          <a:lstStyle/>
          <a:p>
            <a:endParaRPr/>
          </a:p>
        </p:txBody>
      </p:sp>
      <p:sp>
        <p:nvSpPr>
          <p:cNvPr id="502" name="S502"/>
          <p:cNvSpPr/>
          <p:nvPr/>
        </p:nvSpPr>
        <p:spPr>
          <a:xfrm>
            <a:off x="939800" y="5130800"/>
            <a:ext cx="4851400" cy="330200"/>
          </a:xfrm>
          <a:prstGeom prst="rect">
            <a:avLst/>
          </a:prstGeom>
          <a:noFill/>
          <a:ln>
            <a:noFill/>
          </a:ln>
        </p:spPr>
        <p:txBody>
          <a:bodyPr wrap="square" lIns="0" tIns="101600" rIns="0" bIns="101600" anchor="ctr"/>
          <a:lstStyle/>
          <a:p>
            <a:pPr algn="l">
              <a:buNone/>
            </a:pPr>
            <a:r>
              <a:rPr lang="en-US" sz="1600" b="1" dirty="0">
                <a:solidFill>
                  <a:srgbClr val="FF9830"/>
                </a:solidFill>
              </a:rPr>
              <a:t>Three ways to add one</a:t>
            </a:r>
          </a:p>
        </p:txBody>
      </p:sp>
      <p:sp>
        <p:nvSpPr>
          <p:cNvPr id="503" name="S503"/>
          <p:cNvSpPr/>
          <p:nvPr/>
        </p:nvSpPr>
        <p:spPr>
          <a:xfrm>
            <a:off x="939800" y="5461000"/>
            <a:ext cx="4851400" cy="609600"/>
          </a:xfrm>
          <a:prstGeom prst="rect">
            <a:avLst/>
          </a:prstGeom>
          <a:noFill/>
          <a:ln>
            <a:noFill/>
          </a:ln>
        </p:spPr>
        <p:txBody>
          <a:bodyPr wrap="square" lIns="0" tIns="101600" rIns="0" bIns="101600" anchor="t"/>
          <a:lstStyle/>
          <a:p>
            <a:pPr algn="l">
              <a:buNone/>
            </a:pPr>
            <a:r>
              <a:rPr lang="en-US" sz="1400" b="0" dirty="0">
                <a:solidFill>
                  <a:srgbClr val="B4BECC"/>
                </a:solidFill>
              </a:rPr>
              <a:t>UI (Connections &gt; Data sources) | YAML provisioning | HTTP API</a:t>
            </a:r>
          </a:p>
        </p:txBody>
      </p:sp>
      <p:sp>
        <p:nvSpPr>
          <p:cNvPr id="504" name="S504"/>
          <p:cNvSpPr/>
          <p:nvPr/>
        </p:nvSpPr>
        <p:spPr>
          <a:xfrm>
            <a:off x="6223000" y="5029200"/>
            <a:ext cx="5207000" cy="1143000"/>
          </a:xfrm>
          <a:prstGeom prst="roundRect">
            <a:avLst/>
          </a:prstGeom>
          <a:solidFill>
            <a:srgbClr val="111620"/>
          </a:solidFill>
          <a:ln w="12700">
            <a:solidFill>
              <a:srgbClr val="262C38"/>
            </a:solidFill>
          </a:ln>
        </p:spPr>
        <p:txBody>
          <a:bodyPr wrap="square" lIns="152400" tIns="101600" rIns="152400" bIns="101600" anchor="ctr"/>
          <a:lstStyle/>
          <a:p>
            <a:endParaRPr/>
          </a:p>
        </p:txBody>
      </p:sp>
      <p:sp>
        <p:nvSpPr>
          <p:cNvPr id="505" name="S505"/>
          <p:cNvSpPr/>
          <p:nvPr/>
        </p:nvSpPr>
        <p:spPr>
          <a:xfrm>
            <a:off x="6400800" y="5130800"/>
            <a:ext cx="4851400" cy="330200"/>
          </a:xfrm>
          <a:prstGeom prst="rect">
            <a:avLst/>
          </a:prstGeom>
          <a:noFill/>
          <a:ln>
            <a:noFill/>
          </a:ln>
        </p:spPr>
        <p:txBody>
          <a:bodyPr wrap="square" lIns="0" tIns="101600" rIns="0" bIns="101600" anchor="ctr"/>
          <a:lstStyle/>
          <a:p>
            <a:pPr algn="l">
              <a:buNone/>
            </a:pPr>
            <a:r>
              <a:rPr lang="en-US" sz="1600" b="1" dirty="0">
                <a:solidFill>
                  <a:srgbClr val="F2CC0C"/>
                </a:solidFill>
              </a:rPr>
              <a:t>Watch out for</a:t>
            </a:r>
          </a:p>
        </p:txBody>
      </p:sp>
      <p:sp>
        <p:nvSpPr>
          <p:cNvPr id="506" name="S506"/>
          <p:cNvSpPr/>
          <p:nvPr/>
        </p:nvSpPr>
        <p:spPr>
          <a:xfrm>
            <a:off x="6400800" y="5461000"/>
            <a:ext cx="4851400" cy="609600"/>
          </a:xfrm>
          <a:prstGeom prst="rect">
            <a:avLst/>
          </a:prstGeom>
          <a:noFill/>
          <a:ln>
            <a:noFill/>
          </a:ln>
        </p:spPr>
        <p:txBody>
          <a:bodyPr wrap="square" lIns="0" tIns="101600" rIns="0" bIns="101600" anchor="t"/>
          <a:lstStyle/>
          <a:p>
            <a:pPr algn="l">
              <a:buNone/>
            </a:pPr>
            <a:r>
              <a:rPr lang="en-US" sz="1400" b="0" dirty="0">
                <a:solidFill>
                  <a:srgbClr val="B4BECC"/>
                </a:solidFill>
              </a:rPr>
              <a:t>Secrets in plain YAML | only one default source | query timeouts</a:t>
            </a:r>
          </a:p>
        </p:txBody>
      </p:sp>
    </p:spTree>
    <p:extLst>
      <p:ext uri="{BB962C8B-B14F-4D97-AF65-F5344CB8AC3E}">
        <p14:creationId xmlns:p14="http://schemas.microsoft.com/office/powerpoint/2010/main" val="3255758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93742-F5E5-BEC0-05F4-27135A937679}"/>
              </a:ext>
            </a:extLst>
          </p:cNvPr>
          <p:cNvSpPr>
            <a:spLocks noGrp="1"/>
          </p:cNvSpPr>
          <p:nvPr>
            <p:ph type="title"/>
          </p:nvPr>
        </p:nvSpPr>
        <p:spPr>
          <a:xfrm>
            <a:off x="762000" y="355600"/>
            <a:ext cx="10668000" cy="584200"/>
          </a:xfrm>
        </p:spPr>
        <p:txBody>
          <a:bodyPr/>
          <a:lstStyle/>
          <a:p>
            <a:pPr algn="l">
              <a:buNone/>
            </a:pPr>
            <a:r>
              <a:rPr lang="en-US" sz="3400" b="1" dirty="0">
                <a:solidFill>
                  <a:srgbClr val="FFFFFF"/>
                </a:solidFill>
              </a:rPr>
              <a:t>The Core Data Sources</a:t>
            </a:r>
          </a:p>
        </p:txBody>
      </p:sp>
      <p:sp>
        <p:nvSpPr>
          <p:cNvPr id="501" name="S501"/>
          <p:cNvSpPr/>
          <p:nvPr/>
        </p:nvSpPr>
        <p:spPr>
          <a:xfrm>
            <a:off x="762000" y="990600"/>
            <a:ext cx="1524000" cy="50800"/>
          </a:xfrm>
          <a:prstGeom prst="rect">
            <a:avLst/>
          </a:prstGeom>
          <a:solidFill>
            <a:srgbClr val="F46800"/>
          </a:solidFill>
          <a:ln>
            <a:noFill/>
          </a:ln>
        </p:spPr>
        <p:txBody>
          <a:bodyPr wrap="square" lIns="152400" tIns="76200" rIns="152400" bIns="76200" anchor="ctr"/>
          <a:lstStyle/>
          <a:p>
            <a:endParaRPr/>
          </a:p>
        </p:txBody>
      </p:sp>
      <p:sp>
        <p:nvSpPr>
          <p:cNvPr id="502" name="S502"/>
          <p:cNvSpPr/>
          <p:nvPr/>
        </p:nvSpPr>
        <p:spPr>
          <a:xfrm>
            <a:off x="762000" y="1066800"/>
            <a:ext cx="10668000" cy="304800"/>
          </a:xfrm>
          <a:prstGeom prst="rect">
            <a:avLst/>
          </a:prstGeom>
          <a:noFill/>
          <a:ln>
            <a:noFill/>
          </a:ln>
        </p:spPr>
        <p:txBody>
          <a:bodyPr wrap="square" lIns="0" tIns="76200" rIns="0" bIns="76200" anchor="ctr"/>
          <a:lstStyle/>
          <a:p>
            <a:pPr algn="l">
              <a:buNone/>
            </a:pPr>
            <a:r>
              <a:rPr lang="en-US" sz="1500" b="0" dirty="0">
                <a:solidFill>
                  <a:srgbClr val="98A2B3"/>
                </a:solidFill>
              </a:rPr>
              <a:t>Seven you will meet most often - and the query language each one speaks</a:t>
            </a:r>
          </a:p>
        </p:txBody>
      </p:sp>
      <p:sp>
        <p:nvSpPr>
          <p:cNvPr id="503" name="S503"/>
          <p:cNvSpPr/>
          <p:nvPr/>
        </p:nvSpPr>
        <p:spPr>
          <a:xfrm>
            <a:off x="762000" y="14986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04" name="S504"/>
          <p:cNvSpPr/>
          <p:nvPr/>
        </p:nvSpPr>
        <p:spPr>
          <a:xfrm>
            <a:off x="762000" y="1498600"/>
            <a:ext cx="2540000" cy="50800"/>
          </a:xfrm>
          <a:prstGeom prst="rect">
            <a:avLst/>
          </a:prstGeom>
          <a:solidFill>
            <a:srgbClr val="F46800"/>
          </a:solidFill>
          <a:ln>
            <a:noFill/>
          </a:ln>
        </p:spPr>
        <p:txBody>
          <a:bodyPr wrap="square" lIns="152400" tIns="76200" rIns="152400" bIns="76200" anchor="ctr"/>
          <a:lstStyle/>
          <a:p>
            <a:endParaRPr/>
          </a:p>
        </p:txBody>
      </p:sp>
      <p:sp>
        <p:nvSpPr>
          <p:cNvPr id="505" name="S505"/>
          <p:cNvSpPr/>
          <p:nvPr/>
        </p:nvSpPr>
        <p:spPr>
          <a:xfrm>
            <a:off x="914400" y="16510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Prometheus</a:t>
            </a:r>
          </a:p>
        </p:txBody>
      </p:sp>
      <p:sp>
        <p:nvSpPr>
          <p:cNvPr id="506" name="S506"/>
          <p:cNvSpPr/>
          <p:nvPr/>
        </p:nvSpPr>
        <p:spPr>
          <a:xfrm>
            <a:off x="914400" y="2032000"/>
            <a:ext cx="2235200" cy="279400"/>
          </a:xfrm>
          <a:prstGeom prst="rect">
            <a:avLst/>
          </a:prstGeom>
          <a:noFill/>
          <a:ln>
            <a:noFill/>
          </a:ln>
        </p:spPr>
        <p:txBody>
          <a:bodyPr wrap="square" lIns="0" tIns="76200" rIns="0" bIns="76200" anchor="ctr"/>
          <a:lstStyle/>
          <a:p>
            <a:pPr algn="l">
              <a:buNone/>
            </a:pPr>
            <a:r>
              <a:rPr lang="en-US" sz="1400" b="1" dirty="0">
                <a:solidFill>
                  <a:srgbClr val="F46800"/>
                </a:solidFill>
              </a:rPr>
              <a:t>METRICS | PromQL</a:t>
            </a:r>
          </a:p>
        </p:txBody>
      </p:sp>
      <p:sp>
        <p:nvSpPr>
          <p:cNvPr id="507" name="S507"/>
          <p:cNvSpPr/>
          <p:nvPr/>
        </p:nvSpPr>
        <p:spPr>
          <a:xfrm>
            <a:off x="914400" y="23622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Pull-based TSDB. Default choice for infrastructure and Kubernetes metrics.</a:t>
            </a:r>
          </a:p>
        </p:txBody>
      </p:sp>
      <p:sp>
        <p:nvSpPr>
          <p:cNvPr id="508" name="S508"/>
          <p:cNvSpPr/>
          <p:nvPr/>
        </p:nvSpPr>
        <p:spPr>
          <a:xfrm>
            <a:off x="3467100" y="14986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09" name="S509"/>
          <p:cNvSpPr/>
          <p:nvPr/>
        </p:nvSpPr>
        <p:spPr>
          <a:xfrm>
            <a:off x="3467100" y="1498600"/>
            <a:ext cx="2540000" cy="50800"/>
          </a:xfrm>
          <a:prstGeom prst="rect">
            <a:avLst/>
          </a:prstGeom>
          <a:solidFill>
            <a:srgbClr val="FF9830"/>
          </a:solidFill>
          <a:ln>
            <a:noFill/>
          </a:ln>
        </p:spPr>
        <p:txBody>
          <a:bodyPr wrap="square" lIns="152400" tIns="76200" rIns="152400" bIns="76200" anchor="ctr"/>
          <a:lstStyle/>
          <a:p>
            <a:endParaRPr/>
          </a:p>
        </p:txBody>
      </p:sp>
      <p:sp>
        <p:nvSpPr>
          <p:cNvPr id="510" name="S510"/>
          <p:cNvSpPr/>
          <p:nvPr/>
        </p:nvSpPr>
        <p:spPr>
          <a:xfrm>
            <a:off x="3619500" y="16510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Loki</a:t>
            </a:r>
          </a:p>
        </p:txBody>
      </p:sp>
      <p:sp>
        <p:nvSpPr>
          <p:cNvPr id="511" name="S511"/>
          <p:cNvSpPr/>
          <p:nvPr/>
        </p:nvSpPr>
        <p:spPr>
          <a:xfrm>
            <a:off x="3619500" y="2032000"/>
            <a:ext cx="2235200" cy="279400"/>
          </a:xfrm>
          <a:prstGeom prst="rect">
            <a:avLst/>
          </a:prstGeom>
          <a:noFill/>
          <a:ln>
            <a:noFill/>
          </a:ln>
        </p:spPr>
        <p:txBody>
          <a:bodyPr wrap="square" lIns="0" tIns="76200" rIns="0" bIns="76200" anchor="ctr"/>
          <a:lstStyle/>
          <a:p>
            <a:pPr algn="l">
              <a:buNone/>
            </a:pPr>
            <a:r>
              <a:rPr lang="en-US" sz="1400" b="1" dirty="0">
                <a:solidFill>
                  <a:srgbClr val="FF9830"/>
                </a:solidFill>
              </a:rPr>
              <a:t>LOGS | LogQL</a:t>
            </a:r>
          </a:p>
        </p:txBody>
      </p:sp>
      <p:sp>
        <p:nvSpPr>
          <p:cNvPr id="512" name="S512"/>
          <p:cNvSpPr/>
          <p:nvPr/>
        </p:nvSpPr>
        <p:spPr>
          <a:xfrm>
            <a:off x="3619500" y="23622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Label-indexed logs. Shares Prometheus labels, so you can pivot metrics to logs.</a:t>
            </a:r>
          </a:p>
        </p:txBody>
      </p:sp>
      <p:sp>
        <p:nvSpPr>
          <p:cNvPr id="513" name="S513"/>
          <p:cNvSpPr/>
          <p:nvPr/>
        </p:nvSpPr>
        <p:spPr>
          <a:xfrm>
            <a:off x="6172200" y="14986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14" name="S514"/>
          <p:cNvSpPr/>
          <p:nvPr/>
        </p:nvSpPr>
        <p:spPr>
          <a:xfrm>
            <a:off x="6172200" y="1498600"/>
            <a:ext cx="2540000" cy="50800"/>
          </a:xfrm>
          <a:prstGeom prst="rect">
            <a:avLst/>
          </a:prstGeom>
          <a:solidFill>
            <a:srgbClr val="3274D9"/>
          </a:solidFill>
          <a:ln>
            <a:noFill/>
          </a:ln>
        </p:spPr>
        <p:txBody>
          <a:bodyPr wrap="square" lIns="152400" tIns="76200" rIns="152400" bIns="76200" anchor="ctr"/>
          <a:lstStyle/>
          <a:p>
            <a:endParaRPr/>
          </a:p>
        </p:txBody>
      </p:sp>
      <p:sp>
        <p:nvSpPr>
          <p:cNvPr id="515" name="S515"/>
          <p:cNvSpPr/>
          <p:nvPr/>
        </p:nvSpPr>
        <p:spPr>
          <a:xfrm>
            <a:off x="6324600" y="16510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PostgreSQL</a:t>
            </a:r>
          </a:p>
        </p:txBody>
      </p:sp>
      <p:sp>
        <p:nvSpPr>
          <p:cNvPr id="516" name="S516"/>
          <p:cNvSpPr/>
          <p:nvPr/>
        </p:nvSpPr>
        <p:spPr>
          <a:xfrm>
            <a:off x="6324600" y="2032000"/>
            <a:ext cx="2235200" cy="279400"/>
          </a:xfrm>
          <a:prstGeom prst="rect">
            <a:avLst/>
          </a:prstGeom>
          <a:noFill/>
          <a:ln>
            <a:noFill/>
          </a:ln>
        </p:spPr>
        <p:txBody>
          <a:bodyPr wrap="square" lIns="0" tIns="76200" rIns="0" bIns="76200" anchor="ctr"/>
          <a:lstStyle/>
          <a:p>
            <a:pPr algn="l">
              <a:buNone/>
            </a:pPr>
            <a:r>
              <a:rPr lang="en-US" sz="1400" b="1" dirty="0">
                <a:solidFill>
                  <a:srgbClr val="3274D9"/>
                </a:solidFill>
              </a:rPr>
              <a:t>RELATIONAL | SQL</a:t>
            </a:r>
          </a:p>
        </p:txBody>
      </p:sp>
      <p:sp>
        <p:nvSpPr>
          <p:cNvPr id="517" name="S517"/>
          <p:cNvSpPr/>
          <p:nvPr/>
        </p:nvSpPr>
        <p:spPr>
          <a:xfrm>
            <a:off x="6324600" y="23622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Business data. Any timestamp column becomes a time series with macros.</a:t>
            </a:r>
          </a:p>
        </p:txBody>
      </p:sp>
      <p:sp>
        <p:nvSpPr>
          <p:cNvPr id="518" name="S518"/>
          <p:cNvSpPr/>
          <p:nvPr/>
        </p:nvSpPr>
        <p:spPr>
          <a:xfrm>
            <a:off x="8877300" y="14986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19" name="S519"/>
          <p:cNvSpPr/>
          <p:nvPr/>
        </p:nvSpPr>
        <p:spPr>
          <a:xfrm>
            <a:off x="8877300" y="1498600"/>
            <a:ext cx="2540000" cy="50800"/>
          </a:xfrm>
          <a:prstGeom prst="rect">
            <a:avLst/>
          </a:prstGeom>
          <a:solidFill>
            <a:srgbClr val="3274D9"/>
          </a:solidFill>
          <a:ln>
            <a:noFill/>
          </a:ln>
        </p:spPr>
        <p:txBody>
          <a:bodyPr wrap="square" lIns="152400" tIns="76200" rIns="152400" bIns="76200" anchor="ctr"/>
          <a:lstStyle/>
          <a:p>
            <a:endParaRPr/>
          </a:p>
        </p:txBody>
      </p:sp>
      <p:sp>
        <p:nvSpPr>
          <p:cNvPr id="520" name="S520"/>
          <p:cNvSpPr/>
          <p:nvPr/>
        </p:nvSpPr>
        <p:spPr>
          <a:xfrm>
            <a:off x="9029700" y="16510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MySQL</a:t>
            </a:r>
          </a:p>
        </p:txBody>
      </p:sp>
      <p:sp>
        <p:nvSpPr>
          <p:cNvPr id="521" name="S521"/>
          <p:cNvSpPr/>
          <p:nvPr/>
        </p:nvSpPr>
        <p:spPr>
          <a:xfrm>
            <a:off x="9029700" y="2032000"/>
            <a:ext cx="2235200" cy="279400"/>
          </a:xfrm>
          <a:prstGeom prst="rect">
            <a:avLst/>
          </a:prstGeom>
          <a:noFill/>
          <a:ln>
            <a:noFill/>
          </a:ln>
        </p:spPr>
        <p:txBody>
          <a:bodyPr wrap="square" lIns="0" tIns="76200" rIns="0" bIns="76200" anchor="ctr"/>
          <a:lstStyle/>
          <a:p>
            <a:pPr algn="l">
              <a:buNone/>
            </a:pPr>
            <a:r>
              <a:rPr lang="en-US" sz="1400" b="1" dirty="0">
                <a:solidFill>
                  <a:srgbClr val="3274D9"/>
                </a:solidFill>
              </a:rPr>
              <a:t>RELATIONAL | SQL</a:t>
            </a:r>
          </a:p>
        </p:txBody>
      </p:sp>
      <p:sp>
        <p:nvSpPr>
          <p:cNvPr id="522" name="S522"/>
          <p:cNvSpPr/>
          <p:nvPr/>
        </p:nvSpPr>
        <p:spPr>
          <a:xfrm>
            <a:off x="9029700" y="23622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Same SQL editor as Postgres. Uses $__timeFilter for the dashboard range.</a:t>
            </a:r>
          </a:p>
        </p:txBody>
      </p:sp>
      <p:sp>
        <p:nvSpPr>
          <p:cNvPr id="523" name="S523"/>
          <p:cNvSpPr/>
          <p:nvPr/>
        </p:nvSpPr>
        <p:spPr>
          <a:xfrm>
            <a:off x="762000" y="35052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24" name="S524"/>
          <p:cNvSpPr/>
          <p:nvPr/>
        </p:nvSpPr>
        <p:spPr>
          <a:xfrm>
            <a:off x="762000" y="3505200"/>
            <a:ext cx="2540000" cy="50800"/>
          </a:xfrm>
          <a:prstGeom prst="rect">
            <a:avLst/>
          </a:prstGeom>
          <a:solidFill>
            <a:srgbClr val="B877D9"/>
          </a:solidFill>
          <a:ln>
            <a:noFill/>
          </a:ln>
        </p:spPr>
        <p:txBody>
          <a:bodyPr wrap="square" lIns="152400" tIns="76200" rIns="152400" bIns="76200" anchor="ctr"/>
          <a:lstStyle/>
          <a:p>
            <a:endParaRPr/>
          </a:p>
        </p:txBody>
      </p:sp>
      <p:sp>
        <p:nvSpPr>
          <p:cNvPr id="525" name="S525"/>
          <p:cNvSpPr/>
          <p:nvPr/>
        </p:nvSpPr>
        <p:spPr>
          <a:xfrm>
            <a:off x="914400" y="36576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Elasticsearch</a:t>
            </a:r>
          </a:p>
        </p:txBody>
      </p:sp>
      <p:sp>
        <p:nvSpPr>
          <p:cNvPr id="526" name="S526"/>
          <p:cNvSpPr/>
          <p:nvPr/>
        </p:nvSpPr>
        <p:spPr>
          <a:xfrm>
            <a:off x="914400" y="4038600"/>
            <a:ext cx="2235200" cy="279400"/>
          </a:xfrm>
          <a:prstGeom prst="rect">
            <a:avLst/>
          </a:prstGeom>
          <a:noFill/>
          <a:ln>
            <a:noFill/>
          </a:ln>
        </p:spPr>
        <p:txBody>
          <a:bodyPr wrap="square" lIns="0" tIns="76200" rIns="0" bIns="76200" anchor="ctr"/>
          <a:lstStyle/>
          <a:p>
            <a:pPr algn="l">
              <a:buNone/>
            </a:pPr>
            <a:r>
              <a:rPr lang="en-US" sz="1400" b="1" dirty="0">
                <a:solidFill>
                  <a:srgbClr val="B877D9"/>
                </a:solidFill>
              </a:rPr>
              <a:t>DOCUMENTS | Lucene</a:t>
            </a:r>
          </a:p>
        </p:txBody>
      </p:sp>
      <p:sp>
        <p:nvSpPr>
          <p:cNvPr id="527" name="S527"/>
          <p:cNvSpPr/>
          <p:nvPr/>
        </p:nvSpPr>
        <p:spPr>
          <a:xfrm>
            <a:off x="914400" y="43688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Full-text search plus aggregations - great for app and audit logs.</a:t>
            </a:r>
          </a:p>
        </p:txBody>
      </p:sp>
      <p:sp>
        <p:nvSpPr>
          <p:cNvPr id="528" name="S528"/>
          <p:cNvSpPr/>
          <p:nvPr/>
        </p:nvSpPr>
        <p:spPr>
          <a:xfrm>
            <a:off x="3467100" y="35052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29" name="S529"/>
          <p:cNvSpPr/>
          <p:nvPr/>
        </p:nvSpPr>
        <p:spPr>
          <a:xfrm>
            <a:off x="3467100" y="3505200"/>
            <a:ext cx="2540000" cy="50800"/>
          </a:xfrm>
          <a:prstGeom prst="rect">
            <a:avLst/>
          </a:prstGeom>
          <a:solidFill>
            <a:srgbClr val="56A64B"/>
          </a:solidFill>
          <a:ln>
            <a:noFill/>
          </a:ln>
        </p:spPr>
        <p:txBody>
          <a:bodyPr wrap="square" lIns="152400" tIns="76200" rIns="152400" bIns="76200" anchor="ctr"/>
          <a:lstStyle/>
          <a:p>
            <a:endParaRPr/>
          </a:p>
        </p:txBody>
      </p:sp>
      <p:sp>
        <p:nvSpPr>
          <p:cNvPr id="530" name="S530"/>
          <p:cNvSpPr/>
          <p:nvPr/>
        </p:nvSpPr>
        <p:spPr>
          <a:xfrm>
            <a:off x="3619500" y="36576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CloudWatch</a:t>
            </a:r>
          </a:p>
        </p:txBody>
      </p:sp>
      <p:sp>
        <p:nvSpPr>
          <p:cNvPr id="531" name="S531"/>
          <p:cNvSpPr/>
          <p:nvPr/>
        </p:nvSpPr>
        <p:spPr>
          <a:xfrm>
            <a:off x="3619500" y="4038600"/>
            <a:ext cx="2235200" cy="279400"/>
          </a:xfrm>
          <a:prstGeom prst="rect">
            <a:avLst/>
          </a:prstGeom>
          <a:noFill/>
          <a:ln>
            <a:noFill/>
          </a:ln>
        </p:spPr>
        <p:txBody>
          <a:bodyPr wrap="square" lIns="0" tIns="76200" rIns="0" bIns="76200" anchor="ctr"/>
          <a:lstStyle/>
          <a:p>
            <a:pPr algn="l">
              <a:buNone/>
            </a:pPr>
            <a:r>
              <a:rPr lang="en-US" sz="1400" b="1" dirty="0">
                <a:solidFill>
                  <a:srgbClr val="56A64B"/>
                </a:solidFill>
              </a:rPr>
              <a:t>AWS | Metrics + Logs</a:t>
            </a:r>
          </a:p>
        </p:txBody>
      </p:sp>
      <p:sp>
        <p:nvSpPr>
          <p:cNvPr id="532" name="S532"/>
          <p:cNvSpPr/>
          <p:nvPr/>
        </p:nvSpPr>
        <p:spPr>
          <a:xfrm>
            <a:off x="3619500" y="43688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AWS namespaces, dimensions and Logs Insights, using IAM auth.</a:t>
            </a:r>
          </a:p>
        </p:txBody>
      </p:sp>
      <p:sp>
        <p:nvSpPr>
          <p:cNvPr id="533" name="S533"/>
          <p:cNvSpPr/>
          <p:nvPr/>
        </p:nvSpPr>
        <p:spPr>
          <a:xfrm>
            <a:off x="6172200" y="35052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34" name="S534"/>
          <p:cNvSpPr/>
          <p:nvPr/>
        </p:nvSpPr>
        <p:spPr>
          <a:xfrm>
            <a:off x="6172200" y="3505200"/>
            <a:ext cx="2540000" cy="50800"/>
          </a:xfrm>
          <a:prstGeom prst="rect">
            <a:avLst/>
          </a:prstGeom>
          <a:solidFill>
            <a:srgbClr val="56A64B"/>
          </a:solidFill>
          <a:ln>
            <a:noFill/>
          </a:ln>
        </p:spPr>
        <p:txBody>
          <a:bodyPr wrap="square" lIns="152400" tIns="76200" rIns="152400" bIns="76200" anchor="ctr"/>
          <a:lstStyle/>
          <a:p>
            <a:endParaRPr/>
          </a:p>
        </p:txBody>
      </p:sp>
      <p:sp>
        <p:nvSpPr>
          <p:cNvPr id="535" name="S535"/>
          <p:cNvSpPr/>
          <p:nvPr/>
        </p:nvSpPr>
        <p:spPr>
          <a:xfrm>
            <a:off x="6324600" y="36576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Azure Monitor</a:t>
            </a:r>
          </a:p>
        </p:txBody>
      </p:sp>
      <p:sp>
        <p:nvSpPr>
          <p:cNvPr id="536" name="S536"/>
          <p:cNvSpPr/>
          <p:nvPr/>
        </p:nvSpPr>
        <p:spPr>
          <a:xfrm>
            <a:off x="6324600" y="4038600"/>
            <a:ext cx="2235200" cy="279400"/>
          </a:xfrm>
          <a:prstGeom prst="rect">
            <a:avLst/>
          </a:prstGeom>
          <a:noFill/>
          <a:ln>
            <a:noFill/>
          </a:ln>
        </p:spPr>
        <p:txBody>
          <a:bodyPr wrap="square" lIns="0" tIns="76200" rIns="0" bIns="76200" anchor="ctr"/>
          <a:lstStyle/>
          <a:p>
            <a:pPr algn="l">
              <a:buNone/>
            </a:pPr>
            <a:r>
              <a:rPr lang="en-US" sz="1400" b="1" dirty="0">
                <a:solidFill>
                  <a:srgbClr val="56A64B"/>
                </a:solidFill>
              </a:rPr>
              <a:t>AZURE | KQL</a:t>
            </a:r>
          </a:p>
        </p:txBody>
      </p:sp>
      <p:sp>
        <p:nvSpPr>
          <p:cNvPr id="537" name="S537"/>
          <p:cNvSpPr/>
          <p:nvPr/>
        </p:nvSpPr>
        <p:spPr>
          <a:xfrm>
            <a:off x="6324600" y="43688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Metrics, Log Analytics (KQL) and Resource Graph from one plugin.</a:t>
            </a:r>
          </a:p>
        </p:txBody>
      </p:sp>
      <p:sp>
        <p:nvSpPr>
          <p:cNvPr id="538" name="S538"/>
          <p:cNvSpPr/>
          <p:nvPr/>
        </p:nvSpPr>
        <p:spPr>
          <a:xfrm>
            <a:off x="8877300" y="3505200"/>
            <a:ext cx="2540000" cy="18542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39" name="S539"/>
          <p:cNvSpPr/>
          <p:nvPr/>
        </p:nvSpPr>
        <p:spPr>
          <a:xfrm>
            <a:off x="8877300" y="3505200"/>
            <a:ext cx="2540000" cy="50800"/>
          </a:xfrm>
          <a:prstGeom prst="rect">
            <a:avLst/>
          </a:prstGeom>
          <a:solidFill>
            <a:srgbClr val="7A8496"/>
          </a:solidFill>
          <a:ln>
            <a:noFill/>
          </a:ln>
        </p:spPr>
        <p:txBody>
          <a:bodyPr wrap="square" lIns="152400" tIns="76200" rIns="152400" bIns="76200" anchor="ctr"/>
          <a:lstStyle/>
          <a:p>
            <a:endParaRPr/>
          </a:p>
        </p:txBody>
      </p:sp>
      <p:sp>
        <p:nvSpPr>
          <p:cNvPr id="540" name="S540"/>
          <p:cNvSpPr/>
          <p:nvPr/>
        </p:nvSpPr>
        <p:spPr>
          <a:xfrm>
            <a:off x="9029700" y="3657600"/>
            <a:ext cx="2235200" cy="355600"/>
          </a:xfrm>
          <a:prstGeom prst="rect">
            <a:avLst/>
          </a:prstGeom>
          <a:noFill/>
          <a:ln>
            <a:noFill/>
          </a:ln>
        </p:spPr>
        <p:txBody>
          <a:bodyPr wrap="square" lIns="0" tIns="76200" rIns="0" bIns="76200" anchor="ctr"/>
          <a:lstStyle/>
          <a:p>
            <a:pPr algn="l">
              <a:buNone/>
            </a:pPr>
            <a:r>
              <a:rPr lang="en-US" sz="1700" b="1" dirty="0">
                <a:solidFill>
                  <a:srgbClr val="FFFFFF"/>
                </a:solidFill>
              </a:rPr>
              <a:t>150+ more</a:t>
            </a:r>
          </a:p>
        </p:txBody>
      </p:sp>
      <p:sp>
        <p:nvSpPr>
          <p:cNvPr id="541" name="S541"/>
          <p:cNvSpPr/>
          <p:nvPr/>
        </p:nvSpPr>
        <p:spPr>
          <a:xfrm>
            <a:off x="9029700" y="4038600"/>
            <a:ext cx="2235200" cy="279400"/>
          </a:xfrm>
          <a:prstGeom prst="rect">
            <a:avLst/>
          </a:prstGeom>
          <a:noFill/>
          <a:ln>
            <a:noFill/>
          </a:ln>
        </p:spPr>
        <p:txBody>
          <a:bodyPr wrap="square" lIns="0" tIns="76200" rIns="0" bIns="76200" anchor="ctr"/>
          <a:lstStyle/>
          <a:p>
            <a:pPr algn="l">
              <a:buNone/>
            </a:pPr>
            <a:r>
              <a:rPr lang="en-US" sz="1400" b="1" dirty="0">
                <a:solidFill>
                  <a:srgbClr val="7A8496"/>
                </a:solidFill>
              </a:rPr>
              <a:t>PLUGIN CATALOG</a:t>
            </a:r>
          </a:p>
        </p:txBody>
      </p:sp>
      <p:sp>
        <p:nvSpPr>
          <p:cNvPr id="542" name="S542"/>
          <p:cNvSpPr/>
          <p:nvPr/>
        </p:nvSpPr>
        <p:spPr>
          <a:xfrm>
            <a:off x="9029700" y="4368800"/>
            <a:ext cx="2235200" cy="863600"/>
          </a:xfrm>
          <a:prstGeom prst="rect">
            <a:avLst/>
          </a:prstGeom>
          <a:noFill/>
          <a:ln>
            <a:noFill/>
          </a:ln>
        </p:spPr>
        <p:txBody>
          <a:bodyPr wrap="square" lIns="0" tIns="76200" rIns="0" bIns="76200" anchor="t"/>
          <a:lstStyle/>
          <a:p>
            <a:pPr algn="l">
              <a:buNone/>
            </a:pPr>
            <a:r>
              <a:rPr lang="en-US" sz="1400" b="0" dirty="0">
                <a:solidFill>
                  <a:srgbClr val="A9B2C1"/>
                </a:solidFill>
              </a:rPr>
              <a:t>InfluxDB, Graphite, Jaeger, Tempo, BigQuery, Snowflake, Zabbix and beyond.</a:t>
            </a:r>
          </a:p>
        </p:txBody>
      </p:sp>
      <p:sp>
        <p:nvSpPr>
          <p:cNvPr id="543" name="S543"/>
          <p:cNvSpPr/>
          <p:nvPr/>
        </p:nvSpPr>
        <p:spPr>
          <a:xfrm>
            <a:off x="762000" y="5613400"/>
            <a:ext cx="10668000" cy="685800"/>
          </a:xfrm>
          <a:prstGeom prst="roundRect">
            <a:avLst/>
          </a:prstGeom>
          <a:solidFill>
            <a:srgbClr val="111620"/>
          </a:solidFill>
          <a:ln w="12700">
            <a:solidFill>
              <a:srgbClr val="262C38"/>
            </a:solidFill>
          </a:ln>
        </p:spPr>
        <p:txBody>
          <a:bodyPr wrap="square" lIns="152400" tIns="76200" rIns="152400" bIns="76200" anchor="ctr"/>
          <a:lstStyle/>
          <a:p>
            <a:endParaRPr/>
          </a:p>
        </p:txBody>
      </p:sp>
      <p:sp>
        <p:nvSpPr>
          <p:cNvPr id="544" name="S544"/>
          <p:cNvSpPr/>
          <p:nvPr/>
        </p:nvSpPr>
        <p:spPr>
          <a:xfrm>
            <a:off x="939800" y="5715000"/>
            <a:ext cx="10312400" cy="482600"/>
          </a:xfrm>
          <a:prstGeom prst="rect">
            <a:avLst/>
          </a:prstGeom>
          <a:noFill/>
          <a:ln>
            <a:noFill/>
          </a:ln>
        </p:spPr>
        <p:txBody>
          <a:bodyPr wrap="square" lIns="0" tIns="76200" rIns="0" bIns="76200" anchor="ctr"/>
          <a:lstStyle/>
          <a:p>
            <a:pPr algn="l">
              <a:buNone/>
            </a:pPr>
            <a:r>
              <a:rPr lang="en-US" sz="1500" b="0" dirty="0">
                <a:solidFill>
                  <a:srgbClr val="D6DBE4"/>
                </a:solidFill>
              </a:rPr>
              <a:t>Rule of thumb: metrics for what is happening, logs for why it happened, SQL for the business context around it.</a:t>
            </a:r>
          </a:p>
        </p:txBody>
      </p:sp>
    </p:spTree>
    <p:extLst>
      <p:ext uri="{BB962C8B-B14F-4D97-AF65-F5344CB8AC3E}">
        <p14:creationId xmlns:p14="http://schemas.microsoft.com/office/powerpoint/2010/main" val="83958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89E8-48E2-AF53-7F7C-907FCF9964DE}"/>
              </a:ext>
            </a:extLst>
          </p:cNvPr>
          <p:cNvSpPr>
            <a:spLocks noGrp="1"/>
          </p:cNvSpPr>
          <p:nvPr>
            <p:ph type="title"/>
          </p:nvPr>
        </p:nvSpPr>
        <p:spPr>
          <a:xfrm>
            <a:off x="762000" y="355600"/>
            <a:ext cx="10668000" cy="584200"/>
          </a:xfrm>
        </p:spPr>
        <p:txBody>
          <a:bodyPr/>
          <a:lstStyle/>
          <a:p>
            <a:pPr algn="l">
              <a:buNone/>
            </a:pPr>
            <a:r>
              <a:rPr lang="en-US" sz="3400" b="1" dirty="0">
                <a:solidFill>
                  <a:srgbClr val="FFFFFF"/>
                </a:solidFill>
              </a:rPr>
              <a:t>Metrics and Logs: Prometheus + Loki</a:t>
            </a:r>
          </a:p>
        </p:txBody>
      </p:sp>
      <p:sp>
        <p:nvSpPr>
          <p:cNvPr id="521" name="S521"/>
          <p:cNvSpPr/>
          <p:nvPr/>
        </p:nvSpPr>
        <p:spPr>
          <a:xfrm>
            <a:off x="762000" y="990600"/>
            <a:ext cx="1524000" cy="50800"/>
          </a:xfrm>
          <a:prstGeom prst="rect">
            <a:avLst/>
          </a:prstGeom>
          <a:solidFill>
            <a:srgbClr val="F46800"/>
          </a:solidFill>
          <a:ln>
            <a:noFill/>
          </a:ln>
        </p:spPr>
        <p:txBody>
          <a:bodyPr wrap="square" lIns="152400" tIns="76200" rIns="152400" bIns="76200" anchor="ctr"/>
          <a:lstStyle/>
          <a:p>
            <a:endParaRPr/>
          </a:p>
        </p:txBody>
      </p:sp>
      <p:sp>
        <p:nvSpPr>
          <p:cNvPr id="522" name="S522"/>
          <p:cNvSpPr/>
          <p:nvPr/>
        </p:nvSpPr>
        <p:spPr>
          <a:xfrm>
            <a:off x="762000" y="1397000"/>
            <a:ext cx="5207000" cy="38100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23" name="S523"/>
          <p:cNvSpPr/>
          <p:nvPr/>
        </p:nvSpPr>
        <p:spPr>
          <a:xfrm>
            <a:off x="762000" y="1397000"/>
            <a:ext cx="5207000" cy="50800"/>
          </a:xfrm>
          <a:prstGeom prst="rect">
            <a:avLst/>
          </a:prstGeom>
          <a:solidFill>
            <a:srgbClr val="F46800"/>
          </a:solidFill>
          <a:ln>
            <a:noFill/>
          </a:ln>
        </p:spPr>
        <p:txBody>
          <a:bodyPr wrap="square" lIns="152400" tIns="76200" rIns="152400" bIns="76200" anchor="ctr"/>
          <a:lstStyle/>
          <a:p>
            <a:endParaRPr/>
          </a:p>
        </p:txBody>
      </p:sp>
      <p:sp>
        <p:nvSpPr>
          <p:cNvPr id="524" name="S524"/>
          <p:cNvSpPr/>
          <p:nvPr/>
        </p:nvSpPr>
        <p:spPr>
          <a:xfrm>
            <a:off x="965200" y="1549400"/>
            <a:ext cx="3683000" cy="406400"/>
          </a:xfrm>
          <a:prstGeom prst="rect">
            <a:avLst/>
          </a:prstGeom>
          <a:noFill/>
          <a:ln>
            <a:noFill/>
          </a:ln>
        </p:spPr>
        <p:txBody>
          <a:bodyPr wrap="square" lIns="0" tIns="76200" rIns="0" bIns="76200" anchor="ctr"/>
          <a:lstStyle/>
          <a:p>
            <a:pPr algn="l">
              <a:buNone/>
            </a:pPr>
            <a:r>
              <a:rPr lang="en-US" sz="2200" b="1" dirty="0">
                <a:solidFill>
                  <a:srgbClr val="F46800"/>
                </a:solidFill>
              </a:rPr>
              <a:t>Prometheus</a:t>
            </a:r>
          </a:p>
        </p:txBody>
      </p:sp>
      <p:sp>
        <p:nvSpPr>
          <p:cNvPr id="525" name="S525"/>
          <p:cNvSpPr/>
          <p:nvPr/>
        </p:nvSpPr>
        <p:spPr>
          <a:xfrm>
            <a:off x="965200" y="1955800"/>
            <a:ext cx="4800600" cy="304800"/>
          </a:xfrm>
          <a:prstGeom prst="rect">
            <a:avLst/>
          </a:prstGeom>
          <a:noFill/>
          <a:ln>
            <a:noFill/>
          </a:ln>
        </p:spPr>
        <p:txBody>
          <a:bodyPr wrap="square" lIns="0" tIns="76200" rIns="0" bIns="76200" anchor="ctr"/>
          <a:lstStyle/>
          <a:p>
            <a:pPr algn="l">
              <a:buNone/>
            </a:pPr>
            <a:r>
              <a:rPr lang="en-US" sz="1400" b="0" dirty="0">
                <a:solidFill>
                  <a:srgbClr val="98A2B3"/>
                </a:solidFill>
              </a:rPr>
              <a:t>Time series metrics</a:t>
            </a:r>
          </a:p>
        </p:txBody>
      </p:sp>
      <p:sp>
        <p:nvSpPr>
          <p:cNvPr id="526" name="S526"/>
          <p:cNvSpPr/>
          <p:nvPr/>
        </p:nvSpPr>
        <p:spPr>
          <a:xfrm>
            <a:off x="965200" y="2311400"/>
            <a:ext cx="4800600" cy="13970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URL of the Prometheus server + scrape interval</a:t>
            </a:r>
          </a:p>
          <a:p>
            <a:pPr marL="171450" indent="-171450">
              <a:lnSpc>
                <a:spcPts val="1800"/>
              </a:lnSpc>
              <a:spcBef>
                <a:spcPts val="600"/>
              </a:spcBef>
              <a:buFont typeface="Arial"/>
              <a:buChar char="•"/>
            </a:pPr>
            <a:r>
              <a:rPr lang="en-US" sz="1400" dirty="0">
                <a:solidFill>
                  <a:srgbClr val="B4BECC"/>
                </a:solidFill>
              </a:rPr>
              <a:t>Auth: none, basic, or forwarded OAuth identity</a:t>
            </a:r>
          </a:p>
          <a:p>
            <a:pPr marL="171450" indent="-171450">
              <a:lnSpc>
                <a:spcPts val="1800"/>
              </a:lnSpc>
              <a:spcBef>
                <a:spcPts val="600"/>
              </a:spcBef>
              <a:buFont typeface="Arial"/>
              <a:buChar char="•"/>
            </a:pPr>
            <a:r>
              <a:rPr lang="en-US" sz="1400" dirty="0">
                <a:solidFill>
                  <a:srgbClr val="B4BECC"/>
                </a:solidFill>
              </a:rPr>
              <a:t>Exemplars link a metric spike to a trace</a:t>
            </a:r>
          </a:p>
        </p:txBody>
      </p:sp>
      <p:sp>
        <p:nvSpPr>
          <p:cNvPr id="527" name="S527"/>
          <p:cNvSpPr/>
          <p:nvPr/>
        </p:nvSpPr>
        <p:spPr>
          <a:xfrm>
            <a:off x="965200" y="3708400"/>
            <a:ext cx="4800600" cy="533400"/>
          </a:xfrm>
          <a:prstGeom prst="roundRect">
            <a:avLst/>
          </a:prstGeom>
          <a:solidFill>
            <a:srgbClr val="0C1016"/>
          </a:solidFill>
          <a:ln w="12700">
            <a:solidFill>
              <a:srgbClr val="263042"/>
            </a:solidFill>
          </a:ln>
        </p:spPr>
        <p:txBody>
          <a:bodyPr wrap="square" lIns="127000" tIns="76200" rIns="127000" bIns="76200" anchor="ctr"/>
          <a:lstStyle/>
          <a:p>
            <a:pPr>
              <a:buNone/>
            </a:pPr>
            <a:r>
              <a:rPr lang="en-US" sz="1400" dirty="0">
                <a:latin typeface="Consolas"/>
              </a:rPr>
              <a:t>rate(http_requests_total{job="api"}[5m])</a:t>
            </a:r>
          </a:p>
        </p:txBody>
      </p:sp>
      <p:sp>
        <p:nvSpPr>
          <p:cNvPr id="528" name="S528"/>
          <p:cNvSpPr/>
          <p:nvPr/>
        </p:nvSpPr>
        <p:spPr>
          <a:xfrm>
            <a:off x="965200" y="4318000"/>
            <a:ext cx="4800600" cy="736600"/>
          </a:xfrm>
          <a:prstGeom prst="rect">
            <a:avLst/>
          </a:prstGeom>
          <a:noFill/>
          <a:ln>
            <a:noFill/>
          </a:ln>
        </p:spPr>
        <p:txBody>
          <a:bodyPr wrap="square" lIns="0" tIns="76200" rIns="0" bIns="76200" anchor="t"/>
          <a:lstStyle/>
          <a:p>
            <a:pPr algn="l">
              <a:buNone/>
            </a:pPr>
            <a:r>
              <a:rPr lang="en-US" sz="1400" b="0" dirty="0">
                <a:solidFill>
                  <a:srgbClr val="98A2B3"/>
                </a:solidFill>
              </a:rPr>
              <a:t>Best for: RED / USE dashboards, alerting, capacity trends.</a:t>
            </a:r>
          </a:p>
        </p:txBody>
      </p:sp>
      <p:sp>
        <p:nvSpPr>
          <p:cNvPr id="529" name="S529"/>
          <p:cNvSpPr/>
          <p:nvPr/>
        </p:nvSpPr>
        <p:spPr>
          <a:xfrm>
            <a:off x="6223000" y="1397000"/>
            <a:ext cx="5207000" cy="38100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30" name="S530"/>
          <p:cNvSpPr/>
          <p:nvPr/>
        </p:nvSpPr>
        <p:spPr>
          <a:xfrm>
            <a:off x="6223000" y="1397000"/>
            <a:ext cx="5207000" cy="50800"/>
          </a:xfrm>
          <a:prstGeom prst="rect">
            <a:avLst/>
          </a:prstGeom>
          <a:solidFill>
            <a:srgbClr val="FF9830"/>
          </a:solidFill>
          <a:ln>
            <a:noFill/>
          </a:ln>
        </p:spPr>
        <p:txBody>
          <a:bodyPr wrap="square" lIns="152400" tIns="76200" rIns="152400" bIns="76200" anchor="ctr"/>
          <a:lstStyle/>
          <a:p>
            <a:endParaRPr/>
          </a:p>
        </p:txBody>
      </p:sp>
      <p:sp>
        <p:nvSpPr>
          <p:cNvPr id="531" name="S531"/>
          <p:cNvSpPr/>
          <p:nvPr/>
        </p:nvSpPr>
        <p:spPr>
          <a:xfrm>
            <a:off x="6426200" y="1549400"/>
            <a:ext cx="3683000" cy="406400"/>
          </a:xfrm>
          <a:prstGeom prst="rect">
            <a:avLst/>
          </a:prstGeom>
          <a:noFill/>
          <a:ln>
            <a:noFill/>
          </a:ln>
        </p:spPr>
        <p:txBody>
          <a:bodyPr wrap="square" lIns="0" tIns="76200" rIns="0" bIns="76200" anchor="ctr"/>
          <a:lstStyle/>
          <a:p>
            <a:pPr algn="l">
              <a:buNone/>
            </a:pPr>
            <a:r>
              <a:rPr lang="en-US" sz="2200" b="1" dirty="0">
                <a:solidFill>
                  <a:srgbClr val="FF9830"/>
                </a:solidFill>
              </a:rPr>
              <a:t>Loki</a:t>
            </a:r>
          </a:p>
        </p:txBody>
      </p:sp>
      <p:sp>
        <p:nvSpPr>
          <p:cNvPr id="532" name="S532"/>
          <p:cNvSpPr/>
          <p:nvPr/>
        </p:nvSpPr>
        <p:spPr>
          <a:xfrm>
            <a:off x="6426200" y="1955800"/>
            <a:ext cx="4800600" cy="304800"/>
          </a:xfrm>
          <a:prstGeom prst="rect">
            <a:avLst/>
          </a:prstGeom>
          <a:noFill/>
          <a:ln>
            <a:noFill/>
          </a:ln>
        </p:spPr>
        <p:txBody>
          <a:bodyPr wrap="square" lIns="0" tIns="76200" rIns="0" bIns="76200" anchor="ctr"/>
          <a:lstStyle/>
          <a:p>
            <a:pPr algn="l">
              <a:buNone/>
            </a:pPr>
            <a:r>
              <a:rPr lang="en-US" sz="1400" b="0" dirty="0">
                <a:solidFill>
                  <a:srgbClr val="98A2B3"/>
                </a:solidFill>
              </a:rPr>
              <a:t>Label-indexed logs</a:t>
            </a:r>
          </a:p>
        </p:txBody>
      </p:sp>
      <p:sp>
        <p:nvSpPr>
          <p:cNvPr id="533" name="S533"/>
          <p:cNvSpPr/>
          <p:nvPr/>
        </p:nvSpPr>
        <p:spPr>
          <a:xfrm>
            <a:off x="6426200" y="2311400"/>
            <a:ext cx="4800600" cy="13970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Indexes labels only, not full log text - cheap to run</a:t>
            </a:r>
          </a:p>
          <a:p>
            <a:pPr marL="171450" indent="-171450">
              <a:lnSpc>
                <a:spcPts val="1800"/>
              </a:lnSpc>
              <a:spcBef>
                <a:spcPts val="600"/>
              </a:spcBef>
              <a:buFont typeface="Arial"/>
              <a:buChar char="•"/>
            </a:pPr>
            <a:r>
              <a:rPr lang="en-US" sz="1400" dirty="0">
                <a:solidFill>
                  <a:srgbClr val="B4BECC"/>
                </a:solidFill>
              </a:rPr>
              <a:t>LogQL mirrors PromQL, so filters feel familiar</a:t>
            </a:r>
          </a:p>
          <a:p>
            <a:pPr marL="171450" indent="-171450">
              <a:lnSpc>
                <a:spcPts val="1800"/>
              </a:lnSpc>
              <a:spcBef>
                <a:spcPts val="600"/>
              </a:spcBef>
              <a:buFont typeface="Arial"/>
              <a:buChar char="•"/>
            </a:pPr>
            <a:r>
              <a:rPr lang="en-US" sz="1400" dirty="0">
                <a:solidFill>
                  <a:srgbClr val="B4BECC"/>
                </a:solidFill>
              </a:rPr>
              <a:t>Derived fields turn log IDs into trace links</a:t>
            </a:r>
          </a:p>
        </p:txBody>
      </p:sp>
      <p:sp>
        <p:nvSpPr>
          <p:cNvPr id="534" name="S534"/>
          <p:cNvSpPr/>
          <p:nvPr/>
        </p:nvSpPr>
        <p:spPr>
          <a:xfrm>
            <a:off x="6426200" y="3708400"/>
            <a:ext cx="4800600" cy="533400"/>
          </a:xfrm>
          <a:prstGeom prst="roundRect">
            <a:avLst/>
          </a:prstGeom>
          <a:solidFill>
            <a:srgbClr val="0C1016"/>
          </a:solidFill>
          <a:ln w="12700">
            <a:solidFill>
              <a:srgbClr val="263042"/>
            </a:solidFill>
          </a:ln>
        </p:spPr>
        <p:txBody>
          <a:bodyPr wrap="square" lIns="127000" tIns="76200" rIns="127000" bIns="76200" anchor="ctr"/>
          <a:lstStyle/>
          <a:p>
            <a:pPr>
              <a:buNone/>
            </a:pPr>
            <a:r>
              <a:rPr lang="en-US" sz="1400" dirty="0">
                <a:latin typeface="Consolas"/>
              </a:rPr>
              <a:t>{job="api"} |= "error" | json | line_format</a:t>
            </a:r>
          </a:p>
        </p:txBody>
      </p:sp>
      <p:sp>
        <p:nvSpPr>
          <p:cNvPr id="535" name="S535"/>
          <p:cNvSpPr/>
          <p:nvPr/>
        </p:nvSpPr>
        <p:spPr>
          <a:xfrm>
            <a:off x="6426200" y="4318000"/>
            <a:ext cx="4800600" cy="736600"/>
          </a:xfrm>
          <a:prstGeom prst="rect">
            <a:avLst/>
          </a:prstGeom>
          <a:noFill/>
          <a:ln>
            <a:noFill/>
          </a:ln>
        </p:spPr>
        <p:txBody>
          <a:bodyPr wrap="square" lIns="0" tIns="76200" rIns="0" bIns="76200" anchor="t"/>
          <a:lstStyle/>
          <a:p>
            <a:pPr algn="l">
              <a:buNone/>
            </a:pPr>
            <a:r>
              <a:rPr lang="en-US" sz="1400" b="0" dirty="0">
                <a:solidFill>
                  <a:srgbClr val="98A2B3"/>
                </a:solidFill>
              </a:rPr>
              <a:t>Best for: root-cause drill-down straight from a metric panel.</a:t>
            </a:r>
          </a:p>
        </p:txBody>
      </p:sp>
      <p:sp>
        <p:nvSpPr>
          <p:cNvPr id="536" name="S536"/>
          <p:cNvSpPr/>
          <p:nvPr/>
        </p:nvSpPr>
        <p:spPr>
          <a:xfrm>
            <a:off x="762000" y="5384800"/>
            <a:ext cx="10668000" cy="939800"/>
          </a:xfrm>
          <a:prstGeom prst="roundRect">
            <a:avLst/>
          </a:prstGeom>
          <a:solidFill>
            <a:srgbClr val="111620"/>
          </a:solidFill>
          <a:ln w="12700">
            <a:solidFill>
              <a:srgbClr val="2B3140"/>
            </a:solidFill>
          </a:ln>
        </p:spPr>
        <p:txBody>
          <a:bodyPr wrap="square" lIns="152400" tIns="76200" rIns="152400" bIns="76200" anchor="ctr"/>
          <a:lstStyle/>
          <a:p>
            <a:endParaRPr/>
          </a:p>
        </p:txBody>
      </p:sp>
      <p:sp>
        <p:nvSpPr>
          <p:cNvPr id="537" name="S537"/>
          <p:cNvSpPr/>
          <p:nvPr/>
        </p:nvSpPr>
        <p:spPr>
          <a:xfrm>
            <a:off x="939800" y="5486400"/>
            <a:ext cx="3810000" cy="330200"/>
          </a:xfrm>
          <a:prstGeom prst="rect">
            <a:avLst/>
          </a:prstGeom>
          <a:noFill/>
          <a:ln>
            <a:noFill/>
          </a:ln>
        </p:spPr>
        <p:txBody>
          <a:bodyPr wrap="square" lIns="0" tIns="76200" rIns="0" bIns="76200" anchor="ctr"/>
          <a:lstStyle/>
          <a:p>
            <a:pPr algn="l">
              <a:buNone/>
            </a:pPr>
            <a:r>
              <a:rPr lang="en-US" sz="1600" b="1" dirty="0">
                <a:solidFill>
                  <a:srgbClr val="56A64B"/>
                </a:solidFill>
              </a:rPr>
              <a:t>Why they pair so well</a:t>
            </a:r>
          </a:p>
        </p:txBody>
      </p:sp>
      <p:sp>
        <p:nvSpPr>
          <p:cNvPr id="538" name="S538"/>
          <p:cNvSpPr/>
          <p:nvPr/>
        </p:nvSpPr>
        <p:spPr>
          <a:xfrm>
            <a:off x="939800" y="5816600"/>
            <a:ext cx="10312400" cy="431800"/>
          </a:xfrm>
          <a:prstGeom prst="rect">
            <a:avLst/>
          </a:prstGeom>
          <a:noFill/>
          <a:ln>
            <a:noFill/>
          </a:ln>
        </p:spPr>
        <p:txBody>
          <a:bodyPr wrap="square" lIns="0" tIns="76200" rIns="0" bIns="76200" anchor="t"/>
          <a:lstStyle/>
          <a:p>
            <a:pPr algn="l">
              <a:buNone/>
            </a:pPr>
            <a:r>
              <a:rPr lang="en-US" sz="1400" b="0" dirty="0">
                <a:solidFill>
                  <a:srgbClr val="B4BECC"/>
                </a:solidFill>
              </a:rPr>
              <a:t>Identical label sets (job, instance, namespace) mean one dashboard variable drives both. Click a metric spike, jump to the exact logs behind it.</a:t>
            </a:r>
          </a:p>
        </p:txBody>
      </p:sp>
    </p:spTree>
    <p:extLst>
      <p:ext uri="{BB962C8B-B14F-4D97-AF65-F5344CB8AC3E}">
        <p14:creationId xmlns:p14="http://schemas.microsoft.com/office/powerpoint/2010/main" val="3439015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4C6E-617A-1DB6-D03D-48F9B216DF7C}"/>
              </a:ext>
            </a:extLst>
          </p:cNvPr>
          <p:cNvSpPr>
            <a:spLocks noGrp="1"/>
          </p:cNvSpPr>
          <p:nvPr>
            <p:ph type="title"/>
          </p:nvPr>
        </p:nvSpPr>
        <p:spPr>
          <a:xfrm>
            <a:off x="762000" y="355600"/>
            <a:ext cx="10668000" cy="584200"/>
          </a:xfrm>
        </p:spPr>
        <p:txBody>
          <a:bodyPr/>
          <a:lstStyle/>
          <a:p>
            <a:pPr algn="l">
              <a:buNone/>
            </a:pPr>
            <a:r>
              <a:rPr lang="en-US" sz="3400" b="1" dirty="0">
                <a:solidFill>
                  <a:srgbClr val="FFFFFF"/>
                </a:solidFill>
              </a:rPr>
              <a:t>SQL Data Sources: PostgreSQL and MySQL</a:t>
            </a:r>
          </a:p>
        </p:txBody>
      </p:sp>
      <p:sp>
        <p:nvSpPr>
          <p:cNvPr id="541" name="S541"/>
          <p:cNvSpPr/>
          <p:nvPr/>
        </p:nvSpPr>
        <p:spPr>
          <a:xfrm>
            <a:off x="762000" y="990600"/>
            <a:ext cx="1524000" cy="50800"/>
          </a:xfrm>
          <a:prstGeom prst="rect">
            <a:avLst/>
          </a:prstGeom>
          <a:solidFill>
            <a:srgbClr val="F46800"/>
          </a:solidFill>
          <a:ln>
            <a:noFill/>
          </a:ln>
        </p:spPr>
        <p:txBody>
          <a:bodyPr wrap="square" lIns="152400" tIns="76200" rIns="152400" bIns="76200" anchor="ctr"/>
          <a:lstStyle/>
          <a:p>
            <a:endParaRPr/>
          </a:p>
        </p:txBody>
      </p:sp>
      <p:sp>
        <p:nvSpPr>
          <p:cNvPr id="542" name="S542"/>
          <p:cNvSpPr/>
          <p:nvPr/>
        </p:nvSpPr>
        <p:spPr>
          <a:xfrm>
            <a:off x="762000" y="1346200"/>
            <a:ext cx="5207000" cy="28194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43" name="S543"/>
          <p:cNvSpPr/>
          <p:nvPr/>
        </p:nvSpPr>
        <p:spPr>
          <a:xfrm>
            <a:off x="762000" y="1346200"/>
            <a:ext cx="5207000" cy="50800"/>
          </a:xfrm>
          <a:prstGeom prst="rect">
            <a:avLst/>
          </a:prstGeom>
          <a:solidFill>
            <a:srgbClr val="3274D9"/>
          </a:solidFill>
          <a:ln>
            <a:noFill/>
          </a:ln>
        </p:spPr>
        <p:txBody>
          <a:bodyPr wrap="square" lIns="152400" tIns="76200" rIns="152400" bIns="76200" anchor="ctr"/>
          <a:lstStyle/>
          <a:p>
            <a:endParaRPr/>
          </a:p>
        </p:txBody>
      </p:sp>
      <p:sp>
        <p:nvSpPr>
          <p:cNvPr id="544" name="S544"/>
          <p:cNvSpPr/>
          <p:nvPr/>
        </p:nvSpPr>
        <p:spPr>
          <a:xfrm>
            <a:off x="965200" y="1473200"/>
            <a:ext cx="4800600" cy="355600"/>
          </a:xfrm>
          <a:prstGeom prst="rect">
            <a:avLst/>
          </a:prstGeom>
          <a:noFill/>
          <a:ln>
            <a:noFill/>
          </a:ln>
        </p:spPr>
        <p:txBody>
          <a:bodyPr wrap="square" lIns="0" tIns="76200" rIns="0" bIns="76200" anchor="ctr"/>
          <a:lstStyle/>
          <a:p>
            <a:pPr algn="l">
              <a:buNone/>
            </a:pPr>
            <a:r>
              <a:rPr lang="en-US" sz="1800" b="1" dirty="0">
                <a:solidFill>
                  <a:srgbClr val="3274D9"/>
                </a:solidFill>
              </a:rPr>
              <a:t>Connection settings</a:t>
            </a:r>
          </a:p>
        </p:txBody>
      </p:sp>
      <p:sp>
        <p:nvSpPr>
          <p:cNvPr id="545" name="S545"/>
          <p:cNvSpPr/>
          <p:nvPr/>
        </p:nvSpPr>
        <p:spPr>
          <a:xfrm>
            <a:off x="965200" y="1854200"/>
            <a:ext cx="4800600" cy="22098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Host:port, database name, user - always a read-only user</a:t>
            </a:r>
          </a:p>
          <a:p>
            <a:pPr marL="171450" indent="-171450">
              <a:lnSpc>
                <a:spcPts val="1800"/>
              </a:lnSpc>
              <a:spcBef>
                <a:spcPts val="600"/>
              </a:spcBef>
              <a:buFont typeface="Arial"/>
              <a:buChar char="•"/>
            </a:pPr>
            <a:r>
              <a:rPr lang="en-US" sz="1400" dirty="0">
                <a:solidFill>
                  <a:srgbClr val="B4BECC"/>
                </a:solidFill>
              </a:rPr>
              <a:t>TLS/SSL mode: require or verify-full in production</a:t>
            </a:r>
          </a:p>
          <a:p>
            <a:pPr marL="171450" indent="-171450">
              <a:lnSpc>
                <a:spcPts val="1800"/>
              </a:lnSpc>
              <a:spcBef>
                <a:spcPts val="600"/>
              </a:spcBef>
              <a:buFont typeface="Arial"/>
              <a:buChar char="•"/>
            </a:pPr>
            <a:r>
              <a:rPr lang="en-US" sz="1400" dirty="0">
                <a:solidFill>
                  <a:srgbClr val="B4BECC"/>
                </a:solidFill>
              </a:rPr>
              <a:t>Max open / idle connections and connection lifetime</a:t>
            </a:r>
          </a:p>
          <a:p>
            <a:pPr marL="171450" indent="-171450">
              <a:lnSpc>
                <a:spcPts val="1800"/>
              </a:lnSpc>
              <a:spcBef>
                <a:spcPts val="600"/>
              </a:spcBef>
              <a:buFont typeface="Arial"/>
              <a:buChar char="•"/>
            </a:pPr>
            <a:r>
              <a:rPr lang="en-US" sz="1400" dirty="0">
                <a:solidFill>
                  <a:srgbClr val="B4BECC"/>
                </a:solidFill>
              </a:rPr>
              <a:t>Min time interval matches your data granularity</a:t>
            </a:r>
          </a:p>
          <a:p>
            <a:pPr marL="171450" indent="-171450">
              <a:lnSpc>
                <a:spcPts val="1800"/>
              </a:lnSpc>
              <a:spcBef>
                <a:spcPts val="600"/>
              </a:spcBef>
              <a:buFont typeface="Arial"/>
              <a:buChar char="•"/>
            </a:pPr>
            <a:r>
              <a:rPr lang="en-US" sz="1400" dirty="0">
                <a:solidFill>
                  <a:srgbClr val="B4BECC"/>
                </a:solidFill>
              </a:rPr>
              <a:t>Timescale toggle for TimescaleDB hypertables</a:t>
            </a:r>
          </a:p>
        </p:txBody>
      </p:sp>
      <p:sp>
        <p:nvSpPr>
          <p:cNvPr id="546" name="S546"/>
          <p:cNvSpPr/>
          <p:nvPr/>
        </p:nvSpPr>
        <p:spPr>
          <a:xfrm>
            <a:off x="6223000" y="1346200"/>
            <a:ext cx="5207000" cy="28194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47" name="S547"/>
          <p:cNvSpPr/>
          <p:nvPr/>
        </p:nvSpPr>
        <p:spPr>
          <a:xfrm>
            <a:off x="6223000" y="1346200"/>
            <a:ext cx="5207000" cy="50800"/>
          </a:xfrm>
          <a:prstGeom prst="rect">
            <a:avLst/>
          </a:prstGeom>
          <a:solidFill>
            <a:srgbClr val="B877D9"/>
          </a:solidFill>
          <a:ln>
            <a:noFill/>
          </a:ln>
        </p:spPr>
        <p:txBody>
          <a:bodyPr wrap="square" lIns="152400" tIns="76200" rIns="152400" bIns="76200" anchor="ctr"/>
          <a:lstStyle/>
          <a:p>
            <a:endParaRPr/>
          </a:p>
        </p:txBody>
      </p:sp>
      <p:sp>
        <p:nvSpPr>
          <p:cNvPr id="548" name="S548"/>
          <p:cNvSpPr/>
          <p:nvPr/>
        </p:nvSpPr>
        <p:spPr>
          <a:xfrm>
            <a:off x="6426200" y="1473200"/>
            <a:ext cx="4800600" cy="355600"/>
          </a:xfrm>
          <a:prstGeom prst="rect">
            <a:avLst/>
          </a:prstGeom>
          <a:noFill/>
          <a:ln>
            <a:noFill/>
          </a:ln>
        </p:spPr>
        <p:txBody>
          <a:bodyPr wrap="square" lIns="0" tIns="76200" rIns="0" bIns="76200" anchor="ctr"/>
          <a:lstStyle/>
          <a:p>
            <a:pPr algn="l">
              <a:buNone/>
            </a:pPr>
            <a:r>
              <a:rPr lang="en-US" sz="1800" b="1" dirty="0">
                <a:solidFill>
                  <a:srgbClr val="B877D9"/>
                </a:solidFill>
              </a:rPr>
              <a:t>Query editor essentials</a:t>
            </a:r>
          </a:p>
        </p:txBody>
      </p:sp>
      <p:sp>
        <p:nvSpPr>
          <p:cNvPr id="549" name="S549"/>
          <p:cNvSpPr/>
          <p:nvPr/>
        </p:nvSpPr>
        <p:spPr>
          <a:xfrm>
            <a:off x="6426200" y="1854200"/>
            <a:ext cx="4800600" cy="22098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Format as Time series needs a column aliased time</a:t>
            </a:r>
          </a:p>
          <a:p>
            <a:pPr marL="171450" indent="-171450">
              <a:lnSpc>
                <a:spcPts val="1800"/>
              </a:lnSpc>
              <a:spcBef>
                <a:spcPts val="600"/>
              </a:spcBef>
              <a:buFont typeface="Arial"/>
              <a:buChar char="•"/>
            </a:pPr>
            <a:r>
              <a:rPr lang="en-US" sz="1400" dirty="0">
                <a:solidFill>
                  <a:srgbClr val="B4BECC"/>
                </a:solidFill>
              </a:rPr>
              <a:t>Format as Table returns raw rows for table panels</a:t>
            </a:r>
          </a:p>
          <a:p>
            <a:pPr marL="171450" indent="-171450">
              <a:lnSpc>
                <a:spcPts val="1800"/>
              </a:lnSpc>
              <a:spcBef>
                <a:spcPts val="600"/>
              </a:spcBef>
              <a:buFont typeface="Arial"/>
              <a:buChar char="•"/>
            </a:pPr>
            <a:r>
              <a:rPr lang="en-US" sz="1400" dirty="0">
                <a:solidFill>
                  <a:srgbClr val="B4BECC"/>
                </a:solidFill>
              </a:rPr>
              <a:t>$__timeFilter(col) applies the dashboard time range</a:t>
            </a:r>
          </a:p>
          <a:p>
            <a:pPr marL="171450" indent="-171450">
              <a:lnSpc>
                <a:spcPts val="1800"/>
              </a:lnSpc>
              <a:spcBef>
                <a:spcPts val="600"/>
              </a:spcBef>
              <a:buFont typeface="Arial"/>
              <a:buChar char="•"/>
            </a:pPr>
            <a:r>
              <a:rPr lang="en-US" sz="1400" dirty="0">
                <a:solidFill>
                  <a:srgbClr val="B4BECC"/>
                </a:solidFill>
              </a:rPr>
              <a:t>$__timeGroup(col,'5m') buckets rows into intervals</a:t>
            </a:r>
          </a:p>
          <a:p>
            <a:pPr marL="171450" indent="-171450">
              <a:lnSpc>
                <a:spcPts val="1800"/>
              </a:lnSpc>
              <a:spcBef>
                <a:spcPts val="600"/>
              </a:spcBef>
              <a:buFont typeface="Arial"/>
              <a:buChar char="•"/>
            </a:pPr>
            <a:r>
              <a:rPr lang="en-US" sz="1400" dirty="0">
                <a:solidFill>
                  <a:srgbClr val="B4BECC"/>
                </a:solidFill>
              </a:rPr>
              <a:t>Always push filtering and aggregation into SQL</a:t>
            </a:r>
          </a:p>
        </p:txBody>
      </p:sp>
      <p:sp>
        <p:nvSpPr>
          <p:cNvPr id="550" name="S550"/>
          <p:cNvSpPr/>
          <p:nvPr/>
        </p:nvSpPr>
        <p:spPr>
          <a:xfrm>
            <a:off x="762000" y="4343400"/>
            <a:ext cx="10668000" cy="1295400"/>
          </a:xfrm>
          <a:prstGeom prst="roundRect">
            <a:avLst/>
          </a:prstGeom>
          <a:solidFill>
            <a:srgbClr val="0C1016"/>
          </a:solidFill>
          <a:ln w="12700">
            <a:solidFill>
              <a:srgbClr val="263042"/>
            </a:solidFill>
          </a:ln>
        </p:spPr>
        <p:txBody>
          <a:bodyPr wrap="square" lIns="152400" tIns="76200" rIns="152400" bIns="76200" anchor="ctr"/>
          <a:lstStyle/>
          <a:p>
            <a:endParaRPr/>
          </a:p>
        </p:txBody>
      </p:sp>
      <p:sp>
        <p:nvSpPr>
          <p:cNvPr id="551" name="S551"/>
          <p:cNvSpPr/>
          <p:nvPr/>
        </p:nvSpPr>
        <p:spPr>
          <a:xfrm>
            <a:off x="939800" y="4419600"/>
            <a:ext cx="3810000" cy="279400"/>
          </a:xfrm>
          <a:prstGeom prst="rect">
            <a:avLst/>
          </a:prstGeom>
          <a:noFill/>
          <a:ln>
            <a:noFill/>
          </a:ln>
        </p:spPr>
        <p:txBody>
          <a:bodyPr wrap="square" lIns="0" tIns="76200" rIns="0" bIns="76200" anchor="ctr"/>
          <a:lstStyle/>
          <a:p>
            <a:pPr algn="l">
              <a:buNone/>
            </a:pPr>
            <a:r>
              <a:rPr lang="en-US" sz="1400" b="0" dirty="0">
                <a:solidFill>
                  <a:srgbClr val="7A8496"/>
                </a:solidFill>
              </a:rPr>
              <a:t>Example: orders per 5 minutes by status</a:t>
            </a:r>
          </a:p>
        </p:txBody>
      </p:sp>
      <p:sp>
        <p:nvSpPr>
          <p:cNvPr id="552" name="S552"/>
          <p:cNvSpPr/>
          <p:nvPr/>
        </p:nvSpPr>
        <p:spPr>
          <a:xfrm>
            <a:off x="939800" y="4699000"/>
            <a:ext cx="10312400" cy="863600"/>
          </a:xfrm>
          <a:prstGeom prst="rect">
            <a:avLst/>
          </a:prstGeom>
          <a:noFill/>
          <a:ln>
            <a:noFill/>
          </a:ln>
        </p:spPr>
        <p:txBody>
          <a:bodyPr wrap="square" lIns="0" tIns="76200" rIns="0" bIns="76200" anchor="t"/>
          <a:lstStyle/>
          <a:p>
            <a:pPr>
              <a:lnSpc>
                <a:spcPts val="1900"/>
              </a:lnSpc>
              <a:buNone/>
            </a:pPr>
            <a:r>
              <a:rPr lang="en-US" sz="1400" dirty="0">
                <a:latin typeface="Consolas"/>
              </a:rPr>
              <a:t>SELECT $__timeGroup(created_at,'5m') AS time, status AS metric, count(*) AS value</a:t>
            </a:r>
          </a:p>
          <a:p>
            <a:pPr>
              <a:lnSpc>
                <a:spcPts val="1900"/>
              </a:lnSpc>
              <a:buNone/>
            </a:pPr>
            <a:r>
              <a:rPr lang="en-US" sz="1400" dirty="0">
                <a:latin typeface="Consolas"/>
              </a:rPr>
              <a:t>FROM orders WHERE $__timeFilter(created_at)</a:t>
            </a:r>
          </a:p>
          <a:p>
            <a:pPr>
              <a:lnSpc>
                <a:spcPts val="1900"/>
              </a:lnSpc>
              <a:buNone/>
            </a:pPr>
            <a:r>
              <a:rPr lang="en-US" sz="1400" dirty="0">
                <a:latin typeface="Consolas"/>
              </a:rPr>
              <a:t>GROUP BY 1, 2 ORDER BY 1</a:t>
            </a:r>
          </a:p>
        </p:txBody>
      </p:sp>
      <p:sp>
        <p:nvSpPr>
          <p:cNvPr id="553" name="S553"/>
          <p:cNvSpPr/>
          <p:nvPr/>
        </p:nvSpPr>
        <p:spPr>
          <a:xfrm>
            <a:off x="762000" y="5791200"/>
            <a:ext cx="10668000" cy="533400"/>
          </a:xfrm>
          <a:prstGeom prst="roundRect">
            <a:avLst/>
          </a:prstGeom>
          <a:solidFill>
            <a:srgbClr val="111620"/>
          </a:solidFill>
          <a:ln w="12700">
            <a:solidFill>
              <a:srgbClr val="262C38"/>
            </a:solidFill>
          </a:ln>
        </p:spPr>
        <p:txBody>
          <a:bodyPr wrap="square" lIns="177800" tIns="76200" rIns="177800" bIns="76200" anchor="ctr"/>
          <a:lstStyle/>
          <a:p>
            <a:pPr algn="l">
              <a:buNone/>
            </a:pPr>
            <a:r>
              <a:rPr lang="en-US" sz="1400" b="0" dirty="0">
                <a:solidFill>
                  <a:srgbClr val="B4BECC"/>
                </a:solidFill>
              </a:rPr>
              <a:t>Performance note: a dashboard is a query generator. Index the timestamp column, cap the returned rows, and cache with a sensible min interval.</a:t>
            </a:r>
          </a:p>
        </p:txBody>
      </p:sp>
    </p:spTree>
    <p:extLst>
      <p:ext uri="{BB962C8B-B14F-4D97-AF65-F5344CB8AC3E}">
        <p14:creationId xmlns:p14="http://schemas.microsoft.com/office/powerpoint/2010/main" val="1968558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71FA8-1911-26AF-A28A-6770EBC93921}"/>
              </a:ext>
            </a:extLst>
          </p:cNvPr>
          <p:cNvSpPr>
            <a:spLocks noGrp="1"/>
          </p:cNvSpPr>
          <p:nvPr>
            <p:ph type="title"/>
          </p:nvPr>
        </p:nvSpPr>
        <p:spPr>
          <a:xfrm>
            <a:off x="762000" y="355600"/>
            <a:ext cx="10668000" cy="584200"/>
          </a:xfrm>
        </p:spPr>
        <p:txBody>
          <a:bodyPr/>
          <a:lstStyle/>
          <a:p>
            <a:pPr algn="l">
              <a:buNone/>
            </a:pPr>
            <a:r>
              <a:rPr lang="en-US" sz="3400" b="1" dirty="0">
                <a:solidFill>
                  <a:srgbClr val="FFFFFF"/>
                </a:solidFill>
              </a:rPr>
              <a:t>Search and Cloud Data Sources</a:t>
            </a:r>
          </a:p>
        </p:txBody>
      </p:sp>
      <p:sp>
        <p:nvSpPr>
          <p:cNvPr id="561" name="S561"/>
          <p:cNvSpPr/>
          <p:nvPr/>
        </p:nvSpPr>
        <p:spPr>
          <a:xfrm>
            <a:off x="762000" y="990600"/>
            <a:ext cx="1524000" cy="50800"/>
          </a:xfrm>
          <a:prstGeom prst="rect">
            <a:avLst/>
          </a:prstGeom>
          <a:solidFill>
            <a:srgbClr val="F46800"/>
          </a:solidFill>
          <a:ln>
            <a:noFill/>
          </a:ln>
        </p:spPr>
        <p:txBody>
          <a:bodyPr wrap="square" lIns="152400" tIns="76200" rIns="152400" bIns="76200" anchor="ctr"/>
          <a:lstStyle/>
          <a:p>
            <a:endParaRPr/>
          </a:p>
        </p:txBody>
      </p:sp>
      <p:sp>
        <p:nvSpPr>
          <p:cNvPr id="562" name="S562"/>
          <p:cNvSpPr/>
          <p:nvPr/>
        </p:nvSpPr>
        <p:spPr>
          <a:xfrm>
            <a:off x="762000" y="1346200"/>
            <a:ext cx="3429000" cy="38100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63" name="S563"/>
          <p:cNvSpPr/>
          <p:nvPr/>
        </p:nvSpPr>
        <p:spPr>
          <a:xfrm>
            <a:off x="762000" y="1346200"/>
            <a:ext cx="3429000" cy="50800"/>
          </a:xfrm>
          <a:prstGeom prst="rect">
            <a:avLst/>
          </a:prstGeom>
          <a:solidFill>
            <a:srgbClr val="B877D9"/>
          </a:solidFill>
          <a:ln>
            <a:noFill/>
          </a:ln>
        </p:spPr>
        <p:txBody>
          <a:bodyPr wrap="square" lIns="152400" tIns="76200" rIns="152400" bIns="76200" anchor="ctr"/>
          <a:lstStyle/>
          <a:p>
            <a:endParaRPr/>
          </a:p>
        </p:txBody>
      </p:sp>
      <p:sp>
        <p:nvSpPr>
          <p:cNvPr id="564" name="S564"/>
          <p:cNvSpPr/>
          <p:nvPr/>
        </p:nvSpPr>
        <p:spPr>
          <a:xfrm>
            <a:off x="939800" y="1473200"/>
            <a:ext cx="3073400" cy="381000"/>
          </a:xfrm>
          <a:prstGeom prst="rect">
            <a:avLst/>
          </a:prstGeom>
          <a:noFill/>
          <a:ln>
            <a:noFill/>
          </a:ln>
        </p:spPr>
        <p:txBody>
          <a:bodyPr wrap="square" lIns="0" tIns="76200" rIns="0" bIns="76200" anchor="ctr"/>
          <a:lstStyle/>
          <a:p>
            <a:pPr algn="l">
              <a:buNone/>
            </a:pPr>
            <a:r>
              <a:rPr lang="en-US" sz="1900" b="1" dirty="0">
                <a:solidFill>
                  <a:srgbClr val="B877D9"/>
                </a:solidFill>
              </a:rPr>
              <a:t>Elasticsearch</a:t>
            </a:r>
          </a:p>
        </p:txBody>
      </p:sp>
      <p:sp>
        <p:nvSpPr>
          <p:cNvPr id="565" name="S565"/>
          <p:cNvSpPr/>
          <p:nvPr/>
        </p:nvSpPr>
        <p:spPr>
          <a:xfrm>
            <a:off x="939800" y="1854200"/>
            <a:ext cx="3073400" cy="304800"/>
          </a:xfrm>
          <a:prstGeom prst="rect">
            <a:avLst/>
          </a:prstGeom>
          <a:noFill/>
          <a:ln>
            <a:noFill/>
          </a:ln>
        </p:spPr>
        <p:txBody>
          <a:bodyPr wrap="square" lIns="0" tIns="76200" rIns="0" bIns="76200" anchor="ctr"/>
          <a:lstStyle/>
          <a:p>
            <a:pPr algn="l">
              <a:buNone/>
            </a:pPr>
            <a:r>
              <a:rPr lang="en-US" sz="1400" b="0" dirty="0">
                <a:solidFill>
                  <a:srgbClr val="98A2B3"/>
                </a:solidFill>
              </a:rPr>
              <a:t>Documents and full-text search</a:t>
            </a:r>
          </a:p>
        </p:txBody>
      </p:sp>
      <p:sp>
        <p:nvSpPr>
          <p:cNvPr id="566" name="S566"/>
          <p:cNvSpPr/>
          <p:nvPr/>
        </p:nvSpPr>
        <p:spPr>
          <a:xfrm>
            <a:off x="939800" y="2209800"/>
            <a:ext cx="3073400" cy="21082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Index name or pattern, plus the time field</a:t>
            </a:r>
          </a:p>
          <a:p>
            <a:pPr marL="171450" indent="-171450">
              <a:lnSpc>
                <a:spcPts val="1800"/>
              </a:lnSpc>
              <a:spcBef>
                <a:spcPts val="600"/>
              </a:spcBef>
              <a:buFont typeface="Arial"/>
              <a:buChar char="•"/>
            </a:pPr>
            <a:r>
              <a:rPr lang="en-US" sz="1400" dirty="0">
                <a:solidFill>
                  <a:srgbClr val="B4BECC"/>
                </a:solidFill>
              </a:rPr>
              <a:t>Lucene query syntax in the query box</a:t>
            </a:r>
          </a:p>
          <a:p>
            <a:pPr marL="171450" indent="-171450">
              <a:lnSpc>
                <a:spcPts val="1800"/>
              </a:lnSpc>
              <a:spcBef>
                <a:spcPts val="600"/>
              </a:spcBef>
              <a:buFont typeface="Arial"/>
              <a:buChar char="•"/>
            </a:pPr>
            <a:r>
              <a:rPr lang="en-US" sz="1400" dirty="0">
                <a:solidFill>
                  <a:srgbClr val="B4BECC"/>
                </a:solidFill>
              </a:rPr>
              <a:t>Metric aggregation + bucket aggregation</a:t>
            </a:r>
          </a:p>
          <a:p>
            <a:pPr marL="171450" indent="-171450">
              <a:lnSpc>
                <a:spcPts val="1800"/>
              </a:lnSpc>
              <a:spcBef>
                <a:spcPts val="600"/>
              </a:spcBef>
              <a:buFont typeface="Arial"/>
              <a:buChar char="•"/>
            </a:pPr>
            <a:r>
              <a:rPr lang="en-US" sz="1400" dirty="0">
                <a:solidFill>
                  <a:srgbClr val="B4BECC"/>
                </a:solidFill>
              </a:rPr>
              <a:t>Watch the version - features differ</a:t>
            </a:r>
          </a:p>
        </p:txBody>
      </p:sp>
      <p:sp>
        <p:nvSpPr>
          <p:cNvPr id="567" name="S567"/>
          <p:cNvSpPr/>
          <p:nvPr/>
        </p:nvSpPr>
        <p:spPr>
          <a:xfrm>
            <a:off x="939800" y="4419600"/>
            <a:ext cx="3073400" cy="558800"/>
          </a:xfrm>
          <a:prstGeom prst="roundRect">
            <a:avLst/>
          </a:prstGeom>
          <a:solidFill>
            <a:srgbClr val="0C1016"/>
          </a:solidFill>
          <a:ln w="12700">
            <a:solidFill>
              <a:srgbClr val="263042"/>
            </a:solidFill>
          </a:ln>
        </p:spPr>
        <p:txBody>
          <a:bodyPr wrap="square" lIns="127000" tIns="76200" rIns="127000" bIns="76200" anchor="ctr"/>
          <a:lstStyle/>
          <a:p>
            <a:pPr>
              <a:buNone/>
            </a:pPr>
            <a:r>
              <a:rPr lang="en-US" sz="1400" dirty="0">
                <a:latin typeface="Consolas"/>
              </a:rPr>
              <a:t>status:500 AND service:api</a:t>
            </a:r>
          </a:p>
        </p:txBody>
      </p:sp>
      <p:sp>
        <p:nvSpPr>
          <p:cNvPr id="568" name="S568"/>
          <p:cNvSpPr/>
          <p:nvPr/>
        </p:nvSpPr>
        <p:spPr>
          <a:xfrm>
            <a:off x="4381500" y="1346200"/>
            <a:ext cx="3429000" cy="38100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69" name="S569"/>
          <p:cNvSpPr/>
          <p:nvPr/>
        </p:nvSpPr>
        <p:spPr>
          <a:xfrm>
            <a:off x="4381500" y="1346200"/>
            <a:ext cx="3429000" cy="50800"/>
          </a:xfrm>
          <a:prstGeom prst="rect">
            <a:avLst/>
          </a:prstGeom>
          <a:solidFill>
            <a:srgbClr val="56A64B"/>
          </a:solidFill>
          <a:ln>
            <a:noFill/>
          </a:ln>
        </p:spPr>
        <p:txBody>
          <a:bodyPr wrap="square" lIns="152400" tIns="76200" rIns="152400" bIns="76200" anchor="ctr"/>
          <a:lstStyle/>
          <a:p>
            <a:endParaRPr/>
          </a:p>
        </p:txBody>
      </p:sp>
      <p:sp>
        <p:nvSpPr>
          <p:cNvPr id="570" name="S570"/>
          <p:cNvSpPr/>
          <p:nvPr/>
        </p:nvSpPr>
        <p:spPr>
          <a:xfrm>
            <a:off x="4559300" y="1473200"/>
            <a:ext cx="3073400" cy="381000"/>
          </a:xfrm>
          <a:prstGeom prst="rect">
            <a:avLst/>
          </a:prstGeom>
          <a:noFill/>
          <a:ln>
            <a:noFill/>
          </a:ln>
        </p:spPr>
        <p:txBody>
          <a:bodyPr wrap="square" lIns="0" tIns="76200" rIns="0" bIns="76200" anchor="ctr"/>
          <a:lstStyle/>
          <a:p>
            <a:pPr algn="l">
              <a:buNone/>
            </a:pPr>
            <a:r>
              <a:rPr lang="en-US" sz="1900" b="1" dirty="0">
                <a:solidFill>
                  <a:srgbClr val="56A64B"/>
                </a:solidFill>
              </a:rPr>
              <a:t>CloudWatch</a:t>
            </a:r>
          </a:p>
        </p:txBody>
      </p:sp>
      <p:sp>
        <p:nvSpPr>
          <p:cNvPr id="571" name="S571"/>
          <p:cNvSpPr/>
          <p:nvPr/>
        </p:nvSpPr>
        <p:spPr>
          <a:xfrm>
            <a:off x="4559300" y="1854200"/>
            <a:ext cx="3073400" cy="304800"/>
          </a:xfrm>
          <a:prstGeom prst="rect">
            <a:avLst/>
          </a:prstGeom>
          <a:noFill/>
          <a:ln>
            <a:noFill/>
          </a:ln>
        </p:spPr>
        <p:txBody>
          <a:bodyPr wrap="square" lIns="0" tIns="76200" rIns="0" bIns="76200" anchor="ctr"/>
          <a:lstStyle/>
          <a:p>
            <a:pPr algn="l">
              <a:buNone/>
            </a:pPr>
            <a:r>
              <a:rPr lang="en-US" sz="1400" b="0" dirty="0">
                <a:solidFill>
                  <a:srgbClr val="98A2B3"/>
                </a:solidFill>
              </a:rPr>
              <a:t>AWS native metrics and logs</a:t>
            </a:r>
          </a:p>
        </p:txBody>
      </p:sp>
      <p:sp>
        <p:nvSpPr>
          <p:cNvPr id="572" name="S572"/>
          <p:cNvSpPr/>
          <p:nvPr/>
        </p:nvSpPr>
        <p:spPr>
          <a:xfrm>
            <a:off x="4559300" y="2209800"/>
            <a:ext cx="3073400" cy="21082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Auth via IAM role (preferred) or access keys</a:t>
            </a:r>
          </a:p>
          <a:p>
            <a:pPr marL="171450" indent="-171450">
              <a:lnSpc>
                <a:spcPts val="1800"/>
              </a:lnSpc>
              <a:spcBef>
                <a:spcPts val="600"/>
              </a:spcBef>
              <a:buFont typeface="Arial"/>
              <a:buChar char="•"/>
            </a:pPr>
            <a:r>
              <a:rPr lang="en-US" sz="1400" dirty="0">
                <a:solidFill>
                  <a:srgbClr val="B4BECC"/>
                </a:solidFill>
              </a:rPr>
              <a:t>Pick default region, then namespace and metric</a:t>
            </a:r>
          </a:p>
          <a:p>
            <a:pPr marL="171450" indent="-171450">
              <a:lnSpc>
                <a:spcPts val="1800"/>
              </a:lnSpc>
              <a:spcBef>
                <a:spcPts val="600"/>
              </a:spcBef>
              <a:buFont typeface="Arial"/>
              <a:buChar char="•"/>
            </a:pPr>
            <a:r>
              <a:rPr lang="en-US" sz="1400" dirty="0">
                <a:solidFill>
                  <a:srgbClr val="B4BECC"/>
                </a:solidFill>
              </a:rPr>
              <a:t>Dimensions act as the label filters</a:t>
            </a:r>
          </a:p>
          <a:p>
            <a:pPr marL="171450" indent="-171450">
              <a:lnSpc>
                <a:spcPts val="1800"/>
              </a:lnSpc>
              <a:spcBef>
                <a:spcPts val="600"/>
              </a:spcBef>
              <a:buFont typeface="Arial"/>
              <a:buChar char="•"/>
            </a:pPr>
            <a:r>
              <a:rPr lang="en-US" sz="1400" dirty="0">
                <a:solidFill>
                  <a:srgbClr val="B4BECC"/>
                </a:solidFill>
              </a:rPr>
              <a:t>Logs Insights for query-based log panels</a:t>
            </a:r>
          </a:p>
        </p:txBody>
      </p:sp>
      <p:sp>
        <p:nvSpPr>
          <p:cNvPr id="573" name="S573"/>
          <p:cNvSpPr/>
          <p:nvPr/>
        </p:nvSpPr>
        <p:spPr>
          <a:xfrm>
            <a:off x="4559300" y="4419600"/>
            <a:ext cx="3073400" cy="558800"/>
          </a:xfrm>
          <a:prstGeom prst="roundRect">
            <a:avLst/>
          </a:prstGeom>
          <a:solidFill>
            <a:srgbClr val="0C1016"/>
          </a:solidFill>
          <a:ln w="12700">
            <a:solidFill>
              <a:srgbClr val="263042"/>
            </a:solidFill>
          </a:ln>
        </p:spPr>
        <p:txBody>
          <a:bodyPr wrap="square" lIns="127000" tIns="76200" rIns="127000" bIns="76200" anchor="ctr"/>
          <a:lstStyle/>
          <a:p>
            <a:pPr>
              <a:buNone/>
            </a:pPr>
            <a:r>
              <a:rPr lang="en-US" sz="1400" dirty="0">
                <a:latin typeface="Consolas"/>
              </a:rPr>
              <a:t>AWS/EC2 - CPUUtilization</a:t>
            </a:r>
          </a:p>
        </p:txBody>
      </p:sp>
      <p:sp>
        <p:nvSpPr>
          <p:cNvPr id="574" name="S574"/>
          <p:cNvSpPr/>
          <p:nvPr/>
        </p:nvSpPr>
        <p:spPr>
          <a:xfrm>
            <a:off x="8001000" y="1346200"/>
            <a:ext cx="3429000" cy="3810000"/>
          </a:xfrm>
          <a:prstGeom prst="roundRect">
            <a:avLst/>
          </a:prstGeom>
          <a:solidFill>
            <a:srgbClr val="151922"/>
          </a:solidFill>
          <a:ln w="12700">
            <a:solidFill>
              <a:srgbClr val="262C38"/>
            </a:solidFill>
          </a:ln>
        </p:spPr>
        <p:txBody>
          <a:bodyPr wrap="square" lIns="152400" tIns="76200" rIns="152400" bIns="76200" anchor="ctr"/>
          <a:lstStyle/>
          <a:p>
            <a:endParaRPr/>
          </a:p>
        </p:txBody>
      </p:sp>
      <p:sp>
        <p:nvSpPr>
          <p:cNvPr id="575" name="S575"/>
          <p:cNvSpPr/>
          <p:nvPr/>
        </p:nvSpPr>
        <p:spPr>
          <a:xfrm>
            <a:off x="8001000" y="1346200"/>
            <a:ext cx="3429000" cy="50800"/>
          </a:xfrm>
          <a:prstGeom prst="rect">
            <a:avLst/>
          </a:prstGeom>
          <a:solidFill>
            <a:srgbClr val="3274D9"/>
          </a:solidFill>
          <a:ln>
            <a:noFill/>
          </a:ln>
        </p:spPr>
        <p:txBody>
          <a:bodyPr wrap="square" lIns="152400" tIns="76200" rIns="152400" bIns="76200" anchor="ctr"/>
          <a:lstStyle/>
          <a:p>
            <a:endParaRPr/>
          </a:p>
        </p:txBody>
      </p:sp>
      <p:sp>
        <p:nvSpPr>
          <p:cNvPr id="576" name="S576"/>
          <p:cNvSpPr/>
          <p:nvPr/>
        </p:nvSpPr>
        <p:spPr>
          <a:xfrm>
            <a:off x="8178800" y="1473200"/>
            <a:ext cx="3073400" cy="381000"/>
          </a:xfrm>
          <a:prstGeom prst="rect">
            <a:avLst/>
          </a:prstGeom>
          <a:noFill/>
          <a:ln>
            <a:noFill/>
          </a:ln>
        </p:spPr>
        <p:txBody>
          <a:bodyPr wrap="square" lIns="0" tIns="76200" rIns="0" bIns="76200" anchor="ctr"/>
          <a:lstStyle/>
          <a:p>
            <a:pPr algn="l">
              <a:buNone/>
            </a:pPr>
            <a:r>
              <a:rPr lang="en-US" sz="1900" b="1" dirty="0">
                <a:solidFill>
                  <a:srgbClr val="3274D9"/>
                </a:solidFill>
              </a:rPr>
              <a:t>Azure Monitor</a:t>
            </a:r>
          </a:p>
        </p:txBody>
      </p:sp>
      <p:sp>
        <p:nvSpPr>
          <p:cNvPr id="577" name="S577"/>
          <p:cNvSpPr/>
          <p:nvPr/>
        </p:nvSpPr>
        <p:spPr>
          <a:xfrm>
            <a:off x="8178800" y="1854200"/>
            <a:ext cx="3073400" cy="304800"/>
          </a:xfrm>
          <a:prstGeom prst="rect">
            <a:avLst/>
          </a:prstGeom>
          <a:noFill/>
          <a:ln>
            <a:noFill/>
          </a:ln>
        </p:spPr>
        <p:txBody>
          <a:bodyPr wrap="square" lIns="0" tIns="76200" rIns="0" bIns="76200" anchor="ctr"/>
          <a:lstStyle/>
          <a:p>
            <a:pPr algn="l">
              <a:buNone/>
            </a:pPr>
            <a:r>
              <a:rPr lang="en-US" sz="1400" b="0" dirty="0">
                <a:solidFill>
                  <a:srgbClr val="98A2B3"/>
                </a:solidFill>
              </a:rPr>
              <a:t>Metrics, Logs and Resource Graph</a:t>
            </a:r>
          </a:p>
        </p:txBody>
      </p:sp>
      <p:sp>
        <p:nvSpPr>
          <p:cNvPr id="578" name="S578"/>
          <p:cNvSpPr/>
          <p:nvPr/>
        </p:nvSpPr>
        <p:spPr>
          <a:xfrm>
            <a:off x="8178800" y="2209800"/>
            <a:ext cx="3073400" cy="2108200"/>
          </a:xfrm>
          <a:prstGeom prst="rect">
            <a:avLst/>
          </a:prstGeom>
          <a:noFill/>
          <a:ln>
            <a:noFill/>
          </a:ln>
        </p:spPr>
        <p:txBody>
          <a:bodyPr wrap="square" lIns="0" tIns="76200" rIns="0" bIns="76200" anchor="t"/>
          <a:lstStyle/>
          <a:p>
            <a:pPr marL="171450" indent="-171450">
              <a:lnSpc>
                <a:spcPts val="1800"/>
              </a:lnSpc>
              <a:spcBef>
                <a:spcPts val="600"/>
              </a:spcBef>
              <a:buFont typeface="Arial"/>
              <a:buChar char="•"/>
            </a:pPr>
            <a:r>
              <a:rPr lang="en-US" sz="1400" dirty="0">
                <a:solidFill>
                  <a:srgbClr val="B4BECC"/>
                </a:solidFill>
              </a:rPr>
              <a:t>App registration: tenant, client ID and secret</a:t>
            </a:r>
          </a:p>
          <a:p>
            <a:pPr marL="171450" indent="-171450">
              <a:lnSpc>
                <a:spcPts val="1800"/>
              </a:lnSpc>
              <a:spcBef>
                <a:spcPts val="600"/>
              </a:spcBef>
              <a:buFont typeface="Arial"/>
              <a:buChar char="•"/>
            </a:pPr>
            <a:r>
              <a:rPr lang="en-US" sz="1400" dirty="0">
                <a:solidFill>
                  <a:srgbClr val="B4BECC"/>
                </a:solidFill>
              </a:rPr>
              <a:t>Choose subscription and resource scope</a:t>
            </a:r>
          </a:p>
          <a:p>
            <a:pPr marL="171450" indent="-171450">
              <a:lnSpc>
                <a:spcPts val="1800"/>
              </a:lnSpc>
              <a:spcBef>
                <a:spcPts val="600"/>
              </a:spcBef>
              <a:buFont typeface="Arial"/>
              <a:buChar char="•"/>
            </a:pPr>
            <a:r>
              <a:rPr lang="en-US" sz="1400" dirty="0">
                <a:solidFill>
                  <a:srgbClr val="B4BECC"/>
                </a:solidFill>
              </a:rPr>
              <a:t>Metrics namespace mirrors the Azure portal</a:t>
            </a:r>
          </a:p>
          <a:p>
            <a:pPr marL="171450" indent="-171450">
              <a:lnSpc>
                <a:spcPts val="1800"/>
              </a:lnSpc>
              <a:spcBef>
                <a:spcPts val="600"/>
              </a:spcBef>
              <a:buFont typeface="Arial"/>
              <a:buChar char="•"/>
            </a:pPr>
            <a:r>
              <a:rPr lang="en-US" sz="1400" dirty="0">
                <a:solidFill>
                  <a:srgbClr val="B4BECC"/>
                </a:solidFill>
              </a:rPr>
              <a:t>Log Analytics queries are written in KQL</a:t>
            </a:r>
          </a:p>
        </p:txBody>
      </p:sp>
      <p:sp>
        <p:nvSpPr>
          <p:cNvPr id="579" name="S579"/>
          <p:cNvSpPr/>
          <p:nvPr/>
        </p:nvSpPr>
        <p:spPr>
          <a:xfrm>
            <a:off x="8178800" y="4419600"/>
            <a:ext cx="3073400" cy="558800"/>
          </a:xfrm>
          <a:prstGeom prst="roundRect">
            <a:avLst/>
          </a:prstGeom>
          <a:solidFill>
            <a:srgbClr val="0C1016"/>
          </a:solidFill>
          <a:ln w="12700">
            <a:solidFill>
              <a:srgbClr val="263042"/>
            </a:solidFill>
          </a:ln>
        </p:spPr>
        <p:txBody>
          <a:bodyPr wrap="square" lIns="127000" tIns="76200" rIns="127000" bIns="76200" anchor="ctr"/>
          <a:lstStyle/>
          <a:p>
            <a:pPr>
              <a:buNone/>
            </a:pPr>
            <a:r>
              <a:rPr lang="en-US" sz="1400" dirty="0">
                <a:latin typeface="Consolas"/>
              </a:rPr>
              <a:t>AzureMetrics | summarize avg(Average)</a:t>
            </a:r>
          </a:p>
        </p:txBody>
      </p:sp>
      <p:sp>
        <p:nvSpPr>
          <p:cNvPr id="580" name="S580"/>
          <p:cNvSpPr/>
          <p:nvPr/>
        </p:nvSpPr>
        <p:spPr>
          <a:xfrm>
            <a:off x="762000" y="5384800"/>
            <a:ext cx="10668000" cy="939800"/>
          </a:xfrm>
          <a:prstGeom prst="roundRect">
            <a:avLst/>
          </a:prstGeom>
          <a:solidFill>
            <a:srgbClr val="111620"/>
          </a:solidFill>
          <a:ln w="12700">
            <a:solidFill>
              <a:srgbClr val="2B3140"/>
            </a:solidFill>
          </a:ln>
        </p:spPr>
        <p:txBody>
          <a:bodyPr wrap="square" lIns="152400" tIns="76200" rIns="152400" bIns="76200" anchor="ctr"/>
          <a:lstStyle/>
          <a:p>
            <a:endParaRPr/>
          </a:p>
        </p:txBody>
      </p:sp>
      <p:sp>
        <p:nvSpPr>
          <p:cNvPr id="581" name="S581"/>
          <p:cNvSpPr/>
          <p:nvPr/>
        </p:nvSpPr>
        <p:spPr>
          <a:xfrm>
            <a:off x="939800" y="5486400"/>
            <a:ext cx="3810000" cy="330200"/>
          </a:xfrm>
          <a:prstGeom prst="rect">
            <a:avLst/>
          </a:prstGeom>
          <a:noFill/>
          <a:ln>
            <a:noFill/>
          </a:ln>
        </p:spPr>
        <p:txBody>
          <a:bodyPr wrap="square" lIns="0" tIns="76200" rIns="0" bIns="76200" anchor="ctr"/>
          <a:lstStyle/>
          <a:p>
            <a:pPr algn="l">
              <a:buNone/>
            </a:pPr>
            <a:r>
              <a:rPr lang="en-US" sz="1600" b="1" dirty="0">
                <a:solidFill>
                  <a:srgbClr val="F2CC0C"/>
                </a:solidFill>
              </a:rPr>
              <a:t>Cloud sources bill per API call</a:t>
            </a:r>
          </a:p>
        </p:txBody>
      </p:sp>
      <p:sp>
        <p:nvSpPr>
          <p:cNvPr id="582" name="S582"/>
          <p:cNvSpPr/>
          <p:nvPr/>
        </p:nvSpPr>
        <p:spPr>
          <a:xfrm>
            <a:off x="939800" y="5816600"/>
            <a:ext cx="10312400" cy="431800"/>
          </a:xfrm>
          <a:prstGeom prst="rect">
            <a:avLst/>
          </a:prstGeom>
          <a:noFill/>
          <a:ln>
            <a:noFill/>
          </a:ln>
        </p:spPr>
        <p:txBody>
          <a:bodyPr wrap="square" lIns="0" tIns="76200" rIns="0" bIns="76200" anchor="t"/>
          <a:lstStyle/>
          <a:p>
            <a:pPr algn="l">
              <a:buNone/>
            </a:pPr>
            <a:r>
              <a:rPr lang="en-US" sz="1400" b="0" dirty="0">
                <a:solidFill>
                  <a:srgbClr val="B4BECC"/>
                </a:solidFill>
              </a:rPr>
              <a:t>Set a min interval, avoid 5-second refresh on shared dashboards, and prefer one broad query with transformations over ten narrow ones.</a:t>
            </a:r>
          </a:p>
        </p:txBody>
      </p:sp>
    </p:spTree>
    <p:extLst>
      <p:ext uri="{BB962C8B-B14F-4D97-AF65-F5344CB8AC3E}">
        <p14:creationId xmlns:p14="http://schemas.microsoft.com/office/powerpoint/2010/main" val="2745293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44071-4BBE-1852-E59D-85B0A3772046}"/>
              </a:ext>
            </a:extLst>
          </p:cNvPr>
          <p:cNvSpPr>
            <a:spLocks noGrp="1"/>
          </p:cNvSpPr>
          <p:nvPr>
            <p:ph type="title"/>
          </p:nvPr>
        </p:nvSpPr>
        <p:spPr>
          <a:xfrm>
            <a:off x="762000" y="279400"/>
            <a:ext cx="10668000" cy="508000"/>
          </a:xfrm>
        </p:spPr>
        <p:txBody>
          <a:bodyPr>
            <a:normAutofit fontScale="90000"/>
          </a:bodyPr>
          <a:lstStyle/>
          <a:p>
            <a:r>
              <a:rPr lang="en-US"/>
              <a:t>Discuss: Which Data Source Would You Pick?</a:t>
            </a:r>
          </a:p>
        </p:txBody>
      </p:sp>
      <p:sp>
        <p:nvSpPr>
          <p:cNvPr id="3" name="Rectangle 2">
            <a:extLst>
              <a:ext uri="{FF2B5EF4-FFF2-40B4-BE49-F238E27FC236}">
                <a16:creationId xmlns:a16="http://schemas.microsoft.com/office/drawing/2014/main" id="{CF936A9F-D859-4612-80A5-E60759322852}"/>
              </a:ext>
            </a:extLst>
          </p:cNvPr>
          <p:cNvSpPr/>
          <p:nvPr/>
        </p:nvSpPr>
        <p:spPr>
          <a:xfrm>
            <a:off x="762000" y="812800"/>
            <a:ext cx="15240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87F95B44-5201-479E-94FF-38EBC2EB8BCD}"/>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Three scenarios, five minutes, no wrong answer if you can defend it</a:t>
            </a:r>
          </a:p>
        </p:txBody>
      </p:sp>
      <p:sp>
        <p:nvSpPr>
          <p:cNvPr id="5" name="Rectangle 4">
            <a:extLst>
              <a:ext uri="{FF2B5EF4-FFF2-40B4-BE49-F238E27FC236}">
                <a16:creationId xmlns:a16="http://schemas.microsoft.com/office/drawing/2014/main" id="{7DA87E70-499C-4544-B8C4-3DB4F0B7B0BE}"/>
              </a:ext>
            </a:extLst>
          </p:cNvPr>
          <p:cNvSpPr/>
          <p:nvPr/>
        </p:nvSpPr>
        <p:spPr>
          <a:xfrm>
            <a:off x="762000" y="1320800"/>
            <a:ext cx="3429000" cy="27432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B384F65-FA0E-42C6-86DD-859354FCF4BA}"/>
              </a:ext>
            </a:extLst>
          </p:cNvPr>
          <p:cNvSpPr/>
          <p:nvPr/>
        </p:nvSpPr>
        <p:spPr>
          <a:xfrm>
            <a:off x="762000" y="1320800"/>
            <a:ext cx="3429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EE906208-D4E1-49EE-BFB5-D07DDFFE647F}"/>
              </a:ext>
            </a:extLst>
          </p:cNvPr>
          <p:cNvSpPr/>
          <p:nvPr/>
        </p:nvSpPr>
        <p:spPr>
          <a:xfrm>
            <a:off x="914400" y="1524000"/>
            <a:ext cx="4064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A</a:t>
            </a:r>
          </a:p>
        </p:txBody>
      </p:sp>
      <p:sp>
        <p:nvSpPr>
          <p:cNvPr id="8" name="TextBox 7">
            <a:extLst>
              <a:ext uri="{FF2B5EF4-FFF2-40B4-BE49-F238E27FC236}">
                <a16:creationId xmlns:a16="http://schemas.microsoft.com/office/drawing/2014/main" id="{F20C9CB3-FC65-4C41-B534-7F27423FEA6A}"/>
              </a:ext>
            </a:extLst>
          </p:cNvPr>
          <p:cNvSpPr txBox="1"/>
          <p:nvPr/>
        </p:nvSpPr>
        <p:spPr>
          <a:xfrm>
            <a:off x="1422400" y="1524000"/>
            <a:ext cx="2616200" cy="355600"/>
          </a:xfrm>
          <a:prstGeom prst="rect">
            <a:avLst/>
          </a:prstGeom>
          <a:noFill/>
        </p:spPr>
        <p:txBody>
          <a:bodyPr vertOverflow="overflow" vert="horz" wrap="square" rtlCol="0" anchor="t">
            <a:noAutofit/>
          </a:bodyPr>
          <a:lstStyle/>
          <a:p>
            <a:pPr algn="l"/>
            <a:r>
              <a:rPr lang="en-US" sz="1700" b="1">
                <a:solidFill>
                  <a:srgbClr val="FFFFFF"/>
                </a:solidFill>
              </a:rPr>
              <a:t>The 3am page</a:t>
            </a:r>
          </a:p>
        </p:txBody>
      </p:sp>
      <p:sp>
        <p:nvSpPr>
          <p:cNvPr id="9" name="TextBox 8">
            <a:extLst>
              <a:ext uri="{FF2B5EF4-FFF2-40B4-BE49-F238E27FC236}">
                <a16:creationId xmlns:a16="http://schemas.microsoft.com/office/drawing/2014/main" id="{EA54D476-59F8-4E6D-A49D-5275181A4EE6}"/>
              </a:ext>
            </a:extLst>
          </p:cNvPr>
          <p:cNvSpPr txBox="1"/>
          <p:nvPr/>
        </p:nvSpPr>
        <p:spPr>
          <a:xfrm>
            <a:off x="939800" y="2032000"/>
            <a:ext cx="3098800" cy="2336800"/>
          </a:xfrm>
          <a:prstGeom prst="rect">
            <a:avLst/>
          </a:prstGeom>
          <a:noFill/>
        </p:spPr>
        <p:txBody>
          <a:bodyPr vertOverflow="overflow" vert="horz" wrap="square" rtlCol="0" anchor="t">
            <a:noAutofit/>
          </a:bodyPr>
          <a:lstStyle/>
          <a:p>
            <a:pPr algn="l"/>
            <a:r>
              <a:rPr lang="en-US" sz="1500">
                <a:solidFill>
                  <a:srgbClr val="B4BECC"/>
                </a:solidFill>
              </a:rPr>
              <a:t>On-call needs to know which pods restarted, how often, and what the app logged in that minute.
One source or two? Which?</a:t>
            </a:r>
          </a:p>
        </p:txBody>
      </p:sp>
      <p:sp>
        <p:nvSpPr>
          <p:cNvPr id="10" name="Rectangle 9">
            <a:extLst>
              <a:ext uri="{FF2B5EF4-FFF2-40B4-BE49-F238E27FC236}">
                <a16:creationId xmlns:a16="http://schemas.microsoft.com/office/drawing/2014/main" id="{929C1AA9-F910-4948-BDBC-86820936F533}"/>
              </a:ext>
            </a:extLst>
          </p:cNvPr>
          <p:cNvSpPr/>
          <p:nvPr/>
        </p:nvSpPr>
        <p:spPr>
          <a:xfrm>
            <a:off x="4381500" y="1320800"/>
            <a:ext cx="3429000" cy="27432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6DE2B90F-180A-42B1-BBCC-86A14664D878}"/>
              </a:ext>
            </a:extLst>
          </p:cNvPr>
          <p:cNvSpPr/>
          <p:nvPr/>
        </p:nvSpPr>
        <p:spPr>
          <a:xfrm>
            <a:off x="4381500" y="1320800"/>
            <a:ext cx="34290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ABD32C7A-BC77-4D39-BE49-6FF8B54B8465}"/>
              </a:ext>
            </a:extLst>
          </p:cNvPr>
          <p:cNvSpPr/>
          <p:nvPr/>
        </p:nvSpPr>
        <p:spPr>
          <a:xfrm>
            <a:off x="4533900" y="1524000"/>
            <a:ext cx="4064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B</a:t>
            </a:r>
          </a:p>
        </p:txBody>
      </p:sp>
      <p:sp>
        <p:nvSpPr>
          <p:cNvPr id="13" name="TextBox 12">
            <a:extLst>
              <a:ext uri="{FF2B5EF4-FFF2-40B4-BE49-F238E27FC236}">
                <a16:creationId xmlns:a16="http://schemas.microsoft.com/office/drawing/2014/main" id="{590E1D23-F40A-4543-BD9F-8BE5DA6C35F2}"/>
              </a:ext>
            </a:extLst>
          </p:cNvPr>
          <p:cNvSpPr txBox="1"/>
          <p:nvPr/>
        </p:nvSpPr>
        <p:spPr>
          <a:xfrm>
            <a:off x="5041900" y="1524000"/>
            <a:ext cx="2616200" cy="355600"/>
          </a:xfrm>
          <a:prstGeom prst="rect">
            <a:avLst/>
          </a:prstGeom>
          <a:noFill/>
        </p:spPr>
        <p:txBody>
          <a:bodyPr vertOverflow="overflow" vert="horz" wrap="square" rtlCol="0" anchor="t">
            <a:noAutofit/>
          </a:bodyPr>
          <a:lstStyle/>
          <a:p>
            <a:pPr algn="l"/>
            <a:r>
              <a:rPr lang="en-US" sz="1700" b="1">
                <a:solidFill>
                  <a:srgbClr val="FFFFFF"/>
                </a:solidFill>
              </a:rPr>
              <a:t>The revenue question</a:t>
            </a:r>
          </a:p>
        </p:txBody>
      </p:sp>
      <p:sp>
        <p:nvSpPr>
          <p:cNvPr id="14" name="TextBox 13">
            <a:extLst>
              <a:ext uri="{FF2B5EF4-FFF2-40B4-BE49-F238E27FC236}">
                <a16:creationId xmlns:a16="http://schemas.microsoft.com/office/drawing/2014/main" id="{6999DB8B-1887-4AE5-8F94-134922842962}"/>
              </a:ext>
            </a:extLst>
          </p:cNvPr>
          <p:cNvSpPr txBox="1"/>
          <p:nvPr/>
        </p:nvSpPr>
        <p:spPr>
          <a:xfrm>
            <a:off x="4559300" y="2032000"/>
            <a:ext cx="3098800" cy="2336800"/>
          </a:xfrm>
          <a:prstGeom prst="rect">
            <a:avLst/>
          </a:prstGeom>
          <a:noFill/>
        </p:spPr>
        <p:txBody>
          <a:bodyPr vertOverflow="overflow" vert="horz" wrap="square" rtlCol="0" anchor="t">
            <a:noAutofit/>
          </a:bodyPr>
          <a:lstStyle/>
          <a:p>
            <a:pPr algn="l"/>
            <a:r>
              <a:rPr lang="en-US" sz="1500">
                <a:solidFill>
                  <a:srgbClr val="B4BECC"/>
                </a:solidFill>
              </a:rPr>
              <a:t>Finance wants yesterday's orders by region on a wall screen, refreshed hourly.
Metrics store or SQL? Why?</a:t>
            </a:r>
          </a:p>
        </p:txBody>
      </p:sp>
      <p:sp>
        <p:nvSpPr>
          <p:cNvPr id="15" name="Rectangle 14">
            <a:extLst>
              <a:ext uri="{FF2B5EF4-FFF2-40B4-BE49-F238E27FC236}">
                <a16:creationId xmlns:a16="http://schemas.microsoft.com/office/drawing/2014/main" id="{FF148D17-288B-4BB5-824C-D07693F602D0}"/>
              </a:ext>
            </a:extLst>
          </p:cNvPr>
          <p:cNvSpPr/>
          <p:nvPr/>
        </p:nvSpPr>
        <p:spPr>
          <a:xfrm>
            <a:off x="8001000" y="1320800"/>
            <a:ext cx="3429000" cy="27432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49E07DFC-4385-48C3-A444-A4DC28950F45}"/>
              </a:ext>
            </a:extLst>
          </p:cNvPr>
          <p:cNvSpPr/>
          <p:nvPr/>
        </p:nvSpPr>
        <p:spPr>
          <a:xfrm>
            <a:off x="8001000" y="1320800"/>
            <a:ext cx="3429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32B0C28F-18B9-47C5-836E-8BD3A557409D}"/>
              </a:ext>
            </a:extLst>
          </p:cNvPr>
          <p:cNvSpPr/>
          <p:nvPr/>
        </p:nvSpPr>
        <p:spPr>
          <a:xfrm>
            <a:off x="8153400" y="1524000"/>
            <a:ext cx="4064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C</a:t>
            </a:r>
          </a:p>
        </p:txBody>
      </p:sp>
      <p:sp>
        <p:nvSpPr>
          <p:cNvPr id="18" name="TextBox 17">
            <a:extLst>
              <a:ext uri="{FF2B5EF4-FFF2-40B4-BE49-F238E27FC236}">
                <a16:creationId xmlns:a16="http://schemas.microsoft.com/office/drawing/2014/main" id="{C84441F0-1534-48B4-ACDE-2E61552F6B4F}"/>
              </a:ext>
            </a:extLst>
          </p:cNvPr>
          <p:cNvSpPr txBox="1"/>
          <p:nvPr/>
        </p:nvSpPr>
        <p:spPr>
          <a:xfrm>
            <a:off x="8661400" y="1524000"/>
            <a:ext cx="2616200" cy="355600"/>
          </a:xfrm>
          <a:prstGeom prst="rect">
            <a:avLst/>
          </a:prstGeom>
          <a:noFill/>
        </p:spPr>
        <p:txBody>
          <a:bodyPr vertOverflow="overflow" vert="horz" wrap="square" rtlCol="0" anchor="t">
            <a:noAutofit/>
          </a:bodyPr>
          <a:lstStyle/>
          <a:p>
            <a:pPr algn="l"/>
            <a:r>
              <a:rPr lang="en-US" sz="1700" b="1">
                <a:solidFill>
                  <a:srgbClr val="FFFFFF"/>
                </a:solidFill>
              </a:rPr>
              <a:t>The audit trail</a:t>
            </a:r>
          </a:p>
        </p:txBody>
      </p:sp>
      <p:sp>
        <p:nvSpPr>
          <p:cNvPr id="19" name="TextBox 18">
            <a:extLst>
              <a:ext uri="{FF2B5EF4-FFF2-40B4-BE49-F238E27FC236}">
                <a16:creationId xmlns:a16="http://schemas.microsoft.com/office/drawing/2014/main" id="{ED5D1DE2-C8E8-4459-AA3B-4366EECF91E1}"/>
              </a:ext>
            </a:extLst>
          </p:cNvPr>
          <p:cNvSpPr txBox="1"/>
          <p:nvPr/>
        </p:nvSpPr>
        <p:spPr>
          <a:xfrm>
            <a:off x="8178800" y="2032000"/>
            <a:ext cx="3098800" cy="2336800"/>
          </a:xfrm>
          <a:prstGeom prst="rect">
            <a:avLst/>
          </a:prstGeom>
          <a:noFill/>
        </p:spPr>
        <p:txBody>
          <a:bodyPr vertOverflow="overflow" vert="horz" wrap="square" rtlCol="0" anchor="t">
            <a:noAutofit/>
          </a:bodyPr>
          <a:lstStyle/>
          <a:p>
            <a:pPr algn="l"/>
            <a:r>
              <a:rPr lang="en-US" sz="1500">
                <a:solidFill>
                  <a:srgbClr val="B4BECC"/>
                </a:solidFill>
              </a:rPr>
              <a:t>Security wants free-text search across a year of access logs from 40 services.
Loki or Elasticsearch? Trade-off?</a:t>
            </a:r>
          </a:p>
        </p:txBody>
      </p:sp>
      <p:sp>
        <p:nvSpPr>
          <p:cNvPr id="20" name="Rectangle 19">
            <a:extLst>
              <a:ext uri="{FF2B5EF4-FFF2-40B4-BE49-F238E27FC236}">
                <a16:creationId xmlns:a16="http://schemas.microsoft.com/office/drawing/2014/main" id="{EC9919FC-BADF-4DFE-9075-EC65140FB754}"/>
              </a:ext>
            </a:extLst>
          </p:cNvPr>
          <p:cNvSpPr/>
          <p:nvPr/>
        </p:nvSpPr>
        <p:spPr>
          <a:xfrm>
            <a:off x="762000" y="4368800"/>
            <a:ext cx="10668000" cy="1498600"/>
          </a:xfrm>
          <a:prstGeom prst="rect">
            <a:avLst/>
          </a:prstGeom>
          <a:solidFill>
            <a:srgbClr val="1519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D0D49902-2CE9-4928-82AC-15D89215F0D9}"/>
              </a:ext>
            </a:extLst>
          </p:cNvPr>
          <p:cNvSpPr/>
          <p:nvPr/>
        </p:nvSpPr>
        <p:spPr>
          <a:xfrm>
            <a:off x="762000" y="4368800"/>
            <a:ext cx="10668000" cy="508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TextBox 21">
            <a:extLst>
              <a:ext uri="{FF2B5EF4-FFF2-40B4-BE49-F238E27FC236}">
                <a16:creationId xmlns:a16="http://schemas.microsoft.com/office/drawing/2014/main" id="{CAD235BF-09FC-4341-9A74-91A954A032FF}"/>
              </a:ext>
            </a:extLst>
          </p:cNvPr>
          <p:cNvSpPr txBox="1"/>
          <p:nvPr/>
        </p:nvSpPr>
        <p:spPr>
          <a:xfrm>
            <a:off x="939800" y="4546600"/>
            <a:ext cx="5080000" cy="330200"/>
          </a:xfrm>
          <a:prstGeom prst="rect">
            <a:avLst/>
          </a:prstGeom>
          <a:noFill/>
        </p:spPr>
        <p:txBody>
          <a:bodyPr vertOverflow="overflow" vert="horz" wrap="square" rtlCol="0" anchor="t">
            <a:noAutofit/>
          </a:bodyPr>
          <a:lstStyle/>
          <a:p>
            <a:pPr algn="l"/>
            <a:r>
              <a:rPr lang="en-US" sz="1700" b="1">
                <a:solidFill>
                  <a:srgbClr val="F2CC0C"/>
                </a:solidFill>
              </a:rPr>
              <a:t>Answer with these three questions</a:t>
            </a:r>
          </a:p>
        </p:txBody>
      </p:sp>
      <p:sp>
        <p:nvSpPr>
          <p:cNvPr id="24" name="TextBox 23">
            <a:extLst>
              <a:ext uri="{FF2B5EF4-FFF2-40B4-BE49-F238E27FC236}">
                <a16:creationId xmlns:a16="http://schemas.microsoft.com/office/drawing/2014/main" id="{252E298B-15C7-425F-B881-E30932E2AC27}"/>
              </a:ext>
            </a:extLst>
          </p:cNvPr>
          <p:cNvSpPr txBox="1"/>
          <p:nvPr/>
        </p:nvSpPr>
        <p:spPr>
          <a:xfrm>
            <a:off x="939800" y="4978400"/>
            <a:ext cx="3200400" cy="711200"/>
          </a:xfrm>
          <a:prstGeom prst="rect">
            <a:avLst/>
          </a:prstGeom>
          <a:noFill/>
        </p:spPr>
        <p:txBody>
          <a:bodyPr vertOverflow="overflow" vert="horz" wrap="square" rtlCol="0" anchor="t">
            <a:noAutofit/>
          </a:bodyPr>
          <a:lstStyle/>
          <a:p>
            <a:pPr algn="l"/>
            <a:r>
              <a:rPr lang="en-US" sz="1500">
                <a:solidFill>
                  <a:srgbClr val="E8D48B"/>
                </a:solidFill>
              </a:rPr>
              <a:t>Who reads it?</a:t>
            </a:r>
          </a:p>
        </p:txBody>
      </p:sp>
      <p:sp>
        <p:nvSpPr>
          <p:cNvPr id="25" name="TextBox 24">
            <a:extLst>
              <a:ext uri="{FF2B5EF4-FFF2-40B4-BE49-F238E27FC236}">
                <a16:creationId xmlns:a16="http://schemas.microsoft.com/office/drawing/2014/main" id="{22854826-5C69-4345-9FD5-F0EEE452F794}"/>
              </a:ext>
            </a:extLst>
          </p:cNvPr>
          <p:cNvSpPr txBox="1"/>
          <p:nvPr/>
        </p:nvSpPr>
        <p:spPr>
          <a:xfrm>
            <a:off x="4495800" y="4978400"/>
            <a:ext cx="3200400" cy="711200"/>
          </a:xfrm>
          <a:prstGeom prst="rect">
            <a:avLst/>
          </a:prstGeom>
          <a:noFill/>
        </p:spPr>
        <p:txBody>
          <a:bodyPr vertOverflow="overflow" vert="horz" wrap="square" rtlCol="0" anchor="t">
            <a:noAutofit/>
          </a:bodyPr>
          <a:lstStyle/>
          <a:p>
            <a:pPr algn="l"/>
            <a:r>
              <a:rPr lang="en-US" sz="1500">
                <a:solidFill>
                  <a:srgbClr val="E8D48B"/>
                </a:solidFill>
              </a:rPr>
              <a:t>What shape is the data - numbers over time, rows, or free text?</a:t>
            </a:r>
          </a:p>
        </p:txBody>
      </p:sp>
      <p:sp>
        <p:nvSpPr>
          <p:cNvPr id="26" name="TextBox 25">
            <a:extLst>
              <a:ext uri="{FF2B5EF4-FFF2-40B4-BE49-F238E27FC236}">
                <a16:creationId xmlns:a16="http://schemas.microsoft.com/office/drawing/2014/main" id="{1916C50C-3350-4B13-916B-DF0F5B5EE7DE}"/>
              </a:ext>
            </a:extLst>
          </p:cNvPr>
          <p:cNvSpPr txBox="1"/>
          <p:nvPr/>
        </p:nvSpPr>
        <p:spPr>
          <a:xfrm>
            <a:off x="8051800" y="4978400"/>
            <a:ext cx="3200400" cy="711200"/>
          </a:xfrm>
          <a:prstGeom prst="rect">
            <a:avLst/>
          </a:prstGeom>
          <a:noFill/>
        </p:spPr>
        <p:txBody>
          <a:bodyPr vertOverflow="overflow" vert="horz" wrap="square" rtlCol="0" anchor="t">
            <a:noAutofit/>
          </a:bodyPr>
          <a:lstStyle/>
          <a:p>
            <a:pPr algn="l"/>
            <a:r>
              <a:rPr lang="en-US" sz="1500">
                <a:solidFill>
                  <a:srgbClr val="E8D48B"/>
                </a:solidFill>
              </a:rPr>
              <a:t>How long must it be kept, and who pays for that?</a:t>
            </a:r>
          </a:p>
        </p:txBody>
      </p:sp>
    </p:spTree>
    <p:extLst>
      <p:ext uri="{BB962C8B-B14F-4D97-AF65-F5344CB8AC3E}">
        <p14:creationId xmlns:p14="http://schemas.microsoft.com/office/powerpoint/2010/main" val="1916726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C1DEE-49AE-3540-D66F-3A02CE79F165}"/>
              </a:ext>
            </a:extLst>
          </p:cNvPr>
          <p:cNvSpPr>
            <a:spLocks noGrp="1"/>
          </p:cNvSpPr>
          <p:nvPr>
            <p:ph type="title"/>
          </p:nvPr>
        </p:nvSpPr>
        <p:spPr>
          <a:xfrm>
            <a:off x="762000" y="279400"/>
            <a:ext cx="10668000" cy="508000"/>
          </a:xfrm>
        </p:spPr>
        <p:txBody>
          <a:bodyPr>
            <a:normAutofit fontScale="90000"/>
          </a:bodyPr>
          <a:lstStyle/>
          <a:p>
            <a:r>
              <a:rPr lang="en-US"/>
              <a:t>Quiz 1: Data Sources</a:t>
            </a:r>
          </a:p>
        </p:txBody>
      </p:sp>
      <p:sp>
        <p:nvSpPr>
          <p:cNvPr id="3" name="Rectangle 2">
            <a:extLst>
              <a:ext uri="{FF2B5EF4-FFF2-40B4-BE49-F238E27FC236}">
                <a16:creationId xmlns:a16="http://schemas.microsoft.com/office/drawing/2014/main" id="{3E1EF1E2-EC71-4BD1-8C3D-3CD7F28BBA68}"/>
              </a:ext>
            </a:extLst>
          </p:cNvPr>
          <p:cNvSpPr/>
          <p:nvPr/>
        </p:nvSpPr>
        <p:spPr>
          <a:xfrm>
            <a:off x="762000" y="812800"/>
            <a:ext cx="1524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296A7107-A8E1-45B6-B92E-CE8E3A7D87B6}"/>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Four questions | shout out your answer | we debrief on the next slide</a:t>
            </a:r>
          </a:p>
        </p:txBody>
      </p:sp>
      <p:sp>
        <p:nvSpPr>
          <p:cNvPr id="5" name="Rectangle 4">
            <a:extLst>
              <a:ext uri="{FF2B5EF4-FFF2-40B4-BE49-F238E27FC236}">
                <a16:creationId xmlns:a16="http://schemas.microsoft.com/office/drawing/2014/main" id="{0ADDC6E3-D467-4BE6-8BA0-87707B9C7C38}"/>
              </a:ext>
            </a:extLst>
          </p:cNvPr>
          <p:cNvSpPr/>
          <p:nvPr/>
        </p:nvSpPr>
        <p:spPr>
          <a:xfrm>
            <a:off x="762000" y="12954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BFD86BD2-2D9E-4E0C-8DAD-7D9046050963}"/>
              </a:ext>
            </a:extLst>
          </p:cNvPr>
          <p:cNvSpPr/>
          <p:nvPr/>
        </p:nvSpPr>
        <p:spPr>
          <a:xfrm>
            <a:off x="762000" y="12954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A5601814-1C9A-4744-B003-45EE16AA0493}"/>
              </a:ext>
            </a:extLst>
          </p:cNvPr>
          <p:cNvSpPr/>
          <p:nvPr/>
        </p:nvSpPr>
        <p:spPr>
          <a:xfrm>
            <a:off x="914400" y="14732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22B7CB1A-EC3C-4966-B428-191E63715B11}"/>
              </a:ext>
            </a:extLst>
          </p:cNvPr>
          <p:cNvSpPr txBox="1"/>
          <p:nvPr/>
        </p:nvSpPr>
        <p:spPr>
          <a:xfrm>
            <a:off x="1498600" y="1473200"/>
            <a:ext cx="4368800" cy="355600"/>
          </a:xfrm>
          <a:prstGeom prst="rect">
            <a:avLst/>
          </a:prstGeom>
          <a:noFill/>
        </p:spPr>
        <p:txBody>
          <a:bodyPr vertOverflow="overflow" vert="horz" wrap="square" rtlCol="0" anchor="t">
            <a:noAutofit/>
          </a:bodyPr>
          <a:lstStyle/>
          <a:p>
            <a:pPr algn="l"/>
            <a:r>
              <a:rPr lang="en-US" sz="1700" b="1">
                <a:solidFill>
                  <a:srgbClr val="FFFFFF"/>
                </a:solidFill>
              </a:rPr>
              <a:t>Where does Grafana store your metrics?</a:t>
            </a:r>
          </a:p>
        </p:txBody>
      </p:sp>
      <p:sp>
        <p:nvSpPr>
          <p:cNvPr id="9" name="TextBox 8">
            <a:extLst>
              <a:ext uri="{FF2B5EF4-FFF2-40B4-BE49-F238E27FC236}">
                <a16:creationId xmlns:a16="http://schemas.microsoft.com/office/drawing/2014/main" id="{5763B496-9B83-4012-A373-A96FB56B022C}"/>
              </a:ext>
            </a:extLst>
          </p:cNvPr>
          <p:cNvSpPr txBox="1"/>
          <p:nvPr/>
        </p:nvSpPr>
        <p:spPr>
          <a:xfrm>
            <a:off x="939800" y="1955800"/>
            <a:ext cx="4927600" cy="1371600"/>
          </a:xfrm>
          <a:prstGeom prst="rect">
            <a:avLst/>
          </a:prstGeom>
          <a:noFill/>
        </p:spPr>
        <p:txBody>
          <a:bodyPr vertOverflow="overflow" vert="horz" wrap="square" rtlCol="0" anchor="t">
            <a:noAutofit/>
          </a:bodyPr>
          <a:lstStyle/>
          <a:p>
            <a:pPr algn="l"/>
            <a:r>
              <a:rPr lang="en-US" sz="1500">
                <a:solidFill>
                  <a:srgbClr val="B4BECC"/>
                </a:solidFill>
              </a:rPr>
              <a:t>A  In its own time series DB
B  Nowhere - it queries the source
C  In the dashboard JSON
D  In the SQLite backend</a:t>
            </a:r>
          </a:p>
        </p:txBody>
      </p:sp>
      <p:sp>
        <p:nvSpPr>
          <p:cNvPr id="10" name="Rectangle 9">
            <a:extLst>
              <a:ext uri="{FF2B5EF4-FFF2-40B4-BE49-F238E27FC236}">
                <a16:creationId xmlns:a16="http://schemas.microsoft.com/office/drawing/2014/main" id="{382E7730-EF19-44D5-92F9-92BF73E9C174}"/>
              </a:ext>
            </a:extLst>
          </p:cNvPr>
          <p:cNvSpPr/>
          <p:nvPr/>
        </p:nvSpPr>
        <p:spPr>
          <a:xfrm>
            <a:off x="6172200" y="12954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E4E7B664-2BD8-4C7E-8876-42EDD7AC3903}"/>
              </a:ext>
            </a:extLst>
          </p:cNvPr>
          <p:cNvSpPr/>
          <p:nvPr/>
        </p:nvSpPr>
        <p:spPr>
          <a:xfrm>
            <a:off x="6172200" y="12954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FA6676C6-8C16-48D7-BE2A-280386D3AAD7}"/>
              </a:ext>
            </a:extLst>
          </p:cNvPr>
          <p:cNvSpPr/>
          <p:nvPr/>
        </p:nvSpPr>
        <p:spPr>
          <a:xfrm>
            <a:off x="6324600" y="14732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B6E5FB1A-6C46-4265-ADBB-6AF9CD32E1EA}"/>
              </a:ext>
            </a:extLst>
          </p:cNvPr>
          <p:cNvSpPr txBox="1"/>
          <p:nvPr/>
        </p:nvSpPr>
        <p:spPr>
          <a:xfrm>
            <a:off x="6908800" y="1473200"/>
            <a:ext cx="4368800" cy="355600"/>
          </a:xfrm>
          <a:prstGeom prst="rect">
            <a:avLst/>
          </a:prstGeom>
          <a:noFill/>
        </p:spPr>
        <p:txBody>
          <a:bodyPr vertOverflow="overflow" vert="horz" wrap="square" rtlCol="0" anchor="t">
            <a:noAutofit/>
          </a:bodyPr>
          <a:lstStyle/>
          <a:p>
            <a:pPr algn="l"/>
            <a:r>
              <a:rPr lang="en-US" sz="1700" b="1">
                <a:solidFill>
                  <a:srgbClr val="FFFFFF"/>
                </a:solidFill>
              </a:rPr>
              <a:t>Which source indexes labels, not text?</a:t>
            </a:r>
          </a:p>
        </p:txBody>
      </p:sp>
      <p:sp>
        <p:nvSpPr>
          <p:cNvPr id="14" name="TextBox 13">
            <a:extLst>
              <a:ext uri="{FF2B5EF4-FFF2-40B4-BE49-F238E27FC236}">
                <a16:creationId xmlns:a16="http://schemas.microsoft.com/office/drawing/2014/main" id="{B8F4B76B-2CB7-4C27-A946-871CF4E753ED}"/>
              </a:ext>
            </a:extLst>
          </p:cNvPr>
          <p:cNvSpPr txBox="1"/>
          <p:nvPr/>
        </p:nvSpPr>
        <p:spPr>
          <a:xfrm>
            <a:off x="6350000" y="1955800"/>
            <a:ext cx="4927600" cy="1371600"/>
          </a:xfrm>
          <a:prstGeom prst="rect">
            <a:avLst/>
          </a:prstGeom>
          <a:noFill/>
        </p:spPr>
        <p:txBody>
          <a:bodyPr vertOverflow="overflow" vert="horz" wrap="square" rtlCol="0" anchor="t">
            <a:noAutofit/>
          </a:bodyPr>
          <a:lstStyle/>
          <a:p>
            <a:pPr algn="l"/>
            <a:r>
              <a:rPr lang="en-US" sz="1500">
                <a:solidFill>
                  <a:srgbClr val="B4BECC"/>
                </a:solidFill>
              </a:rPr>
              <a:t>A  Elasticsearch
B  PostgreSQL
C  Loki
D  CloudWatch</a:t>
            </a:r>
          </a:p>
        </p:txBody>
      </p:sp>
      <p:sp>
        <p:nvSpPr>
          <p:cNvPr id="15" name="Rectangle 14">
            <a:extLst>
              <a:ext uri="{FF2B5EF4-FFF2-40B4-BE49-F238E27FC236}">
                <a16:creationId xmlns:a16="http://schemas.microsoft.com/office/drawing/2014/main" id="{CBBF0FCD-0C8A-478B-B475-81855D764FDE}"/>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B8A6565C-C712-4CB5-9731-82613D7BA0E4}"/>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0AAE01FD-CD5A-4D18-8358-2BD9C57839AF}"/>
              </a:ext>
            </a:extLst>
          </p:cNvPr>
          <p:cNvSpPr/>
          <p:nvPr/>
        </p:nvSpPr>
        <p:spPr>
          <a:xfrm>
            <a:off x="914400" y="39624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34F9A478-B59F-4AF1-A71E-433D2D1F5666}"/>
              </a:ext>
            </a:extLst>
          </p:cNvPr>
          <p:cNvSpPr txBox="1"/>
          <p:nvPr/>
        </p:nvSpPr>
        <p:spPr>
          <a:xfrm>
            <a:off x="1498600" y="3962400"/>
            <a:ext cx="4368800" cy="355600"/>
          </a:xfrm>
          <a:prstGeom prst="rect">
            <a:avLst/>
          </a:prstGeom>
          <a:noFill/>
        </p:spPr>
        <p:txBody>
          <a:bodyPr vertOverflow="overflow" vert="horz" wrap="square" rtlCol="0" anchor="t">
            <a:noAutofit/>
          </a:bodyPr>
          <a:lstStyle/>
          <a:p>
            <a:pPr algn="l"/>
            <a:r>
              <a:rPr lang="en-US" sz="1700" b="1">
                <a:solidFill>
                  <a:srgbClr val="FFFFFF"/>
                </a:solidFill>
              </a:rPr>
              <a:t>PostgreSQL panels need which macro?</a:t>
            </a:r>
          </a:p>
        </p:txBody>
      </p:sp>
      <p:sp>
        <p:nvSpPr>
          <p:cNvPr id="19" name="TextBox 18">
            <a:extLst>
              <a:ext uri="{FF2B5EF4-FFF2-40B4-BE49-F238E27FC236}">
                <a16:creationId xmlns:a16="http://schemas.microsoft.com/office/drawing/2014/main" id="{B36DD89B-12F2-4B7B-B358-58E632591920}"/>
              </a:ext>
            </a:extLst>
          </p:cNvPr>
          <p:cNvSpPr txBox="1"/>
          <p:nvPr/>
        </p:nvSpPr>
        <p:spPr>
          <a:xfrm>
            <a:off x="939800" y="4445000"/>
            <a:ext cx="4927600" cy="1371600"/>
          </a:xfrm>
          <a:prstGeom prst="rect">
            <a:avLst/>
          </a:prstGeom>
          <a:noFill/>
        </p:spPr>
        <p:txBody>
          <a:bodyPr vertOverflow="overflow" vert="horz" wrap="square" rtlCol="0" anchor="t">
            <a:noAutofit/>
          </a:bodyPr>
          <a:lstStyle/>
          <a:p>
            <a:pPr algn="l"/>
            <a:r>
              <a:rPr lang="en-US" sz="1500">
                <a:solidFill>
                  <a:srgbClr val="B4BECC"/>
                </a:solidFill>
              </a:rPr>
              <a:t>A  $__timeFilter(column)
B  $__rate(column)
C  $__label(column)
D  None - it just works</a:t>
            </a:r>
          </a:p>
        </p:txBody>
      </p:sp>
      <p:sp>
        <p:nvSpPr>
          <p:cNvPr id="20" name="Rectangle 19">
            <a:extLst>
              <a:ext uri="{FF2B5EF4-FFF2-40B4-BE49-F238E27FC236}">
                <a16:creationId xmlns:a16="http://schemas.microsoft.com/office/drawing/2014/main" id="{20AC3793-48C3-462C-9AF7-18C9438F1555}"/>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F810760B-1EF7-4671-A861-DD1993F37C68}"/>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52C7E29-6FDA-4C80-B27E-23284589A1B8}"/>
              </a:ext>
            </a:extLst>
          </p:cNvPr>
          <p:cNvSpPr/>
          <p:nvPr/>
        </p:nvSpPr>
        <p:spPr>
          <a:xfrm>
            <a:off x="6324600" y="39624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A16BCDD8-D9A9-457E-AC89-F33AF16070F7}"/>
              </a:ext>
            </a:extLst>
          </p:cNvPr>
          <p:cNvSpPr txBox="1"/>
          <p:nvPr/>
        </p:nvSpPr>
        <p:spPr>
          <a:xfrm>
            <a:off x="6908800" y="3962400"/>
            <a:ext cx="4368800" cy="355600"/>
          </a:xfrm>
          <a:prstGeom prst="rect">
            <a:avLst/>
          </a:prstGeom>
          <a:noFill/>
        </p:spPr>
        <p:txBody>
          <a:bodyPr vertOverflow="overflow" vert="horz" wrap="square" rtlCol="0" anchor="t">
            <a:noAutofit/>
          </a:bodyPr>
          <a:lstStyle/>
          <a:p>
            <a:pPr algn="l"/>
            <a:r>
              <a:rPr lang="en-US" sz="1700" b="1">
                <a:solidFill>
                  <a:srgbClr val="FFFFFF"/>
                </a:solidFill>
              </a:rPr>
              <a:t>Best auth for a CloudWatch source?</a:t>
            </a:r>
          </a:p>
        </p:txBody>
      </p:sp>
      <p:sp>
        <p:nvSpPr>
          <p:cNvPr id="24" name="TextBox 23">
            <a:extLst>
              <a:ext uri="{FF2B5EF4-FFF2-40B4-BE49-F238E27FC236}">
                <a16:creationId xmlns:a16="http://schemas.microsoft.com/office/drawing/2014/main" id="{AACE6C72-7108-4F70-A2DD-919372E1049B}"/>
              </a:ext>
            </a:extLst>
          </p:cNvPr>
          <p:cNvSpPr txBox="1"/>
          <p:nvPr/>
        </p:nvSpPr>
        <p:spPr>
          <a:xfrm>
            <a:off x="6350000" y="4445000"/>
            <a:ext cx="4927600" cy="1371600"/>
          </a:xfrm>
          <a:prstGeom prst="rect">
            <a:avLst/>
          </a:prstGeom>
          <a:noFill/>
        </p:spPr>
        <p:txBody>
          <a:bodyPr vertOverflow="overflow" vert="horz" wrap="square" rtlCol="0" anchor="t">
            <a:noAutofit/>
          </a:bodyPr>
          <a:lstStyle/>
          <a:p>
            <a:pPr algn="l"/>
            <a:r>
              <a:rPr lang="en-US" sz="1500">
                <a:solidFill>
                  <a:srgbClr val="B4BECC"/>
                </a:solidFill>
              </a:rPr>
              <a:t>A  Root access keys
B  IAM role on the instance
C  Shared user password
D  Anonymous access</a:t>
            </a:r>
          </a:p>
        </p:txBody>
      </p:sp>
    </p:spTree>
    <p:extLst>
      <p:ext uri="{BB962C8B-B14F-4D97-AF65-F5344CB8AC3E}">
        <p14:creationId xmlns:p14="http://schemas.microsoft.com/office/powerpoint/2010/main" val="22174989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FC63B-57F9-B215-6663-6D9ABA45D9B6}"/>
              </a:ext>
            </a:extLst>
          </p:cNvPr>
          <p:cNvSpPr>
            <a:spLocks noGrp="1"/>
          </p:cNvSpPr>
          <p:nvPr>
            <p:ph type="title"/>
          </p:nvPr>
        </p:nvSpPr>
        <p:spPr>
          <a:xfrm>
            <a:off x="762000" y="279400"/>
            <a:ext cx="10668000" cy="508000"/>
          </a:xfrm>
        </p:spPr>
        <p:txBody>
          <a:bodyPr>
            <a:normAutofit fontScale="90000"/>
          </a:bodyPr>
          <a:lstStyle/>
          <a:p>
            <a:r>
              <a:rPr lang="en-US"/>
              <a:t>Quiz 1: Answers and Why</a:t>
            </a:r>
          </a:p>
        </p:txBody>
      </p:sp>
      <p:sp>
        <p:nvSpPr>
          <p:cNvPr id="3" name="Rectangle 2">
            <a:extLst>
              <a:ext uri="{FF2B5EF4-FFF2-40B4-BE49-F238E27FC236}">
                <a16:creationId xmlns:a16="http://schemas.microsoft.com/office/drawing/2014/main" id="{EF0174CD-CB4A-4FEE-9590-6C50B89C1BCE}"/>
              </a:ext>
            </a:extLst>
          </p:cNvPr>
          <p:cNvSpPr/>
          <p:nvPr/>
        </p:nvSpPr>
        <p:spPr>
          <a:xfrm>
            <a:off x="762000" y="812800"/>
            <a:ext cx="1524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76D44D28-1AD5-4F11-B8EC-9D4BB51BF08E}"/>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Green is the answer | the line underneath is the point to remember</a:t>
            </a:r>
          </a:p>
        </p:txBody>
      </p:sp>
      <p:sp>
        <p:nvSpPr>
          <p:cNvPr id="5" name="Rectangle 4">
            <a:extLst>
              <a:ext uri="{FF2B5EF4-FFF2-40B4-BE49-F238E27FC236}">
                <a16:creationId xmlns:a16="http://schemas.microsoft.com/office/drawing/2014/main" id="{8491B27B-C92C-416D-85D5-0983A4CC1EE6}"/>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34B3AAC-084B-40F8-B76A-0924001573CB}"/>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4C82784F-1507-4355-A947-C413DA5E824D}"/>
              </a:ext>
            </a:extLst>
          </p:cNvPr>
          <p:cNvSpPr/>
          <p:nvPr/>
        </p:nvSpPr>
        <p:spPr>
          <a:xfrm>
            <a:off x="914400" y="15240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315161EF-63B4-4C24-8966-3171E721A234}"/>
              </a:ext>
            </a:extLst>
          </p:cNvPr>
          <p:cNvSpPr txBox="1"/>
          <p:nvPr/>
        </p:nvSpPr>
        <p:spPr>
          <a:xfrm>
            <a:off x="14986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B  Nowhere - it queries the source</a:t>
            </a:r>
          </a:p>
        </p:txBody>
      </p:sp>
      <p:sp>
        <p:nvSpPr>
          <p:cNvPr id="9" name="TextBox 8">
            <a:extLst>
              <a:ext uri="{FF2B5EF4-FFF2-40B4-BE49-F238E27FC236}">
                <a16:creationId xmlns:a16="http://schemas.microsoft.com/office/drawing/2014/main" id="{9CDEE7F8-F5ED-45EF-94DE-B92B750FC08A}"/>
              </a:ext>
            </a:extLst>
          </p:cNvPr>
          <p:cNvSpPr txBox="1"/>
          <p:nvPr/>
        </p:nvSpPr>
        <p:spPr>
          <a:xfrm>
            <a:off x="9398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Grafana is a query and render layer. No metrics are copied in, so a dead data source means a dead panel.</a:t>
            </a:r>
          </a:p>
        </p:txBody>
      </p:sp>
      <p:sp>
        <p:nvSpPr>
          <p:cNvPr id="10" name="Rectangle 9">
            <a:extLst>
              <a:ext uri="{FF2B5EF4-FFF2-40B4-BE49-F238E27FC236}">
                <a16:creationId xmlns:a16="http://schemas.microsoft.com/office/drawing/2014/main" id="{185DFC99-1867-4206-B665-88F57D5DCDB5}"/>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C5ABB6F3-97C8-412F-8CF0-FE17922E10AE}"/>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27D85762-DE27-4C77-8874-2424B71888D6}"/>
              </a:ext>
            </a:extLst>
          </p:cNvPr>
          <p:cNvSpPr/>
          <p:nvPr/>
        </p:nvSpPr>
        <p:spPr>
          <a:xfrm>
            <a:off x="6324600" y="15240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3FB2C7E9-9E3D-4887-8451-4C489A3DF3E1}"/>
              </a:ext>
            </a:extLst>
          </p:cNvPr>
          <p:cNvSpPr txBox="1"/>
          <p:nvPr/>
        </p:nvSpPr>
        <p:spPr>
          <a:xfrm>
            <a:off x="69088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C  Loki</a:t>
            </a:r>
          </a:p>
        </p:txBody>
      </p:sp>
      <p:sp>
        <p:nvSpPr>
          <p:cNvPr id="14" name="TextBox 13">
            <a:extLst>
              <a:ext uri="{FF2B5EF4-FFF2-40B4-BE49-F238E27FC236}">
                <a16:creationId xmlns:a16="http://schemas.microsoft.com/office/drawing/2014/main" id="{B1E49EDA-3905-46D4-874C-4251CD1CFA3F}"/>
              </a:ext>
            </a:extLst>
          </p:cNvPr>
          <p:cNvSpPr txBox="1"/>
          <p:nvPr/>
        </p:nvSpPr>
        <p:spPr>
          <a:xfrm>
            <a:off x="63500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Loki indexes labels only, not full log text - that is why it is cheap to run next to Prometheus.</a:t>
            </a:r>
          </a:p>
        </p:txBody>
      </p:sp>
      <p:sp>
        <p:nvSpPr>
          <p:cNvPr id="15" name="Rectangle 14">
            <a:extLst>
              <a:ext uri="{FF2B5EF4-FFF2-40B4-BE49-F238E27FC236}">
                <a16:creationId xmlns:a16="http://schemas.microsoft.com/office/drawing/2014/main" id="{24AC2DF0-7337-499E-AEC5-8B84594A9AD8}"/>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A700CD59-4C6C-44B8-97A4-4F8A988C0886}"/>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6E54AFFA-90B9-4B06-A4D9-83724539633C}"/>
              </a:ext>
            </a:extLst>
          </p:cNvPr>
          <p:cNvSpPr/>
          <p:nvPr/>
        </p:nvSpPr>
        <p:spPr>
          <a:xfrm>
            <a:off x="914400" y="39878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81B15D6D-A211-4593-99E9-57BAF3CDFF42}"/>
              </a:ext>
            </a:extLst>
          </p:cNvPr>
          <p:cNvSpPr txBox="1"/>
          <p:nvPr/>
        </p:nvSpPr>
        <p:spPr>
          <a:xfrm>
            <a:off x="14986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A  $__timeFilter(column)</a:t>
            </a:r>
          </a:p>
        </p:txBody>
      </p:sp>
      <p:sp>
        <p:nvSpPr>
          <p:cNvPr id="19" name="TextBox 18">
            <a:extLst>
              <a:ext uri="{FF2B5EF4-FFF2-40B4-BE49-F238E27FC236}">
                <a16:creationId xmlns:a16="http://schemas.microsoft.com/office/drawing/2014/main" id="{07B992B8-54B6-4B36-A4E7-A81BA79406BF}"/>
              </a:ext>
            </a:extLst>
          </p:cNvPr>
          <p:cNvSpPr txBox="1"/>
          <p:nvPr/>
        </p:nvSpPr>
        <p:spPr>
          <a:xfrm>
            <a:off x="9398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Without the macro your SQL ignores the dashboard time picker and returns the whole table.</a:t>
            </a:r>
          </a:p>
        </p:txBody>
      </p:sp>
      <p:sp>
        <p:nvSpPr>
          <p:cNvPr id="20" name="Rectangle 19">
            <a:extLst>
              <a:ext uri="{FF2B5EF4-FFF2-40B4-BE49-F238E27FC236}">
                <a16:creationId xmlns:a16="http://schemas.microsoft.com/office/drawing/2014/main" id="{507CC245-52E9-467D-8175-A50FD9D95B21}"/>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A5A334CE-6783-4127-B4BF-54364A53FD5D}"/>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D38CA07-7188-4A88-A6B6-514C7CC09B67}"/>
              </a:ext>
            </a:extLst>
          </p:cNvPr>
          <p:cNvSpPr/>
          <p:nvPr/>
        </p:nvSpPr>
        <p:spPr>
          <a:xfrm>
            <a:off x="6324600" y="39878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5DFD5FAC-BD1B-46F1-9BA5-2F0BE84C72A6}"/>
              </a:ext>
            </a:extLst>
          </p:cNvPr>
          <p:cNvSpPr txBox="1"/>
          <p:nvPr/>
        </p:nvSpPr>
        <p:spPr>
          <a:xfrm>
            <a:off x="69088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B  IAM role on the instance</a:t>
            </a:r>
          </a:p>
        </p:txBody>
      </p:sp>
      <p:sp>
        <p:nvSpPr>
          <p:cNvPr id="24" name="TextBox 23">
            <a:extLst>
              <a:ext uri="{FF2B5EF4-FFF2-40B4-BE49-F238E27FC236}">
                <a16:creationId xmlns:a16="http://schemas.microsoft.com/office/drawing/2014/main" id="{41979484-1908-484F-99CF-150D6A450226}"/>
              </a:ext>
            </a:extLst>
          </p:cNvPr>
          <p:cNvSpPr txBox="1"/>
          <p:nvPr/>
        </p:nvSpPr>
        <p:spPr>
          <a:xfrm>
            <a:off x="63500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Roles rotate credentials for you. Access keys in a data source config are a standing secret.</a:t>
            </a:r>
          </a:p>
        </p:txBody>
      </p:sp>
    </p:spTree>
    <p:extLst>
      <p:ext uri="{BB962C8B-B14F-4D97-AF65-F5344CB8AC3E}">
        <p14:creationId xmlns:p14="http://schemas.microsoft.com/office/powerpoint/2010/main" val="622884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8311-5473-F98C-86A7-B1E1CA9A1B60}"/>
              </a:ext>
            </a:extLst>
          </p:cNvPr>
          <p:cNvSpPr>
            <a:spLocks noGrp="1"/>
          </p:cNvSpPr>
          <p:nvPr>
            <p:ph type="title"/>
          </p:nvPr>
        </p:nvSpPr>
        <p:spPr>
          <a:xfrm>
            <a:off x="838200" y="2489200"/>
            <a:ext cx="9398000" cy="1016000"/>
          </a:xfrm>
        </p:spPr>
        <p:txBody>
          <a:bodyPr>
            <a:normAutofit/>
          </a:bodyPr>
          <a:lstStyle/>
          <a:p>
            <a:pPr algn="l">
              <a:buNone/>
            </a:pPr>
            <a:r>
              <a:rPr lang="en-US"/>
              <a:t>Lab 1: Data Sources</a:t>
            </a:r>
            <a:endParaRPr lang="en-US" dirty="0"/>
          </a:p>
        </p:txBody>
      </p:sp>
      <p:sp>
        <p:nvSpPr>
          <p:cNvPr id="3" name="Text Placeholder 2">
            <a:extLst>
              <a:ext uri="{FF2B5EF4-FFF2-40B4-BE49-F238E27FC236}">
                <a16:creationId xmlns:a16="http://schemas.microsoft.com/office/drawing/2014/main" id="{912B38F1-F4C2-9AC5-69D6-9D0E077B621C}"/>
              </a:ext>
            </a:extLst>
          </p:cNvPr>
          <p:cNvSpPr>
            <a:spLocks noGrp="1"/>
          </p:cNvSpPr>
          <p:nvPr>
            <p:ph type="body" idx="1"/>
          </p:nvPr>
        </p:nvSpPr>
        <p:spPr>
          <a:xfrm>
            <a:off x="838200" y="3632200"/>
            <a:ext cx="9398000" cy="762000"/>
          </a:xfrm>
        </p:spPr>
        <p:txBody>
          <a:bodyPr/>
          <a:lstStyle/>
          <a:p>
            <a:pPr algn="l">
              <a:buNone/>
            </a:pPr>
            <a:r>
              <a:rPr lang="en-US" sz="1700" b="0" dirty="0">
                <a:solidFill>
                  <a:srgbClr val="C8D0DC"/>
                </a:solidFill>
              </a:rPr>
              <a:t>Five tasks, 30 minutes. Wire up Prometheus, PostgreSQL and Loki, then prove each one returns data.</a:t>
            </a:r>
          </a:p>
        </p:txBody>
      </p:sp>
      <p:sp>
        <p:nvSpPr>
          <p:cNvPr id="911" name="S911"/>
          <p:cNvSpPr/>
          <p:nvPr/>
        </p:nvSpPr>
        <p:spPr>
          <a:xfrm>
            <a:off x="7493000" y="1524000"/>
            <a:ext cx="3937000" cy="3048000"/>
          </a:xfrm>
          <a:prstGeom prst="rect">
            <a:avLst/>
          </a:prstGeom>
          <a:noFill/>
          <a:ln>
            <a:noFill/>
          </a:ln>
        </p:spPr>
        <p:txBody>
          <a:bodyPr wrap="square" lIns="0" tIns="50800" rIns="0" bIns="50800" anchor="ctr"/>
          <a:lstStyle/>
          <a:p>
            <a:pPr algn="r">
              <a:buNone/>
            </a:pPr>
            <a:r>
              <a:rPr lang="en-US" sz="11000" b="1" dirty="0">
                <a:solidFill>
                  <a:srgbClr val="1B202B"/>
                </a:solidFill>
              </a:rPr>
              <a:t>LAB</a:t>
            </a:r>
          </a:p>
        </p:txBody>
      </p:sp>
      <p:sp>
        <p:nvSpPr>
          <p:cNvPr id="912" name="S912"/>
          <p:cNvSpPr/>
          <p:nvPr/>
        </p:nvSpPr>
        <p:spPr>
          <a:xfrm>
            <a:off x="838200" y="1905000"/>
            <a:ext cx="3810000" cy="406400"/>
          </a:xfrm>
          <a:prstGeom prst="roundRect">
            <a:avLst/>
          </a:prstGeom>
          <a:solidFill>
            <a:srgbClr val="0C2010"/>
          </a:solidFill>
          <a:ln w="12700">
            <a:solidFill>
              <a:srgbClr val="56A64B"/>
            </a:solidFill>
          </a:ln>
        </p:spPr>
        <p:txBody>
          <a:bodyPr wrap="square" lIns="127000" tIns="50800" rIns="127000" bIns="50800" anchor="ctr"/>
          <a:lstStyle/>
          <a:p>
            <a:pPr algn="ctr">
              <a:buNone/>
            </a:pPr>
            <a:r>
              <a:rPr lang="en-US" sz="1400" b="1" dirty="0">
                <a:solidFill>
                  <a:srgbClr val="7FD46F"/>
                </a:solidFill>
              </a:rPr>
              <a:t>HANDS-ON LAB 1</a:t>
            </a:r>
          </a:p>
        </p:txBody>
      </p:sp>
      <p:sp>
        <p:nvSpPr>
          <p:cNvPr id="913" name="S913"/>
          <p:cNvSpPr/>
          <p:nvPr/>
        </p:nvSpPr>
        <p:spPr>
          <a:xfrm>
            <a:off x="838200" y="3581400"/>
            <a:ext cx="1524000" cy="50800"/>
          </a:xfrm>
          <a:prstGeom prst="rect">
            <a:avLst/>
          </a:prstGeom>
          <a:solidFill>
            <a:srgbClr val="56A64B"/>
          </a:solidFill>
          <a:ln>
            <a:noFill/>
          </a:ln>
        </p:spPr>
        <p:txBody>
          <a:bodyPr wrap="square" lIns="127000" tIns="50800" rIns="127000" bIns="50800" anchor="ctr"/>
          <a:lstStyle/>
          <a:p>
            <a:endParaRPr/>
          </a:p>
        </p:txBody>
      </p:sp>
      <p:sp>
        <p:nvSpPr>
          <p:cNvPr id="4" name="Lab1Callback">
            <a:extLst>
              <a:ext uri="{FF2B5EF4-FFF2-40B4-BE49-F238E27FC236}">
                <a16:creationId xmlns:a16="http://schemas.microsoft.com/office/drawing/2014/main" id="{699D8AF7-B96F-455D-9E47-8DF45A2E3C09}"/>
              </a:ext>
            </a:extLst>
          </p:cNvPr>
          <p:cNvSpPr txBox="1"/>
          <p:nvPr/>
        </p:nvSpPr>
        <p:spPr>
          <a:xfrm>
            <a:off x="838200" y="4470400"/>
            <a:ext cx="9398000" cy="330200"/>
          </a:xfrm>
          <a:prstGeom prst="rect">
            <a:avLst/>
          </a:prstGeom>
          <a:noFill/>
        </p:spPr>
        <p:txBody>
          <a:bodyPr vertOverflow="overflow" vert="horz" wrap="square" rtlCol="0" anchor="t" anchorCtr="0">
            <a:noAutofit/>
          </a:bodyPr>
          <a:lstStyle/>
          <a:p>
            <a:pPr algn="l">
              <a:buNone/>
            </a:pPr>
            <a:r>
              <a:rPr lang="en-US" sz="1500" b="0" i="1" dirty="0">
                <a:solidFill>
                  <a:srgbClr val="D6DDE6"/>
                </a:solidFill>
              </a:rPr>
              <a:t>Builds on Modules 5 and 6 — and on the stack you stood up on Day 1.</a:t>
            </a:r>
          </a:p>
        </p:txBody>
      </p:sp>
    </p:spTree>
    <p:extLst>
      <p:ext uri="{BB962C8B-B14F-4D97-AF65-F5344CB8AC3E}">
        <p14:creationId xmlns:p14="http://schemas.microsoft.com/office/powerpoint/2010/main" val="3615854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E83E-DEAB-ABB8-EB72-7112C3BA73DC}"/>
              </a:ext>
            </a:extLst>
          </p:cNvPr>
          <p:cNvSpPr>
            <a:spLocks noGrp="1"/>
          </p:cNvSpPr>
          <p:nvPr>
            <p:ph type="title"/>
          </p:nvPr>
        </p:nvSpPr>
        <p:spPr>
          <a:xfrm>
            <a:off x="762000" y="279400"/>
            <a:ext cx="10668000" cy="508000"/>
          </a:xfrm>
        </p:spPr>
        <p:txBody>
          <a:bodyPr>
            <a:normAutofit fontScale="90000"/>
          </a:bodyPr>
          <a:lstStyle/>
          <a:p>
            <a:pPr algn="l">
              <a:buNone/>
            </a:pPr>
            <a:r>
              <a:rPr lang="en-US" dirty="0"/>
              <a:t>Lab 1: Tasks and Checkpoints</a:t>
            </a:r>
          </a:p>
        </p:txBody>
      </p:sp>
      <p:sp>
        <p:nvSpPr>
          <p:cNvPr id="1001" name="S1001"/>
          <p:cNvSpPr/>
          <p:nvPr/>
        </p:nvSpPr>
        <p:spPr>
          <a:xfrm>
            <a:off x="762000" y="812800"/>
            <a:ext cx="1524000" cy="50800"/>
          </a:xfrm>
          <a:prstGeom prst="rect">
            <a:avLst/>
          </a:prstGeom>
          <a:solidFill>
            <a:srgbClr val="56A64B"/>
          </a:solidFill>
          <a:ln>
            <a:noFill/>
          </a:ln>
        </p:spPr>
        <p:txBody>
          <a:bodyPr wrap="square" lIns="127000" tIns="50800" rIns="127000" bIns="50800" anchor="ctr"/>
          <a:lstStyle/>
          <a:p>
            <a:endParaRPr/>
          </a:p>
        </p:txBody>
      </p:sp>
      <p:sp>
        <p:nvSpPr>
          <p:cNvPr id="1002" name="S1002"/>
          <p:cNvSpPr/>
          <p:nvPr/>
        </p:nvSpPr>
        <p:spPr>
          <a:xfrm>
            <a:off x="762000" y="914400"/>
            <a:ext cx="10668000" cy="279400"/>
          </a:xfrm>
          <a:prstGeom prst="rect">
            <a:avLst/>
          </a:prstGeom>
          <a:noFill/>
          <a:ln>
            <a:noFill/>
          </a:ln>
        </p:spPr>
        <p:txBody>
          <a:bodyPr wrap="square" lIns="0" tIns="50800" rIns="0" bIns="50800" anchor="ctr"/>
          <a:lstStyle/>
          <a:p>
            <a:pPr algn="l">
              <a:buNone/>
            </a:pPr>
            <a:r>
              <a:rPr lang="en-US" sz="1500" b="0" dirty="0">
                <a:solidFill>
                  <a:srgbClr val="98A2B3"/>
                </a:solidFill>
              </a:rPr>
              <a:t>30 minutes | work through them in order | checkpoint must pass before you move on</a:t>
            </a:r>
          </a:p>
        </p:txBody>
      </p:sp>
      <p:sp>
        <p:nvSpPr>
          <p:cNvPr id="1003" name="S1003"/>
          <p:cNvSpPr/>
          <p:nvPr/>
        </p:nvSpPr>
        <p:spPr>
          <a:xfrm>
            <a:off x="762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04" name="S1004"/>
          <p:cNvSpPr/>
          <p:nvPr/>
        </p:nvSpPr>
        <p:spPr>
          <a:xfrm>
            <a:off x="762000" y="1295400"/>
            <a:ext cx="3429000" cy="50800"/>
          </a:xfrm>
          <a:prstGeom prst="rect">
            <a:avLst/>
          </a:prstGeom>
          <a:solidFill>
            <a:srgbClr val="F46800"/>
          </a:solidFill>
          <a:ln>
            <a:noFill/>
          </a:ln>
        </p:spPr>
        <p:txBody>
          <a:bodyPr wrap="square" lIns="127000" tIns="50800" rIns="127000" bIns="50800" anchor="ctr"/>
          <a:lstStyle/>
          <a:p>
            <a:endParaRPr/>
          </a:p>
        </p:txBody>
      </p:sp>
      <p:sp>
        <p:nvSpPr>
          <p:cNvPr id="1005" name="S1005"/>
          <p:cNvSpPr/>
          <p:nvPr/>
        </p:nvSpPr>
        <p:spPr>
          <a:xfrm>
            <a:off x="914400" y="1447800"/>
            <a:ext cx="406400" cy="355600"/>
          </a:xfrm>
          <a:prstGeom prst="roundRect">
            <a:avLst/>
          </a:prstGeom>
          <a:solidFill>
            <a:srgbClr val="F46800"/>
          </a:solidFill>
          <a:ln>
            <a:noFill/>
          </a:ln>
        </p:spPr>
        <p:txBody>
          <a:bodyPr wrap="square" lIns="0" tIns="50800" rIns="0" bIns="50800" anchor="ctr"/>
          <a:lstStyle/>
          <a:p>
            <a:pPr algn="ctr">
              <a:buNone/>
            </a:pPr>
            <a:r>
              <a:rPr lang="en-US" sz="1500" b="1" dirty="0">
                <a:solidFill>
                  <a:srgbClr val="000000"/>
                </a:solidFill>
              </a:rPr>
              <a:t>1</a:t>
            </a:r>
          </a:p>
        </p:txBody>
      </p:sp>
      <p:sp>
        <p:nvSpPr>
          <p:cNvPr id="1006" name="S1006"/>
          <p:cNvSpPr/>
          <p:nvPr/>
        </p:nvSpPr>
        <p:spPr>
          <a:xfrm>
            <a:off x="1397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Add Prometheus</a:t>
            </a:r>
          </a:p>
        </p:txBody>
      </p:sp>
      <p:sp>
        <p:nvSpPr>
          <p:cNvPr id="1007" name="S1007"/>
          <p:cNvSpPr/>
          <p:nvPr/>
        </p:nvSpPr>
        <p:spPr>
          <a:xfrm>
            <a:off x="914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Connections &gt; Data sources &gt; Add</a:t>
            </a:r>
          </a:p>
          <a:p>
            <a:pPr marL="140000" indent="-140000">
              <a:lnSpc>
                <a:spcPts val="1700"/>
              </a:lnSpc>
              <a:spcBef>
                <a:spcPts val="300"/>
              </a:spcBef>
              <a:buFont typeface="Arial"/>
              <a:buChar char="•"/>
            </a:pPr>
            <a:r>
              <a:rPr lang="en-US" sz="1400" dirty="0">
                <a:solidFill>
                  <a:srgbClr val="B4BECC"/>
                </a:solidFill>
              </a:rPr>
              <a:t>URL: http://prometheus:9090</a:t>
            </a:r>
          </a:p>
          <a:p>
            <a:pPr marL="140000" indent="-140000">
              <a:lnSpc>
                <a:spcPts val="1700"/>
              </a:lnSpc>
              <a:spcBef>
                <a:spcPts val="300"/>
              </a:spcBef>
              <a:buFont typeface="Arial"/>
              <a:buChar char="•"/>
            </a:pPr>
            <a:r>
              <a:rPr lang="en-US" sz="1400" dirty="0">
                <a:solidFill>
                  <a:srgbClr val="B4BECC"/>
                </a:solidFill>
              </a:rPr>
              <a:t>Scrape interval 15s, Save &amp; test</a:t>
            </a:r>
          </a:p>
        </p:txBody>
      </p:sp>
      <p:sp>
        <p:nvSpPr>
          <p:cNvPr id="1008" name="S1008"/>
          <p:cNvSpPr/>
          <p:nvPr/>
        </p:nvSpPr>
        <p:spPr>
          <a:xfrm>
            <a:off x="914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09" name="S1009"/>
          <p:cNvSpPr/>
          <p:nvPr/>
        </p:nvSpPr>
        <p:spPr>
          <a:xfrm>
            <a:off x="1016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Save &amp; test returns green</a:t>
            </a:r>
          </a:p>
        </p:txBody>
      </p:sp>
      <p:sp>
        <p:nvSpPr>
          <p:cNvPr id="1010" name="S1010"/>
          <p:cNvSpPr/>
          <p:nvPr/>
        </p:nvSpPr>
        <p:spPr>
          <a:xfrm>
            <a:off x="43815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1" name="S1011"/>
          <p:cNvSpPr/>
          <p:nvPr/>
        </p:nvSpPr>
        <p:spPr>
          <a:xfrm>
            <a:off x="4381500" y="1295400"/>
            <a:ext cx="3429000" cy="50800"/>
          </a:xfrm>
          <a:prstGeom prst="rect">
            <a:avLst/>
          </a:prstGeom>
          <a:solidFill>
            <a:srgbClr val="FF9830"/>
          </a:solidFill>
          <a:ln>
            <a:noFill/>
          </a:ln>
        </p:spPr>
        <p:txBody>
          <a:bodyPr wrap="square" lIns="127000" tIns="50800" rIns="127000" bIns="50800" anchor="ctr"/>
          <a:lstStyle/>
          <a:p>
            <a:endParaRPr/>
          </a:p>
        </p:txBody>
      </p:sp>
      <p:sp>
        <p:nvSpPr>
          <p:cNvPr id="1012" name="S1012"/>
          <p:cNvSpPr/>
          <p:nvPr/>
        </p:nvSpPr>
        <p:spPr>
          <a:xfrm>
            <a:off x="4533900" y="1447800"/>
            <a:ext cx="406400" cy="355600"/>
          </a:xfrm>
          <a:prstGeom prst="roundRect">
            <a:avLst/>
          </a:prstGeom>
          <a:solidFill>
            <a:srgbClr val="FF9830"/>
          </a:solidFill>
          <a:ln>
            <a:noFill/>
          </a:ln>
        </p:spPr>
        <p:txBody>
          <a:bodyPr wrap="square" lIns="0" tIns="50800" rIns="0" bIns="50800" anchor="ctr"/>
          <a:lstStyle/>
          <a:p>
            <a:pPr algn="ctr">
              <a:buNone/>
            </a:pPr>
            <a:r>
              <a:rPr lang="en-US" sz="1500" b="1" dirty="0">
                <a:solidFill>
                  <a:srgbClr val="000000"/>
                </a:solidFill>
              </a:rPr>
              <a:t>2</a:t>
            </a:r>
          </a:p>
        </p:txBody>
      </p:sp>
      <p:sp>
        <p:nvSpPr>
          <p:cNvPr id="1013" name="S1013"/>
          <p:cNvSpPr/>
          <p:nvPr/>
        </p:nvSpPr>
        <p:spPr>
          <a:xfrm>
            <a:off x="50165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Inspect targets</a:t>
            </a:r>
          </a:p>
        </p:txBody>
      </p:sp>
      <p:sp>
        <p:nvSpPr>
          <p:cNvPr id="1014" name="S1014"/>
          <p:cNvSpPr/>
          <p:nvPr/>
        </p:nvSpPr>
        <p:spPr>
          <a:xfrm>
            <a:off x="45339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Prometheus UI &gt; Status &gt; Targets</a:t>
            </a:r>
          </a:p>
          <a:p>
            <a:pPr marL="140000" indent="-140000">
              <a:lnSpc>
                <a:spcPts val="1700"/>
              </a:lnSpc>
              <a:spcBef>
                <a:spcPts val="300"/>
              </a:spcBef>
              <a:buFont typeface="Arial"/>
              <a:buChar char="•"/>
            </a:pPr>
            <a:r>
              <a:rPr lang="en-US" sz="1400" dirty="0">
                <a:solidFill>
                  <a:srgbClr val="B4BECC"/>
                </a:solidFill>
              </a:rPr>
              <a:t>Read job and instance labels</a:t>
            </a:r>
          </a:p>
          <a:p>
            <a:pPr marL="140000" indent="-140000">
              <a:lnSpc>
                <a:spcPts val="1700"/>
              </a:lnSpc>
              <a:spcBef>
                <a:spcPts val="300"/>
              </a:spcBef>
              <a:buFont typeface="Arial"/>
              <a:buChar char="•"/>
            </a:pPr>
            <a:r>
              <a:rPr lang="en-US" sz="1400" dirty="0">
                <a:solidFill>
                  <a:srgbClr val="B4BECC"/>
                </a:solidFill>
              </a:rPr>
              <a:t>Note last scrape and any DOWN</a:t>
            </a:r>
          </a:p>
        </p:txBody>
      </p:sp>
      <p:sp>
        <p:nvSpPr>
          <p:cNvPr id="1015" name="S1015"/>
          <p:cNvSpPr/>
          <p:nvPr/>
        </p:nvSpPr>
        <p:spPr>
          <a:xfrm>
            <a:off x="45339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16" name="S1016"/>
          <p:cNvSpPr/>
          <p:nvPr/>
        </p:nvSpPr>
        <p:spPr>
          <a:xfrm>
            <a:off x="46355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node exporter target is UP</a:t>
            </a:r>
          </a:p>
        </p:txBody>
      </p:sp>
      <p:sp>
        <p:nvSpPr>
          <p:cNvPr id="1017" name="S1017"/>
          <p:cNvSpPr/>
          <p:nvPr/>
        </p:nvSpPr>
        <p:spPr>
          <a:xfrm>
            <a:off x="8001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8" name="S1018"/>
          <p:cNvSpPr/>
          <p:nvPr/>
        </p:nvSpPr>
        <p:spPr>
          <a:xfrm>
            <a:off x="8001000" y="1295400"/>
            <a:ext cx="3429000" cy="50800"/>
          </a:xfrm>
          <a:prstGeom prst="rect">
            <a:avLst/>
          </a:prstGeom>
          <a:solidFill>
            <a:srgbClr val="3274D9"/>
          </a:solidFill>
          <a:ln>
            <a:noFill/>
          </a:ln>
        </p:spPr>
        <p:txBody>
          <a:bodyPr wrap="square" lIns="127000" tIns="50800" rIns="127000" bIns="50800" anchor="ctr"/>
          <a:lstStyle/>
          <a:p>
            <a:endParaRPr/>
          </a:p>
        </p:txBody>
      </p:sp>
      <p:sp>
        <p:nvSpPr>
          <p:cNvPr id="1019" name="S1019"/>
          <p:cNvSpPr/>
          <p:nvPr/>
        </p:nvSpPr>
        <p:spPr>
          <a:xfrm>
            <a:off x="8153400" y="1447800"/>
            <a:ext cx="406400" cy="355600"/>
          </a:xfrm>
          <a:prstGeom prst="roundRect">
            <a:avLst/>
          </a:prstGeom>
          <a:solidFill>
            <a:srgbClr val="3274D9"/>
          </a:solidFill>
          <a:ln>
            <a:noFill/>
          </a:ln>
        </p:spPr>
        <p:txBody>
          <a:bodyPr wrap="square" lIns="0" tIns="50800" rIns="0" bIns="50800" anchor="ctr"/>
          <a:lstStyle/>
          <a:p>
            <a:pPr algn="ctr">
              <a:buNone/>
            </a:pPr>
            <a:r>
              <a:rPr lang="en-US" sz="1500" b="1" dirty="0">
                <a:solidFill>
                  <a:srgbClr val="000000"/>
                </a:solidFill>
              </a:rPr>
              <a:t>3</a:t>
            </a:r>
          </a:p>
        </p:txBody>
      </p:sp>
      <p:sp>
        <p:nvSpPr>
          <p:cNvPr id="1020" name="S1020"/>
          <p:cNvSpPr/>
          <p:nvPr/>
        </p:nvSpPr>
        <p:spPr>
          <a:xfrm>
            <a:off x="8636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Add PostgreSQL</a:t>
            </a:r>
          </a:p>
        </p:txBody>
      </p:sp>
      <p:sp>
        <p:nvSpPr>
          <p:cNvPr id="1021" name="S1021"/>
          <p:cNvSpPr/>
          <p:nvPr/>
        </p:nvSpPr>
        <p:spPr>
          <a:xfrm>
            <a:off x="8153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Host db:5432, database appdb</a:t>
            </a:r>
          </a:p>
          <a:p>
            <a:pPr marL="140000" indent="-140000">
              <a:lnSpc>
                <a:spcPts val="1700"/>
              </a:lnSpc>
              <a:spcBef>
                <a:spcPts val="300"/>
              </a:spcBef>
              <a:buFont typeface="Arial"/>
              <a:buChar char="•"/>
            </a:pPr>
            <a:r>
              <a:rPr lang="en-US" sz="1400" dirty="0">
                <a:solidFill>
                  <a:srgbClr val="B4BECC"/>
                </a:solidFill>
              </a:rPr>
              <a:t>SSL mode disable for the lab</a:t>
            </a:r>
          </a:p>
          <a:p>
            <a:pPr marL="140000" indent="-140000">
              <a:lnSpc>
                <a:spcPts val="1700"/>
              </a:lnSpc>
              <a:spcBef>
                <a:spcPts val="300"/>
              </a:spcBef>
              <a:buFont typeface="Arial"/>
              <a:buChar char="•"/>
            </a:pPr>
            <a:r>
              <a:rPr lang="en-US" sz="1400" dirty="0">
                <a:solidFill>
                  <a:srgbClr val="B4BECC"/>
                </a:solidFill>
              </a:rPr>
              <a:t>Run a table query on orders</a:t>
            </a:r>
          </a:p>
        </p:txBody>
      </p:sp>
      <p:sp>
        <p:nvSpPr>
          <p:cNvPr id="1022" name="S1022"/>
          <p:cNvSpPr/>
          <p:nvPr/>
        </p:nvSpPr>
        <p:spPr>
          <a:xfrm>
            <a:off x="8153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23" name="S1023"/>
          <p:cNvSpPr/>
          <p:nvPr/>
        </p:nvSpPr>
        <p:spPr>
          <a:xfrm>
            <a:off x="8255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table panel returns rows</a:t>
            </a:r>
          </a:p>
        </p:txBody>
      </p:sp>
      <p:sp>
        <p:nvSpPr>
          <p:cNvPr id="1024" name="S1024"/>
          <p:cNvSpPr/>
          <p:nvPr/>
        </p:nvSpPr>
        <p:spPr>
          <a:xfrm>
            <a:off x="7620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25" name="S1025"/>
          <p:cNvSpPr/>
          <p:nvPr/>
        </p:nvSpPr>
        <p:spPr>
          <a:xfrm>
            <a:off x="762000" y="3733800"/>
            <a:ext cx="3429000" cy="50800"/>
          </a:xfrm>
          <a:prstGeom prst="rect">
            <a:avLst/>
          </a:prstGeom>
          <a:solidFill>
            <a:srgbClr val="B877D9"/>
          </a:solidFill>
          <a:ln>
            <a:noFill/>
          </a:ln>
        </p:spPr>
        <p:txBody>
          <a:bodyPr wrap="square" lIns="127000" tIns="50800" rIns="127000" bIns="50800" anchor="ctr"/>
          <a:lstStyle/>
          <a:p>
            <a:endParaRPr/>
          </a:p>
        </p:txBody>
      </p:sp>
      <p:sp>
        <p:nvSpPr>
          <p:cNvPr id="1026" name="S1026"/>
          <p:cNvSpPr/>
          <p:nvPr/>
        </p:nvSpPr>
        <p:spPr>
          <a:xfrm>
            <a:off x="914400" y="3886200"/>
            <a:ext cx="406400" cy="355600"/>
          </a:xfrm>
          <a:prstGeom prst="roundRect">
            <a:avLst/>
          </a:prstGeom>
          <a:solidFill>
            <a:srgbClr val="B877D9"/>
          </a:solidFill>
          <a:ln>
            <a:noFill/>
          </a:ln>
        </p:spPr>
        <p:txBody>
          <a:bodyPr wrap="square" lIns="0" tIns="50800" rIns="0" bIns="50800" anchor="ctr"/>
          <a:lstStyle/>
          <a:p>
            <a:pPr algn="ctr">
              <a:buNone/>
            </a:pPr>
            <a:r>
              <a:rPr lang="en-US" sz="1500" b="1" dirty="0">
                <a:solidFill>
                  <a:srgbClr val="000000"/>
                </a:solidFill>
              </a:rPr>
              <a:t>4</a:t>
            </a:r>
          </a:p>
        </p:txBody>
      </p:sp>
      <p:sp>
        <p:nvSpPr>
          <p:cNvPr id="1027" name="S1027"/>
          <p:cNvSpPr/>
          <p:nvPr/>
        </p:nvSpPr>
        <p:spPr>
          <a:xfrm>
            <a:off x="13970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Add Loki</a:t>
            </a:r>
          </a:p>
        </p:txBody>
      </p:sp>
      <p:sp>
        <p:nvSpPr>
          <p:cNvPr id="1028" name="S1028"/>
          <p:cNvSpPr/>
          <p:nvPr/>
        </p:nvSpPr>
        <p:spPr>
          <a:xfrm>
            <a:off x="9144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URL: http://loki:3100</a:t>
            </a:r>
          </a:p>
          <a:p>
            <a:pPr marL="140000" indent="-140000">
              <a:lnSpc>
                <a:spcPts val="1700"/>
              </a:lnSpc>
              <a:spcBef>
                <a:spcPts val="300"/>
              </a:spcBef>
              <a:buFont typeface="Arial"/>
              <a:buChar char="•"/>
            </a:pPr>
            <a:r>
              <a:rPr lang="en-US" sz="1400" dirty="0">
                <a:solidFill>
                  <a:srgbClr val="B4BECC"/>
                </a:solidFill>
              </a:rPr>
              <a:t>LogQL: {job="node"}</a:t>
            </a:r>
          </a:p>
          <a:p>
            <a:pPr marL="140000" indent="-140000">
              <a:lnSpc>
                <a:spcPts val="1700"/>
              </a:lnSpc>
              <a:spcBef>
                <a:spcPts val="300"/>
              </a:spcBef>
              <a:buFont typeface="Arial"/>
              <a:buChar char="•"/>
            </a:pPr>
            <a:r>
              <a:rPr lang="en-US" sz="1400" dirty="0">
                <a:solidFill>
                  <a:srgbClr val="B4BECC"/>
                </a:solidFill>
              </a:rPr>
              <a:t>Match the job label used above</a:t>
            </a:r>
          </a:p>
        </p:txBody>
      </p:sp>
      <p:sp>
        <p:nvSpPr>
          <p:cNvPr id="1029" name="S1029"/>
          <p:cNvSpPr/>
          <p:nvPr/>
        </p:nvSpPr>
        <p:spPr>
          <a:xfrm>
            <a:off x="9144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0" name="S1030"/>
          <p:cNvSpPr/>
          <p:nvPr/>
        </p:nvSpPr>
        <p:spPr>
          <a:xfrm>
            <a:off x="10160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logs render for that job</a:t>
            </a:r>
          </a:p>
        </p:txBody>
      </p:sp>
      <p:sp>
        <p:nvSpPr>
          <p:cNvPr id="1031" name="S1031"/>
          <p:cNvSpPr/>
          <p:nvPr/>
        </p:nvSpPr>
        <p:spPr>
          <a:xfrm>
            <a:off x="43815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32" name="S1032"/>
          <p:cNvSpPr/>
          <p:nvPr/>
        </p:nvSpPr>
        <p:spPr>
          <a:xfrm>
            <a:off x="4381500" y="3733800"/>
            <a:ext cx="3429000" cy="50800"/>
          </a:xfrm>
          <a:prstGeom prst="rect">
            <a:avLst/>
          </a:prstGeom>
          <a:solidFill>
            <a:srgbClr val="4ECDC4"/>
          </a:solidFill>
          <a:ln>
            <a:noFill/>
          </a:ln>
        </p:spPr>
        <p:txBody>
          <a:bodyPr wrap="square" lIns="127000" tIns="50800" rIns="127000" bIns="50800" anchor="ctr"/>
          <a:lstStyle/>
          <a:p>
            <a:endParaRPr/>
          </a:p>
        </p:txBody>
      </p:sp>
      <p:sp>
        <p:nvSpPr>
          <p:cNvPr id="1033" name="S1033"/>
          <p:cNvSpPr/>
          <p:nvPr/>
        </p:nvSpPr>
        <p:spPr>
          <a:xfrm>
            <a:off x="4533900" y="3886200"/>
            <a:ext cx="406400" cy="355600"/>
          </a:xfrm>
          <a:prstGeom prst="roundRect">
            <a:avLst/>
          </a:prstGeom>
          <a:solidFill>
            <a:srgbClr val="4ECDC4"/>
          </a:solidFill>
          <a:ln>
            <a:noFill/>
          </a:ln>
        </p:spPr>
        <p:txBody>
          <a:bodyPr wrap="square" lIns="0" tIns="50800" rIns="0" bIns="50800" anchor="ctr"/>
          <a:lstStyle/>
          <a:p>
            <a:pPr algn="ctr">
              <a:buNone/>
            </a:pPr>
            <a:r>
              <a:rPr lang="en-US" sz="1500" b="1" dirty="0">
                <a:solidFill>
                  <a:srgbClr val="000000"/>
                </a:solidFill>
              </a:rPr>
              <a:t>5</a:t>
            </a:r>
          </a:p>
        </p:txBody>
      </p:sp>
      <p:sp>
        <p:nvSpPr>
          <p:cNvPr id="1034" name="S1034"/>
          <p:cNvSpPr/>
          <p:nvPr/>
        </p:nvSpPr>
        <p:spPr>
          <a:xfrm>
            <a:off x="50165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Query time series</a:t>
            </a:r>
          </a:p>
        </p:txBody>
      </p:sp>
      <p:sp>
        <p:nvSpPr>
          <p:cNvPr id="1035" name="S1035"/>
          <p:cNvSpPr/>
          <p:nvPr/>
        </p:nvSpPr>
        <p:spPr>
          <a:xfrm>
            <a:off x="45339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Compare instant vs range query</a:t>
            </a:r>
          </a:p>
          <a:p>
            <a:pPr marL="140000" indent="-140000">
              <a:lnSpc>
                <a:spcPts val="1700"/>
              </a:lnSpc>
              <a:spcBef>
                <a:spcPts val="300"/>
              </a:spcBef>
              <a:buFont typeface="Arial"/>
              <a:buChar char="•"/>
            </a:pPr>
            <a:r>
              <a:rPr lang="en-US" sz="1400" dirty="0">
                <a:solidFill>
                  <a:srgbClr val="B4BECC"/>
                </a:solidFill>
              </a:rPr>
              <a:t>rate(http_requests_total[5m])</a:t>
            </a:r>
          </a:p>
          <a:p>
            <a:pPr marL="140000" indent="-140000">
              <a:lnSpc>
                <a:spcPts val="1700"/>
              </a:lnSpc>
              <a:spcBef>
                <a:spcPts val="300"/>
              </a:spcBef>
              <a:buFont typeface="Arial"/>
              <a:buChar char="•"/>
            </a:pPr>
            <a:r>
              <a:rPr lang="en-US" sz="1400" dirty="0">
                <a:solidFill>
                  <a:srgbClr val="B4BECC"/>
                </a:solidFill>
              </a:rPr>
              <a:t>sum by (instance) to group</a:t>
            </a:r>
          </a:p>
        </p:txBody>
      </p:sp>
      <p:sp>
        <p:nvSpPr>
          <p:cNvPr id="1036" name="S1036"/>
          <p:cNvSpPr/>
          <p:nvPr/>
        </p:nvSpPr>
        <p:spPr>
          <a:xfrm>
            <a:off x="45339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7" name="S1037"/>
          <p:cNvSpPr/>
          <p:nvPr/>
        </p:nvSpPr>
        <p:spPr>
          <a:xfrm>
            <a:off x="46355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range query graphs 3 series</a:t>
            </a:r>
          </a:p>
        </p:txBody>
      </p:sp>
      <p:sp>
        <p:nvSpPr>
          <p:cNvPr id="1038" name="S1038"/>
          <p:cNvSpPr/>
          <p:nvPr/>
        </p:nvSpPr>
        <p:spPr>
          <a:xfrm>
            <a:off x="8001000" y="3733800"/>
            <a:ext cx="3429000" cy="2311400"/>
          </a:xfrm>
          <a:prstGeom prst="roundRect">
            <a:avLst/>
          </a:prstGeom>
          <a:solidFill>
            <a:srgbClr val="111620"/>
          </a:solidFill>
          <a:ln w="12700">
            <a:solidFill>
              <a:srgbClr val="5A3A10"/>
            </a:solidFill>
          </a:ln>
        </p:spPr>
        <p:txBody>
          <a:bodyPr wrap="square" lIns="127000" tIns="50800" rIns="127000" bIns="50800" anchor="ctr"/>
          <a:lstStyle/>
          <a:p>
            <a:endParaRPr/>
          </a:p>
        </p:txBody>
      </p:sp>
      <p:sp>
        <p:nvSpPr>
          <p:cNvPr id="1039" name="S1039"/>
          <p:cNvSpPr/>
          <p:nvPr/>
        </p:nvSpPr>
        <p:spPr>
          <a:xfrm>
            <a:off x="8001000" y="3733800"/>
            <a:ext cx="3429000" cy="50800"/>
          </a:xfrm>
          <a:prstGeom prst="rect">
            <a:avLst/>
          </a:prstGeom>
          <a:solidFill>
            <a:srgbClr val="F2CC0C"/>
          </a:solidFill>
          <a:ln>
            <a:noFill/>
          </a:ln>
        </p:spPr>
        <p:txBody>
          <a:bodyPr wrap="square" lIns="127000" tIns="50800" rIns="127000" bIns="50800" anchor="ctr"/>
          <a:lstStyle/>
          <a:p>
            <a:endParaRPr/>
          </a:p>
        </p:txBody>
      </p:sp>
      <p:sp>
        <p:nvSpPr>
          <p:cNvPr id="1040" name="S1040"/>
          <p:cNvSpPr/>
          <p:nvPr/>
        </p:nvSpPr>
        <p:spPr>
          <a:xfrm>
            <a:off x="8153400" y="3886200"/>
            <a:ext cx="3124200" cy="355600"/>
          </a:xfrm>
          <a:prstGeom prst="rect">
            <a:avLst/>
          </a:prstGeom>
          <a:noFill/>
          <a:ln>
            <a:noFill/>
          </a:ln>
        </p:spPr>
        <p:txBody>
          <a:bodyPr wrap="square" lIns="0" tIns="50800" rIns="0" bIns="50800" anchor="ctr"/>
          <a:lstStyle/>
          <a:p>
            <a:pPr algn="l">
              <a:buNone/>
            </a:pPr>
            <a:r>
              <a:rPr lang="en-US" sz="1700" b="1" dirty="0">
                <a:solidFill>
                  <a:srgbClr val="F2CC0C"/>
                </a:solidFill>
              </a:rPr>
              <a:t>Done when...</a:t>
            </a:r>
          </a:p>
        </p:txBody>
      </p:sp>
      <p:sp>
        <p:nvSpPr>
          <p:cNvPr id="1041" name="S1041"/>
          <p:cNvSpPr/>
          <p:nvPr/>
        </p:nvSpPr>
        <p:spPr>
          <a:xfrm>
            <a:off x="8153400" y="4292600"/>
            <a:ext cx="3124200" cy="16510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E8D48B"/>
                </a:solidFill>
              </a:rPr>
              <a:t>All three data sources test green</a:t>
            </a:r>
          </a:p>
          <a:p>
            <a:pPr marL="140000" indent="-140000">
              <a:lnSpc>
                <a:spcPts val="1700"/>
              </a:lnSpc>
              <a:spcBef>
                <a:spcPts val="300"/>
              </a:spcBef>
              <a:buFont typeface="Arial"/>
              <a:buChar char="•"/>
            </a:pPr>
            <a:r>
              <a:rPr lang="en-US" sz="1400" dirty="0">
                <a:solidFill>
                  <a:srgbClr val="E8D48B"/>
                </a:solidFill>
              </a:rPr>
              <a:t>Targets page shows every job UP</a:t>
            </a:r>
          </a:p>
          <a:p>
            <a:pPr marL="140000" indent="-140000">
              <a:lnSpc>
                <a:spcPts val="1700"/>
              </a:lnSpc>
              <a:spcBef>
                <a:spcPts val="300"/>
              </a:spcBef>
              <a:buFont typeface="Arial"/>
              <a:buChar char="•"/>
            </a:pPr>
            <a:r>
              <a:rPr lang="en-US" sz="1400" dirty="0">
                <a:solidFill>
                  <a:srgbClr val="E8D48B"/>
                </a:solidFill>
              </a:rPr>
              <a:t>One dashboard queries metrics and logs</a:t>
            </a:r>
          </a:p>
          <a:p>
            <a:pPr marL="140000" indent="-140000">
              <a:lnSpc>
                <a:spcPts val="1700"/>
              </a:lnSpc>
              <a:spcBef>
                <a:spcPts val="300"/>
              </a:spcBef>
              <a:buFont typeface="Arial"/>
              <a:buChar char="•"/>
            </a:pPr>
            <a:r>
              <a:rPr lang="en-US" sz="1400" dirty="0">
                <a:solidFill>
                  <a:srgbClr val="E8D48B"/>
                </a:solidFill>
              </a:rPr>
              <a:t>A range query returns many series</a:t>
            </a:r>
          </a:p>
          <a:p>
            <a:pPr marL="140000" indent="-140000">
              <a:lnSpc>
                <a:spcPts val="1700"/>
              </a:lnSpc>
              <a:spcBef>
                <a:spcPts val="300"/>
              </a:spcBef>
              <a:buFont typeface="Arial"/>
              <a:buChar char="•"/>
            </a:pPr>
            <a:r>
              <a:rPr lang="en-US" sz="1400" dirty="0">
                <a:solidFill>
                  <a:srgbClr val="E8D48B"/>
                </a:solidFill>
              </a:rPr>
              <a:t>Data source names noted for later labs</a:t>
            </a:r>
          </a:p>
        </p:txBody>
      </p:sp>
    </p:spTree>
    <p:extLst>
      <p:ext uri="{BB962C8B-B14F-4D97-AF65-F5344CB8AC3E}">
        <p14:creationId xmlns:p14="http://schemas.microsoft.com/office/powerpoint/2010/main" val="1965589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CFDF-FCA7-17A7-AD5C-45906652F1A1}"/>
              </a:ext>
            </a:extLst>
          </p:cNvPr>
          <p:cNvSpPr>
            <a:spLocks noGrp="1"/>
          </p:cNvSpPr>
          <p:nvPr>
            <p:ph type="title"/>
          </p:nvPr>
        </p:nvSpPr>
        <p:spPr>
          <a:xfrm>
            <a:off x="838200" y="2489200"/>
            <a:ext cx="7874000" cy="1016000"/>
          </a:xfrm>
        </p:spPr>
        <p:txBody>
          <a:bodyPr/>
          <a:lstStyle/>
          <a:p>
            <a:pPr algn="l">
              <a:buNone/>
            </a:pPr>
            <a:r>
              <a:rPr lang="en-US" sz="4400" b="1" dirty="0">
                <a:solidFill>
                  <a:srgbClr val="FFFFFF"/>
                </a:solidFill>
              </a:rPr>
              <a:t>Prometheus Integration</a:t>
            </a:r>
          </a:p>
        </p:txBody>
      </p:sp>
      <p:sp>
        <p:nvSpPr>
          <p:cNvPr id="3" name="Text Placeholder 2">
            <a:extLst>
              <a:ext uri="{FF2B5EF4-FFF2-40B4-BE49-F238E27FC236}">
                <a16:creationId xmlns:a16="http://schemas.microsoft.com/office/drawing/2014/main" id="{9979C87F-BF80-2616-4144-A61E0CDEF914}"/>
              </a:ext>
            </a:extLst>
          </p:cNvPr>
          <p:cNvSpPr>
            <a:spLocks noGrp="1"/>
          </p:cNvSpPr>
          <p:nvPr>
            <p:ph type="body" idx="1"/>
          </p:nvPr>
        </p:nvSpPr>
        <p:spPr>
          <a:xfrm>
            <a:off x="838200" y="3632200"/>
            <a:ext cx="9144000" cy="762000"/>
          </a:xfrm>
        </p:spPr>
        <p:txBody>
          <a:bodyPr/>
          <a:lstStyle/>
          <a:p>
            <a:pPr algn="l">
              <a:buNone/>
            </a:pPr>
            <a:r>
              <a:rPr lang="en-US" sz="1700" b="0" dirty="0">
                <a:solidFill>
                  <a:srgbClr val="A9B2C1"/>
                </a:solidFill>
              </a:rPr>
              <a:t>How Prometheus discovers, scrapes and stores the metrics your dashboards will query.</a:t>
            </a:r>
          </a:p>
        </p:txBody>
      </p:sp>
      <p:sp>
        <p:nvSpPr>
          <p:cNvPr id="581" name="S581"/>
          <p:cNvSpPr/>
          <p:nvPr/>
        </p:nvSpPr>
        <p:spPr>
          <a:xfrm>
            <a:off x="7620000" y="1524000"/>
            <a:ext cx="3810000" cy="3048000"/>
          </a:xfrm>
          <a:prstGeom prst="rect">
            <a:avLst/>
          </a:prstGeom>
          <a:noFill/>
          <a:ln>
            <a:noFill/>
          </a:ln>
        </p:spPr>
        <p:txBody>
          <a:bodyPr wrap="square" lIns="0" tIns="50800" rIns="0" bIns="50800" anchor="ctr"/>
          <a:lstStyle/>
          <a:p>
            <a:pPr algn="r">
              <a:buNone/>
            </a:pPr>
            <a:r>
              <a:rPr lang="en-US" sz="16000" b="1" dirty="0">
                <a:solidFill>
                  <a:srgbClr val="1B202B"/>
                </a:solidFill>
              </a:rPr>
              <a:t>06</a:t>
            </a:r>
          </a:p>
        </p:txBody>
      </p:sp>
      <p:sp>
        <p:nvSpPr>
          <p:cNvPr id="582" name="S582"/>
          <p:cNvSpPr/>
          <p:nvPr/>
        </p:nvSpPr>
        <p:spPr>
          <a:xfrm>
            <a:off x="838200" y="1905000"/>
            <a:ext cx="3302000" cy="406400"/>
          </a:xfrm>
          <a:prstGeom prst="roundRect">
            <a:avLst/>
          </a:prstGeom>
          <a:solidFill>
            <a:srgbClr val="2A1608"/>
          </a:solidFill>
          <a:ln w="12700">
            <a:solidFill>
              <a:srgbClr val="F46800"/>
            </a:solidFill>
          </a:ln>
        </p:spPr>
        <p:txBody>
          <a:bodyPr wrap="square" lIns="127000" tIns="50800" rIns="127000" bIns="50800" anchor="ctr"/>
          <a:lstStyle/>
          <a:p>
            <a:pPr algn="ctr">
              <a:buNone/>
            </a:pPr>
            <a:r>
              <a:rPr lang="en-US" sz="1400" b="1" dirty="0">
                <a:solidFill>
                  <a:srgbClr val="FF9830"/>
                </a:solidFill>
              </a:rPr>
              <a:t>MODULE 6</a:t>
            </a:r>
          </a:p>
        </p:txBody>
      </p:sp>
      <p:sp>
        <p:nvSpPr>
          <p:cNvPr id="583" name="S583"/>
          <p:cNvSpPr/>
          <p:nvPr/>
        </p:nvSpPr>
        <p:spPr>
          <a:xfrm>
            <a:off x="838200" y="3581400"/>
            <a:ext cx="1524000" cy="50800"/>
          </a:xfrm>
          <a:prstGeom prst="rect">
            <a:avLst/>
          </a:prstGeom>
          <a:solidFill>
            <a:srgbClr val="FF9830"/>
          </a:solidFill>
          <a:ln>
            <a:noFill/>
          </a:ln>
        </p:spPr>
        <p:txBody>
          <a:bodyPr wrap="square" lIns="127000" tIns="50800" rIns="127000" bIns="50800" anchor="ctr"/>
          <a:lstStyle/>
          <a:p>
            <a:endParaRPr/>
          </a:p>
        </p:txBody>
      </p:sp>
    </p:spTree>
    <p:extLst>
      <p:ext uri="{BB962C8B-B14F-4D97-AF65-F5344CB8AC3E}">
        <p14:creationId xmlns:p14="http://schemas.microsoft.com/office/powerpoint/2010/main" val="3396808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1D871-347D-5F62-19C5-0502B09E7AD2}"/>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Prometheus Architecture</a:t>
            </a:r>
          </a:p>
        </p:txBody>
      </p:sp>
      <p:sp>
        <p:nvSpPr>
          <p:cNvPr id="601" name="S601"/>
          <p:cNvSpPr/>
          <p:nvPr/>
        </p:nvSpPr>
        <p:spPr>
          <a:xfrm>
            <a:off x="762000" y="914400"/>
            <a:ext cx="1524000" cy="50800"/>
          </a:xfrm>
          <a:prstGeom prst="rect">
            <a:avLst/>
          </a:prstGeom>
          <a:solidFill>
            <a:srgbClr val="F46800"/>
          </a:solidFill>
          <a:ln>
            <a:noFill/>
          </a:ln>
        </p:spPr>
        <p:txBody>
          <a:bodyPr wrap="square" lIns="127000" tIns="50800" rIns="127000" bIns="50800" anchor="ctr"/>
          <a:lstStyle/>
          <a:p>
            <a:endParaRPr/>
          </a:p>
        </p:txBody>
      </p:sp>
      <p:sp>
        <p:nvSpPr>
          <p:cNvPr id="602" name="S602"/>
          <p:cNvSpPr/>
          <p:nvPr/>
        </p:nvSpPr>
        <p:spPr>
          <a:xfrm>
            <a:off x="762000" y="1092200"/>
            <a:ext cx="2540000" cy="279400"/>
          </a:xfrm>
          <a:prstGeom prst="rect">
            <a:avLst/>
          </a:prstGeom>
          <a:noFill/>
          <a:ln>
            <a:noFill/>
          </a:ln>
        </p:spPr>
        <p:txBody>
          <a:bodyPr wrap="square" lIns="0" tIns="50800" rIns="0" bIns="50800" anchor="ctr"/>
          <a:lstStyle/>
          <a:p>
            <a:pPr algn="l">
              <a:buNone/>
            </a:pPr>
            <a:r>
              <a:rPr lang="en-US" sz="1400" b="1" dirty="0">
                <a:solidFill>
                  <a:srgbClr val="FF9830"/>
                </a:solidFill>
              </a:rPr>
              <a:t>TARGETS / EXPORTERS</a:t>
            </a:r>
          </a:p>
        </p:txBody>
      </p:sp>
      <p:sp>
        <p:nvSpPr>
          <p:cNvPr id="603" name="S603"/>
          <p:cNvSpPr/>
          <p:nvPr/>
        </p:nvSpPr>
        <p:spPr>
          <a:xfrm>
            <a:off x="3810000" y="1092200"/>
            <a:ext cx="3810000" cy="279400"/>
          </a:xfrm>
          <a:prstGeom prst="rect">
            <a:avLst/>
          </a:prstGeom>
          <a:noFill/>
          <a:ln>
            <a:noFill/>
          </a:ln>
        </p:spPr>
        <p:txBody>
          <a:bodyPr wrap="square" lIns="0" tIns="50800" rIns="0" bIns="50800" anchor="ctr"/>
          <a:lstStyle/>
          <a:p>
            <a:pPr algn="l">
              <a:buNone/>
            </a:pPr>
            <a:r>
              <a:rPr lang="en-US" sz="1400" b="1" dirty="0">
                <a:solidFill>
                  <a:srgbClr val="F46800"/>
                </a:solidFill>
              </a:rPr>
              <a:t>PROMETHEUS SERVER</a:t>
            </a:r>
          </a:p>
        </p:txBody>
      </p:sp>
      <p:sp>
        <p:nvSpPr>
          <p:cNvPr id="604" name="S604"/>
          <p:cNvSpPr/>
          <p:nvPr/>
        </p:nvSpPr>
        <p:spPr>
          <a:xfrm>
            <a:off x="8128000" y="1092200"/>
            <a:ext cx="3302000" cy="279400"/>
          </a:xfrm>
          <a:prstGeom prst="rect">
            <a:avLst/>
          </a:prstGeom>
          <a:noFill/>
          <a:ln>
            <a:noFill/>
          </a:ln>
        </p:spPr>
        <p:txBody>
          <a:bodyPr wrap="square" lIns="0" tIns="50800" rIns="0" bIns="50800" anchor="ctr"/>
          <a:lstStyle/>
          <a:p>
            <a:pPr algn="l">
              <a:buNone/>
            </a:pPr>
            <a:r>
              <a:rPr lang="en-US" sz="1400" b="1" dirty="0">
                <a:solidFill>
                  <a:srgbClr val="3274D9"/>
                </a:solidFill>
              </a:rPr>
              <a:t>CONSUMERS</a:t>
            </a:r>
          </a:p>
        </p:txBody>
      </p:sp>
      <p:sp>
        <p:nvSpPr>
          <p:cNvPr id="605" name="S605"/>
          <p:cNvSpPr/>
          <p:nvPr/>
        </p:nvSpPr>
        <p:spPr>
          <a:xfrm>
            <a:off x="762000" y="1422400"/>
            <a:ext cx="2540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06" name="S606"/>
          <p:cNvSpPr/>
          <p:nvPr/>
        </p:nvSpPr>
        <p:spPr>
          <a:xfrm>
            <a:off x="889000" y="1498600"/>
            <a:ext cx="2286000" cy="279400"/>
          </a:xfrm>
          <a:prstGeom prst="rect">
            <a:avLst/>
          </a:prstGeom>
          <a:noFill/>
          <a:ln>
            <a:noFill/>
          </a:ln>
        </p:spPr>
        <p:txBody>
          <a:bodyPr wrap="square" lIns="0" tIns="50800" rIns="0" bIns="50800" anchor="ctr"/>
          <a:lstStyle/>
          <a:p>
            <a:pPr algn="l">
              <a:buNone/>
            </a:pPr>
            <a:r>
              <a:rPr lang="en-US" sz="1500" b="1" dirty="0">
                <a:solidFill>
                  <a:srgbClr val="FFFFFF"/>
                </a:solidFill>
              </a:rPr>
              <a:t>Node Exporter</a:t>
            </a:r>
          </a:p>
        </p:txBody>
      </p:sp>
      <p:sp>
        <p:nvSpPr>
          <p:cNvPr id="607" name="S607"/>
          <p:cNvSpPr/>
          <p:nvPr/>
        </p:nvSpPr>
        <p:spPr>
          <a:xfrm>
            <a:off x="889000" y="1752600"/>
            <a:ext cx="2286000" cy="304800"/>
          </a:xfrm>
          <a:prstGeom prst="rect">
            <a:avLst/>
          </a:prstGeom>
          <a:noFill/>
          <a:ln>
            <a:noFill/>
          </a:ln>
        </p:spPr>
        <p:txBody>
          <a:bodyPr wrap="square" lIns="0" tIns="50800" rIns="0" bIns="50800" anchor="t"/>
          <a:lstStyle/>
          <a:p>
            <a:pPr algn="l">
              <a:buNone/>
            </a:pPr>
            <a:r>
              <a:rPr lang="en-US" sz="1400" b="0" dirty="0">
                <a:solidFill>
                  <a:srgbClr val="98A2B3"/>
                </a:solidFill>
              </a:rPr>
              <a:t>:9100 /metrics</a:t>
            </a:r>
          </a:p>
        </p:txBody>
      </p:sp>
      <p:sp>
        <p:nvSpPr>
          <p:cNvPr id="608" name="S608"/>
          <p:cNvSpPr/>
          <p:nvPr/>
        </p:nvSpPr>
        <p:spPr>
          <a:xfrm>
            <a:off x="762000" y="2184400"/>
            <a:ext cx="2540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09" name="S609"/>
          <p:cNvSpPr/>
          <p:nvPr/>
        </p:nvSpPr>
        <p:spPr>
          <a:xfrm>
            <a:off x="889000" y="2260600"/>
            <a:ext cx="2286000" cy="279400"/>
          </a:xfrm>
          <a:prstGeom prst="rect">
            <a:avLst/>
          </a:prstGeom>
          <a:noFill/>
          <a:ln>
            <a:noFill/>
          </a:ln>
        </p:spPr>
        <p:txBody>
          <a:bodyPr wrap="square" lIns="0" tIns="50800" rIns="0" bIns="50800" anchor="ctr"/>
          <a:lstStyle/>
          <a:p>
            <a:pPr algn="l">
              <a:buNone/>
            </a:pPr>
            <a:r>
              <a:rPr lang="en-US" sz="1500" b="1" dirty="0">
                <a:solidFill>
                  <a:srgbClr val="FFFFFF"/>
                </a:solidFill>
              </a:rPr>
              <a:t>Application</a:t>
            </a:r>
          </a:p>
        </p:txBody>
      </p:sp>
      <p:sp>
        <p:nvSpPr>
          <p:cNvPr id="610" name="S610"/>
          <p:cNvSpPr/>
          <p:nvPr/>
        </p:nvSpPr>
        <p:spPr>
          <a:xfrm>
            <a:off x="889000" y="2514600"/>
            <a:ext cx="2286000" cy="304800"/>
          </a:xfrm>
          <a:prstGeom prst="rect">
            <a:avLst/>
          </a:prstGeom>
          <a:noFill/>
          <a:ln>
            <a:noFill/>
          </a:ln>
        </p:spPr>
        <p:txBody>
          <a:bodyPr wrap="square" lIns="0" tIns="50800" rIns="0" bIns="50800" anchor="t"/>
          <a:lstStyle/>
          <a:p>
            <a:pPr algn="l">
              <a:buNone/>
            </a:pPr>
            <a:r>
              <a:rPr lang="en-US" sz="1400" b="0" dirty="0">
                <a:solidFill>
                  <a:srgbClr val="98A2B3"/>
                </a:solidFill>
              </a:rPr>
              <a:t>:8080 /metrics</a:t>
            </a:r>
          </a:p>
        </p:txBody>
      </p:sp>
      <p:sp>
        <p:nvSpPr>
          <p:cNvPr id="611" name="S611"/>
          <p:cNvSpPr/>
          <p:nvPr/>
        </p:nvSpPr>
        <p:spPr>
          <a:xfrm>
            <a:off x="762000" y="2946400"/>
            <a:ext cx="2540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12" name="S612"/>
          <p:cNvSpPr/>
          <p:nvPr/>
        </p:nvSpPr>
        <p:spPr>
          <a:xfrm>
            <a:off x="889000" y="3022600"/>
            <a:ext cx="2286000" cy="279400"/>
          </a:xfrm>
          <a:prstGeom prst="rect">
            <a:avLst/>
          </a:prstGeom>
          <a:noFill/>
          <a:ln>
            <a:noFill/>
          </a:ln>
        </p:spPr>
        <p:txBody>
          <a:bodyPr wrap="square" lIns="0" tIns="50800" rIns="0" bIns="50800" anchor="ctr"/>
          <a:lstStyle/>
          <a:p>
            <a:pPr algn="l">
              <a:buNone/>
            </a:pPr>
            <a:r>
              <a:rPr lang="en-US" sz="1500" b="1" dirty="0">
                <a:solidFill>
                  <a:srgbClr val="FFFFFF"/>
                </a:solidFill>
              </a:rPr>
              <a:t>cAdvisor / kube-state</a:t>
            </a:r>
          </a:p>
        </p:txBody>
      </p:sp>
      <p:sp>
        <p:nvSpPr>
          <p:cNvPr id="613" name="S613"/>
          <p:cNvSpPr/>
          <p:nvPr/>
        </p:nvSpPr>
        <p:spPr>
          <a:xfrm>
            <a:off x="889000" y="3276600"/>
            <a:ext cx="2286000" cy="304800"/>
          </a:xfrm>
          <a:prstGeom prst="rect">
            <a:avLst/>
          </a:prstGeom>
          <a:noFill/>
          <a:ln>
            <a:noFill/>
          </a:ln>
        </p:spPr>
        <p:txBody>
          <a:bodyPr wrap="square" lIns="0" tIns="50800" rIns="0" bIns="50800" anchor="t"/>
          <a:lstStyle/>
          <a:p>
            <a:pPr algn="l">
              <a:buNone/>
            </a:pPr>
            <a:r>
              <a:rPr lang="en-US" sz="1400" b="0" dirty="0">
                <a:solidFill>
                  <a:srgbClr val="98A2B3"/>
                </a:solidFill>
              </a:rPr>
              <a:t>container metrics</a:t>
            </a:r>
          </a:p>
        </p:txBody>
      </p:sp>
      <p:sp>
        <p:nvSpPr>
          <p:cNvPr id="614" name="S614"/>
          <p:cNvSpPr/>
          <p:nvPr/>
        </p:nvSpPr>
        <p:spPr>
          <a:xfrm>
            <a:off x="762000" y="3708400"/>
            <a:ext cx="2540000" cy="685800"/>
          </a:xfrm>
          <a:prstGeom prst="roundRect">
            <a:avLst/>
          </a:prstGeom>
          <a:solidFill>
            <a:srgbClr val="121722"/>
          </a:solidFill>
          <a:ln w="12700">
            <a:solidFill>
              <a:srgbClr val="2B3140"/>
            </a:solidFill>
          </a:ln>
        </p:spPr>
        <p:txBody>
          <a:bodyPr wrap="square" lIns="127000" tIns="50800" rIns="127000" bIns="50800" anchor="ctr"/>
          <a:lstStyle/>
          <a:p>
            <a:endParaRPr/>
          </a:p>
        </p:txBody>
      </p:sp>
      <p:sp>
        <p:nvSpPr>
          <p:cNvPr id="615" name="S615"/>
          <p:cNvSpPr/>
          <p:nvPr/>
        </p:nvSpPr>
        <p:spPr>
          <a:xfrm>
            <a:off x="889000" y="3784600"/>
            <a:ext cx="2286000" cy="279400"/>
          </a:xfrm>
          <a:prstGeom prst="rect">
            <a:avLst/>
          </a:prstGeom>
          <a:noFill/>
          <a:ln>
            <a:noFill/>
          </a:ln>
        </p:spPr>
        <p:txBody>
          <a:bodyPr wrap="square" lIns="0" tIns="50800" rIns="0" bIns="50800" anchor="ctr"/>
          <a:lstStyle/>
          <a:p>
            <a:pPr algn="l">
              <a:buNone/>
            </a:pPr>
            <a:r>
              <a:rPr lang="en-US" sz="1500" b="1" dirty="0">
                <a:solidFill>
                  <a:srgbClr val="FF9830"/>
                </a:solidFill>
              </a:rPr>
              <a:t>Service discovery</a:t>
            </a:r>
          </a:p>
        </p:txBody>
      </p:sp>
      <p:sp>
        <p:nvSpPr>
          <p:cNvPr id="616" name="S616"/>
          <p:cNvSpPr/>
          <p:nvPr/>
        </p:nvSpPr>
        <p:spPr>
          <a:xfrm>
            <a:off x="889000" y="4038600"/>
            <a:ext cx="2286000" cy="330200"/>
          </a:xfrm>
          <a:prstGeom prst="rect">
            <a:avLst/>
          </a:prstGeom>
          <a:noFill/>
          <a:ln>
            <a:noFill/>
          </a:ln>
        </p:spPr>
        <p:txBody>
          <a:bodyPr wrap="square" lIns="0" tIns="50800" rIns="0" bIns="50800" anchor="t"/>
          <a:lstStyle/>
          <a:p>
            <a:pPr algn="l">
              <a:buNone/>
            </a:pPr>
            <a:r>
              <a:rPr lang="en-US" sz="1400" b="0" dirty="0">
                <a:solidFill>
                  <a:srgbClr val="98A2B3"/>
                </a:solidFill>
              </a:rPr>
              <a:t>static, file_sd, kubernetes_sd</a:t>
            </a:r>
          </a:p>
        </p:txBody>
      </p:sp>
      <p:sp>
        <p:nvSpPr>
          <p:cNvPr id="617" name="S617"/>
          <p:cNvSpPr/>
          <p:nvPr/>
        </p:nvSpPr>
        <p:spPr>
          <a:xfrm>
            <a:off x="3810000" y="1422400"/>
            <a:ext cx="3810000" cy="3073400"/>
          </a:xfrm>
          <a:prstGeom prst="roundRect">
            <a:avLst/>
          </a:prstGeom>
          <a:solidFill>
            <a:srgbClr val="121722"/>
          </a:solidFill>
          <a:ln w="12700">
            <a:solidFill>
              <a:srgbClr val="F46800"/>
            </a:solidFill>
          </a:ln>
        </p:spPr>
        <p:txBody>
          <a:bodyPr wrap="square" lIns="127000" tIns="50800" rIns="127000" bIns="50800" anchor="ctr"/>
          <a:lstStyle/>
          <a:p>
            <a:endParaRPr/>
          </a:p>
        </p:txBody>
      </p:sp>
      <p:sp>
        <p:nvSpPr>
          <p:cNvPr id="618" name="S618"/>
          <p:cNvSpPr/>
          <p:nvPr/>
        </p:nvSpPr>
        <p:spPr>
          <a:xfrm>
            <a:off x="3987800" y="1574800"/>
            <a:ext cx="3454400" cy="635000"/>
          </a:xfrm>
          <a:prstGeom prst="roundRect">
            <a:avLst/>
          </a:prstGeom>
          <a:solidFill>
            <a:srgbClr val="181D27"/>
          </a:solidFill>
          <a:ln w="12700">
            <a:solidFill>
              <a:srgbClr val="2B3140"/>
            </a:solidFill>
          </a:ln>
        </p:spPr>
        <p:txBody>
          <a:bodyPr wrap="square" lIns="127000" tIns="50800" rIns="127000" bIns="50800" anchor="ctr"/>
          <a:lstStyle/>
          <a:p>
            <a:endParaRPr/>
          </a:p>
        </p:txBody>
      </p:sp>
      <p:sp>
        <p:nvSpPr>
          <p:cNvPr id="619" name="S619"/>
          <p:cNvSpPr/>
          <p:nvPr/>
        </p:nvSpPr>
        <p:spPr>
          <a:xfrm>
            <a:off x="4114800" y="1651000"/>
            <a:ext cx="3200400" cy="279400"/>
          </a:xfrm>
          <a:prstGeom prst="rect">
            <a:avLst/>
          </a:prstGeom>
          <a:noFill/>
          <a:ln>
            <a:noFill/>
          </a:ln>
        </p:spPr>
        <p:txBody>
          <a:bodyPr wrap="square" lIns="0" tIns="50800" rIns="0" bIns="50800" anchor="ctr"/>
          <a:lstStyle/>
          <a:p>
            <a:pPr algn="l">
              <a:buNone/>
            </a:pPr>
            <a:r>
              <a:rPr lang="en-US" sz="1500" b="1" dirty="0">
                <a:solidFill>
                  <a:srgbClr val="F46800"/>
                </a:solidFill>
              </a:rPr>
              <a:t>Retrieval</a:t>
            </a:r>
          </a:p>
        </p:txBody>
      </p:sp>
      <p:sp>
        <p:nvSpPr>
          <p:cNvPr id="620" name="S620"/>
          <p:cNvSpPr/>
          <p:nvPr/>
        </p:nvSpPr>
        <p:spPr>
          <a:xfrm>
            <a:off x="4114800" y="1905000"/>
            <a:ext cx="3200400" cy="254000"/>
          </a:xfrm>
          <a:prstGeom prst="rect">
            <a:avLst/>
          </a:prstGeom>
          <a:noFill/>
          <a:ln>
            <a:noFill/>
          </a:ln>
        </p:spPr>
        <p:txBody>
          <a:bodyPr wrap="square" lIns="0" tIns="50800" rIns="0" bIns="50800" anchor="t"/>
          <a:lstStyle/>
          <a:p>
            <a:pPr algn="l">
              <a:buNone/>
            </a:pPr>
            <a:r>
              <a:rPr lang="en-US" sz="1400" b="0" dirty="0">
                <a:solidFill>
                  <a:srgbClr val="98A2B3"/>
                </a:solidFill>
              </a:rPr>
              <a:t>pulls /metrics on a schedule</a:t>
            </a:r>
          </a:p>
        </p:txBody>
      </p:sp>
      <p:sp>
        <p:nvSpPr>
          <p:cNvPr id="621" name="S621"/>
          <p:cNvSpPr/>
          <p:nvPr/>
        </p:nvSpPr>
        <p:spPr>
          <a:xfrm>
            <a:off x="3987800" y="2286000"/>
            <a:ext cx="3454400" cy="635000"/>
          </a:xfrm>
          <a:prstGeom prst="roundRect">
            <a:avLst/>
          </a:prstGeom>
          <a:solidFill>
            <a:srgbClr val="181D27"/>
          </a:solidFill>
          <a:ln w="12700">
            <a:solidFill>
              <a:srgbClr val="2B3140"/>
            </a:solidFill>
          </a:ln>
        </p:spPr>
        <p:txBody>
          <a:bodyPr wrap="square" lIns="127000" tIns="50800" rIns="127000" bIns="50800" anchor="ctr"/>
          <a:lstStyle/>
          <a:p>
            <a:endParaRPr/>
          </a:p>
        </p:txBody>
      </p:sp>
      <p:sp>
        <p:nvSpPr>
          <p:cNvPr id="622" name="S622"/>
          <p:cNvSpPr/>
          <p:nvPr/>
        </p:nvSpPr>
        <p:spPr>
          <a:xfrm>
            <a:off x="4114800" y="2362200"/>
            <a:ext cx="3200400" cy="279400"/>
          </a:xfrm>
          <a:prstGeom prst="rect">
            <a:avLst/>
          </a:prstGeom>
          <a:noFill/>
          <a:ln>
            <a:noFill/>
          </a:ln>
        </p:spPr>
        <p:txBody>
          <a:bodyPr wrap="square" lIns="0" tIns="50800" rIns="0" bIns="50800" anchor="ctr"/>
          <a:lstStyle/>
          <a:p>
            <a:pPr algn="l">
              <a:buNone/>
            </a:pPr>
            <a:r>
              <a:rPr lang="en-US" sz="1500" b="1" dirty="0">
                <a:solidFill>
                  <a:srgbClr val="F46800"/>
                </a:solidFill>
              </a:rPr>
              <a:t>TSDB storage</a:t>
            </a:r>
          </a:p>
        </p:txBody>
      </p:sp>
      <p:sp>
        <p:nvSpPr>
          <p:cNvPr id="623" name="S623"/>
          <p:cNvSpPr/>
          <p:nvPr/>
        </p:nvSpPr>
        <p:spPr>
          <a:xfrm>
            <a:off x="4114800" y="2616200"/>
            <a:ext cx="3200400" cy="254000"/>
          </a:xfrm>
          <a:prstGeom prst="rect">
            <a:avLst/>
          </a:prstGeom>
          <a:noFill/>
          <a:ln>
            <a:noFill/>
          </a:ln>
        </p:spPr>
        <p:txBody>
          <a:bodyPr wrap="square" lIns="0" tIns="50800" rIns="0" bIns="50800" anchor="t"/>
          <a:lstStyle/>
          <a:p>
            <a:pPr algn="l">
              <a:buNone/>
            </a:pPr>
            <a:r>
              <a:rPr lang="en-US" sz="1400" b="0" dirty="0">
                <a:solidFill>
                  <a:srgbClr val="98A2B3"/>
                </a:solidFill>
              </a:rPr>
              <a:t>local blocks + WAL on disk</a:t>
            </a:r>
          </a:p>
        </p:txBody>
      </p:sp>
      <p:sp>
        <p:nvSpPr>
          <p:cNvPr id="624" name="S624"/>
          <p:cNvSpPr/>
          <p:nvPr/>
        </p:nvSpPr>
        <p:spPr>
          <a:xfrm>
            <a:off x="3987800" y="2997200"/>
            <a:ext cx="3454400" cy="635000"/>
          </a:xfrm>
          <a:prstGeom prst="roundRect">
            <a:avLst/>
          </a:prstGeom>
          <a:solidFill>
            <a:srgbClr val="181D27"/>
          </a:solidFill>
          <a:ln w="12700">
            <a:solidFill>
              <a:srgbClr val="2B3140"/>
            </a:solidFill>
          </a:ln>
        </p:spPr>
        <p:txBody>
          <a:bodyPr wrap="square" lIns="127000" tIns="50800" rIns="127000" bIns="50800" anchor="ctr"/>
          <a:lstStyle/>
          <a:p>
            <a:endParaRPr/>
          </a:p>
        </p:txBody>
      </p:sp>
      <p:sp>
        <p:nvSpPr>
          <p:cNvPr id="625" name="S625"/>
          <p:cNvSpPr/>
          <p:nvPr/>
        </p:nvSpPr>
        <p:spPr>
          <a:xfrm>
            <a:off x="4114800" y="3073400"/>
            <a:ext cx="3200400" cy="279400"/>
          </a:xfrm>
          <a:prstGeom prst="rect">
            <a:avLst/>
          </a:prstGeom>
          <a:noFill/>
          <a:ln>
            <a:noFill/>
          </a:ln>
        </p:spPr>
        <p:txBody>
          <a:bodyPr wrap="square" lIns="0" tIns="50800" rIns="0" bIns="50800" anchor="ctr"/>
          <a:lstStyle/>
          <a:p>
            <a:pPr algn="l">
              <a:buNone/>
            </a:pPr>
            <a:r>
              <a:rPr lang="en-US" sz="1500" b="1" dirty="0">
                <a:solidFill>
                  <a:srgbClr val="F46800"/>
                </a:solidFill>
              </a:rPr>
              <a:t>Rules engine</a:t>
            </a:r>
          </a:p>
        </p:txBody>
      </p:sp>
      <p:sp>
        <p:nvSpPr>
          <p:cNvPr id="626" name="S626"/>
          <p:cNvSpPr/>
          <p:nvPr/>
        </p:nvSpPr>
        <p:spPr>
          <a:xfrm>
            <a:off x="4114800" y="3327400"/>
            <a:ext cx="3200400" cy="254000"/>
          </a:xfrm>
          <a:prstGeom prst="rect">
            <a:avLst/>
          </a:prstGeom>
          <a:noFill/>
          <a:ln>
            <a:noFill/>
          </a:ln>
        </p:spPr>
        <p:txBody>
          <a:bodyPr wrap="square" lIns="0" tIns="50800" rIns="0" bIns="50800" anchor="t"/>
          <a:lstStyle/>
          <a:p>
            <a:pPr algn="l">
              <a:buNone/>
            </a:pPr>
            <a:r>
              <a:rPr lang="en-US" sz="1400" b="0" dirty="0">
                <a:solidFill>
                  <a:srgbClr val="98A2B3"/>
                </a:solidFill>
              </a:rPr>
              <a:t>recording + alerting rules</a:t>
            </a:r>
          </a:p>
        </p:txBody>
      </p:sp>
      <p:sp>
        <p:nvSpPr>
          <p:cNvPr id="627" name="S627"/>
          <p:cNvSpPr/>
          <p:nvPr/>
        </p:nvSpPr>
        <p:spPr>
          <a:xfrm>
            <a:off x="3987800" y="3708400"/>
            <a:ext cx="3454400" cy="635000"/>
          </a:xfrm>
          <a:prstGeom prst="roundRect">
            <a:avLst/>
          </a:prstGeom>
          <a:solidFill>
            <a:srgbClr val="181D27"/>
          </a:solidFill>
          <a:ln w="12700">
            <a:solidFill>
              <a:srgbClr val="2B3140"/>
            </a:solidFill>
          </a:ln>
        </p:spPr>
        <p:txBody>
          <a:bodyPr wrap="square" lIns="127000" tIns="50800" rIns="127000" bIns="50800" anchor="ctr"/>
          <a:lstStyle/>
          <a:p>
            <a:endParaRPr/>
          </a:p>
        </p:txBody>
      </p:sp>
      <p:sp>
        <p:nvSpPr>
          <p:cNvPr id="628" name="S628"/>
          <p:cNvSpPr/>
          <p:nvPr/>
        </p:nvSpPr>
        <p:spPr>
          <a:xfrm>
            <a:off x="4114800" y="3784600"/>
            <a:ext cx="3200400" cy="279400"/>
          </a:xfrm>
          <a:prstGeom prst="rect">
            <a:avLst/>
          </a:prstGeom>
          <a:noFill/>
          <a:ln>
            <a:noFill/>
          </a:ln>
        </p:spPr>
        <p:txBody>
          <a:bodyPr wrap="square" lIns="0" tIns="50800" rIns="0" bIns="50800" anchor="ctr"/>
          <a:lstStyle/>
          <a:p>
            <a:pPr algn="l">
              <a:buNone/>
            </a:pPr>
            <a:r>
              <a:rPr lang="en-US" sz="1500" b="1" dirty="0">
                <a:solidFill>
                  <a:srgbClr val="F46800"/>
                </a:solidFill>
              </a:rPr>
              <a:t>HTTP API</a:t>
            </a:r>
          </a:p>
        </p:txBody>
      </p:sp>
      <p:sp>
        <p:nvSpPr>
          <p:cNvPr id="629" name="S629"/>
          <p:cNvSpPr/>
          <p:nvPr/>
        </p:nvSpPr>
        <p:spPr>
          <a:xfrm>
            <a:off x="4114800" y="4038600"/>
            <a:ext cx="3200400" cy="254000"/>
          </a:xfrm>
          <a:prstGeom prst="rect">
            <a:avLst/>
          </a:prstGeom>
          <a:noFill/>
          <a:ln>
            <a:noFill/>
          </a:ln>
        </p:spPr>
        <p:txBody>
          <a:bodyPr wrap="square" lIns="0" tIns="50800" rIns="0" bIns="50800" anchor="t"/>
          <a:lstStyle/>
          <a:p>
            <a:pPr algn="l">
              <a:buNone/>
            </a:pPr>
            <a:r>
              <a:rPr lang="en-US" sz="1400" b="0" dirty="0">
                <a:solidFill>
                  <a:srgbClr val="98A2B3"/>
                </a:solidFill>
              </a:rPr>
              <a:t>/api/v1/query, /query_range</a:t>
            </a:r>
          </a:p>
        </p:txBody>
      </p:sp>
      <p:sp>
        <p:nvSpPr>
          <p:cNvPr id="630" name="S630"/>
          <p:cNvSpPr/>
          <p:nvPr/>
        </p:nvSpPr>
        <p:spPr>
          <a:xfrm>
            <a:off x="8128000" y="1422400"/>
            <a:ext cx="3302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31" name="S631"/>
          <p:cNvSpPr/>
          <p:nvPr/>
        </p:nvSpPr>
        <p:spPr>
          <a:xfrm>
            <a:off x="8255000" y="1498600"/>
            <a:ext cx="3048000" cy="279400"/>
          </a:xfrm>
          <a:prstGeom prst="rect">
            <a:avLst/>
          </a:prstGeom>
          <a:noFill/>
          <a:ln>
            <a:noFill/>
          </a:ln>
        </p:spPr>
        <p:txBody>
          <a:bodyPr wrap="square" lIns="0" tIns="50800" rIns="0" bIns="50800" anchor="ctr"/>
          <a:lstStyle/>
          <a:p>
            <a:pPr algn="l">
              <a:buNone/>
            </a:pPr>
            <a:r>
              <a:rPr lang="en-US" sz="1500" b="1" dirty="0">
                <a:solidFill>
                  <a:srgbClr val="3274D9"/>
                </a:solidFill>
              </a:rPr>
              <a:t>Grafana</a:t>
            </a:r>
          </a:p>
        </p:txBody>
      </p:sp>
      <p:sp>
        <p:nvSpPr>
          <p:cNvPr id="632" name="S632"/>
          <p:cNvSpPr/>
          <p:nvPr/>
        </p:nvSpPr>
        <p:spPr>
          <a:xfrm>
            <a:off x="8255000" y="1752600"/>
            <a:ext cx="3048000" cy="304800"/>
          </a:xfrm>
          <a:prstGeom prst="rect">
            <a:avLst/>
          </a:prstGeom>
          <a:noFill/>
          <a:ln>
            <a:noFill/>
          </a:ln>
        </p:spPr>
        <p:txBody>
          <a:bodyPr wrap="square" lIns="0" tIns="50800" rIns="0" bIns="50800" anchor="t"/>
          <a:lstStyle/>
          <a:p>
            <a:pPr algn="l">
              <a:buNone/>
            </a:pPr>
            <a:r>
              <a:rPr lang="en-US" sz="1400" b="0" dirty="0">
                <a:solidFill>
                  <a:srgbClr val="98A2B3"/>
                </a:solidFill>
              </a:rPr>
              <a:t>PromQL queries per panel</a:t>
            </a:r>
          </a:p>
        </p:txBody>
      </p:sp>
      <p:sp>
        <p:nvSpPr>
          <p:cNvPr id="633" name="S633"/>
          <p:cNvSpPr/>
          <p:nvPr/>
        </p:nvSpPr>
        <p:spPr>
          <a:xfrm>
            <a:off x="8128000" y="2184400"/>
            <a:ext cx="3302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34" name="S634"/>
          <p:cNvSpPr/>
          <p:nvPr/>
        </p:nvSpPr>
        <p:spPr>
          <a:xfrm>
            <a:off x="8255000" y="2260600"/>
            <a:ext cx="3048000" cy="279400"/>
          </a:xfrm>
          <a:prstGeom prst="rect">
            <a:avLst/>
          </a:prstGeom>
          <a:noFill/>
          <a:ln>
            <a:noFill/>
          </a:ln>
        </p:spPr>
        <p:txBody>
          <a:bodyPr wrap="square" lIns="0" tIns="50800" rIns="0" bIns="50800" anchor="ctr"/>
          <a:lstStyle/>
          <a:p>
            <a:pPr algn="l">
              <a:buNone/>
            </a:pPr>
            <a:r>
              <a:rPr lang="en-US" sz="1500" b="1" dirty="0">
                <a:solidFill>
                  <a:srgbClr val="3274D9"/>
                </a:solidFill>
              </a:rPr>
              <a:t>Alertmanager</a:t>
            </a:r>
          </a:p>
        </p:txBody>
      </p:sp>
      <p:sp>
        <p:nvSpPr>
          <p:cNvPr id="635" name="S635"/>
          <p:cNvSpPr/>
          <p:nvPr/>
        </p:nvSpPr>
        <p:spPr>
          <a:xfrm>
            <a:off x="8255000" y="2514600"/>
            <a:ext cx="3048000" cy="304800"/>
          </a:xfrm>
          <a:prstGeom prst="rect">
            <a:avLst/>
          </a:prstGeom>
          <a:noFill/>
          <a:ln>
            <a:noFill/>
          </a:ln>
        </p:spPr>
        <p:txBody>
          <a:bodyPr wrap="square" lIns="0" tIns="50800" rIns="0" bIns="50800" anchor="t"/>
          <a:lstStyle/>
          <a:p>
            <a:pPr algn="l">
              <a:buNone/>
            </a:pPr>
            <a:r>
              <a:rPr lang="en-US" sz="1400" b="0" dirty="0">
                <a:solidFill>
                  <a:srgbClr val="98A2B3"/>
                </a:solidFill>
              </a:rPr>
              <a:t>routes, groups, silences</a:t>
            </a:r>
          </a:p>
        </p:txBody>
      </p:sp>
      <p:sp>
        <p:nvSpPr>
          <p:cNvPr id="636" name="S636"/>
          <p:cNvSpPr/>
          <p:nvPr/>
        </p:nvSpPr>
        <p:spPr>
          <a:xfrm>
            <a:off x="8128000" y="2946400"/>
            <a:ext cx="3302000" cy="685800"/>
          </a:xfrm>
          <a:prstGeom prst="roundRect">
            <a:avLst/>
          </a:prstGeom>
          <a:solidFill>
            <a:srgbClr val="151922"/>
          </a:solidFill>
          <a:ln w="12700">
            <a:solidFill>
              <a:srgbClr val="2B3140"/>
            </a:solidFill>
          </a:ln>
        </p:spPr>
        <p:txBody>
          <a:bodyPr wrap="square" lIns="127000" tIns="50800" rIns="127000" bIns="50800" anchor="ctr"/>
          <a:lstStyle/>
          <a:p>
            <a:endParaRPr/>
          </a:p>
        </p:txBody>
      </p:sp>
      <p:sp>
        <p:nvSpPr>
          <p:cNvPr id="637" name="S637"/>
          <p:cNvSpPr/>
          <p:nvPr/>
        </p:nvSpPr>
        <p:spPr>
          <a:xfrm>
            <a:off x="8255000" y="3022600"/>
            <a:ext cx="3048000" cy="279400"/>
          </a:xfrm>
          <a:prstGeom prst="rect">
            <a:avLst/>
          </a:prstGeom>
          <a:noFill/>
          <a:ln>
            <a:noFill/>
          </a:ln>
        </p:spPr>
        <p:txBody>
          <a:bodyPr wrap="square" lIns="0" tIns="50800" rIns="0" bIns="50800" anchor="ctr"/>
          <a:lstStyle/>
          <a:p>
            <a:pPr algn="l">
              <a:buNone/>
            </a:pPr>
            <a:r>
              <a:rPr lang="en-US" sz="1500" b="1" dirty="0">
                <a:solidFill>
                  <a:srgbClr val="3274D9"/>
                </a:solidFill>
              </a:rPr>
              <a:t>Explore / API</a:t>
            </a:r>
          </a:p>
        </p:txBody>
      </p:sp>
      <p:sp>
        <p:nvSpPr>
          <p:cNvPr id="638" name="S638"/>
          <p:cNvSpPr/>
          <p:nvPr/>
        </p:nvSpPr>
        <p:spPr>
          <a:xfrm>
            <a:off x="8255000" y="3276600"/>
            <a:ext cx="3048000" cy="304800"/>
          </a:xfrm>
          <a:prstGeom prst="rect">
            <a:avLst/>
          </a:prstGeom>
          <a:noFill/>
          <a:ln>
            <a:noFill/>
          </a:ln>
        </p:spPr>
        <p:txBody>
          <a:bodyPr wrap="square" lIns="0" tIns="50800" rIns="0" bIns="50800" anchor="t"/>
          <a:lstStyle/>
          <a:p>
            <a:pPr algn="l">
              <a:buNone/>
            </a:pPr>
            <a:r>
              <a:rPr lang="en-US" sz="1400" b="0" dirty="0">
                <a:solidFill>
                  <a:srgbClr val="98A2B3"/>
                </a:solidFill>
              </a:rPr>
              <a:t>ad-hoc queries, automation</a:t>
            </a:r>
          </a:p>
        </p:txBody>
      </p:sp>
      <p:sp>
        <p:nvSpPr>
          <p:cNvPr id="639" name="S639"/>
          <p:cNvSpPr/>
          <p:nvPr/>
        </p:nvSpPr>
        <p:spPr>
          <a:xfrm>
            <a:off x="8128000" y="3708400"/>
            <a:ext cx="3302000" cy="685800"/>
          </a:xfrm>
          <a:prstGeom prst="roundRect">
            <a:avLst/>
          </a:prstGeom>
          <a:solidFill>
            <a:srgbClr val="121722"/>
          </a:solidFill>
          <a:ln w="12700">
            <a:solidFill>
              <a:srgbClr val="2B3140"/>
            </a:solidFill>
          </a:ln>
        </p:spPr>
        <p:txBody>
          <a:bodyPr wrap="square" lIns="127000" tIns="50800" rIns="127000" bIns="50800" anchor="ctr"/>
          <a:lstStyle/>
          <a:p>
            <a:endParaRPr/>
          </a:p>
        </p:txBody>
      </p:sp>
      <p:sp>
        <p:nvSpPr>
          <p:cNvPr id="640" name="S640"/>
          <p:cNvSpPr/>
          <p:nvPr/>
        </p:nvSpPr>
        <p:spPr>
          <a:xfrm>
            <a:off x="8255000" y="3784600"/>
            <a:ext cx="3048000" cy="279400"/>
          </a:xfrm>
          <a:prstGeom prst="rect">
            <a:avLst/>
          </a:prstGeom>
          <a:noFill/>
          <a:ln>
            <a:noFill/>
          </a:ln>
        </p:spPr>
        <p:txBody>
          <a:bodyPr wrap="square" lIns="0" tIns="50800" rIns="0" bIns="50800" anchor="ctr"/>
          <a:lstStyle/>
          <a:p>
            <a:pPr algn="l">
              <a:buNone/>
            </a:pPr>
            <a:r>
              <a:rPr lang="en-US" sz="1500" b="1" dirty="0">
                <a:solidFill>
                  <a:srgbClr val="B877D9"/>
                </a:solidFill>
              </a:rPr>
              <a:t>Remote write</a:t>
            </a:r>
          </a:p>
        </p:txBody>
      </p:sp>
      <p:sp>
        <p:nvSpPr>
          <p:cNvPr id="641" name="S641"/>
          <p:cNvSpPr/>
          <p:nvPr/>
        </p:nvSpPr>
        <p:spPr>
          <a:xfrm>
            <a:off x="8255000" y="4038600"/>
            <a:ext cx="3048000" cy="330200"/>
          </a:xfrm>
          <a:prstGeom prst="rect">
            <a:avLst/>
          </a:prstGeom>
          <a:noFill/>
          <a:ln>
            <a:noFill/>
          </a:ln>
        </p:spPr>
        <p:txBody>
          <a:bodyPr wrap="square" lIns="0" tIns="50800" rIns="0" bIns="50800" anchor="t"/>
          <a:lstStyle/>
          <a:p>
            <a:pPr algn="l">
              <a:buNone/>
            </a:pPr>
            <a:r>
              <a:rPr lang="en-US" sz="1400" b="0" dirty="0">
                <a:solidFill>
                  <a:srgbClr val="98A2B3"/>
                </a:solidFill>
              </a:rPr>
              <a:t>long-term store (Mimir, Thanos)</a:t>
            </a:r>
          </a:p>
        </p:txBody>
      </p:sp>
      <p:sp>
        <p:nvSpPr>
          <p:cNvPr id="642" name="S642"/>
          <p:cNvSpPr/>
          <p:nvPr/>
        </p:nvSpPr>
        <p:spPr>
          <a:xfrm>
            <a:off x="3352800" y="2311400"/>
            <a:ext cx="406400" cy="228600"/>
          </a:xfrm>
          <a:prstGeom prst="rightArrow">
            <a:avLst/>
          </a:prstGeom>
          <a:solidFill>
            <a:srgbClr val="F46800"/>
          </a:solidFill>
          <a:ln>
            <a:noFill/>
          </a:ln>
        </p:spPr>
        <p:txBody>
          <a:bodyPr wrap="square" lIns="127000" tIns="50800" rIns="127000" bIns="50800" anchor="ctr"/>
          <a:lstStyle/>
          <a:p>
            <a:endParaRPr/>
          </a:p>
        </p:txBody>
      </p:sp>
      <p:sp>
        <p:nvSpPr>
          <p:cNvPr id="643" name="S643"/>
          <p:cNvSpPr/>
          <p:nvPr/>
        </p:nvSpPr>
        <p:spPr>
          <a:xfrm>
            <a:off x="7670800" y="2311400"/>
            <a:ext cx="406400" cy="228600"/>
          </a:xfrm>
          <a:prstGeom prst="rightArrow">
            <a:avLst/>
          </a:prstGeom>
          <a:solidFill>
            <a:srgbClr val="3274D9"/>
          </a:solidFill>
          <a:ln>
            <a:noFill/>
          </a:ln>
        </p:spPr>
        <p:txBody>
          <a:bodyPr wrap="square" lIns="127000" tIns="50800" rIns="127000" bIns="50800" anchor="ctr"/>
          <a:lstStyle/>
          <a:p>
            <a:endParaRPr/>
          </a:p>
        </p:txBody>
      </p:sp>
      <p:sp>
        <p:nvSpPr>
          <p:cNvPr id="645" name="S645"/>
          <p:cNvSpPr/>
          <p:nvPr/>
        </p:nvSpPr>
        <p:spPr>
          <a:xfrm>
            <a:off x="762000" y="4724400"/>
            <a:ext cx="10668000" cy="6604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400" b="0" dirty="0">
                <a:solidFill>
                  <a:srgbClr val="B4BECC"/>
                </a:solidFill>
              </a:rPr>
              <a:t>Prometheus pulls over HTTP every 15s by default. Nothing pushes to it (except short-lived jobs via Pushgateway), so an unreachable target is itself a signal.</a:t>
            </a:r>
          </a:p>
        </p:txBody>
      </p:sp>
      <p:sp>
        <p:nvSpPr>
          <p:cNvPr id="646" name="S646"/>
          <p:cNvSpPr/>
          <p:nvPr/>
        </p:nvSpPr>
        <p:spPr>
          <a:xfrm>
            <a:off x="762000" y="5486400"/>
            <a:ext cx="10668000" cy="7366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500" b="0" dirty="0">
                <a:solidFill>
                  <a:srgbClr val="D6DBE4"/>
                </a:solidFill>
              </a:rPr>
              <a:t>In Grafana this whole box is one data source entry: the server URL plus auth. Everything else is query-time.</a:t>
            </a:r>
          </a:p>
        </p:txBody>
      </p:sp>
    </p:spTree>
    <p:extLst>
      <p:ext uri="{BB962C8B-B14F-4D97-AF65-F5344CB8AC3E}">
        <p14:creationId xmlns:p14="http://schemas.microsoft.com/office/powerpoint/2010/main" val="4141470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72BA-2E78-2D84-04C6-113DB5906F64}"/>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Metrics Collection and the Data Model</a:t>
            </a:r>
          </a:p>
        </p:txBody>
      </p:sp>
      <p:sp>
        <p:nvSpPr>
          <p:cNvPr id="621" name="S621"/>
          <p:cNvSpPr/>
          <p:nvPr/>
        </p:nvSpPr>
        <p:spPr>
          <a:xfrm>
            <a:off x="762000" y="914400"/>
            <a:ext cx="1524000" cy="50800"/>
          </a:xfrm>
          <a:prstGeom prst="rect">
            <a:avLst/>
          </a:prstGeom>
          <a:solidFill>
            <a:srgbClr val="F46800"/>
          </a:solidFill>
          <a:ln>
            <a:noFill/>
          </a:ln>
        </p:spPr>
        <p:txBody>
          <a:bodyPr wrap="square" lIns="127000" tIns="50800" rIns="127000" bIns="50800" anchor="ctr"/>
          <a:lstStyle/>
          <a:p>
            <a:endParaRPr/>
          </a:p>
        </p:txBody>
      </p:sp>
      <p:sp>
        <p:nvSpPr>
          <p:cNvPr id="622" name="S622"/>
          <p:cNvSpPr/>
          <p:nvPr/>
        </p:nvSpPr>
        <p:spPr>
          <a:xfrm>
            <a:off x="762000" y="1066800"/>
            <a:ext cx="10668000" cy="304800"/>
          </a:xfrm>
          <a:prstGeom prst="rect">
            <a:avLst/>
          </a:prstGeom>
          <a:noFill/>
          <a:ln>
            <a:noFill/>
          </a:ln>
        </p:spPr>
        <p:txBody>
          <a:bodyPr wrap="square" lIns="0" tIns="50800" rIns="0" bIns="50800" anchor="ctr"/>
          <a:lstStyle/>
          <a:p>
            <a:pPr algn="l">
              <a:buNone/>
            </a:pPr>
            <a:r>
              <a:rPr lang="en-US" sz="1500" b="0" dirty="0">
                <a:solidFill>
                  <a:srgbClr val="98A2B3"/>
                </a:solidFill>
              </a:rPr>
              <a:t>Every sample Prometheus stores looks like this</a:t>
            </a:r>
          </a:p>
        </p:txBody>
      </p:sp>
      <p:sp>
        <p:nvSpPr>
          <p:cNvPr id="623" name="S623"/>
          <p:cNvSpPr/>
          <p:nvPr/>
        </p:nvSpPr>
        <p:spPr>
          <a:xfrm>
            <a:off x="762000" y="1422400"/>
            <a:ext cx="10668000" cy="736600"/>
          </a:xfrm>
          <a:prstGeom prst="roundRect">
            <a:avLst/>
          </a:prstGeom>
          <a:solidFill>
            <a:srgbClr val="0C1016"/>
          </a:solidFill>
          <a:ln w="12700">
            <a:solidFill>
              <a:srgbClr val="263042"/>
            </a:solidFill>
          </a:ln>
        </p:spPr>
        <p:txBody>
          <a:bodyPr wrap="square" lIns="127000" tIns="50800" rIns="127000" bIns="50800" anchor="ctr"/>
          <a:lstStyle/>
          <a:p>
            <a:endParaRPr/>
          </a:p>
        </p:txBody>
      </p:sp>
      <p:sp>
        <p:nvSpPr>
          <p:cNvPr id="624" name="S624"/>
          <p:cNvSpPr/>
          <p:nvPr/>
        </p:nvSpPr>
        <p:spPr>
          <a:xfrm>
            <a:off x="939800" y="1574800"/>
            <a:ext cx="2794000" cy="431800"/>
          </a:xfrm>
          <a:prstGeom prst="rect">
            <a:avLst/>
          </a:prstGeom>
          <a:noFill/>
          <a:ln>
            <a:noFill/>
          </a:ln>
        </p:spPr>
        <p:txBody>
          <a:bodyPr wrap="square" lIns="0" tIns="50800" rIns="0" bIns="50800" anchor="ctr"/>
          <a:lstStyle/>
          <a:p>
            <a:pPr>
              <a:buNone/>
            </a:pPr>
            <a:r>
              <a:rPr lang="en-US" sz="1600" dirty="0">
                <a:latin typeface="Consolas"/>
              </a:rPr>
              <a:t>http_requests_total</a:t>
            </a:r>
          </a:p>
        </p:txBody>
      </p:sp>
      <p:sp>
        <p:nvSpPr>
          <p:cNvPr id="625" name="S625"/>
          <p:cNvSpPr/>
          <p:nvPr/>
        </p:nvSpPr>
        <p:spPr>
          <a:xfrm>
            <a:off x="3708400" y="1574800"/>
            <a:ext cx="4064000" cy="431800"/>
          </a:xfrm>
          <a:prstGeom prst="rect">
            <a:avLst/>
          </a:prstGeom>
          <a:noFill/>
          <a:ln>
            <a:noFill/>
          </a:ln>
        </p:spPr>
        <p:txBody>
          <a:bodyPr wrap="square" lIns="0" tIns="50800" rIns="0" bIns="50800" anchor="ctr"/>
          <a:lstStyle/>
          <a:p>
            <a:pPr>
              <a:buNone/>
            </a:pPr>
            <a:r>
              <a:rPr lang="en-US" sz="1600" dirty="0">
                <a:latin typeface="Consolas"/>
              </a:rPr>
              <a:t>{job="api", status="200"}</a:t>
            </a:r>
          </a:p>
        </p:txBody>
      </p:sp>
      <p:sp>
        <p:nvSpPr>
          <p:cNvPr id="626" name="S626"/>
          <p:cNvSpPr/>
          <p:nvPr/>
        </p:nvSpPr>
        <p:spPr>
          <a:xfrm>
            <a:off x="7797800" y="1574800"/>
            <a:ext cx="1524000" cy="431800"/>
          </a:xfrm>
          <a:prstGeom prst="rect">
            <a:avLst/>
          </a:prstGeom>
          <a:noFill/>
          <a:ln>
            <a:noFill/>
          </a:ln>
        </p:spPr>
        <p:txBody>
          <a:bodyPr wrap="square" lIns="0" tIns="50800" rIns="0" bIns="50800" anchor="ctr"/>
          <a:lstStyle/>
          <a:p>
            <a:pPr>
              <a:buNone/>
            </a:pPr>
            <a:r>
              <a:rPr lang="en-US" sz="1600" dirty="0">
                <a:latin typeface="Consolas"/>
              </a:rPr>
              <a:t>1027</a:t>
            </a:r>
          </a:p>
        </p:txBody>
      </p:sp>
      <p:sp>
        <p:nvSpPr>
          <p:cNvPr id="627" name="S627"/>
          <p:cNvSpPr/>
          <p:nvPr/>
        </p:nvSpPr>
        <p:spPr>
          <a:xfrm>
            <a:off x="9347200" y="1574800"/>
            <a:ext cx="1905000" cy="431800"/>
          </a:xfrm>
          <a:prstGeom prst="rect">
            <a:avLst/>
          </a:prstGeom>
          <a:noFill/>
          <a:ln>
            <a:noFill/>
          </a:ln>
        </p:spPr>
        <p:txBody>
          <a:bodyPr wrap="square" lIns="0" tIns="50800" rIns="0" bIns="50800" anchor="ctr"/>
          <a:lstStyle/>
          <a:p>
            <a:pPr>
              <a:buNone/>
            </a:pPr>
            <a:r>
              <a:rPr lang="en-US" sz="1600" dirty="0">
                <a:latin typeface="Consolas"/>
              </a:rPr>
              <a:t>@ 1699452000</a:t>
            </a:r>
          </a:p>
        </p:txBody>
      </p:sp>
      <p:sp>
        <p:nvSpPr>
          <p:cNvPr id="628" name="S628"/>
          <p:cNvSpPr/>
          <p:nvPr/>
        </p:nvSpPr>
        <p:spPr>
          <a:xfrm>
            <a:off x="939800" y="2209800"/>
            <a:ext cx="2794000" cy="254000"/>
          </a:xfrm>
          <a:prstGeom prst="rect">
            <a:avLst/>
          </a:prstGeom>
          <a:noFill/>
          <a:ln>
            <a:noFill/>
          </a:ln>
        </p:spPr>
        <p:txBody>
          <a:bodyPr wrap="square" lIns="0" tIns="50800" rIns="0" bIns="50800" anchor="ctr"/>
          <a:lstStyle/>
          <a:p>
            <a:pPr algn="l">
              <a:buNone/>
            </a:pPr>
            <a:r>
              <a:rPr lang="en-US" sz="1400" b="0" dirty="0">
                <a:solidFill>
                  <a:srgbClr val="FF9830"/>
                </a:solidFill>
              </a:rPr>
              <a:t>metric name</a:t>
            </a:r>
          </a:p>
        </p:txBody>
      </p:sp>
      <p:sp>
        <p:nvSpPr>
          <p:cNvPr id="629" name="S629"/>
          <p:cNvSpPr/>
          <p:nvPr/>
        </p:nvSpPr>
        <p:spPr>
          <a:xfrm>
            <a:off x="3886200" y="2209800"/>
            <a:ext cx="4064000" cy="254000"/>
          </a:xfrm>
          <a:prstGeom prst="rect">
            <a:avLst/>
          </a:prstGeom>
          <a:noFill/>
          <a:ln>
            <a:noFill/>
          </a:ln>
        </p:spPr>
        <p:txBody>
          <a:bodyPr wrap="square" lIns="0" tIns="50800" rIns="0" bIns="50800" anchor="ctr"/>
          <a:lstStyle/>
          <a:p>
            <a:pPr algn="l">
              <a:buNone/>
            </a:pPr>
            <a:r>
              <a:rPr lang="en-US" sz="1400" b="0" dirty="0">
                <a:solidFill>
                  <a:srgbClr val="8CE99A"/>
                </a:solidFill>
              </a:rPr>
              <a:t>labels (dimensions)</a:t>
            </a:r>
          </a:p>
        </p:txBody>
      </p:sp>
      <p:sp>
        <p:nvSpPr>
          <p:cNvPr id="630" name="S630"/>
          <p:cNvSpPr/>
          <p:nvPr/>
        </p:nvSpPr>
        <p:spPr>
          <a:xfrm>
            <a:off x="7975600" y="2209800"/>
            <a:ext cx="1524000" cy="254000"/>
          </a:xfrm>
          <a:prstGeom prst="rect">
            <a:avLst/>
          </a:prstGeom>
          <a:noFill/>
          <a:ln>
            <a:noFill/>
          </a:ln>
        </p:spPr>
        <p:txBody>
          <a:bodyPr wrap="square" lIns="0" tIns="50800" rIns="0" bIns="50800" anchor="ctr"/>
          <a:lstStyle/>
          <a:p>
            <a:pPr algn="l">
              <a:buNone/>
            </a:pPr>
            <a:r>
              <a:rPr lang="en-US" sz="1400" b="0" dirty="0">
                <a:solidFill>
                  <a:srgbClr val="62B0FF"/>
                </a:solidFill>
              </a:rPr>
              <a:t>value</a:t>
            </a:r>
          </a:p>
        </p:txBody>
      </p:sp>
      <p:sp>
        <p:nvSpPr>
          <p:cNvPr id="631" name="S631"/>
          <p:cNvSpPr/>
          <p:nvPr/>
        </p:nvSpPr>
        <p:spPr>
          <a:xfrm>
            <a:off x="9525000" y="2209800"/>
            <a:ext cx="1905000" cy="254000"/>
          </a:xfrm>
          <a:prstGeom prst="rect">
            <a:avLst/>
          </a:prstGeom>
          <a:noFill/>
          <a:ln>
            <a:noFill/>
          </a:ln>
        </p:spPr>
        <p:txBody>
          <a:bodyPr wrap="square" lIns="0" tIns="50800" rIns="0" bIns="50800" anchor="ctr"/>
          <a:lstStyle/>
          <a:p>
            <a:pPr algn="l">
              <a:buNone/>
            </a:pPr>
            <a:r>
              <a:rPr lang="en-US" sz="1400" b="0" dirty="0">
                <a:solidFill>
                  <a:srgbClr val="B877D9"/>
                </a:solidFill>
              </a:rPr>
              <a:t>timestamp</a:t>
            </a:r>
          </a:p>
        </p:txBody>
      </p:sp>
      <p:sp>
        <p:nvSpPr>
          <p:cNvPr id="632" name="S632"/>
          <p:cNvSpPr/>
          <p:nvPr/>
        </p:nvSpPr>
        <p:spPr>
          <a:xfrm>
            <a:off x="762000" y="2590800"/>
            <a:ext cx="3810000" cy="330200"/>
          </a:xfrm>
          <a:prstGeom prst="rect">
            <a:avLst/>
          </a:prstGeom>
          <a:noFill/>
          <a:ln>
            <a:noFill/>
          </a:ln>
        </p:spPr>
        <p:txBody>
          <a:bodyPr wrap="square" lIns="0" tIns="50800" rIns="0" bIns="50800" anchor="ctr"/>
          <a:lstStyle/>
          <a:p>
            <a:pPr algn="l">
              <a:buNone/>
            </a:pPr>
            <a:r>
              <a:rPr lang="en-US" sz="1900" b="1" dirty="0">
                <a:solidFill>
                  <a:srgbClr val="FFFFFF"/>
                </a:solidFill>
              </a:rPr>
              <a:t>The four metric types</a:t>
            </a:r>
          </a:p>
        </p:txBody>
      </p:sp>
      <p:sp>
        <p:nvSpPr>
          <p:cNvPr id="633" name="S633"/>
          <p:cNvSpPr/>
          <p:nvPr/>
        </p:nvSpPr>
        <p:spPr>
          <a:xfrm>
            <a:off x="762000" y="2997200"/>
            <a:ext cx="2540000" cy="1930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34" name="S634"/>
          <p:cNvSpPr/>
          <p:nvPr/>
        </p:nvSpPr>
        <p:spPr>
          <a:xfrm>
            <a:off x="762000" y="2997200"/>
            <a:ext cx="2540000" cy="50800"/>
          </a:xfrm>
          <a:prstGeom prst="rect">
            <a:avLst/>
          </a:prstGeom>
          <a:solidFill>
            <a:srgbClr val="F46800"/>
          </a:solidFill>
          <a:ln>
            <a:noFill/>
          </a:ln>
        </p:spPr>
        <p:txBody>
          <a:bodyPr wrap="square" lIns="127000" tIns="50800" rIns="127000" bIns="50800" anchor="ctr"/>
          <a:lstStyle/>
          <a:p>
            <a:endParaRPr/>
          </a:p>
        </p:txBody>
      </p:sp>
      <p:sp>
        <p:nvSpPr>
          <p:cNvPr id="635" name="S635"/>
          <p:cNvSpPr/>
          <p:nvPr/>
        </p:nvSpPr>
        <p:spPr>
          <a:xfrm>
            <a:off x="914400" y="3124200"/>
            <a:ext cx="2235200" cy="330200"/>
          </a:xfrm>
          <a:prstGeom prst="rect">
            <a:avLst/>
          </a:prstGeom>
          <a:noFill/>
          <a:ln>
            <a:noFill/>
          </a:ln>
        </p:spPr>
        <p:txBody>
          <a:bodyPr wrap="square" lIns="0" tIns="50800" rIns="0" bIns="50800" anchor="ctr"/>
          <a:lstStyle/>
          <a:p>
            <a:pPr algn="l">
              <a:buNone/>
            </a:pPr>
            <a:r>
              <a:rPr lang="en-US" sz="1700" b="1" dirty="0">
                <a:solidFill>
                  <a:srgbClr val="F46800"/>
                </a:solidFill>
              </a:rPr>
              <a:t>Counter</a:t>
            </a:r>
          </a:p>
        </p:txBody>
      </p:sp>
      <p:sp>
        <p:nvSpPr>
          <p:cNvPr id="636" name="S636"/>
          <p:cNvSpPr/>
          <p:nvPr/>
        </p:nvSpPr>
        <p:spPr>
          <a:xfrm>
            <a:off x="914400" y="3454400"/>
            <a:ext cx="2235200" cy="812800"/>
          </a:xfrm>
          <a:prstGeom prst="rect">
            <a:avLst/>
          </a:prstGeom>
          <a:noFill/>
          <a:ln>
            <a:noFill/>
          </a:ln>
        </p:spPr>
        <p:txBody>
          <a:bodyPr wrap="square" lIns="0" tIns="50800" rIns="0" bIns="50800" anchor="t"/>
          <a:lstStyle/>
          <a:p>
            <a:pPr algn="l">
              <a:buNone/>
            </a:pPr>
            <a:r>
              <a:rPr lang="en-US" sz="1400" b="0" dirty="0">
                <a:solidFill>
                  <a:srgbClr val="A9B2C1"/>
                </a:solidFill>
              </a:rPr>
              <a:t>Only ever increases, resets to 0 on restart. Always wrap it in rate().</a:t>
            </a:r>
          </a:p>
        </p:txBody>
      </p:sp>
      <p:sp>
        <p:nvSpPr>
          <p:cNvPr id="637" name="S637"/>
          <p:cNvSpPr/>
          <p:nvPr/>
        </p:nvSpPr>
        <p:spPr>
          <a:xfrm>
            <a:off x="914400" y="4292600"/>
            <a:ext cx="2235200" cy="533400"/>
          </a:xfrm>
          <a:prstGeom prst="roundRect">
            <a:avLst/>
          </a:prstGeom>
          <a:solidFill>
            <a:srgbClr val="0C1016"/>
          </a:solidFill>
          <a:ln w="12700">
            <a:solidFill>
              <a:srgbClr val="263042"/>
            </a:solidFill>
          </a:ln>
        </p:spPr>
        <p:txBody>
          <a:bodyPr wrap="square" lIns="101600" tIns="50800" rIns="101600" bIns="50800" anchor="ctr"/>
          <a:lstStyle/>
          <a:p>
            <a:pPr>
              <a:buNone/>
            </a:pPr>
            <a:r>
              <a:rPr lang="en-US" sz="1400" dirty="0">
                <a:latin typeface="Consolas"/>
              </a:rPr>
              <a:t>rate(http_requests_total[5m])</a:t>
            </a:r>
          </a:p>
        </p:txBody>
      </p:sp>
      <p:sp>
        <p:nvSpPr>
          <p:cNvPr id="638" name="S638"/>
          <p:cNvSpPr/>
          <p:nvPr/>
        </p:nvSpPr>
        <p:spPr>
          <a:xfrm>
            <a:off x="3467100" y="2997200"/>
            <a:ext cx="2540000" cy="1930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39" name="S639"/>
          <p:cNvSpPr/>
          <p:nvPr/>
        </p:nvSpPr>
        <p:spPr>
          <a:xfrm>
            <a:off x="3467100" y="2997200"/>
            <a:ext cx="2540000" cy="50800"/>
          </a:xfrm>
          <a:prstGeom prst="rect">
            <a:avLst/>
          </a:prstGeom>
          <a:solidFill>
            <a:srgbClr val="3274D9"/>
          </a:solidFill>
          <a:ln>
            <a:noFill/>
          </a:ln>
        </p:spPr>
        <p:txBody>
          <a:bodyPr wrap="square" lIns="127000" tIns="50800" rIns="127000" bIns="50800" anchor="ctr"/>
          <a:lstStyle/>
          <a:p>
            <a:endParaRPr/>
          </a:p>
        </p:txBody>
      </p:sp>
      <p:sp>
        <p:nvSpPr>
          <p:cNvPr id="640" name="S640"/>
          <p:cNvSpPr/>
          <p:nvPr/>
        </p:nvSpPr>
        <p:spPr>
          <a:xfrm>
            <a:off x="3619500" y="3124200"/>
            <a:ext cx="2235200" cy="330200"/>
          </a:xfrm>
          <a:prstGeom prst="rect">
            <a:avLst/>
          </a:prstGeom>
          <a:noFill/>
          <a:ln>
            <a:noFill/>
          </a:ln>
        </p:spPr>
        <p:txBody>
          <a:bodyPr wrap="square" lIns="0" tIns="50800" rIns="0" bIns="50800" anchor="ctr"/>
          <a:lstStyle/>
          <a:p>
            <a:pPr algn="l">
              <a:buNone/>
            </a:pPr>
            <a:r>
              <a:rPr lang="en-US" sz="1700" b="1" dirty="0">
                <a:solidFill>
                  <a:srgbClr val="3274D9"/>
                </a:solidFill>
              </a:rPr>
              <a:t>Gauge</a:t>
            </a:r>
          </a:p>
        </p:txBody>
      </p:sp>
      <p:sp>
        <p:nvSpPr>
          <p:cNvPr id="641" name="S641"/>
          <p:cNvSpPr/>
          <p:nvPr/>
        </p:nvSpPr>
        <p:spPr>
          <a:xfrm>
            <a:off x="3619500" y="3454400"/>
            <a:ext cx="2235200" cy="812800"/>
          </a:xfrm>
          <a:prstGeom prst="rect">
            <a:avLst/>
          </a:prstGeom>
          <a:noFill/>
          <a:ln>
            <a:noFill/>
          </a:ln>
        </p:spPr>
        <p:txBody>
          <a:bodyPr wrap="square" lIns="0" tIns="50800" rIns="0" bIns="50800" anchor="t"/>
          <a:lstStyle/>
          <a:p>
            <a:pPr algn="l">
              <a:buNone/>
            </a:pPr>
            <a:r>
              <a:rPr lang="en-US" sz="1400" b="0" dirty="0">
                <a:solidFill>
                  <a:srgbClr val="A9B2C1"/>
                </a:solidFill>
              </a:rPr>
              <a:t>Goes up and down. Read the current value directly.</a:t>
            </a:r>
          </a:p>
        </p:txBody>
      </p:sp>
      <p:sp>
        <p:nvSpPr>
          <p:cNvPr id="642" name="S642"/>
          <p:cNvSpPr/>
          <p:nvPr/>
        </p:nvSpPr>
        <p:spPr>
          <a:xfrm>
            <a:off x="3619500" y="4292600"/>
            <a:ext cx="2235200" cy="533400"/>
          </a:xfrm>
          <a:prstGeom prst="roundRect">
            <a:avLst/>
          </a:prstGeom>
          <a:solidFill>
            <a:srgbClr val="0C1016"/>
          </a:solidFill>
          <a:ln w="12700">
            <a:solidFill>
              <a:srgbClr val="263042"/>
            </a:solidFill>
          </a:ln>
        </p:spPr>
        <p:txBody>
          <a:bodyPr wrap="square" lIns="101600" tIns="50800" rIns="101600" bIns="50800" anchor="ctr"/>
          <a:lstStyle/>
          <a:p>
            <a:pPr>
              <a:buNone/>
            </a:pPr>
            <a:r>
              <a:rPr lang="en-US" sz="1400" dirty="0">
                <a:latin typeface="Consolas"/>
              </a:rPr>
              <a:t>node_memory_Available_bytes</a:t>
            </a:r>
          </a:p>
        </p:txBody>
      </p:sp>
      <p:sp>
        <p:nvSpPr>
          <p:cNvPr id="643" name="S643"/>
          <p:cNvSpPr/>
          <p:nvPr/>
        </p:nvSpPr>
        <p:spPr>
          <a:xfrm>
            <a:off x="6172200" y="2997200"/>
            <a:ext cx="2540000" cy="1930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44" name="S644"/>
          <p:cNvSpPr/>
          <p:nvPr/>
        </p:nvSpPr>
        <p:spPr>
          <a:xfrm>
            <a:off x="6172200" y="2997200"/>
            <a:ext cx="2540000" cy="50800"/>
          </a:xfrm>
          <a:prstGeom prst="rect">
            <a:avLst/>
          </a:prstGeom>
          <a:solidFill>
            <a:srgbClr val="B877D9"/>
          </a:solidFill>
          <a:ln>
            <a:noFill/>
          </a:ln>
        </p:spPr>
        <p:txBody>
          <a:bodyPr wrap="square" lIns="127000" tIns="50800" rIns="127000" bIns="50800" anchor="ctr"/>
          <a:lstStyle/>
          <a:p>
            <a:endParaRPr/>
          </a:p>
        </p:txBody>
      </p:sp>
      <p:sp>
        <p:nvSpPr>
          <p:cNvPr id="645" name="S645"/>
          <p:cNvSpPr/>
          <p:nvPr/>
        </p:nvSpPr>
        <p:spPr>
          <a:xfrm>
            <a:off x="6324600" y="3124200"/>
            <a:ext cx="2235200" cy="330200"/>
          </a:xfrm>
          <a:prstGeom prst="rect">
            <a:avLst/>
          </a:prstGeom>
          <a:noFill/>
          <a:ln>
            <a:noFill/>
          </a:ln>
        </p:spPr>
        <p:txBody>
          <a:bodyPr wrap="square" lIns="0" tIns="50800" rIns="0" bIns="50800" anchor="ctr"/>
          <a:lstStyle/>
          <a:p>
            <a:pPr algn="l">
              <a:buNone/>
            </a:pPr>
            <a:r>
              <a:rPr lang="en-US" sz="1700" b="1" dirty="0">
                <a:solidFill>
                  <a:srgbClr val="B877D9"/>
                </a:solidFill>
              </a:rPr>
              <a:t>Histogram</a:t>
            </a:r>
          </a:p>
        </p:txBody>
      </p:sp>
      <p:sp>
        <p:nvSpPr>
          <p:cNvPr id="646" name="S646"/>
          <p:cNvSpPr/>
          <p:nvPr/>
        </p:nvSpPr>
        <p:spPr>
          <a:xfrm>
            <a:off x="6324600" y="3454400"/>
            <a:ext cx="2235200" cy="812800"/>
          </a:xfrm>
          <a:prstGeom prst="rect">
            <a:avLst/>
          </a:prstGeom>
          <a:noFill/>
          <a:ln>
            <a:noFill/>
          </a:ln>
        </p:spPr>
        <p:txBody>
          <a:bodyPr wrap="square" lIns="0" tIns="50800" rIns="0" bIns="50800" anchor="t"/>
          <a:lstStyle/>
          <a:p>
            <a:pPr algn="l">
              <a:buNone/>
            </a:pPr>
            <a:r>
              <a:rPr lang="en-US" sz="1400" b="0" dirty="0">
                <a:solidFill>
                  <a:srgbClr val="A9B2C1"/>
                </a:solidFill>
              </a:rPr>
              <a:t>Pre-bucketed observations plus _sum and _count.</a:t>
            </a:r>
          </a:p>
        </p:txBody>
      </p:sp>
      <p:sp>
        <p:nvSpPr>
          <p:cNvPr id="647" name="S647"/>
          <p:cNvSpPr/>
          <p:nvPr/>
        </p:nvSpPr>
        <p:spPr>
          <a:xfrm>
            <a:off x="6324600" y="4292600"/>
            <a:ext cx="2235200" cy="533400"/>
          </a:xfrm>
          <a:prstGeom prst="roundRect">
            <a:avLst/>
          </a:prstGeom>
          <a:solidFill>
            <a:srgbClr val="0C1016"/>
          </a:solidFill>
          <a:ln w="12700">
            <a:solidFill>
              <a:srgbClr val="263042"/>
            </a:solidFill>
          </a:ln>
        </p:spPr>
        <p:txBody>
          <a:bodyPr wrap="square" lIns="101600" tIns="50800" rIns="101600" bIns="50800" anchor="ctr"/>
          <a:lstStyle/>
          <a:p>
            <a:pPr>
              <a:buNone/>
            </a:pPr>
            <a:r>
              <a:rPr lang="en-US" sz="1400" dirty="0">
                <a:latin typeface="Consolas"/>
              </a:rPr>
              <a:t>histogram_quantile(0.95, ...)</a:t>
            </a:r>
          </a:p>
        </p:txBody>
      </p:sp>
      <p:sp>
        <p:nvSpPr>
          <p:cNvPr id="648" name="S648"/>
          <p:cNvSpPr/>
          <p:nvPr/>
        </p:nvSpPr>
        <p:spPr>
          <a:xfrm>
            <a:off x="8877300" y="2997200"/>
            <a:ext cx="2540000" cy="1930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49" name="S649"/>
          <p:cNvSpPr/>
          <p:nvPr/>
        </p:nvSpPr>
        <p:spPr>
          <a:xfrm>
            <a:off x="8877300" y="2997200"/>
            <a:ext cx="2540000" cy="50800"/>
          </a:xfrm>
          <a:prstGeom prst="rect">
            <a:avLst/>
          </a:prstGeom>
          <a:solidFill>
            <a:srgbClr val="56A64B"/>
          </a:solidFill>
          <a:ln>
            <a:noFill/>
          </a:ln>
        </p:spPr>
        <p:txBody>
          <a:bodyPr wrap="square" lIns="127000" tIns="50800" rIns="127000" bIns="50800" anchor="ctr"/>
          <a:lstStyle/>
          <a:p>
            <a:endParaRPr/>
          </a:p>
        </p:txBody>
      </p:sp>
      <p:sp>
        <p:nvSpPr>
          <p:cNvPr id="650" name="S650"/>
          <p:cNvSpPr/>
          <p:nvPr/>
        </p:nvSpPr>
        <p:spPr>
          <a:xfrm>
            <a:off x="9029700" y="3124200"/>
            <a:ext cx="2235200" cy="330200"/>
          </a:xfrm>
          <a:prstGeom prst="rect">
            <a:avLst/>
          </a:prstGeom>
          <a:noFill/>
          <a:ln>
            <a:noFill/>
          </a:ln>
        </p:spPr>
        <p:txBody>
          <a:bodyPr wrap="square" lIns="0" tIns="50800" rIns="0" bIns="50800" anchor="ctr"/>
          <a:lstStyle/>
          <a:p>
            <a:pPr algn="l">
              <a:buNone/>
            </a:pPr>
            <a:r>
              <a:rPr lang="en-US" sz="1700" b="1" dirty="0">
                <a:solidFill>
                  <a:srgbClr val="56A64B"/>
                </a:solidFill>
              </a:rPr>
              <a:t>Summary</a:t>
            </a:r>
          </a:p>
        </p:txBody>
      </p:sp>
      <p:sp>
        <p:nvSpPr>
          <p:cNvPr id="651" name="S651"/>
          <p:cNvSpPr/>
          <p:nvPr/>
        </p:nvSpPr>
        <p:spPr>
          <a:xfrm>
            <a:off x="9029700" y="3454400"/>
            <a:ext cx="2235200" cy="812800"/>
          </a:xfrm>
          <a:prstGeom prst="rect">
            <a:avLst/>
          </a:prstGeom>
          <a:noFill/>
          <a:ln>
            <a:noFill/>
          </a:ln>
        </p:spPr>
        <p:txBody>
          <a:bodyPr wrap="square" lIns="0" tIns="50800" rIns="0" bIns="50800" anchor="t"/>
          <a:lstStyle/>
          <a:p>
            <a:pPr algn="l">
              <a:buNone/>
            </a:pPr>
            <a:r>
              <a:rPr lang="en-US" sz="1400" b="0" dirty="0">
                <a:solidFill>
                  <a:srgbClr val="A9B2C1"/>
                </a:solidFill>
              </a:rPr>
              <a:t>Quantiles computed client-side. Cannot be re-aggregated.</a:t>
            </a:r>
          </a:p>
        </p:txBody>
      </p:sp>
      <p:sp>
        <p:nvSpPr>
          <p:cNvPr id="652" name="S652"/>
          <p:cNvSpPr/>
          <p:nvPr/>
        </p:nvSpPr>
        <p:spPr>
          <a:xfrm>
            <a:off x="9029700" y="4292600"/>
            <a:ext cx="2235200" cy="533400"/>
          </a:xfrm>
          <a:prstGeom prst="roundRect">
            <a:avLst/>
          </a:prstGeom>
          <a:solidFill>
            <a:srgbClr val="0C1016"/>
          </a:solidFill>
          <a:ln w="12700">
            <a:solidFill>
              <a:srgbClr val="263042"/>
            </a:solidFill>
          </a:ln>
        </p:spPr>
        <p:txBody>
          <a:bodyPr wrap="square" lIns="101600" tIns="50800" rIns="101600" bIns="50800" anchor="ctr"/>
          <a:lstStyle/>
          <a:p>
            <a:pPr>
              <a:buNone/>
            </a:pPr>
            <a:r>
              <a:rPr lang="en-US" sz="1400" dirty="0">
                <a:latin typeface="Consolas"/>
              </a:rPr>
              <a:t>rpc_duration_seconds{quantile="0.9"}</a:t>
            </a:r>
          </a:p>
        </p:txBody>
      </p:sp>
      <p:sp>
        <p:nvSpPr>
          <p:cNvPr id="653" name="S653"/>
          <p:cNvSpPr/>
          <p:nvPr/>
        </p:nvSpPr>
        <p:spPr>
          <a:xfrm>
            <a:off x="762000" y="5105400"/>
            <a:ext cx="10668000" cy="558800"/>
          </a:xfrm>
          <a:prstGeom prst="roundRect">
            <a:avLst/>
          </a:prstGeom>
          <a:solidFill>
            <a:srgbClr val="1C1408"/>
          </a:solidFill>
          <a:ln w="12700">
            <a:solidFill>
              <a:srgbClr val="5A3A10"/>
            </a:solidFill>
          </a:ln>
        </p:spPr>
        <p:txBody>
          <a:bodyPr wrap="square" lIns="177800" tIns="50800" rIns="177800" bIns="50800" anchor="ctr"/>
          <a:lstStyle/>
          <a:p>
            <a:pPr algn="l">
              <a:buNone/>
            </a:pPr>
            <a:r>
              <a:rPr lang="en-US" sz="1500" b="0" dirty="0">
                <a:solidFill>
                  <a:srgbClr val="FFC078"/>
                </a:solidFill>
              </a:rPr>
              <a:t>Cardinality is the number one operational risk: every unique label combination is a separate time series.</a:t>
            </a:r>
          </a:p>
        </p:txBody>
      </p:sp>
      <p:sp>
        <p:nvSpPr>
          <p:cNvPr id="654" name="S654"/>
          <p:cNvSpPr/>
          <p:nvPr/>
        </p:nvSpPr>
        <p:spPr>
          <a:xfrm>
            <a:off x="762000" y="5765800"/>
            <a:ext cx="10668000" cy="5588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400" b="0" dirty="0">
                <a:solidFill>
                  <a:srgbClr val="B4BECC"/>
                </a:solidFill>
              </a:rPr>
              <a:t>Never put user IDs, email addresses, URLs with IDs, or timestamps into labels. Keep labels to a bounded, known set of values.</a:t>
            </a:r>
          </a:p>
        </p:txBody>
      </p:sp>
    </p:spTree>
    <p:extLst>
      <p:ext uri="{BB962C8B-B14F-4D97-AF65-F5344CB8AC3E}">
        <p14:creationId xmlns:p14="http://schemas.microsoft.com/office/powerpoint/2010/main" val="1535079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AA16D-F1A7-A2CD-6550-45738B249323}"/>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Targets and Scraping</a:t>
            </a:r>
          </a:p>
        </p:txBody>
      </p:sp>
      <p:sp>
        <p:nvSpPr>
          <p:cNvPr id="651" name="S651"/>
          <p:cNvSpPr/>
          <p:nvPr/>
        </p:nvSpPr>
        <p:spPr>
          <a:xfrm>
            <a:off x="762000" y="914400"/>
            <a:ext cx="1524000" cy="50800"/>
          </a:xfrm>
          <a:prstGeom prst="rect">
            <a:avLst/>
          </a:prstGeom>
          <a:solidFill>
            <a:srgbClr val="F46800"/>
          </a:solidFill>
          <a:ln>
            <a:noFill/>
          </a:ln>
        </p:spPr>
        <p:txBody>
          <a:bodyPr wrap="square" lIns="127000" tIns="50800" rIns="127000" bIns="50800" anchor="ctr"/>
          <a:lstStyle/>
          <a:p>
            <a:endParaRPr/>
          </a:p>
        </p:txBody>
      </p:sp>
      <p:sp>
        <p:nvSpPr>
          <p:cNvPr id="652" name="S652"/>
          <p:cNvSpPr/>
          <p:nvPr/>
        </p:nvSpPr>
        <p:spPr>
          <a:xfrm>
            <a:off x="762000" y="1270000"/>
            <a:ext cx="5461000" cy="3759200"/>
          </a:xfrm>
          <a:prstGeom prst="roundRect">
            <a:avLst/>
          </a:prstGeom>
          <a:solidFill>
            <a:srgbClr val="0C1016"/>
          </a:solidFill>
          <a:ln w="12700">
            <a:solidFill>
              <a:srgbClr val="263042"/>
            </a:solidFill>
          </a:ln>
        </p:spPr>
        <p:txBody>
          <a:bodyPr wrap="square" lIns="127000" tIns="50800" rIns="127000" bIns="50800" anchor="ctr"/>
          <a:lstStyle/>
          <a:p>
            <a:endParaRPr/>
          </a:p>
        </p:txBody>
      </p:sp>
      <p:sp>
        <p:nvSpPr>
          <p:cNvPr id="653" name="S653"/>
          <p:cNvSpPr/>
          <p:nvPr/>
        </p:nvSpPr>
        <p:spPr>
          <a:xfrm>
            <a:off x="939800" y="1371600"/>
            <a:ext cx="5105400" cy="304800"/>
          </a:xfrm>
          <a:prstGeom prst="rect">
            <a:avLst/>
          </a:prstGeom>
          <a:noFill/>
          <a:ln>
            <a:noFill/>
          </a:ln>
        </p:spPr>
        <p:txBody>
          <a:bodyPr wrap="square" lIns="0" tIns="50800" rIns="0" bIns="50800" anchor="ctr"/>
          <a:lstStyle/>
          <a:p>
            <a:pPr algn="l">
              <a:buNone/>
            </a:pPr>
            <a:r>
              <a:rPr lang="en-US" sz="1400" b="0" dirty="0">
                <a:solidFill>
                  <a:srgbClr val="7A8496"/>
                </a:solidFill>
              </a:rPr>
              <a:t>prometheus.yml</a:t>
            </a:r>
          </a:p>
        </p:txBody>
      </p:sp>
      <p:sp>
        <p:nvSpPr>
          <p:cNvPr id="654" name="S654"/>
          <p:cNvSpPr/>
          <p:nvPr/>
        </p:nvSpPr>
        <p:spPr>
          <a:xfrm>
            <a:off x="939800" y="1676400"/>
            <a:ext cx="5105400" cy="3225800"/>
          </a:xfrm>
          <a:prstGeom prst="rect">
            <a:avLst/>
          </a:prstGeom>
          <a:noFill/>
          <a:ln>
            <a:noFill/>
          </a:ln>
        </p:spPr>
        <p:txBody>
          <a:bodyPr wrap="square" lIns="0" tIns="50800" rIns="0" bIns="50800" anchor="t"/>
          <a:lstStyle/>
          <a:p>
            <a:pPr>
              <a:lnSpc>
                <a:spcPts val="1900"/>
              </a:lnSpc>
              <a:buNone/>
            </a:pPr>
            <a:r>
              <a:rPr lang="en-US" sz="1400" dirty="0">
                <a:latin typeface="Consolas"/>
              </a:rPr>
              <a:t>global:</a:t>
            </a:r>
          </a:p>
          <a:p>
            <a:pPr>
              <a:lnSpc>
                <a:spcPts val="1900"/>
              </a:lnSpc>
              <a:buNone/>
            </a:pPr>
            <a:r>
              <a:rPr lang="en-US" sz="1400" dirty="0">
                <a:latin typeface="Consolas"/>
              </a:rPr>
              <a:t>  scrape_interval: 15s</a:t>
            </a:r>
          </a:p>
          <a:p>
            <a:pPr>
              <a:lnSpc>
                <a:spcPts val="1900"/>
              </a:lnSpc>
              <a:buNone/>
            </a:pPr>
            <a:r>
              <a:rPr lang="en-US" sz="1400" dirty="0">
                <a:latin typeface="Consolas"/>
              </a:rPr>
              <a:t>  scrape_timeout: 10s</a:t>
            </a:r>
          </a:p>
          <a:p>
            <a:pPr>
              <a:lnSpc>
                <a:spcPts val="1900"/>
              </a:lnSpc>
              <a:buNone/>
            </a:pPr>
            <a:endParaRPr lang="en-US" sz="1400" dirty="0">
              <a:latin typeface="Consolas"/>
            </a:endParaRPr>
          </a:p>
          <a:p>
            <a:pPr>
              <a:lnSpc>
                <a:spcPts val="1900"/>
              </a:lnSpc>
              <a:buNone/>
            </a:pPr>
            <a:r>
              <a:rPr lang="en-US" sz="1400" dirty="0">
                <a:latin typeface="Consolas"/>
              </a:rPr>
              <a:t>scrape_configs:</a:t>
            </a:r>
          </a:p>
          <a:p>
            <a:pPr>
              <a:lnSpc>
                <a:spcPts val="1900"/>
              </a:lnSpc>
              <a:buNone/>
            </a:pPr>
            <a:r>
              <a:rPr lang="en-US" sz="1400" dirty="0">
                <a:latin typeface="Consolas"/>
              </a:rPr>
              <a:t>  - job_name: 'node'</a:t>
            </a:r>
          </a:p>
          <a:p>
            <a:pPr>
              <a:lnSpc>
                <a:spcPts val="1900"/>
              </a:lnSpc>
              <a:buNone/>
            </a:pPr>
            <a:r>
              <a:rPr lang="en-US" sz="1400" dirty="0">
                <a:latin typeface="Consolas"/>
              </a:rPr>
              <a:t>    static_configs:</a:t>
            </a:r>
          </a:p>
          <a:p>
            <a:pPr>
              <a:lnSpc>
                <a:spcPts val="1900"/>
              </a:lnSpc>
              <a:buNone/>
            </a:pPr>
            <a:r>
              <a:rPr lang="en-US" sz="1400" dirty="0">
                <a:latin typeface="Consolas"/>
              </a:rPr>
              <a:t>      - targets: ['node-exporter:9100']</a:t>
            </a:r>
          </a:p>
          <a:p>
            <a:pPr>
              <a:lnSpc>
                <a:spcPts val="1900"/>
              </a:lnSpc>
              <a:buNone/>
            </a:pPr>
            <a:endParaRPr lang="en-US" sz="1400" dirty="0">
              <a:latin typeface="Consolas"/>
            </a:endParaRPr>
          </a:p>
          <a:p>
            <a:pPr>
              <a:lnSpc>
                <a:spcPts val="1900"/>
              </a:lnSpc>
              <a:buNone/>
            </a:pPr>
            <a:r>
              <a:rPr lang="en-US" sz="1400" dirty="0">
                <a:latin typeface="Consolas"/>
              </a:rPr>
              <a:t>  - job_name: 'postgres'</a:t>
            </a:r>
          </a:p>
          <a:p>
            <a:pPr>
              <a:lnSpc>
                <a:spcPts val="1900"/>
              </a:lnSpc>
              <a:buNone/>
            </a:pPr>
            <a:r>
              <a:rPr lang="en-US" sz="1400" dirty="0">
                <a:latin typeface="Consolas"/>
              </a:rPr>
              <a:t>    static_configs:</a:t>
            </a:r>
          </a:p>
          <a:p>
            <a:pPr>
              <a:lnSpc>
                <a:spcPts val="1900"/>
              </a:lnSpc>
              <a:buNone/>
            </a:pPr>
            <a:r>
              <a:rPr lang="en-US" sz="1400" dirty="0">
                <a:latin typeface="Consolas"/>
              </a:rPr>
              <a:t>      - targets: ['pg-exporter:9187']</a:t>
            </a:r>
          </a:p>
        </p:txBody>
      </p:sp>
      <p:sp>
        <p:nvSpPr>
          <p:cNvPr id="655" name="S655"/>
          <p:cNvSpPr/>
          <p:nvPr/>
        </p:nvSpPr>
        <p:spPr>
          <a:xfrm>
            <a:off x="6477000" y="1270000"/>
            <a:ext cx="4953000" cy="3759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56" name="S656"/>
          <p:cNvSpPr/>
          <p:nvPr/>
        </p:nvSpPr>
        <p:spPr>
          <a:xfrm>
            <a:off x="6477000" y="1270000"/>
            <a:ext cx="4953000" cy="50800"/>
          </a:xfrm>
          <a:prstGeom prst="rect">
            <a:avLst/>
          </a:prstGeom>
          <a:solidFill>
            <a:srgbClr val="FF9830"/>
          </a:solidFill>
          <a:ln>
            <a:noFill/>
          </a:ln>
        </p:spPr>
        <p:txBody>
          <a:bodyPr wrap="square" lIns="127000" tIns="50800" rIns="127000" bIns="50800" anchor="ctr"/>
          <a:lstStyle/>
          <a:p>
            <a:endParaRPr/>
          </a:p>
        </p:txBody>
      </p:sp>
      <p:sp>
        <p:nvSpPr>
          <p:cNvPr id="657" name="S657"/>
          <p:cNvSpPr/>
          <p:nvPr/>
        </p:nvSpPr>
        <p:spPr>
          <a:xfrm>
            <a:off x="6680200" y="1397000"/>
            <a:ext cx="4546600" cy="355600"/>
          </a:xfrm>
          <a:prstGeom prst="rect">
            <a:avLst/>
          </a:prstGeom>
          <a:noFill/>
          <a:ln>
            <a:noFill/>
          </a:ln>
        </p:spPr>
        <p:txBody>
          <a:bodyPr wrap="square" lIns="0" tIns="50800" rIns="0" bIns="50800" anchor="ctr"/>
          <a:lstStyle/>
          <a:p>
            <a:pPr algn="l">
              <a:buNone/>
            </a:pPr>
            <a:r>
              <a:rPr lang="en-US" sz="1700" b="1" dirty="0">
                <a:solidFill>
                  <a:srgbClr val="FF9830"/>
                </a:solidFill>
              </a:rPr>
              <a:t>What happens on every scrape</a:t>
            </a:r>
          </a:p>
        </p:txBody>
      </p:sp>
      <p:sp>
        <p:nvSpPr>
          <p:cNvPr id="658" name="S658"/>
          <p:cNvSpPr/>
          <p:nvPr/>
        </p:nvSpPr>
        <p:spPr>
          <a:xfrm>
            <a:off x="6680200" y="1828800"/>
            <a:ext cx="330200" cy="330200"/>
          </a:xfrm>
          <a:prstGeom prst="ellipse">
            <a:avLst/>
          </a:prstGeom>
          <a:solidFill>
            <a:srgbClr val="2A1608"/>
          </a:solidFill>
          <a:ln w="12700">
            <a:solidFill>
              <a:srgbClr val="F46800"/>
            </a:solidFill>
          </a:ln>
        </p:spPr>
        <p:txBody>
          <a:bodyPr wrap="square" lIns="0" tIns="50800" rIns="0" bIns="50800" anchor="ctr"/>
          <a:lstStyle/>
          <a:p>
            <a:pPr algn="ctr">
              <a:buNone/>
            </a:pPr>
            <a:r>
              <a:rPr lang="en-US" sz="1400" b="1" dirty="0">
                <a:solidFill>
                  <a:srgbClr val="FF9830"/>
                </a:solidFill>
              </a:rPr>
              <a:t>1</a:t>
            </a:r>
          </a:p>
        </p:txBody>
      </p:sp>
      <p:sp>
        <p:nvSpPr>
          <p:cNvPr id="659" name="S659"/>
          <p:cNvSpPr/>
          <p:nvPr/>
        </p:nvSpPr>
        <p:spPr>
          <a:xfrm>
            <a:off x="7112000" y="1803400"/>
            <a:ext cx="4114800" cy="508000"/>
          </a:xfrm>
          <a:prstGeom prst="rect">
            <a:avLst/>
          </a:prstGeom>
          <a:noFill/>
          <a:ln>
            <a:noFill/>
          </a:ln>
        </p:spPr>
        <p:txBody>
          <a:bodyPr wrap="square" lIns="0" tIns="50800" rIns="0" bIns="50800" anchor="ctr"/>
          <a:lstStyle/>
          <a:p>
            <a:pPr algn="l">
              <a:buNone/>
            </a:pPr>
            <a:r>
              <a:rPr lang="en-US" sz="1400" b="0" dirty="0">
                <a:solidFill>
                  <a:srgbClr val="B4BECC"/>
                </a:solidFill>
              </a:rPr>
              <a:t>Resolve the target list from static config or service discovery</a:t>
            </a:r>
          </a:p>
        </p:txBody>
      </p:sp>
      <p:sp>
        <p:nvSpPr>
          <p:cNvPr id="660" name="S660"/>
          <p:cNvSpPr/>
          <p:nvPr/>
        </p:nvSpPr>
        <p:spPr>
          <a:xfrm>
            <a:off x="6680200" y="2387600"/>
            <a:ext cx="330200" cy="330200"/>
          </a:xfrm>
          <a:prstGeom prst="ellipse">
            <a:avLst/>
          </a:prstGeom>
          <a:solidFill>
            <a:srgbClr val="2A1608"/>
          </a:solidFill>
          <a:ln w="12700">
            <a:solidFill>
              <a:srgbClr val="F46800"/>
            </a:solidFill>
          </a:ln>
        </p:spPr>
        <p:txBody>
          <a:bodyPr wrap="square" lIns="0" tIns="50800" rIns="0" bIns="50800" anchor="ctr"/>
          <a:lstStyle/>
          <a:p>
            <a:pPr algn="ctr">
              <a:buNone/>
            </a:pPr>
            <a:r>
              <a:rPr lang="en-US" sz="1400" b="1" dirty="0">
                <a:solidFill>
                  <a:srgbClr val="FF9830"/>
                </a:solidFill>
              </a:rPr>
              <a:t>2</a:t>
            </a:r>
          </a:p>
        </p:txBody>
      </p:sp>
      <p:sp>
        <p:nvSpPr>
          <p:cNvPr id="661" name="S661"/>
          <p:cNvSpPr/>
          <p:nvPr/>
        </p:nvSpPr>
        <p:spPr>
          <a:xfrm>
            <a:off x="7112000" y="2362200"/>
            <a:ext cx="4114800" cy="508000"/>
          </a:xfrm>
          <a:prstGeom prst="rect">
            <a:avLst/>
          </a:prstGeom>
          <a:noFill/>
          <a:ln>
            <a:noFill/>
          </a:ln>
        </p:spPr>
        <p:txBody>
          <a:bodyPr wrap="square" lIns="0" tIns="50800" rIns="0" bIns="50800" anchor="ctr"/>
          <a:lstStyle/>
          <a:p>
            <a:pPr algn="l">
              <a:buNone/>
            </a:pPr>
            <a:r>
              <a:rPr lang="en-US" sz="1400" b="0" dirty="0">
                <a:solidFill>
                  <a:srgbClr val="B4BECC"/>
                </a:solidFill>
              </a:rPr>
              <a:t>GET http://target:port/metrics with the configured timeout</a:t>
            </a:r>
          </a:p>
        </p:txBody>
      </p:sp>
      <p:sp>
        <p:nvSpPr>
          <p:cNvPr id="662" name="S662"/>
          <p:cNvSpPr/>
          <p:nvPr/>
        </p:nvSpPr>
        <p:spPr>
          <a:xfrm>
            <a:off x="6680200" y="2946400"/>
            <a:ext cx="330200" cy="330200"/>
          </a:xfrm>
          <a:prstGeom prst="ellipse">
            <a:avLst/>
          </a:prstGeom>
          <a:solidFill>
            <a:srgbClr val="2A1608"/>
          </a:solidFill>
          <a:ln w="12700">
            <a:solidFill>
              <a:srgbClr val="F46800"/>
            </a:solidFill>
          </a:ln>
        </p:spPr>
        <p:txBody>
          <a:bodyPr wrap="square" lIns="0" tIns="50800" rIns="0" bIns="50800" anchor="ctr"/>
          <a:lstStyle/>
          <a:p>
            <a:pPr algn="ctr">
              <a:buNone/>
            </a:pPr>
            <a:r>
              <a:rPr lang="en-US" sz="1400" b="1" dirty="0">
                <a:solidFill>
                  <a:srgbClr val="FF9830"/>
                </a:solidFill>
              </a:rPr>
              <a:t>3</a:t>
            </a:r>
          </a:p>
        </p:txBody>
      </p:sp>
      <p:sp>
        <p:nvSpPr>
          <p:cNvPr id="663" name="S663"/>
          <p:cNvSpPr/>
          <p:nvPr/>
        </p:nvSpPr>
        <p:spPr>
          <a:xfrm>
            <a:off x="7112000" y="2921000"/>
            <a:ext cx="4114800" cy="508000"/>
          </a:xfrm>
          <a:prstGeom prst="rect">
            <a:avLst/>
          </a:prstGeom>
          <a:noFill/>
          <a:ln>
            <a:noFill/>
          </a:ln>
        </p:spPr>
        <p:txBody>
          <a:bodyPr wrap="square" lIns="0" tIns="50800" rIns="0" bIns="50800" anchor="ctr"/>
          <a:lstStyle/>
          <a:p>
            <a:pPr algn="l">
              <a:buNone/>
            </a:pPr>
            <a:r>
              <a:rPr lang="en-US" sz="1400" b="0" dirty="0">
                <a:solidFill>
                  <a:srgbClr val="B4BECC"/>
                </a:solidFill>
              </a:rPr>
              <a:t>Apply relabel rules, then attach job and instance labels</a:t>
            </a:r>
          </a:p>
        </p:txBody>
      </p:sp>
      <p:sp>
        <p:nvSpPr>
          <p:cNvPr id="664" name="S664"/>
          <p:cNvSpPr/>
          <p:nvPr/>
        </p:nvSpPr>
        <p:spPr>
          <a:xfrm>
            <a:off x="6680200" y="3505200"/>
            <a:ext cx="330200" cy="330200"/>
          </a:xfrm>
          <a:prstGeom prst="ellipse">
            <a:avLst/>
          </a:prstGeom>
          <a:solidFill>
            <a:srgbClr val="2A1608"/>
          </a:solidFill>
          <a:ln w="12700">
            <a:solidFill>
              <a:srgbClr val="F46800"/>
            </a:solidFill>
          </a:ln>
        </p:spPr>
        <p:txBody>
          <a:bodyPr wrap="square" lIns="0" tIns="50800" rIns="0" bIns="50800" anchor="ctr"/>
          <a:lstStyle/>
          <a:p>
            <a:pPr algn="ctr">
              <a:buNone/>
            </a:pPr>
            <a:r>
              <a:rPr lang="en-US" sz="1400" b="1" dirty="0">
                <a:solidFill>
                  <a:srgbClr val="FF9830"/>
                </a:solidFill>
              </a:rPr>
              <a:t>4</a:t>
            </a:r>
          </a:p>
        </p:txBody>
      </p:sp>
      <p:sp>
        <p:nvSpPr>
          <p:cNvPr id="665" name="S665"/>
          <p:cNvSpPr/>
          <p:nvPr/>
        </p:nvSpPr>
        <p:spPr>
          <a:xfrm>
            <a:off x="7112000" y="3479800"/>
            <a:ext cx="4114800" cy="508000"/>
          </a:xfrm>
          <a:prstGeom prst="rect">
            <a:avLst/>
          </a:prstGeom>
          <a:noFill/>
          <a:ln>
            <a:noFill/>
          </a:ln>
        </p:spPr>
        <p:txBody>
          <a:bodyPr wrap="square" lIns="0" tIns="50800" rIns="0" bIns="50800" anchor="ctr"/>
          <a:lstStyle/>
          <a:p>
            <a:pPr algn="l">
              <a:buNone/>
            </a:pPr>
            <a:r>
              <a:rPr lang="en-US" sz="1400" b="0" dirty="0">
                <a:solidFill>
                  <a:srgbClr val="B4BECC"/>
                </a:solidFill>
              </a:rPr>
              <a:t>Append every sample to the TSDB with the scrape timestamp</a:t>
            </a:r>
          </a:p>
        </p:txBody>
      </p:sp>
      <p:sp>
        <p:nvSpPr>
          <p:cNvPr id="666" name="S666"/>
          <p:cNvSpPr/>
          <p:nvPr/>
        </p:nvSpPr>
        <p:spPr>
          <a:xfrm>
            <a:off x="6680200" y="4064000"/>
            <a:ext cx="330200" cy="330200"/>
          </a:xfrm>
          <a:prstGeom prst="ellipse">
            <a:avLst/>
          </a:prstGeom>
          <a:solidFill>
            <a:srgbClr val="2A1608"/>
          </a:solidFill>
          <a:ln w="12700">
            <a:solidFill>
              <a:srgbClr val="F46800"/>
            </a:solidFill>
          </a:ln>
        </p:spPr>
        <p:txBody>
          <a:bodyPr wrap="square" lIns="0" tIns="50800" rIns="0" bIns="50800" anchor="ctr"/>
          <a:lstStyle/>
          <a:p>
            <a:pPr algn="ctr">
              <a:buNone/>
            </a:pPr>
            <a:r>
              <a:rPr lang="en-US" sz="1400" b="1" dirty="0">
                <a:solidFill>
                  <a:srgbClr val="FF9830"/>
                </a:solidFill>
              </a:rPr>
              <a:t>5</a:t>
            </a:r>
          </a:p>
        </p:txBody>
      </p:sp>
      <p:sp>
        <p:nvSpPr>
          <p:cNvPr id="667" name="S667"/>
          <p:cNvSpPr/>
          <p:nvPr/>
        </p:nvSpPr>
        <p:spPr>
          <a:xfrm>
            <a:off x="7112000" y="4038600"/>
            <a:ext cx="4114800" cy="508000"/>
          </a:xfrm>
          <a:prstGeom prst="rect">
            <a:avLst/>
          </a:prstGeom>
          <a:noFill/>
          <a:ln>
            <a:noFill/>
          </a:ln>
        </p:spPr>
        <p:txBody>
          <a:bodyPr wrap="square" lIns="0" tIns="50800" rIns="0" bIns="50800" anchor="ctr"/>
          <a:lstStyle/>
          <a:p>
            <a:pPr algn="l">
              <a:buNone/>
            </a:pPr>
            <a:r>
              <a:rPr lang="en-US" sz="1400" b="0" dirty="0">
                <a:solidFill>
                  <a:srgbClr val="B4BECC"/>
                </a:solidFill>
              </a:rPr>
              <a:t>Record up{job=...} = 1 or 0 for the scrape itself</a:t>
            </a:r>
          </a:p>
        </p:txBody>
      </p:sp>
      <p:sp>
        <p:nvSpPr>
          <p:cNvPr id="668" name="S668"/>
          <p:cNvSpPr/>
          <p:nvPr/>
        </p:nvSpPr>
        <p:spPr>
          <a:xfrm>
            <a:off x="6680200" y="4622800"/>
            <a:ext cx="1524000" cy="304800"/>
          </a:xfrm>
          <a:prstGeom prst="rect">
            <a:avLst/>
          </a:prstGeom>
          <a:noFill/>
          <a:ln>
            <a:noFill/>
          </a:ln>
        </p:spPr>
        <p:txBody>
          <a:bodyPr wrap="square" lIns="0" tIns="50800" rIns="0" bIns="50800" anchor="ctr"/>
          <a:lstStyle/>
          <a:p>
            <a:pPr algn="l">
              <a:buNone/>
            </a:pPr>
            <a:r>
              <a:rPr lang="en-US" sz="1400" b="0" dirty="0">
                <a:solidFill>
                  <a:srgbClr val="98A2B3"/>
                </a:solidFill>
              </a:rPr>
              <a:t>Health states:</a:t>
            </a:r>
          </a:p>
        </p:txBody>
      </p:sp>
      <p:sp>
        <p:nvSpPr>
          <p:cNvPr id="669" name="S669"/>
          <p:cNvSpPr/>
          <p:nvPr/>
        </p:nvSpPr>
        <p:spPr>
          <a:xfrm>
            <a:off x="8204200" y="4622800"/>
            <a:ext cx="939800" cy="304800"/>
          </a:xfrm>
          <a:prstGeom prst="roundRect">
            <a:avLst/>
          </a:prstGeom>
          <a:solidFill>
            <a:srgbClr val="111620"/>
          </a:solidFill>
          <a:ln w="12700">
            <a:solidFill>
              <a:srgbClr val="56A64B"/>
            </a:solidFill>
          </a:ln>
        </p:spPr>
        <p:txBody>
          <a:bodyPr wrap="square" lIns="0" tIns="50800" rIns="0" bIns="50800" anchor="ctr"/>
          <a:lstStyle/>
          <a:p>
            <a:pPr algn="ctr">
              <a:buNone/>
            </a:pPr>
            <a:r>
              <a:rPr lang="en-US" sz="1400" b="1" dirty="0">
                <a:solidFill>
                  <a:srgbClr val="56A64B"/>
                </a:solidFill>
              </a:rPr>
              <a:t>UP</a:t>
            </a:r>
          </a:p>
        </p:txBody>
      </p:sp>
      <p:sp>
        <p:nvSpPr>
          <p:cNvPr id="670" name="S670"/>
          <p:cNvSpPr/>
          <p:nvPr/>
        </p:nvSpPr>
        <p:spPr>
          <a:xfrm>
            <a:off x="9220200" y="4622800"/>
            <a:ext cx="939800" cy="304800"/>
          </a:xfrm>
          <a:prstGeom prst="roundRect">
            <a:avLst/>
          </a:prstGeom>
          <a:solidFill>
            <a:srgbClr val="111620"/>
          </a:solidFill>
          <a:ln w="12700">
            <a:solidFill>
              <a:srgbClr val="FF7B9C"/>
            </a:solidFill>
          </a:ln>
        </p:spPr>
        <p:txBody>
          <a:bodyPr wrap="square" lIns="0" tIns="50800" rIns="0" bIns="50800" anchor="ctr"/>
          <a:lstStyle/>
          <a:p>
            <a:pPr algn="ctr">
              <a:buNone/>
            </a:pPr>
            <a:r>
              <a:rPr lang="en-US" sz="1400" b="1" dirty="0">
                <a:solidFill>
                  <a:srgbClr val="FF7B9C"/>
                </a:solidFill>
              </a:rPr>
              <a:t>DOWN</a:t>
            </a:r>
          </a:p>
        </p:txBody>
      </p:sp>
      <p:sp>
        <p:nvSpPr>
          <p:cNvPr id="671" name="S671"/>
          <p:cNvSpPr/>
          <p:nvPr/>
        </p:nvSpPr>
        <p:spPr>
          <a:xfrm>
            <a:off x="10236200" y="4622800"/>
            <a:ext cx="939800" cy="304800"/>
          </a:xfrm>
          <a:prstGeom prst="roundRect">
            <a:avLst/>
          </a:prstGeom>
          <a:solidFill>
            <a:srgbClr val="111620"/>
          </a:solidFill>
          <a:ln w="12700">
            <a:solidFill>
              <a:srgbClr val="7A8496"/>
            </a:solidFill>
          </a:ln>
        </p:spPr>
        <p:txBody>
          <a:bodyPr wrap="square" lIns="0" tIns="50800" rIns="0" bIns="50800" anchor="ctr"/>
          <a:lstStyle/>
          <a:p>
            <a:pPr algn="ctr">
              <a:buNone/>
            </a:pPr>
            <a:r>
              <a:rPr lang="en-US" sz="1400" b="1" dirty="0">
                <a:solidFill>
                  <a:srgbClr val="7A8496"/>
                </a:solidFill>
              </a:rPr>
              <a:t>UNKNOWN</a:t>
            </a:r>
          </a:p>
        </p:txBody>
      </p:sp>
      <p:sp>
        <p:nvSpPr>
          <p:cNvPr id="672" name="S672"/>
          <p:cNvSpPr/>
          <p:nvPr/>
        </p:nvSpPr>
        <p:spPr>
          <a:xfrm>
            <a:off x="762000" y="5207000"/>
            <a:ext cx="5461000" cy="1117600"/>
          </a:xfrm>
          <a:prstGeom prst="roundRect">
            <a:avLst/>
          </a:prstGeom>
          <a:solidFill>
            <a:srgbClr val="111620"/>
          </a:solidFill>
          <a:ln w="12700">
            <a:solidFill>
              <a:srgbClr val="262C38"/>
            </a:solidFill>
          </a:ln>
        </p:spPr>
        <p:txBody>
          <a:bodyPr wrap="square" lIns="127000" tIns="50800" rIns="127000" bIns="50800" anchor="ctr"/>
          <a:lstStyle/>
          <a:p>
            <a:endParaRPr/>
          </a:p>
        </p:txBody>
      </p:sp>
      <p:sp>
        <p:nvSpPr>
          <p:cNvPr id="673" name="S673"/>
          <p:cNvSpPr/>
          <p:nvPr/>
        </p:nvSpPr>
        <p:spPr>
          <a:xfrm>
            <a:off x="939800" y="5308600"/>
            <a:ext cx="5105400" cy="304800"/>
          </a:xfrm>
          <a:prstGeom prst="rect">
            <a:avLst/>
          </a:prstGeom>
          <a:noFill/>
          <a:ln>
            <a:noFill/>
          </a:ln>
        </p:spPr>
        <p:txBody>
          <a:bodyPr wrap="square" lIns="0" tIns="50800" rIns="0" bIns="50800" anchor="ctr"/>
          <a:lstStyle/>
          <a:p>
            <a:pPr algn="l">
              <a:buNone/>
            </a:pPr>
            <a:r>
              <a:rPr lang="en-US" sz="1600" b="1" dirty="0">
                <a:solidFill>
                  <a:srgbClr val="3274D9"/>
                </a:solidFill>
              </a:rPr>
              <a:t>Where to check it</a:t>
            </a:r>
          </a:p>
        </p:txBody>
      </p:sp>
      <p:sp>
        <p:nvSpPr>
          <p:cNvPr id="674" name="S674"/>
          <p:cNvSpPr/>
          <p:nvPr/>
        </p:nvSpPr>
        <p:spPr>
          <a:xfrm>
            <a:off x="939800" y="5613400"/>
            <a:ext cx="5105400" cy="609600"/>
          </a:xfrm>
          <a:prstGeom prst="rect">
            <a:avLst/>
          </a:prstGeom>
          <a:noFill/>
          <a:ln>
            <a:noFill/>
          </a:ln>
        </p:spPr>
        <p:txBody>
          <a:bodyPr wrap="square" lIns="0" tIns="50800" rIns="0" bIns="50800" anchor="t"/>
          <a:lstStyle/>
          <a:p>
            <a:pPr algn="l">
              <a:buNone/>
            </a:pPr>
            <a:r>
              <a:rPr lang="en-US" sz="1400" b="0" dirty="0">
                <a:solidFill>
                  <a:srgbClr val="B4BECC"/>
                </a:solidFill>
              </a:rPr>
              <a:t>Prometheus UI &gt; Status &gt; Targets shows state, last scrape, duration and the exact error.</a:t>
            </a:r>
          </a:p>
        </p:txBody>
      </p:sp>
      <p:sp>
        <p:nvSpPr>
          <p:cNvPr id="675" name="S675"/>
          <p:cNvSpPr/>
          <p:nvPr/>
        </p:nvSpPr>
        <p:spPr>
          <a:xfrm>
            <a:off x="6477000" y="5207000"/>
            <a:ext cx="4953000" cy="1117600"/>
          </a:xfrm>
          <a:prstGeom prst="roundRect">
            <a:avLst/>
          </a:prstGeom>
          <a:solidFill>
            <a:srgbClr val="111620"/>
          </a:solidFill>
          <a:ln w="12700">
            <a:solidFill>
              <a:srgbClr val="262C38"/>
            </a:solidFill>
          </a:ln>
        </p:spPr>
        <p:txBody>
          <a:bodyPr wrap="square" lIns="127000" tIns="50800" rIns="127000" bIns="50800" anchor="ctr"/>
          <a:lstStyle/>
          <a:p>
            <a:endParaRPr/>
          </a:p>
        </p:txBody>
      </p:sp>
      <p:sp>
        <p:nvSpPr>
          <p:cNvPr id="676" name="S676"/>
          <p:cNvSpPr/>
          <p:nvPr/>
        </p:nvSpPr>
        <p:spPr>
          <a:xfrm>
            <a:off x="6654800" y="5308600"/>
            <a:ext cx="4597400" cy="304800"/>
          </a:xfrm>
          <a:prstGeom prst="rect">
            <a:avLst/>
          </a:prstGeom>
          <a:noFill/>
          <a:ln>
            <a:noFill/>
          </a:ln>
        </p:spPr>
        <p:txBody>
          <a:bodyPr wrap="square" lIns="0" tIns="50800" rIns="0" bIns="50800" anchor="ctr"/>
          <a:lstStyle/>
          <a:p>
            <a:pPr algn="l">
              <a:buNone/>
            </a:pPr>
            <a:r>
              <a:rPr lang="en-US" sz="1600" b="1" dirty="0">
                <a:solidFill>
                  <a:srgbClr val="B877D9"/>
                </a:solidFill>
              </a:rPr>
              <a:t>Interval rule of thumb</a:t>
            </a:r>
          </a:p>
        </p:txBody>
      </p:sp>
      <p:sp>
        <p:nvSpPr>
          <p:cNvPr id="677" name="S677"/>
          <p:cNvSpPr/>
          <p:nvPr/>
        </p:nvSpPr>
        <p:spPr>
          <a:xfrm>
            <a:off x="6654800" y="5613400"/>
            <a:ext cx="4597400" cy="609600"/>
          </a:xfrm>
          <a:prstGeom prst="rect">
            <a:avLst/>
          </a:prstGeom>
          <a:noFill/>
          <a:ln>
            <a:noFill/>
          </a:ln>
        </p:spPr>
        <p:txBody>
          <a:bodyPr wrap="square" lIns="0" tIns="50800" rIns="0" bIns="50800" anchor="t"/>
          <a:lstStyle/>
          <a:p>
            <a:pPr algn="l">
              <a:buNone/>
            </a:pPr>
            <a:r>
              <a:rPr lang="en-US" sz="1400" b="0" dirty="0">
                <a:solidFill>
                  <a:srgbClr val="B4BECC"/>
                </a:solidFill>
              </a:rPr>
              <a:t>Your panel range interval should never be shorter than the scrape interval - use rate(...[5m]) with 15s scrapes.</a:t>
            </a:r>
          </a:p>
        </p:txBody>
      </p:sp>
    </p:spTree>
    <p:extLst>
      <p:ext uri="{BB962C8B-B14F-4D97-AF65-F5344CB8AC3E}">
        <p14:creationId xmlns:p14="http://schemas.microsoft.com/office/powerpoint/2010/main" val="3287718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30144-5A7D-35ED-5C31-965FAA602A9A}"/>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Time Series and PromQL Essentials</a:t>
            </a:r>
          </a:p>
        </p:txBody>
      </p:sp>
      <p:sp>
        <p:nvSpPr>
          <p:cNvPr id="681" name="S681"/>
          <p:cNvSpPr/>
          <p:nvPr/>
        </p:nvSpPr>
        <p:spPr>
          <a:xfrm>
            <a:off x="762000" y="914400"/>
            <a:ext cx="1524000" cy="50800"/>
          </a:xfrm>
          <a:prstGeom prst="rect">
            <a:avLst/>
          </a:prstGeom>
          <a:solidFill>
            <a:srgbClr val="F46800"/>
          </a:solidFill>
          <a:ln>
            <a:noFill/>
          </a:ln>
        </p:spPr>
        <p:txBody>
          <a:bodyPr wrap="square" lIns="127000" tIns="50800" rIns="127000" bIns="50800" anchor="ctr"/>
          <a:lstStyle/>
          <a:p>
            <a:endParaRPr/>
          </a:p>
        </p:txBody>
      </p:sp>
      <p:sp>
        <p:nvSpPr>
          <p:cNvPr id="682" name="S682"/>
          <p:cNvSpPr/>
          <p:nvPr/>
        </p:nvSpPr>
        <p:spPr>
          <a:xfrm>
            <a:off x="762000" y="1270000"/>
            <a:ext cx="4953000" cy="3327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683" name="S683"/>
          <p:cNvSpPr/>
          <p:nvPr/>
        </p:nvSpPr>
        <p:spPr>
          <a:xfrm>
            <a:off x="762000" y="1270000"/>
            <a:ext cx="4953000" cy="50800"/>
          </a:xfrm>
          <a:prstGeom prst="rect">
            <a:avLst/>
          </a:prstGeom>
          <a:solidFill>
            <a:srgbClr val="3274D9"/>
          </a:solidFill>
          <a:ln>
            <a:noFill/>
          </a:ln>
        </p:spPr>
        <p:txBody>
          <a:bodyPr wrap="square" lIns="127000" tIns="50800" rIns="127000" bIns="50800" anchor="ctr"/>
          <a:lstStyle/>
          <a:p>
            <a:endParaRPr/>
          </a:p>
        </p:txBody>
      </p:sp>
      <p:sp>
        <p:nvSpPr>
          <p:cNvPr id="684" name="S684"/>
          <p:cNvSpPr/>
          <p:nvPr/>
        </p:nvSpPr>
        <p:spPr>
          <a:xfrm>
            <a:off x="965200" y="1397000"/>
            <a:ext cx="4546600" cy="355600"/>
          </a:xfrm>
          <a:prstGeom prst="rect">
            <a:avLst/>
          </a:prstGeom>
          <a:noFill/>
          <a:ln>
            <a:noFill/>
          </a:ln>
        </p:spPr>
        <p:txBody>
          <a:bodyPr wrap="square" lIns="0" tIns="50800" rIns="0" bIns="50800" anchor="ctr"/>
          <a:lstStyle/>
          <a:p>
            <a:pPr algn="l">
              <a:buNone/>
            </a:pPr>
            <a:r>
              <a:rPr lang="en-US" sz="1700" b="1" dirty="0">
                <a:solidFill>
                  <a:srgbClr val="3274D9"/>
                </a:solidFill>
              </a:rPr>
              <a:t>What a time series actually is</a:t>
            </a:r>
          </a:p>
        </p:txBody>
      </p:sp>
      <p:sp>
        <p:nvSpPr>
          <p:cNvPr id="685" name="S685"/>
          <p:cNvSpPr/>
          <p:nvPr/>
        </p:nvSpPr>
        <p:spPr>
          <a:xfrm>
            <a:off x="965200" y="1778000"/>
            <a:ext cx="4546600" cy="2717800"/>
          </a:xfrm>
          <a:prstGeom prst="rect">
            <a:avLst/>
          </a:prstGeom>
          <a:noFill/>
          <a:ln>
            <a:noFill/>
          </a:ln>
        </p:spPr>
        <p:txBody>
          <a:bodyPr wrap="square" lIns="0" tIns="50800" rIns="0" bIns="50800" anchor="t"/>
          <a:lstStyle/>
          <a:p>
            <a:pPr marL="171450" indent="-171450">
              <a:lnSpc>
                <a:spcPts val="1800"/>
              </a:lnSpc>
              <a:spcBef>
                <a:spcPts val="600"/>
              </a:spcBef>
              <a:buFont typeface="Arial"/>
              <a:buChar char="•"/>
            </a:pPr>
            <a:r>
              <a:rPr lang="en-US" sz="1400" dirty="0">
                <a:solidFill>
                  <a:srgbClr val="B4BECC"/>
                </a:solidFill>
              </a:rPr>
              <a:t>One series = metric name + one exact set of label values</a:t>
            </a:r>
          </a:p>
          <a:p>
            <a:pPr marL="171450" indent="-171450">
              <a:lnSpc>
                <a:spcPts val="1800"/>
              </a:lnSpc>
              <a:spcBef>
                <a:spcPts val="600"/>
              </a:spcBef>
              <a:buFont typeface="Arial"/>
              <a:buChar char="•"/>
            </a:pPr>
            <a:r>
              <a:rPr lang="en-US" sz="1400" dirty="0">
                <a:solidFill>
                  <a:srgbClr val="B4BECC"/>
                </a:solidFill>
              </a:rPr>
              <a:t>Each series holds (timestamp, float64) samples over time</a:t>
            </a:r>
          </a:p>
          <a:p>
            <a:pPr marL="171450" indent="-171450">
              <a:lnSpc>
                <a:spcPts val="1800"/>
              </a:lnSpc>
              <a:spcBef>
                <a:spcPts val="600"/>
              </a:spcBef>
              <a:buFont typeface="Arial"/>
              <a:buChar char="•"/>
            </a:pPr>
            <a:r>
              <a:rPr lang="en-US" sz="1400" dirty="0">
                <a:solidFill>
                  <a:srgbClr val="B4BECC"/>
                </a:solidFill>
              </a:rPr>
              <a:t>Instant vector: one value per series, at one moment</a:t>
            </a:r>
          </a:p>
          <a:p>
            <a:pPr marL="171450" indent="-171450">
              <a:lnSpc>
                <a:spcPts val="1800"/>
              </a:lnSpc>
              <a:spcBef>
                <a:spcPts val="600"/>
              </a:spcBef>
              <a:buFont typeface="Arial"/>
              <a:buChar char="•"/>
            </a:pPr>
            <a:r>
              <a:rPr lang="en-US" sz="1400" dirty="0">
                <a:solidFill>
                  <a:srgbClr val="B4BECC"/>
                </a:solidFill>
              </a:rPr>
              <a:t>Range vector: a window of samples, written as [5m]</a:t>
            </a:r>
          </a:p>
          <a:p>
            <a:pPr marL="171450" indent="-171450">
              <a:lnSpc>
                <a:spcPts val="1800"/>
              </a:lnSpc>
              <a:spcBef>
                <a:spcPts val="600"/>
              </a:spcBef>
              <a:buFont typeface="Arial"/>
              <a:buChar char="•"/>
            </a:pPr>
            <a:r>
              <a:rPr lang="en-US" sz="1400" dirty="0">
                <a:solidFill>
                  <a:srgbClr val="B4BECC"/>
                </a:solidFill>
              </a:rPr>
              <a:t>Functions like rate() and increase() need a range vector</a:t>
            </a:r>
          </a:p>
          <a:p>
            <a:pPr marL="171450" indent="-171450">
              <a:lnSpc>
                <a:spcPts val="1800"/>
              </a:lnSpc>
              <a:spcBef>
                <a:spcPts val="600"/>
              </a:spcBef>
              <a:buFont typeface="Arial"/>
              <a:buChar char="•"/>
            </a:pPr>
            <a:r>
              <a:rPr lang="en-US" sz="1400" dirty="0">
                <a:solidFill>
                  <a:srgbClr val="B4BECC"/>
                </a:solidFill>
              </a:rPr>
              <a:t>A series with no recent sample goes stale after 5 minutes</a:t>
            </a:r>
          </a:p>
        </p:txBody>
      </p:sp>
      <p:sp>
        <p:nvSpPr>
          <p:cNvPr id="686" name="S686"/>
          <p:cNvSpPr/>
          <p:nvPr/>
        </p:nvSpPr>
        <p:spPr>
          <a:xfrm>
            <a:off x="5969000" y="1270000"/>
            <a:ext cx="5461000" cy="3327400"/>
          </a:xfrm>
          <a:prstGeom prst="roundRect">
            <a:avLst/>
          </a:prstGeom>
          <a:solidFill>
            <a:srgbClr val="0C1016"/>
          </a:solidFill>
          <a:ln w="12700">
            <a:solidFill>
              <a:srgbClr val="263042"/>
            </a:solidFill>
          </a:ln>
        </p:spPr>
        <p:txBody>
          <a:bodyPr wrap="square" lIns="127000" tIns="50800" rIns="127000" bIns="50800" anchor="ctr"/>
          <a:lstStyle/>
          <a:p>
            <a:endParaRPr/>
          </a:p>
        </p:txBody>
      </p:sp>
      <p:sp>
        <p:nvSpPr>
          <p:cNvPr id="687" name="S687"/>
          <p:cNvSpPr/>
          <p:nvPr/>
        </p:nvSpPr>
        <p:spPr>
          <a:xfrm>
            <a:off x="6146800" y="1371600"/>
            <a:ext cx="5105400" cy="304800"/>
          </a:xfrm>
          <a:prstGeom prst="rect">
            <a:avLst/>
          </a:prstGeom>
          <a:noFill/>
          <a:ln>
            <a:noFill/>
          </a:ln>
        </p:spPr>
        <p:txBody>
          <a:bodyPr wrap="square" lIns="0" tIns="50800" rIns="0" bIns="50800" anchor="ctr"/>
          <a:lstStyle/>
          <a:p>
            <a:pPr algn="l">
              <a:buNone/>
            </a:pPr>
            <a:r>
              <a:rPr lang="en-US" sz="1400" b="0" dirty="0">
                <a:solidFill>
                  <a:srgbClr val="7A8496"/>
                </a:solidFill>
              </a:rPr>
              <a:t>PromQL you will use today</a:t>
            </a:r>
          </a:p>
        </p:txBody>
      </p:sp>
      <p:sp>
        <p:nvSpPr>
          <p:cNvPr id="688" name="S688"/>
          <p:cNvSpPr/>
          <p:nvPr/>
        </p:nvSpPr>
        <p:spPr>
          <a:xfrm>
            <a:off x="6146800" y="1676400"/>
            <a:ext cx="5105400" cy="2844800"/>
          </a:xfrm>
          <a:prstGeom prst="rect">
            <a:avLst/>
          </a:prstGeom>
          <a:noFill/>
          <a:ln>
            <a:noFill/>
          </a:ln>
        </p:spPr>
        <p:txBody>
          <a:bodyPr wrap="square" lIns="0" tIns="50800" rIns="0" bIns="50800" anchor="t"/>
          <a:lstStyle/>
          <a:p>
            <a:pPr>
              <a:lnSpc>
                <a:spcPts val="1900"/>
              </a:lnSpc>
              <a:buNone/>
            </a:pPr>
            <a:r>
              <a:rPr lang="en-US" sz="1400" dirty="0">
                <a:latin typeface="Consolas"/>
              </a:rPr>
              <a:t># is the target alive?</a:t>
            </a:r>
          </a:p>
          <a:p>
            <a:pPr>
              <a:lnSpc>
                <a:spcPts val="1900"/>
              </a:lnSpc>
              <a:buNone/>
            </a:pPr>
            <a:r>
              <a:rPr lang="en-US" sz="1400" dirty="0">
                <a:latin typeface="Consolas"/>
              </a:rPr>
              <a:t>up{job="node"}</a:t>
            </a:r>
          </a:p>
          <a:p>
            <a:pPr>
              <a:lnSpc>
                <a:spcPts val="1900"/>
              </a:lnSpc>
              <a:buNone/>
            </a:pPr>
            <a:r>
              <a:rPr lang="en-US" sz="1400" dirty="0">
                <a:latin typeface="Consolas"/>
              </a:rPr>
              <a:t># per-second request rate</a:t>
            </a:r>
          </a:p>
          <a:p>
            <a:pPr>
              <a:lnSpc>
                <a:spcPts val="1900"/>
              </a:lnSpc>
              <a:buNone/>
            </a:pPr>
            <a:r>
              <a:rPr lang="en-US" sz="1400" dirty="0">
                <a:latin typeface="Consolas"/>
              </a:rPr>
              <a:t>rate(http_requests_total[5m])</a:t>
            </a:r>
          </a:p>
          <a:p>
            <a:pPr>
              <a:lnSpc>
                <a:spcPts val="1900"/>
              </a:lnSpc>
              <a:buNone/>
            </a:pPr>
            <a:r>
              <a:rPr lang="en-US" sz="1400" dirty="0">
                <a:latin typeface="Consolas"/>
              </a:rPr>
              <a:t># grouped by a label</a:t>
            </a:r>
          </a:p>
          <a:p>
            <a:pPr>
              <a:lnSpc>
                <a:spcPts val="1900"/>
              </a:lnSpc>
              <a:buNone/>
            </a:pPr>
            <a:r>
              <a:rPr lang="en-US" sz="1400" dirty="0">
                <a:latin typeface="Consolas"/>
              </a:rPr>
              <a:t>sum by (status) (rate(http_requests_total[5m]))</a:t>
            </a:r>
          </a:p>
          <a:p>
            <a:pPr>
              <a:lnSpc>
                <a:spcPts val="1900"/>
              </a:lnSpc>
              <a:buNone/>
            </a:pPr>
            <a:r>
              <a:rPr lang="en-US" sz="1400" dirty="0">
                <a:latin typeface="Consolas"/>
              </a:rPr>
              <a:t># 95th percentile latency</a:t>
            </a:r>
          </a:p>
          <a:p>
            <a:pPr>
              <a:lnSpc>
                <a:spcPts val="1900"/>
              </a:lnSpc>
              <a:buNone/>
            </a:pPr>
            <a:r>
              <a:rPr lang="en-US" sz="1400" dirty="0">
                <a:latin typeface="Consolas"/>
              </a:rPr>
              <a:t>histogram_quantile(0.95, rate(dur_bucket[5m]))</a:t>
            </a:r>
          </a:p>
          <a:p>
            <a:pPr>
              <a:lnSpc>
                <a:spcPts val="1900"/>
              </a:lnSpc>
              <a:buNone/>
            </a:pPr>
            <a:r>
              <a:rPr lang="en-US" sz="1400" dirty="0">
                <a:latin typeface="Consolas"/>
              </a:rPr>
              <a:t># cpu busy percentage</a:t>
            </a:r>
          </a:p>
          <a:p>
            <a:pPr>
              <a:lnSpc>
                <a:spcPts val="1900"/>
              </a:lnSpc>
              <a:buNone/>
            </a:pPr>
            <a:r>
              <a:rPr lang="en-US" sz="1400" dirty="0">
                <a:latin typeface="Consolas"/>
              </a:rPr>
              <a:t>100 - avg(rate(node_cpu{mode="idle"}[5m])) * 100</a:t>
            </a:r>
          </a:p>
        </p:txBody>
      </p:sp>
      <p:sp>
        <p:nvSpPr>
          <p:cNvPr id="689" name="S689"/>
          <p:cNvSpPr/>
          <p:nvPr/>
        </p:nvSpPr>
        <p:spPr>
          <a:xfrm>
            <a:off x="762000" y="4775200"/>
            <a:ext cx="5461000" cy="7620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400" b="0" dirty="0">
                <a:solidFill>
                  <a:srgbClr val="B4BECC"/>
                </a:solidFill>
              </a:rPr>
              <a:t>Use $__rate_interval instead of a hardcoded [5m] so the query adapts to the dashboard zoom level.</a:t>
            </a:r>
          </a:p>
        </p:txBody>
      </p:sp>
      <p:sp>
        <p:nvSpPr>
          <p:cNvPr id="690" name="S690"/>
          <p:cNvSpPr/>
          <p:nvPr/>
        </p:nvSpPr>
        <p:spPr>
          <a:xfrm>
            <a:off x="6477000" y="4775200"/>
            <a:ext cx="4953000" cy="7620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400" b="0" dirty="0">
                <a:solidFill>
                  <a:srgbClr val="B4BECC"/>
                </a:solidFill>
              </a:rPr>
              <a:t>Legend format {{instance}} turns unreadable series names into clean labels.</a:t>
            </a:r>
          </a:p>
        </p:txBody>
      </p:sp>
      <p:sp>
        <p:nvSpPr>
          <p:cNvPr id="691" name="S691"/>
          <p:cNvSpPr/>
          <p:nvPr/>
        </p:nvSpPr>
        <p:spPr>
          <a:xfrm>
            <a:off x="762000" y="5664200"/>
            <a:ext cx="10668000" cy="660400"/>
          </a:xfrm>
          <a:prstGeom prst="roundRect">
            <a:avLst/>
          </a:prstGeom>
          <a:solidFill>
            <a:srgbClr val="111620"/>
          </a:solidFill>
          <a:ln w="12700">
            <a:solidFill>
              <a:srgbClr val="2B3140"/>
            </a:solidFill>
          </a:ln>
        </p:spPr>
        <p:txBody>
          <a:bodyPr wrap="square" lIns="177800" tIns="50800" rIns="177800" bIns="50800" anchor="ctr"/>
          <a:lstStyle/>
          <a:p>
            <a:pPr algn="l">
              <a:buNone/>
            </a:pPr>
            <a:r>
              <a:rPr lang="en-US" sz="1500" b="0" dirty="0">
                <a:solidFill>
                  <a:srgbClr val="D6DBE4"/>
                </a:solidFill>
              </a:rPr>
              <a:t>Instant vs Range toggle: Range draws a line over time, Instant returns a single value - use Instant for Stat and Gauge panels.</a:t>
            </a:r>
          </a:p>
        </p:txBody>
      </p:sp>
    </p:spTree>
    <p:extLst>
      <p:ext uri="{BB962C8B-B14F-4D97-AF65-F5344CB8AC3E}">
        <p14:creationId xmlns:p14="http://schemas.microsoft.com/office/powerpoint/2010/main" val="1699738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03E9C-88A4-D5D4-12F5-CEC6D2B51B78}"/>
              </a:ext>
            </a:extLst>
          </p:cNvPr>
          <p:cNvSpPr>
            <a:spLocks noGrp="1"/>
          </p:cNvSpPr>
          <p:nvPr>
            <p:ph type="title"/>
          </p:nvPr>
        </p:nvSpPr>
        <p:spPr>
          <a:xfrm>
            <a:off x="762000" y="279400"/>
            <a:ext cx="10668000" cy="508000"/>
          </a:xfrm>
        </p:spPr>
        <p:txBody>
          <a:bodyPr>
            <a:normAutofit fontScale="90000"/>
          </a:bodyPr>
          <a:lstStyle/>
          <a:p>
            <a:r>
              <a:rPr lang="en-US"/>
              <a:t>Quiz 2: Prometheus and PromQL</a:t>
            </a:r>
          </a:p>
        </p:txBody>
      </p:sp>
      <p:sp>
        <p:nvSpPr>
          <p:cNvPr id="3" name="Rectangle 2">
            <a:extLst>
              <a:ext uri="{FF2B5EF4-FFF2-40B4-BE49-F238E27FC236}">
                <a16:creationId xmlns:a16="http://schemas.microsoft.com/office/drawing/2014/main" id="{DBBF4430-3FC2-4012-931B-393CD91CFBF5}"/>
              </a:ext>
            </a:extLst>
          </p:cNvPr>
          <p:cNvSpPr/>
          <p:nvPr/>
        </p:nvSpPr>
        <p:spPr>
          <a:xfrm>
            <a:off x="762000" y="812800"/>
            <a:ext cx="1524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3BF80B63-3DAE-4FE0-8D2C-78CEE11868F7}"/>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Four questions | shout out your answer | we debrief on the next slide</a:t>
            </a:r>
          </a:p>
        </p:txBody>
      </p:sp>
      <p:sp>
        <p:nvSpPr>
          <p:cNvPr id="5" name="Rectangle 4">
            <a:extLst>
              <a:ext uri="{FF2B5EF4-FFF2-40B4-BE49-F238E27FC236}">
                <a16:creationId xmlns:a16="http://schemas.microsoft.com/office/drawing/2014/main" id="{EDDFC3C9-EF7E-4821-A7DE-7A0080A5561B}"/>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1CE09B72-F4B6-4F6D-8281-1DCA7F6412D5}"/>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93B53185-C637-4B11-AAB5-AA474945F57C}"/>
              </a:ext>
            </a:extLst>
          </p:cNvPr>
          <p:cNvSpPr/>
          <p:nvPr/>
        </p:nvSpPr>
        <p:spPr>
          <a:xfrm>
            <a:off x="914400" y="15240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5CA9BA1A-FA32-433C-885C-009277F6FAC1}"/>
              </a:ext>
            </a:extLst>
          </p:cNvPr>
          <p:cNvSpPr txBox="1"/>
          <p:nvPr/>
        </p:nvSpPr>
        <p:spPr>
          <a:xfrm>
            <a:off x="1498600" y="1524000"/>
            <a:ext cx="4368800" cy="355600"/>
          </a:xfrm>
          <a:prstGeom prst="rect">
            <a:avLst/>
          </a:prstGeom>
          <a:noFill/>
        </p:spPr>
        <p:txBody>
          <a:bodyPr vertOverflow="overflow" vert="horz" wrap="square" rtlCol="0" anchor="t">
            <a:noAutofit/>
          </a:bodyPr>
          <a:lstStyle/>
          <a:p>
            <a:pPr algn="l"/>
            <a:r>
              <a:rPr lang="en-US" sz="1700" b="1">
                <a:solidFill>
                  <a:srgbClr val="FFFFFF"/>
                </a:solidFill>
              </a:rPr>
              <a:t>How does Prometheus get metrics?</a:t>
            </a:r>
          </a:p>
        </p:txBody>
      </p:sp>
      <p:sp>
        <p:nvSpPr>
          <p:cNvPr id="9" name="TextBox 8">
            <a:extLst>
              <a:ext uri="{FF2B5EF4-FFF2-40B4-BE49-F238E27FC236}">
                <a16:creationId xmlns:a16="http://schemas.microsoft.com/office/drawing/2014/main" id="{9F7CED02-C606-4C6D-9D51-625039942439}"/>
              </a:ext>
            </a:extLst>
          </p:cNvPr>
          <p:cNvSpPr txBox="1"/>
          <p:nvPr/>
        </p:nvSpPr>
        <p:spPr>
          <a:xfrm>
            <a:off x="939800" y="2032000"/>
            <a:ext cx="4927600" cy="1371600"/>
          </a:xfrm>
          <a:prstGeom prst="rect">
            <a:avLst/>
          </a:prstGeom>
          <a:noFill/>
        </p:spPr>
        <p:txBody>
          <a:bodyPr vertOverflow="overflow" vert="horz" wrap="square" rtlCol="0" anchor="t">
            <a:noAutofit/>
          </a:bodyPr>
          <a:lstStyle/>
          <a:p>
            <a:pPr algn="l"/>
            <a:r>
              <a:rPr lang="en-US" sz="1500">
                <a:solidFill>
                  <a:srgbClr val="B4BECC"/>
                </a:solidFill>
              </a:rPr>
              <a:t>A  Agents push to it
B  It scrapes HTTP endpoints
C  It tails log files
D  The app writes to its DB</a:t>
            </a:r>
          </a:p>
        </p:txBody>
      </p:sp>
      <p:sp>
        <p:nvSpPr>
          <p:cNvPr id="10" name="Rectangle 9">
            <a:extLst>
              <a:ext uri="{FF2B5EF4-FFF2-40B4-BE49-F238E27FC236}">
                <a16:creationId xmlns:a16="http://schemas.microsoft.com/office/drawing/2014/main" id="{9D0812B7-3BC3-45A0-BC10-7BA5A9E6F785}"/>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7292CA18-8563-4A40-A679-AA03DD5290B4}"/>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7CCFD97E-E33C-4A1F-A1BE-7778270E1016}"/>
              </a:ext>
            </a:extLst>
          </p:cNvPr>
          <p:cNvSpPr/>
          <p:nvPr/>
        </p:nvSpPr>
        <p:spPr>
          <a:xfrm>
            <a:off x="6324600" y="15240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65DB6BDD-F8B4-4340-894B-D1DC27231BB5}"/>
              </a:ext>
            </a:extLst>
          </p:cNvPr>
          <p:cNvSpPr txBox="1"/>
          <p:nvPr/>
        </p:nvSpPr>
        <p:spPr>
          <a:xfrm>
            <a:off x="6908800" y="1524000"/>
            <a:ext cx="4368800" cy="355600"/>
          </a:xfrm>
          <a:prstGeom prst="rect">
            <a:avLst/>
          </a:prstGeom>
          <a:noFill/>
        </p:spPr>
        <p:txBody>
          <a:bodyPr vertOverflow="overflow" vert="horz" wrap="square" rtlCol="0" anchor="t">
            <a:noAutofit/>
          </a:bodyPr>
          <a:lstStyle/>
          <a:p>
            <a:pPr algn="l"/>
            <a:r>
              <a:rPr lang="en-US" sz="1700" b="1">
                <a:solidFill>
                  <a:srgbClr val="FFFFFF"/>
                </a:solidFill>
              </a:rPr>
              <a:t>What makes one unique time series?</a:t>
            </a:r>
          </a:p>
        </p:txBody>
      </p:sp>
      <p:sp>
        <p:nvSpPr>
          <p:cNvPr id="14" name="TextBox 13">
            <a:extLst>
              <a:ext uri="{FF2B5EF4-FFF2-40B4-BE49-F238E27FC236}">
                <a16:creationId xmlns:a16="http://schemas.microsoft.com/office/drawing/2014/main" id="{330EBED3-2046-4E71-AF8F-9446EFFDF9CB}"/>
              </a:ext>
            </a:extLst>
          </p:cNvPr>
          <p:cNvSpPr txBox="1"/>
          <p:nvPr/>
        </p:nvSpPr>
        <p:spPr>
          <a:xfrm>
            <a:off x="6350000" y="2032000"/>
            <a:ext cx="4927600" cy="1371600"/>
          </a:xfrm>
          <a:prstGeom prst="rect">
            <a:avLst/>
          </a:prstGeom>
          <a:noFill/>
        </p:spPr>
        <p:txBody>
          <a:bodyPr vertOverflow="overflow" vert="horz" wrap="square" rtlCol="0" anchor="t">
            <a:noAutofit/>
          </a:bodyPr>
          <a:lstStyle/>
          <a:p>
            <a:pPr algn="l"/>
            <a:r>
              <a:rPr lang="en-US" sz="1500">
                <a:solidFill>
                  <a:srgbClr val="B4BECC"/>
                </a:solidFill>
              </a:rPr>
              <a:t>A  The metric name only
B  Name + exact set of label values
C  The job name
D  The scrape interval</a:t>
            </a:r>
          </a:p>
        </p:txBody>
      </p:sp>
      <p:sp>
        <p:nvSpPr>
          <p:cNvPr id="15" name="Rectangle 14">
            <a:extLst>
              <a:ext uri="{FF2B5EF4-FFF2-40B4-BE49-F238E27FC236}">
                <a16:creationId xmlns:a16="http://schemas.microsoft.com/office/drawing/2014/main" id="{5000776B-5893-4FB8-B059-1288092CDE3E}"/>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41355576-0D62-442D-B5F8-6439C2C15764}"/>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29597821-4879-4AEC-8D5E-CF4E0F8AFE77}"/>
              </a:ext>
            </a:extLst>
          </p:cNvPr>
          <p:cNvSpPr/>
          <p:nvPr/>
        </p:nvSpPr>
        <p:spPr>
          <a:xfrm>
            <a:off x="914400" y="39878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1A9353C2-506D-4C62-9F4E-62805D987481}"/>
              </a:ext>
            </a:extLst>
          </p:cNvPr>
          <p:cNvSpPr txBox="1"/>
          <p:nvPr/>
        </p:nvSpPr>
        <p:spPr>
          <a:xfrm>
            <a:off x="1498600" y="3987800"/>
            <a:ext cx="4368800" cy="355600"/>
          </a:xfrm>
          <a:prstGeom prst="rect">
            <a:avLst/>
          </a:prstGeom>
          <a:noFill/>
        </p:spPr>
        <p:txBody>
          <a:bodyPr vertOverflow="overflow" vert="horz" wrap="square" rtlCol="0" anchor="t">
            <a:noAutofit/>
          </a:bodyPr>
          <a:lstStyle/>
          <a:p>
            <a:pPr algn="l"/>
            <a:r>
              <a:rPr lang="en-US" sz="1700" b="1">
                <a:solidFill>
                  <a:srgbClr val="FFFFFF"/>
                </a:solidFill>
              </a:rPr>
              <a:t>Which label is a cardinality bomb?</a:t>
            </a:r>
          </a:p>
        </p:txBody>
      </p:sp>
      <p:sp>
        <p:nvSpPr>
          <p:cNvPr id="19" name="TextBox 18">
            <a:extLst>
              <a:ext uri="{FF2B5EF4-FFF2-40B4-BE49-F238E27FC236}">
                <a16:creationId xmlns:a16="http://schemas.microsoft.com/office/drawing/2014/main" id="{B672DE39-9400-4071-96D9-572A88F0B0D7}"/>
              </a:ext>
            </a:extLst>
          </p:cNvPr>
          <p:cNvSpPr txBox="1"/>
          <p:nvPr/>
        </p:nvSpPr>
        <p:spPr>
          <a:xfrm>
            <a:off x="939800" y="4495800"/>
            <a:ext cx="4927600" cy="1371600"/>
          </a:xfrm>
          <a:prstGeom prst="rect">
            <a:avLst/>
          </a:prstGeom>
          <a:noFill/>
        </p:spPr>
        <p:txBody>
          <a:bodyPr vertOverflow="overflow" vert="horz" wrap="square" rtlCol="0" anchor="t">
            <a:noAutofit/>
          </a:bodyPr>
          <a:lstStyle/>
          <a:p>
            <a:pPr algn="l"/>
            <a:r>
              <a:rPr lang="en-US" sz="1500">
                <a:solidFill>
                  <a:srgbClr val="B4BECC"/>
                </a:solidFill>
              </a:rPr>
              <a:t>A  job
B  instance
C  user_id
D  region</a:t>
            </a:r>
          </a:p>
        </p:txBody>
      </p:sp>
      <p:sp>
        <p:nvSpPr>
          <p:cNvPr id="20" name="Rectangle 19">
            <a:extLst>
              <a:ext uri="{FF2B5EF4-FFF2-40B4-BE49-F238E27FC236}">
                <a16:creationId xmlns:a16="http://schemas.microsoft.com/office/drawing/2014/main" id="{D3668C7D-F320-4728-AAEB-ED9D67C6F12B}"/>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952683EB-4B46-4781-A918-C23C96D643FA}"/>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4A65EB5-1B77-4A49-9CFE-31D18DD37D68}"/>
              </a:ext>
            </a:extLst>
          </p:cNvPr>
          <p:cNvSpPr/>
          <p:nvPr/>
        </p:nvSpPr>
        <p:spPr>
          <a:xfrm>
            <a:off x="6324600" y="39878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26593D65-0500-44D3-BCAD-263144D153F7}"/>
              </a:ext>
            </a:extLst>
          </p:cNvPr>
          <p:cNvSpPr txBox="1"/>
          <p:nvPr/>
        </p:nvSpPr>
        <p:spPr>
          <a:xfrm>
            <a:off x="6908800" y="3987800"/>
            <a:ext cx="4368800" cy="355600"/>
          </a:xfrm>
          <a:prstGeom prst="rect">
            <a:avLst/>
          </a:prstGeom>
          <a:noFill/>
        </p:spPr>
        <p:txBody>
          <a:bodyPr vertOverflow="overflow" vert="horz" wrap="square" rtlCol="0" anchor="t">
            <a:noAutofit/>
          </a:bodyPr>
          <a:lstStyle/>
          <a:p>
            <a:pPr algn="l"/>
            <a:r>
              <a:rPr lang="en-US" sz="1700" b="1">
                <a:solidFill>
                  <a:srgbClr val="FFFFFF"/>
                </a:solidFill>
              </a:rPr>
              <a:t>You want per-second request rate:</a:t>
            </a:r>
          </a:p>
        </p:txBody>
      </p:sp>
      <p:sp>
        <p:nvSpPr>
          <p:cNvPr id="24" name="TextBox 23">
            <a:extLst>
              <a:ext uri="{FF2B5EF4-FFF2-40B4-BE49-F238E27FC236}">
                <a16:creationId xmlns:a16="http://schemas.microsoft.com/office/drawing/2014/main" id="{F0DE19E7-0F70-46BC-A36C-C8262F24D35E}"/>
              </a:ext>
            </a:extLst>
          </p:cNvPr>
          <p:cNvSpPr txBox="1"/>
          <p:nvPr/>
        </p:nvSpPr>
        <p:spPr>
          <a:xfrm>
            <a:off x="6350000" y="4495800"/>
            <a:ext cx="4927600" cy="1371600"/>
          </a:xfrm>
          <a:prstGeom prst="rect">
            <a:avLst/>
          </a:prstGeom>
          <a:noFill/>
        </p:spPr>
        <p:txBody>
          <a:bodyPr vertOverflow="overflow" vert="horz" wrap="square" rtlCol="0" anchor="t">
            <a:noAutofit/>
          </a:bodyPr>
          <a:lstStyle/>
          <a:p>
            <a:pPr algn="l"/>
            <a:r>
              <a:rPr lang="pt-BR" sz="1500">
                <a:solidFill>
                  <a:srgbClr val="B4BECC"/>
                </a:solidFill>
              </a:rPr>
              <a:t>A  http_requests_total
B  rate(http_requests_total[5m])
C  sum(http_requests_total)
D  increase(http_requests_total)</a:t>
            </a:r>
            <a:endParaRPr lang="en-US" sz="1500">
              <a:solidFill>
                <a:srgbClr val="B4BECC"/>
              </a:solidFill>
            </a:endParaRPr>
          </a:p>
        </p:txBody>
      </p:sp>
    </p:spTree>
    <p:extLst>
      <p:ext uri="{BB962C8B-B14F-4D97-AF65-F5344CB8AC3E}">
        <p14:creationId xmlns:p14="http://schemas.microsoft.com/office/powerpoint/2010/main" val="3049058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30F7-4642-AA0C-DFFB-9D94972BC7AC}"/>
              </a:ext>
            </a:extLst>
          </p:cNvPr>
          <p:cNvSpPr>
            <a:spLocks noGrp="1"/>
          </p:cNvSpPr>
          <p:nvPr>
            <p:ph type="title"/>
          </p:nvPr>
        </p:nvSpPr>
        <p:spPr>
          <a:xfrm>
            <a:off x="762000" y="279400"/>
            <a:ext cx="10668000" cy="508000"/>
          </a:xfrm>
        </p:spPr>
        <p:txBody>
          <a:bodyPr>
            <a:normAutofit fontScale="90000"/>
          </a:bodyPr>
          <a:lstStyle/>
          <a:p>
            <a:r>
              <a:rPr lang="en-US"/>
              <a:t>Quiz 2: Answers and Why</a:t>
            </a:r>
          </a:p>
        </p:txBody>
      </p:sp>
      <p:sp>
        <p:nvSpPr>
          <p:cNvPr id="3" name="Rectangle 2">
            <a:extLst>
              <a:ext uri="{FF2B5EF4-FFF2-40B4-BE49-F238E27FC236}">
                <a16:creationId xmlns:a16="http://schemas.microsoft.com/office/drawing/2014/main" id="{454489DB-1A4D-471A-84DB-CC784BF6B294}"/>
              </a:ext>
            </a:extLst>
          </p:cNvPr>
          <p:cNvSpPr/>
          <p:nvPr/>
        </p:nvSpPr>
        <p:spPr>
          <a:xfrm>
            <a:off x="762000" y="812800"/>
            <a:ext cx="1524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57716B1-4B46-4338-AE80-76C42C037A2E}"/>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Green is the answer | the line underneath is the point to remember</a:t>
            </a:r>
          </a:p>
        </p:txBody>
      </p:sp>
      <p:sp>
        <p:nvSpPr>
          <p:cNvPr id="5" name="Rectangle 4">
            <a:extLst>
              <a:ext uri="{FF2B5EF4-FFF2-40B4-BE49-F238E27FC236}">
                <a16:creationId xmlns:a16="http://schemas.microsoft.com/office/drawing/2014/main" id="{1D0F55E3-5E86-485E-9180-8AA76154F381}"/>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5E916B7D-055A-4833-98BB-AB38851C4D3E}"/>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4942758-058C-4781-BE8D-453EDCE47464}"/>
              </a:ext>
            </a:extLst>
          </p:cNvPr>
          <p:cNvSpPr/>
          <p:nvPr/>
        </p:nvSpPr>
        <p:spPr>
          <a:xfrm>
            <a:off x="914400" y="15240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3A4AC887-9035-4E69-8CF1-1ADEB7C8FA25}"/>
              </a:ext>
            </a:extLst>
          </p:cNvPr>
          <p:cNvSpPr txBox="1"/>
          <p:nvPr/>
        </p:nvSpPr>
        <p:spPr>
          <a:xfrm>
            <a:off x="14986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B  It scrapes HTTP endpoints</a:t>
            </a:r>
          </a:p>
        </p:txBody>
      </p:sp>
      <p:sp>
        <p:nvSpPr>
          <p:cNvPr id="9" name="TextBox 8">
            <a:extLst>
              <a:ext uri="{FF2B5EF4-FFF2-40B4-BE49-F238E27FC236}">
                <a16:creationId xmlns:a16="http://schemas.microsoft.com/office/drawing/2014/main" id="{ED0670F5-A390-49F6-8E8E-921F96ACD786}"/>
              </a:ext>
            </a:extLst>
          </p:cNvPr>
          <p:cNvSpPr txBox="1"/>
          <p:nvPr/>
        </p:nvSpPr>
        <p:spPr>
          <a:xfrm>
            <a:off x="9398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Pull model. Prometheus asks targets for /metrics on a schedule, so a target that vanishes shows up as up == 0.</a:t>
            </a:r>
          </a:p>
        </p:txBody>
      </p:sp>
      <p:sp>
        <p:nvSpPr>
          <p:cNvPr id="10" name="Rectangle 9">
            <a:extLst>
              <a:ext uri="{FF2B5EF4-FFF2-40B4-BE49-F238E27FC236}">
                <a16:creationId xmlns:a16="http://schemas.microsoft.com/office/drawing/2014/main" id="{AF5ACEB5-83CE-4F98-86E1-00A89CFE33D9}"/>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869C7AEF-F84A-4E4B-910D-6CF7E5189132}"/>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BE251B5A-C840-4469-8E41-403F5A9EEC96}"/>
              </a:ext>
            </a:extLst>
          </p:cNvPr>
          <p:cNvSpPr/>
          <p:nvPr/>
        </p:nvSpPr>
        <p:spPr>
          <a:xfrm>
            <a:off x="6324600" y="15240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18DE7FA6-F55A-4A54-ADC2-7E475117E31A}"/>
              </a:ext>
            </a:extLst>
          </p:cNvPr>
          <p:cNvSpPr txBox="1"/>
          <p:nvPr/>
        </p:nvSpPr>
        <p:spPr>
          <a:xfrm>
            <a:off x="69088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B  Name + exact label values</a:t>
            </a:r>
          </a:p>
        </p:txBody>
      </p:sp>
      <p:sp>
        <p:nvSpPr>
          <p:cNvPr id="14" name="TextBox 13">
            <a:extLst>
              <a:ext uri="{FF2B5EF4-FFF2-40B4-BE49-F238E27FC236}">
                <a16:creationId xmlns:a16="http://schemas.microsoft.com/office/drawing/2014/main" id="{DB940369-97F5-49BE-A5EB-519D70A190D3}"/>
              </a:ext>
            </a:extLst>
          </p:cNvPr>
          <p:cNvSpPr txBox="1"/>
          <p:nvPr/>
        </p:nvSpPr>
        <p:spPr>
          <a:xfrm>
            <a:off x="63500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Change one label value and you have created a brand new series with its own memory cost.</a:t>
            </a:r>
          </a:p>
        </p:txBody>
      </p:sp>
      <p:sp>
        <p:nvSpPr>
          <p:cNvPr id="15" name="Rectangle 14">
            <a:extLst>
              <a:ext uri="{FF2B5EF4-FFF2-40B4-BE49-F238E27FC236}">
                <a16:creationId xmlns:a16="http://schemas.microsoft.com/office/drawing/2014/main" id="{13AD8F92-11E2-4986-9F56-7CE6A0A32C08}"/>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45AAA70B-3803-4FB2-9839-5368618C4C23}"/>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439FDB26-E829-4921-A592-86D7A1965F63}"/>
              </a:ext>
            </a:extLst>
          </p:cNvPr>
          <p:cNvSpPr/>
          <p:nvPr/>
        </p:nvSpPr>
        <p:spPr>
          <a:xfrm>
            <a:off x="914400" y="39878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48A1F820-B9BB-46D8-BEA6-1611AF0561CB}"/>
              </a:ext>
            </a:extLst>
          </p:cNvPr>
          <p:cNvSpPr txBox="1"/>
          <p:nvPr/>
        </p:nvSpPr>
        <p:spPr>
          <a:xfrm>
            <a:off x="14986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C  user_id</a:t>
            </a:r>
          </a:p>
        </p:txBody>
      </p:sp>
      <p:sp>
        <p:nvSpPr>
          <p:cNvPr id="19" name="TextBox 18">
            <a:extLst>
              <a:ext uri="{FF2B5EF4-FFF2-40B4-BE49-F238E27FC236}">
                <a16:creationId xmlns:a16="http://schemas.microsoft.com/office/drawing/2014/main" id="{CB93B6E9-86CA-470D-9527-D2975C331055}"/>
              </a:ext>
            </a:extLst>
          </p:cNvPr>
          <p:cNvSpPr txBox="1"/>
          <p:nvPr/>
        </p:nvSpPr>
        <p:spPr>
          <a:xfrm>
            <a:off x="9398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Unbounded values explode series count. Keep labels to a small, known set - never IDs, emails or URLs.</a:t>
            </a:r>
          </a:p>
        </p:txBody>
      </p:sp>
      <p:sp>
        <p:nvSpPr>
          <p:cNvPr id="20" name="Rectangle 19">
            <a:extLst>
              <a:ext uri="{FF2B5EF4-FFF2-40B4-BE49-F238E27FC236}">
                <a16:creationId xmlns:a16="http://schemas.microsoft.com/office/drawing/2014/main" id="{38729660-C607-4378-B612-DF80FAD8D972}"/>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7A19449B-F584-405A-8009-C55194D6F02A}"/>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DB241AF-37D5-456E-864C-7F3749E7C41A}"/>
              </a:ext>
            </a:extLst>
          </p:cNvPr>
          <p:cNvSpPr/>
          <p:nvPr/>
        </p:nvSpPr>
        <p:spPr>
          <a:xfrm>
            <a:off x="6324600" y="39878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632E7CB8-093B-489B-80AC-26CD1CB5441C}"/>
              </a:ext>
            </a:extLst>
          </p:cNvPr>
          <p:cNvSpPr txBox="1"/>
          <p:nvPr/>
        </p:nvSpPr>
        <p:spPr>
          <a:xfrm>
            <a:off x="69088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B  rate(...[5m])</a:t>
            </a:r>
          </a:p>
        </p:txBody>
      </p:sp>
      <p:sp>
        <p:nvSpPr>
          <p:cNvPr id="24" name="TextBox 23">
            <a:extLst>
              <a:ext uri="{FF2B5EF4-FFF2-40B4-BE49-F238E27FC236}">
                <a16:creationId xmlns:a16="http://schemas.microsoft.com/office/drawing/2014/main" id="{40239250-DC4D-4F6E-ADD5-A648B8069D04}"/>
              </a:ext>
            </a:extLst>
          </p:cNvPr>
          <p:cNvSpPr txBox="1"/>
          <p:nvPr/>
        </p:nvSpPr>
        <p:spPr>
          <a:xfrm>
            <a:off x="63500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Counters only go up. rate() over a range turns that climbing line into a readable per-second figure.</a:t>
            </a:r>
          </a:p>
        </p:txBody>
      </p:sp>
    </p:spTree>
    <p:extLst>
      <p:ext uri="{BB962C8B-B14F-4D97-AF65-F5344CB8AC3E}">
        <p14:creationId xmlns:p14="http://schemas.microsoft.com/office/powerpoint/2010/main" val="13040635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8311-5473-F98C-86A7-B1E1CA9A1B60}"/>
              </a:ext>
            </a:extLst>
          </p:cNvPr>
          <p:cNvSpPr>
            <a:spLocks noGrp="1"/>
          </p:cNvSpPr>
          <p:nvPr>
            <p:ph type="title"/>
          </p:nvPr>
        </p:nvSpPr>
        <p:spPr>
          <a:xfrm>
            <a:off x="838200" y="2489200"/>
            <a:ext cx="7874000" cy="1016000"/>
          </a:xfrm>
        </p:spPr>
        <p:txBody>
          <a:bodyPr/>
          <a:lstStyle/>
          <a:p>
            <a:pPr algn="l">
              <a:buNone/>
            </a:pPr>
            <a:r>
              <a:rPr lang="en-US" sz="4400" b="1" dirty="0">
                <a:solidFill>
                  <a:srgbClr val="FFFFFF"/>
                </a:solidFill>
              </a:rPr>
              <a:t>Lab 2: Build It Yourself</a:t>
            </a:r>
          </a:p>
        </p:txBody>
      </p:sp>
      <p:sp>
        <p:nvSpPr>
          <p:cNvPr id="3" name="Text Placeholder 2">
            <a:extLst>
              <a:ext uri="{FF2B5EF4-FFF2-40B4-BE49-F238E27FC236}">
                <a16:creationId xmlns:a16="http://schemas.microsoft.com/office/drawing/2014/main" id="{912B38F1-F4C2-9AC5-69D6-9D0E077B621C}"/>
              </a:ext>
            </a:extLst>
          </p:cNvPr>
          <p:cNvSpPr>
            <a:spLocks noGrp="1"/>
          </p:cNvSpPr>
          <p:nvPr>
            <p:ph type="body" idx="1"/>
          </p:nvPr>
        </p:nvSpPr>
        <p:spPr>
          <a:xfrm>
            <a:off x="838200" y="3632200"/>
            <a:ext cx="9398000" cy="762000"/>
          </a:xfrm>
        </p:spPr>
        <p:txBody>
          <a:bodyPr/>
          <a:lstStyle/>
          <a:p>
            <a:pPr algn="l">
              <a:buNone/>
            </a:pPr>
            <a:r>
              <a:rPr lang="en-US" sz="1700" b="0" dirty="0">
                <a:solidFill>
                  <a:srgbClr val="A9B2C1"/>
                </a:solidFill>
              </a:rPr>
              <a:t>Five tasks, 30 minutes. Each one has a checkpoint - if the checkpoint passes, move on.</a:t>
            </a:r>
          </a:p>
        </p:txBody>
      </p:sp>
      <p:sp>
        <p:nvSpPr>
          <p:cNvPr id="911" name="S911"/>
          <p:cNvSpPr/>
          <p:nvPr/>
        </p:nvSpPr>
        <p:spPr>
          <a:xfrm>
            <a:off x="7493000" y="1524000"/>
            <a:ext cx="3937000" cy="3048000"/>
          </a:xfrm>
          <a:prstGeom prst="rect">
            <a:avLst/>
          </a:prstGeom>
          <a:noFill/>
          <a:ln>
            <a:noFill/>
          </a:ln>
        </p:spPr>
        <p:txBody>
          <a:bodyPr wrap="square" lIns="0" tIns="50800" rIns="0" bIns="50800" anchor="ctr"/>
          <a:lstStyle/>
          <a:p>
            <a:pPr algn="r">
              <a:buNone/>
            </a:pPr>
            <a:r>
              <a:rPr lang="en-US" sz="11000" b="1" dirty="0">
                <a:solidFill>
                  <a:srgbClr val="1B202B"/>
                </a:solidFill>
              </a:rPr>
              <a:t>LAB</a:t>
            </a:r>
          </a:p>
        </p:txBody>
      </p:sp>
      <p:sp>
        <p:nvSpPr>
          <p:cNvPr id="912" name="S912"/>
          <p:cNvSpPr/>
          <p:nvPr/>
        </p:nvSpPr>
        <p:spPr>
          <a:xfrm>
            <a:off x="838200" y="1905000"/>
            <a:ext cx="3810000" cy="406400"/>
          </a:xfrm>
          <a:prstGeom prst="roundRect">
            <a:avLst/>
          </a:prstGeom>
          <a:solidFill>
            <a:srgbClr val="0C2010"/>
          </a:solidFill>
          <a:ln w="12700">
            <a:solidFill>
              <a:srgbClr val="56A64B"/>
            </a:solidFill>
          </a:ln>
        </p:spPr>
        <p:txBody>
          <a:bodyPr wrap="square" lIns="127000" tIns="50800" rIns="127000" bIns="50800" anchor="ctr"/>
          <a:lstStyle/>
          <a:p>
            <a:pPr algn="ctr">
              <a:buNone/>
            </a:pPr>
            <a:r>
              <a:rPr lang="en-US" sz="1400" b="1" dirty="0">
                <a:solidFill>
                  <a:srgbClr val="7FD46F"/>
                </a:solidFill>
              </a:rPr>
              <a:t>HANDS-ON LAB 2</a:t>
            </a:r>
          </a:p>
        </p:txBody>
      </p:sp>
      <p:sp>
        <p:nvSpPr>
          <p:cNvPr id="913" name="S913"/>
          <p:cNvSpPr/>
          <p:nvPr/>
        </p:nvSpPr>
        <p:spPr>
          <a:xfrm>
            <a:off x="838200" y="3581400"/>
            <a:ext cx="1524000" cy="50800"/>
          </a:xfrm>
          <a:prstGeom prst="rect">
            <a:avLst/>
          </a:prstGeom>
          <a:solidFill>
            <a:srgbClr val="56A64B"/>
          </a:solidFill>
          <a:ln>
            <a:noFill/>
          </a:ln>
        </p:spPr>
        <p:txBody>
          <a:bodyPr wrap="square" lIns="127000" tIns="50800" rIns="127000" bIns="50800" anchor="ctr"/>
          <a:lstStyle/>
          <a:p>
            <a:endParaRPr/>
          </a:p>
        </p:txBody>
      </p:sp>
      <p:sp>
        <p:nvSpPr>
          <p:cNvPr id="4" name="Lab1Callback">
            <a:extLst>
              <a:ext uri="{FF2B5EF4-FFF2-40B4-BE49-F238E27FC236}">
                <a16:creationId xmlns:a16="http://schemas.microsoft.com/office/drawing/2014/main" id="{699D8AF7-B96F-455D-9E47-8DF45A2E3C09}"/>
              </a:ext>
            </a:extLst>
          </p:cNvPr>
          <p:cNvSpPr txBox="1"/>
          <p:nvPr/>
        </p:nvSpPr>
        <p:spPr>
          <a:xfrm>
            <a:off x="838200" y="4470400"/>
            <a:ext cx="9398000" cy="330200"/>
          </a:xfrm>
          <a:prstGeom prst="rect">
            <a:avLst/>
          </a:prstGeom>
          <a:noFill/>
        </p:spPr>
        <p:txBody>
          <a:bodyPr vertOverflow="overflow" vert="horz" wrap="square" rtlCol="0" anchor="t" anchorCtr="0">
            <a:noAutofit/>
          </a:bodyPr>
          <a:lstStyle/>
          <a:p>
            <a:pPr algn="l"/>
            <a:r>
              <a:rPr lang="en-US" sz="1500" i="1">
                <a:solidFill>
                  <a:srgbClr val="D6DDE6"/>
                </a:solidFill>
              </a:rPr>
              <a:t>Picks up where Lab 1 left off — same environment, same data sources.</a:t>
            </a:r>
          </a:p>
        </p:txBody>
      </p:sp>
    </p:spTree>
    <p:extLst>
      <p:ext uri="{BB962C8B-B14F-4D97-AF65-F5344CB8AC3E}">
        <p14:creationId xmlns:p14="http://schemas.microsoft.com/office/powerpoint/2010/main" val="2683179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35436-3897-B2D4-8DF4-C26A4BB14509}"/>
              </a:ext>
            </a:extLst>
          </p:cNvPr>
          <p:cNvSpPr>
            <a:spLocks noGrp="1"/>
          </p:cNvSpPr>
          <p:nvPr>
            <p:ph type="title"/>
          </p:nvPr>
        </p:nvSpPr>
        <p:spPr>
          <a:xfrm>
            <a:off x="762000" y="304800"/>
            <a:ext cx="10668000" cy="533400"/>
          </a:xfrm>
        </p:spPr>
        <p:txBody>
          <a:bodyPr>
            <a:normAutofit fontScale="90000"/>
          </a:bodyPr>
          <a:lstStyle/>
          <a:p>
            <a:pPr algn="l">
              <a:buNone/>
            </a:pPr>
            <a:r>
              <a:rPr lang="en-US" sz="3400" b="1" dirty="0">
                <a:solidFill>
                  <a:srgbClr val="FFFFFF"/>
                </a:solidFill>
              </a:rPr>
              <a:t>Lab 2 Environment</a:t>
            </a:r>
          </a:p>
        </p:txBody>
      </p:sp>
      <p:sp>
        <p:nvSpPr>
          <p:cNvPr id="941" name="S941"/>
          <p:cNvSpPr/>
          <p:nvPr/>
        </p:nvSpPr>
        <p:spPr>
          <a:xfrm>
            <a:off x="762000" y="863600"/>
            <a:ext cx="1524000" cy="50800"/>
          </a:xfrm>
          <a:prstGeom prst="rect">
            <a:avLst/>
          </a:prstGeom>
          <a:solidFill>
            <a:srgbClr val="56A64B"/>
          </a:solidFill>
          <a:ln>
            <a:noFill/>
          </a:ln>
        </p:spPr>
        <p:txBody>
          <a:bodyPr wrap="square" lIns="127000" tIns="38100" rIns="127000" bIns="38100" anchor="ctr"/>
          <a:lstStyle/>
          <a:p>
            <a:endParaRPr/>
          </a:p>
        </p:txBody>
      </p:sp>
      <p:sp>
        <p:nvSpPr>
          <p:cNvPr id="942" name="S942"/>
          <p:cNvSpPr/>
          <p:nvPr/>
        </p:nvSpPr>
        <p:spPr>
          <a:xfrm>
            <a:off x="762000" y="1143000"/>
            <a:ext cx="7620000" cy="4495800"/>
          </a:xfrm>
          <a:prstGeom prst="roundRect">
            <a:avLst/>
          </a:prstGeom>
          <a:solidFill>
            <a:srgbClr val="0E1219"/>
          </a:solidFill>
          <a:ln w="12700">
            <a:solidFill>
              <a:srgbClr val="2B3140"/>
            </a:solidFill>
          </a:ln>
        </p:spPr>
        <p:txBody>
          <a:bodyPr wrap="square" lIns="127000" tIns="38100" rIns="127000" bIns="38100" anchor="ctr"/>
          <a:lstStyle/>
          <a:p>
            <a:endParaRPr/>
          </a:p>
        </p:txBody>
      </p:sp>
      <p:sp>
        <p:nvSpPr>
          <p:cNvPr id="943" name="S943"/>
          <p:cNvSpPr/>
          <p:nvPr/>
        </p:nvSpPr>
        <p:spPr>
          <a:xfrm>
            <a:off x="939800" y="1219200"/>
            <a:ext cx="3810000" cy="304800"/>
          </a:xfrm>
          <a:prstGeom prst="rect">
            <a:avLst/>
          </a:prstGeom>
          <a:noFill/>
          <a:ln>
            <a:noFill/>
          </a:ln>
        </p:spPr>
        <p:txBody>
          <a:bodyPr wrap="square" lIns="0" tIns="38100" rIns="0" bIns="38100" anchor="ctr"/>
          <a:lstStyle/>
          <a:p>
            <a:pPr algn="l">
              <a:buNone/>
            </a:pPr>
            <a:r>
              <a:rPr lang="en-US" sz="1400" b="1" dirty="0">
                <a:solidFill>
                  <a:srgbClr val="8A94A5"/>
                </a:solidFill>
              </a:rPr>
              <a:t>docker compose lab stack</a:t>
            </a:r>
          </a:p>
        </p:txBody>
      </p:sp>
      <p:sp>
        <p:nvSpPr>
          <p:cNvPr id="944" name="S944"/>
          <p:cNvSpPr/>
          <p:nvPr/>
        </p:nvSpPr>
        <p:spPr>
          <a:xfrm>
            <a:off x="965200" y="1600200"/>
            <a:ext cx="2032000" cy="787400"/>
          </a:xfrm>
          <a:prstGeom prst="roundRect">
            <a:avLst/>
          </a:prstGeom>
          <a:solidFill>
            <a:srgbClr val="141821"/>
          </a:solidFill>
          <a:ln w="12700">
            <a:solidFill>
              <a:srgbClr val="3274D9"/>
            </a:solidFill>
          </a:ln>
        </p:spPr>
        <p:txBody>
          <a:bodyPr wrap="square" lIns="127000" tIns="38100" rIns="127000" bIns="38100" anchor="ctr"/>
          <a:lstStyle/>
          <a:p>
            <a:endParaRPr/>
          </a:p>
        </p:txBody>
      </p:sp>
      <p:sp>
        <p:nvSpPr>
          <p:cNvPr id="945" name="S945"/>
          <p:cNvSpPr/>
          <p:nvPr/>
        </p:nvSpPr>
        <p:spPr>
          <a:xfrm>
            <a:off x="1066800" y="1676400"/>
            <a:ext cx="1828800" cy="330200"/>
          </a:xfrm>
          <a:prstGeom prst="rect">
            <a:avLst/>
          </a:prstGeom>
          <a:noFill/>
          <a:ln>
            <a:noFill/>
          </a:ln>
        </p:spPr>
        <p:txBody>
          <a:bodyPr wrap="square" lIns="0" tIns="38100" rIns="0" bIns="38100" anchor="ctr"/>
          <a:lstStyle/>
          <a:p>
            <a:pPr algn="ctr">
              <a:buNone/>
            </a:pPr>
            <a:r>
              <a:rPr lang="en-US" sz="1500" b="1" dirty="0">
                <a:solidFill>
                  <a:srgbClr val="5A9BF0"/>
                </a:solidFill>
              </a:rPr>
              <a:t>Browser</a:t>
            </a:r>
          </a:p>
        </p:txBody>
      </p:sp>
      <p:sp>
        <p:nvSpPr>
          <p:cNvPr id="946" name="S946"/>
          <p:cNvSpPr/>
          <p:nvPr/>
        </p:nvSpPr>
        <p:spPr>
          <a:xfrm>
            <a:off x="1066800" y="1981200"/>
            <a:ext cx="1828800" cy="330200"/>
          </a:xfrm>
          <a:prstGeom prst="rect">
            <a:avLst/>
          </a:prstGeom>
          <a:noFill/>
          <a:ln>
            <a:noFill/>
          </a:ln>
        </p:spPr>
        <p:txBody>
          <a:bodyPr wrap="square" lIns="0" tIns="38100" rIns="0" bIns="38100" anchor="t"/>
          <a:lstStyle/>
          <a:p>
            <a:pPr algn="ctr">
              <a:buNone/>
            </a:pPr>
            <a:r>
              <a:rPr lang="en-US" sz="1400" b="0" dirty="0">
                <a:solidFill>
                  <a:srgbClr val="A9B2C1"/>
                </a:solidFill>
              </a:rPr>
              <a:t>you, right now</a:t>
            </a:r>
          </a:p>
        </p:txBody>
      </p:sp>
      <p:sp>
        <p:nvSpPr>
          <p:cNvPr id="947" name="S947"/>
          <p:cNvSpPr/>
          <p:nvPr/>
        </p:nvSpPr>
        <p:spPr>
          <a:xfrm>
            <a:off x="1778000" y="2438400"/>
            <a:ext cx="254000" cy="330200"/>
          </a:xfrm>
          <a:prstGeom prst="downArrow">
            <a:avLst/>
          </a:prstGeom>
          <a:solidFill>
            <a:srgbClr val="3A4252"/>
          </a:solidFill>
          <a:ln>
            <a:noFill/>
          </a:ln>
        </p:spPr>
        <p:txBody>
          <a:bodyPr wrap="square" lIns="127000" tIns="38100" rIns="127000" bIns="38100" anchor="ctr"/>
          <a:lstStyle/>
          <a:p>
            <a:endParaRPr/>
          </a:p>
        </p:txBody>
      </p:sp>
      <p:sp>
        <p:nvSpPr>
          <p:cNvPr id="948" name="S948"/>
          <p:cNvSpPr/>
          <p:nvPr/>
        </p:nvSpPr>
        <p:spPr>
          <a:xfrm>
            <a:off x="965200" y="2819400"/>
            <a:ext cx="2032000" cy="965200"/>
          </a:xfrm>
          <a:prstGeom prst="roundRect">
            <a:avLst/>
          </a:prstGeom>
          <a:solidFill>
            <a:srgbClr val="141821"/>
          </a:solidFill>
          <a:ln w="12700">
            <a:solidFill>
              <a:srgbClr val="F46800"/>
            </a:solidFill>
          </a:ln>
        </p:spPr>
        <p:txBody>
          <a:bodyPr wrap="square" lIns="127000" tIns="38100" rIns="127000" bIns="38100" anchor="ctr"/>
          <a:lstStyle/>
          <a:p>
            <a:endParaRPr/>
          </a:p>
        </p:txBody>
      </p:sp>
      <p:sp>
        <p:nvSpPr>
          <p:cNvPr id="949" name="S949"/>
          <p:cNvSpPr/>
          <p:nvPr/>
        </p:nvSpPr>
        <p:spPr>
          <a:xfrm>
            <a:off x="1066800" y="2895600"/>
            <a:ext cx="1828800" cy="330200"/>
          </a:xfrm>
          <a:prstGeom prst="rect">
            <a:avLst/>
          </a:prstGeom>
          <a:noFill/>
          <a:ln>
            <a:noFill/>
          </a:ln>
        </p:spPr>
        <p:txBody>
          <a:bodyPr wrap="square" lIns="0" tIns="38100" rIns="0" bIns="38100" anchor="ctr"/>
          <a:lstStyle/>
          <a:p>
            <a:pPr algn="ctr">
              <a:buNone/>
            </a:pPr>
            <a:r>
              <a:rPr lang="en-US" sz="1500" b="1" dirty="0">
                <a:solidFill>
                  <a:srgbClr val="F46800"/>
                </a:solidFill>
              </a:rPr>
              <a:t>Grafana</a:t>
            </a:r>
          </a:p>
        </p:txBody>
      </p:sp>
      <p:sp>
        <p:nvSpPr>
          <p:cNvPr id="950" name="S950"/>
          <p:cNvSpPr/>
          <p:nvPr/>
        </p:nvSpPr>
        <p:spPr>
          <a:xfrm>
            <a:off x="1066800" y="3200400"/>
            <a:ext cx="1828800" cy="508000"/>
          </a:xfrm>
          <a:prstGeom prst="rect">
            <a:avLst/>
          </a:prstGeom>
          <a:noFill/>
          <a:ln>
            <a:noFill/>
          </a:ln>
        </p:spPr>
        <p:txBody>
          <a:bodyPr wrap="square" lIns="0" tIns="38100" rIns="0" bIns="38100" anchor="t"/>
          <a:lstStyle/>
          <a:p>
            <a:pPr algn="ctr">
              <a:buNone/>
            </a:pPr>
            <a:r>
              <a:rPr lang="en-US" sz="1400" b="0" dirty="0">
                <a:solidFill>
                  <a:srgbClr val="A9B2C1"/>
                </a:solidFill>
              </a:rPr>
              <a:t>port 3000</a:t>
            </a:r>
          </a:p>
        </p:txBody>
      </p:sp>
      <p:sp>
        <p:nvSpPr>
          <p:cNvPr id="951" name="S951"/>
          <p:cNvSpPr/>
          <p:nvPr/>
        </p:nvSpPr>
        <p:spPr>
          <a:xfrm>
            <a:off x="3378200" y="2819400"/>
            <a:ext cx="2032000" cy="965200"/>
          </a:xfrm>
          <a:prstGeom prst="roundRect">
            <a:avLst/>
          </a:prstGeom>
          <a:solidFill>
            <a:srgbClr val="141821"/>
          </a:solidFill>
          <a:ln w="12700">
            <a:solidFill>
              <a:srgbClr val="FF9830"/>
            </a:solidFill>
          </a:ln>
        </p:spPr>
        <p:txBody>
          <a:bodyPr wrap="square" lIns="127000" tIns="38100" rIns="127000" bIns="38100" anchor="ctr"/>
          <a:lstStyle/>
          <a:p>
            <a:endParaRPr/>
          </a:p>
        </p:txBody>
      </p:sp>
      <p:sp>
        <p:nvSpPr>
          <p:cNvPr id="952" name="S952"/>
          <p:cNvSpPr/>
          <p:nvPr/>
        </p:nvSpPr>
        <p:spPr>
          <a:xfrm>
            <a:off x="3479800" y="2895600"/>
            <a:ext cx="1828800" cy="330200"/>
          </a:xfrm>
          <a:prstGeom prst="rect">
            <a:avLst/>
          </a:prstGeom>
          <a:noFill/>
          <a:ln>
            <a:noFill/>
          </a:ln>
        </p:spPr>
        <p:txBody>
          <a:bodyPr wrap="square" lIns="0" tIns="38100" rIns="0" bIns="38100" anchor="ctr"/>
          <a:lstStyle/>
          <a:p>
            <a:pPr algn="ctr">
              <a:buNone/>
            </a:pPr>
            <a:r>
              <a:rPr lang="en-US" sz="1500" b="1" dirty="0">
                <a:solidFill>
                  <a:srgbClr val="FF9830"/>
                </a:solidFill>
              </a:rPr>
              <a:t>Prometheus</a:t>
            </a:r>
          </a:p>
        </p:txBody>
      </p:sp>
      <p:sp>
        <p:nvSpPr>
          <p:cNvPr id="953" name="S953"/>
          <p:cNvSpPr/>
          <p:nvPr/>
        </p:nvSpPr>
        <p:spPr>
          <a:xfrm>
            <a:off x="3479800" y="3200400"/>
            <a:ext cx="1828800" cy="508000"/>
          </a:xfrm>
          <a:prstGeom prst="rect">
            <a:avLst/>
          </a:prstGeom>
          <a:noFill/>
          <a:ln>
            <a:noFill/>
          </a:ln>
        </p:spPr>
        <p:txBody>
          <a:bodyPr wrap="square" lIns="0" tIns="38100" rIns="0" bIns="38100" anchor="t"/>
          <a:lstStyle/>
          <a:p>
            <a:pPr algn="ctr">
              <a:buNone/>
            </a:pPr>
            <a:r>
              <a:rPr lang="en-US" sz="1400" b="0" dirty="0">
                <a:solidFill>
                  <a:srgbClr val="A9B2C1"/>
                </a:solidFill>
              </a:rPr>
              <a:t>port 9090</a:t>
            </a:r>
          </a:p>
        </p:txBody>
      </p:sp>
      <p:sp>
        <p:nvSpPr>
          <p:cNvPr id="954" name="S954"/>
          <p:cNvSpPr/>
          <p:nvPr/>
        </p:nvSpPr>
        <p:spPr>
          <a:xfrm>
            <a:off x="3048000" y="3149600"/>
            <a:ext cx="279400" cy="279400"/>
          </a:xfrm>
          <a:prstGeom prst="rightArrow">
            <a:avLst/>
          </a:prstGeom>
          <a:solidFill>
            <a:srgbClr val="F46800"/>
          </a:solidFill>
          <a:ln>
            <a:noFill/>
          </a:ln>
        </p:spPr>
        <p:txBody>
          <a:bodyPr wrap="square" lIns="127000" tIns="38100" rIns="127000" bIns="38100" anchor="ctr"/>
          <a:lstStyle/>
          <a:p>
            <a:endParaRPr/>
          </a:p>
        </p:txBody>
      </p:sp>
      <p:sp>
        <p:nvSpPr>
          <p:cNvPr id="955" name="S955"/>
          <p:cNvSpPr/>
          <p:nvPr/>
        </p:nvSpPr>
        <p:spPr>
          <a:xfrm>
            <a:off x="5461000" y="1905000"/>
            <a:ext cx="279400" cy="279400"/>
          </a:xfrm>
          <a:prstGeom prst="rightArrow">
            <a:avLst/>
          </a:prstGeom>
          <a:solidFill>
            <a:srgbClr val="FF9830"/>
          </a:solidFill>
          <a:ln>
            <a:noFill/>
          </a:ln>
        </p:spPr>
        <p:txBody>
          <a:bodyPr wrap="square" lIns="127000" tIns="38100" rIns="127000" bIns="38100" anchor="ctr"/>
          <a:lstStyle/>
          <a:p>
            <a:endParaRPr/>
          </a:p>
        </p:txBody>
      </p:sp>
      <p:sp>
        <p:nvSpPr>
          <p:cNvPr id="956" name="S956"/>
          <p:cNvSpPr/>
          <p:nvPr/>
        </p:nvSpPr>
        <p:spPr>
          <a:xfrm>
            <a:off x="5461000" y="2844800"/>
            <a:ext cx="279400" cy="279400"/>
          </a:xfrm>
          <a:prstGeom prst="rightArrow">
            <a:avLst/>
          </a:prstGeom>
          <a:solidFill>
            <a:srgbClr val="FF9830"/>
          </a:solidFill>
          <a:ln>
            <a:noFill/>
          </a:ln>
        </p:spPr>
        <p:txBody>
          <a:bodyPr wrap="square" lIns="127000" tIns="38100" rIns="127000" bIns="38100" anchor="ctr"/>
          <a:lstStyle/>
          <a:p>
            <a:endParaRPr/>
          </a:p>
        </p:txBody>
      </p:sp>
      <p:sp>
        <p:nvSpPr>
          <p:cNvPr id="957" name="S957"/>
          <p:cNvSpPr/>
          <p:nvPr/>
        </p:nvSpPr>
        <p:spPr>
          <a:xfrm>
            <a:off x="5791200" y="1600200"/>
            <a:ext cx="2413000" cy="863600"/>
          </a:xfrm>
          <a:prstGeom prst="roundRect">
            <a:avLst/>
          </a:prstGeom>
          <a:solidFill>
            <a:srgbClr val="141821"/>
          </a:solidFill>
          <a:ln w="12700">
            <a:solidFill>
              <a:srgbClr val="B877D9"/>
            </a:solidFill>
          </a:ln>
        </p:spPr>
        <p:txBody>
          <a:bodyPr wrap="square" lIns="127000" tIns="38100" rIns="127000" bIns="38100" anchor="ctr"/>
          <a:lstStyle/>
          <a:p>
            <a:endParaRPr/>
          </a:p>
        </p:txBody>
      </p:sp>
      <p:sp>
        <p:nvSpPr>
          <p:cNvPr id="958" name="S958"/>
          <p:cNvSpPr/>
          <p:nvPr/>
        </p:nvSpPr>
        <p:spPr>
          <a:xfrm>
            <a:off x="5892800" y="1676400"/>
            <a:ext cx="2209800" cy="330200"/>
          </a:xfrm>
          <a:prstGeom prst="rect">
            <a:avLst/>
          </a:prstGeom>
          <a:noFill/>
          <a:ln>
            <a:noFill/>
          </a:ln>
        </p:spPr>
        <p:txBody>
          <a:bodyPr wrap="square" lIns="0" tIns="38100" rIns="0" bIns="38100" anchor="ctr"/>
          <a:lstStyle/>
          <a:p>
            <a:pPr algn="ctr">
              <a:buNone/>
            </a:pPr>
            <a:r>
              <a:rPr lang="en-US" sz="1500" b="1" dirty="0">
                <a:solidFill>
                  <a:srgbClr val="B877D9"/>
                </a:solidFill>
              </a:rPr>
              <a:t>node_exporter</a:t>
            </a:r>
          </a:p>
        </p:txBody>
      </p:sp>
      <p:sp>
        <p:nvSpPr>
          <p:cNvPr id="959" name="S959"/>
          <p:cNvSpPr/>
          <p:nvPr/>
        </p:nvSpPr>
        <p:spPr>
          <a:xfrm>
            <a:off x="5892800" y="1981200"/>
            <a:ext cx="2209800" cy="406400"/>
          </a:xfrm>
          <a:prstGeom prst="rect">
            <a:avLst/>
          </a:prstGeom>
          <a:noFill/>
          <a:ln>
            <a:noFill/>
          </a:ln>
        </p:spPr>
        <p:txBody>
          <a:bodyPr wrap="square" lIns="0" tIns="38100" rIns="0" bIns="38100" anchor="t"/>
          <a:lstStyle/>
          <a:p>
            <a:pPr algn="ctr">
              <a:buNone/>
            </a:pPr>
            <a:r>
              <a:rPr lang="en-US" sz="1400" b="0" dirty="0">
                <a:solidFill>
                  <a:srgbClr val="A9B2C1"/>
                </a:solidFill>
              </a:rPr>
              <a:t>port 9100 | host metrics</a:t>
            </a:r>
          </a:p>
        </p:txBody>
      </p:sp>
      <p:sp>
        <p:nvSpPr>
          <p:cNvPr id="960" name="S960"/>
          <p:cNvSpPr/>
          <p:nvPr/>
        </p:nvSpPr>
        <p:spPr>
          <a:xfrm>
            <a:off x="5791200" y="2590800"/>
            <a:ext cx="2413000" cy="863600"/>
          </a:xfrm>
          <a:prstGeom prst="roundRect">
            <a:avLst/>
          </a:prstGeom>
          <a:solidFill>
            <a:srgbClr val="141821"/>
          </a:solidFill>
          <a:ln w="12700">
            <a:solidFill>
              <a:srgbClr val="B877D9"/>
            </a:solidFill>
          </a:ln>
        </p:spPr>
        <p:txBody>
          <a:bodyPr wrap="square" lIns="127000" tIns="38100" rIns="127000" bIns="38100" anchor="ctr"/>
          <a:lstStyle/>
          <a:p>
            <a:endParaRPr/>
          </a:p>
        </p:txBody>
      </p:sp>
      <p:sp>
        <p:nvSpPr>
          <p:cNvPr id="961" name="S961"/>
          <p:cNvSpPr/>
          <p:nvPr/>
        </p:nvSpPr>
        <p:spPr>
          <a:xfrm>
            <a:off x="5892800" y="2667000"/>
            <a:ext cx="2209800" cy="330200"/>
          </a:xfrm>
          <a:prstGeom prst="rect">
            <a:avLst/>
          </a:prstGeom>
          <a:noFill/>
          <a:ln>
            <a:noFill/>
          </a:ln>
        </p:spPr>
        <p:txBody>
          <a:bodyPr wrap="square" lIns="0" tIns="38100" rIns="0" bIns="38100" anchor="ctr"/>
          <a:lstStyle/>
          <a:p>
            <a:pPr algn="ctr">
              <a:buNone/>
            </a:pPr>
            <a:r>
              <a:rPr lang="en-US" sz="1500" b="1" dirty="0">
                <a:solidFill>
                  <a:srgbClr val="B877D9"/>
                </a:solidFill>
              </a:rPr>
              <a:t>postgres_exporter</a:t>
            </a:r>
          </a:p>
        </p:txBody>
      </p:sp>
      <p:sp>
        <p:nvSpPr>
          <p:cNvPr id="962" name="S962"/>
          <p:cNvSpPr/>
          <p:nvPr/>
        </p:nvSpPr>
        <p:spPr>
          <a:xfrm>
            <a:off x="5892800" y="2971800"/>
            <a:ext cx="2209800" cy="406400"/>
          </a:xfrm>
          <a:prstGeom prst="rect">
            <a:avLst/>
          </a:prstGeom>
          <a:noFill/>
          <a:ln>
            <a:noFill/>
          </a:ln>
        </p:spPr>
        <p:txBody>
          <a:bodyPr wrap="square" lIns="0" tIns="38100" rIns="0" bIns="38100" anchor="t"/>
          <a:lstStyle/>
          <a:p>
            <a:pPr algn="ctr">
              <a:buNone/>
            </a:pPr>
            <a:r>
              <a:rPr lang="en-US" sz="1400" b="0" dirty="0">
                <a:solidFill>
                  <a:srgbClr val="A9B2C1"/>
                </a:solidFill>
              </a:rPr>
              <a:t>port 9187 | db metrics</a:t>
            </a:r>
          </a:p>
        </p:txBody>
      </p:sp>
      <p:sp>
        <p:nvSpPr>
          <p:cNvPr id="963" name="S963"/>
          <p:cNvSpPr/>
          <p:nvPr/>
        </p:nvSpPr>
        <p:spPr>
          <a:xfrm>
            <a:off x="5791200" y="3810000"/>
            <a:ext cx="2413000" cy="939800"/>
          </a:xfrm>
          <a:prstGeom prst="roundRect">
            <a:avLst/>
          </a:prstGeom>
          <a:solidFill>
            <a:srgbClr val="141821"/>
          </a:solidFill>
          <a:ln w="12700">
            <a:solidFill>
              <a:srgbClr val="56A64B"/>
            </a:solidFill>
          </a:ln>
        </p:spPr>
        <p:txBody>
          <a:bodyPr wrap="square" lIns="127000" tIns="38100" rIns="127000" bIns="38100" anchor="ctr"/>
          <a:lstStyle/>
          <a:p>
            <a:endParaRPr/>
          </a:p>
        </p:txBody>
      </p:sp>
      <p:sp>
        <p:nvSpPr>
          <p:cNvPr id="964" name="S964"/>
          <p:cNvSpPr/>
          <p:nvPr/>
        </p:nvSpPr>
        <p:spPr>
          <a:xfrm>
            <a:off x="5892800" y="3886200"/>
            <a:ext cx="2209800" cy="330200"/>
          </a:xfrm>
          <a:prstGeom prst="rect">
            <a:avLst/>
          </a:prstGeom>
          <a:noFill/>
          <a:ln>
            <a:noFill/>
          </a:ln>
        </p:spPr>
        <p:txBody>
          <a:bodyPr wrap="square" lIns="0" tIns="38100" rIns="0" bIns="38100" anchor="ctr"/>
          <a:lstStyle/>
          <a:p>
            <a:pPr algn="ctr">
              <a:buNone/>
            </a:pPr>
            <a:r>
              <a:rPr lang="en-US" sz="1500" b="1" dirty="0">
                <a:solidFill>
                  <a:srgbClr val="56A64B"/>
                </a:solidFill>
              </a:rPr>
              <a:t>PostgreSQL</a:t>
            </a:r>
          </a:p>
        </p:txBody>
      </p:sp>
      <p:sp>
        <p:nvSpPr>
          <p:cNvPr id="965" name="S965"/>
          <p:cNvSpPr/>
          <p:nvPr/>
        </p:nvSpPr>
        <p:spPr>
          <a:xfrm>
            <a:off x="5892800" y="4191000"/>
            <a:ext cx="2209800" cy="482600"/>
          </a:xfrm>
          <a:prstGeom prst="rect">
            <a:avLst/>
          </a:prstGeom>
          <a:noFill/>
          <a:ln>
            <a:noFill/>
          </a:ln>
        </p:spPr>
        <p:txBody>
          <a:bodyPr wrap="square" lIns="0" tIns="38100" rIns="0" bIns="38100" anchor="t"/>
          <a:lstStyle/>
          <a:p>
            <a:pPr algn="ctr">
              <a:buNone/>
            </a:pPr>
            <a:r>
              <a:rPr lang="en-US" sz="1400" b="0" dirty="0">
                <a:solidFill>
                  <a:srgbClr val="A9B2C1"/>
                </a:solidFill>
              </a:rPr>
              <a:t>port 5432 | demo database</a:t>
            </a:r>
          </a:p>
        </p:txBody>
      </p:sp>
      <p:sp>
        <p:nvSpPr>
          <p:cNvPr id="967" name="S967"/>
          <p:cNvSpPr/>
          <p:nvPr/>
        </p:nvSpPr>
        <p:spPr>
          <a:xfrm>
            <a:off x="3378200" y="3810000"/>
            <a:ext cx="2032000" cy="254000"/>
          </a:xfrm>
          <a:prstGeom prst="roundRect">
            <a:avLst/>
          </a:prstGeom>
          <a:noFill/>
          <a:ln w="12700">
            <a:noFill/>
          </a:ln>
        </p:spPr>
        <p:txBody>
          <a:bodyPr wrap="square" lIns="101600" tIns="38100" rIns="101600" bIns="38100" anchor="ctr"/>
          <a:lstStyle/>
          <a:p>
            <a:pPr algn="ctr">
              <a:buNone/>
            </a:pPr>
            <a:r>
              <a:rPr lang="en-US" sz="1400" b="0" dirty="0">
                <a:solidFill>
                  <a:srgbClr val="8A94A5"/>
                </a:solidFill>
              </a:rPr>
              <a:t>TSDB 15d retention</a:t>
            </a:r>
          </a:p>
        </p:txBody>
      </p:sp>
      <p:sp>
        <p:nvSpPr>
          <p:cNvPr id="968" name="S968"/>
          <p:cNvSpPr/>
          <p:nvPr/>
        </p:nvSpPr>
        <p:spPr>
          <a:xfrm>
            <a:off x="965200" y="5003800"/>
            <a:ext cx="7239000" cy="482600"/>
          </a:xfrm>
          <a:prstGeom prst="roundRect">
            <a:avLst/>
          </a:prstGeom>
          <a:solidFill>
            <a:srgbClr val="0C1B12"/>
          </a:solidFill>
          <a:ln w="12700">
            <a:solidFill>
              <a:srgbClr val="56A64B"/>
            </a:solidFill>
          </a:ln>
        </p:spPr>
        <p:txBody>
          <a:bodyPr wrap="square" lIns="177800" tIns="38100" rIns="177800" bIns="38100" anchor="ctr"/>
          <a:lstStyle/>
          <a:p>
            <a:pPr algn="ctr">
              <a:buNone/>
            </a:pPr>
            <a:r>
              <a:rPr lang="en-US" sz="1400" b="0" dirty="0">
                <a:solidFill>
                  <a:srgbClr val="7FD46F"/>
                </a:solidFill>
              </a:rPr>
              <a:t>Grafana also queries PostgreSQL directly for the business panels - two data sources, one dashboard.</a:t>
            </a:r>
          </a:p>
        </p:txBody>
      </p:sp>
      <p:sp>
        <p:nvSpPr>
          <p:cNvPr id="969" name="S969"/>
          <p:cNvSpPr/>
          <p:nvPr/>
        </p:nvSpPr>
        <p:spPr>
          <a:xfrm>
            <a:off x="8636000" y="1143000"/>
            <a:ext cx="2794000" cy="44958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970" name="S970"/>
          <p:cNvSpPr/>
          <p:nvPr/>
        </p:nvSpPr>
        <p:spPr>
          <a:xfrm>
            <a:off x="8636000" y="1143000"/>
            <a:ext cx="2794000" cy="50800"/>
          </a:xfrm>
          <a:prstGeom prst="rect">
            <a:avLst/>
          </a:prstGeom>
          <a:solidFill>
            <a:srgbClr val="F46800"/>
          </a:solidFill>
          <a:ln>
            <a:noFill/>
          </a:ln>
        </p:spPr>
        <p:txBody>
          <a:bodyPr wrap="square" lIns="127000" tIns="38100" rIns="127000" bIns="38100" anchor="ctr"/>
          <a:lstStyle/>
          <a:p>
            <a:endParaRPr/>
          </a:p>
        </p:txBody>
      </p:sp>
      <p:sp>
        <p:nvSpPr>
          <p:cNvPr id="971" name="S971"/>
          <p:cNvSpPr/>
          <p:nvPr/>
        </p:nvSpPr>
        <p:spPr>
          <a:xfrm>
            <a:off x="8839200" y="1270000"/>
            <a:ext cx="2413000" cy="330200"/>
          </a:xfrm>
          <a:prstGeom prst="rect">
            <a:avLst/>
          </a:prstGeom>
          <a:noFill/>
          <a:ln>
            <a:noFill/>
          </a:ln>
        </p:spPr>
        <p:txBody>
          <a:bodyPr wrap="square" lIns="0" tIns="38100" rIns="0" bIns="38100" anchor="ctr"/>
          <a:lstStyle/>
          <a:p>
            <a:pPr algn="l">
              <a:buNone/>
            </a:pPr>
            <a:r>
              <a:rPr lang="en-US" sz="1600" b="1" dirty="0">
                <a:solidFill>
                  <a:srgbClr val="FF9830"/>
                </a:solidFill>
              </a:rPr>
              <a:t>Access details</a:t>
            </a:r>
          </a:p>
        </p:txBody>
      </p:sp>
      <p:sp>
        <p:nvSpPr>
          <p:cNvPr id="972" name="S972"/>
          <p:cNvSpPr/>
          <p:nvPr/>
        </p:nvSpPr>
        <p:spPr>
          <a:xfrm>
            <a:off x="8839200" y="1651000"/>
            <a:ext cx="2413000" cy="3810000"/>
          </a:xfrm>
          <a:prstGeom prst="rect">
            <a:avLst/>
          </a:prstGeom>
          <a:noFill/>
          <a:ln>
            <a:noFill/>
          </a:ln>
        </p:spPr>
        <p:txBody>
          <a:bodyPr wrap="square" lIns="0" tIns="38100" rIns="0" bIns="38100" anchor="t"/>
          <a:lstStyle/>
          <a:p>
            <a:pPr>
              <a:lnSpc>
                <a:spcPts val="1900"/>
              </a:lnSpc>
              <a:buNone/>
            </a:pPr>
            <a:r>
              <a:rPr lang="en-US" sz="1400" dirty="0">
                <a:latin typeface="Consolas"/>
              </a:rPr>
              <a:t># Grafana</a:t>
            </a:r>
          </a:p>
          <a:p>
            <a:pPr>
              <a:lnSpc>
                <a:spcPts val="1900"/>
              </a:lnSpc>
              <a:buNone/>
            </a:pPr>
            <a:r>
              <a:rPr lang="en-US" sz="1400" dirty="0">
                <a:latin typeface="Consolas"/>
              </a:rPr>
              <a:t>localhost:3000</a:t>
            </a:r>
          </a:p>
          <a:p>
            <a:pPr>
              <a:lnSpc>
                <a:spcPts val="1900"/>
              </a:lnSpc>
              <a:buNone/>
            </a:pPr>
            <a:r>
              <a:rPr lang="en-US" sz="1400" dirty="0">
                <a:latin typeface="Consolas"/>
              </a:rPr>
              <a:t>admin / admin</a:t>
            </a:r>
          </a:p>
          <a:p>
            <a:pPr>
              <a:lnSpc>
                <a:spcPts val="1900"/>
              </a:lnSpc>
              <a:buNone/>
            </a:pPr>
            <a:endParaRPr lang="en-US" sz="1400" dirty="0">
              <a:latin typeface="Consolas"/>
            </a:endParaRPr>
          </a:p>
          <a:p>
            <a:pPr>
              <a:lnSpc>
                <a:spcPts val="1900"/>
              </a:lnSpc>
              <a:buNone/>
            </a:pPr>
            <a:r>
              <a:rPr lang="en-US" sz="1400" dirty="0">
                <a:latin typeface="Consolas"/>
              </a:rPr>
              <a:t># Prometheus</a:t>
            </a:r>
          </a:p>
          <a:p>
            <a:pPr>
              <a:lnSpc>
                <a:spcPts val="1900"/>
              </a:lnSpc>
              <a:buNone/>
            </a:pPr>
            <a:r>
              <a:rPr lang="en-US" sz="1400" dirty="0">
                <a:latin typeface="Consolas"/>
              </a:rPr>
              <a:t>localhost:9090</a:t>
            </a:r>
          </a:p>
          <a:p>
            <a:pPr>
              <a:lnSpc>
                <a:spcPts val="1900"/>
              </a:lnSpc>
              <a:buNone/>
            </a:pPr>
            <a:endParaRPr lang="en-US" sz="1400" dirty="0">
              <a:latin typeface="Consolas"/>
            </a:endParaRPr>
          </a:p>
          <a:p>
            <a:pPr>
              <a:lnSpc>
                <a:spcPts val="1900"/>
              </a:lnSpc>
              <a:buNone/>
            </a:pPr>
            <a:r>
              <a:rPr lang="en-US" sz="1400" dirty="0">
                <a:latin typeface="Consolas"/>
              </a:rPr>
              <a:t># PostgreSQL</a:t>
            </a:r>
          </a:p>
          <a:p>
            <a:pPr>
              <a:lnSpc>
                <a:spcPts val="1900"/>
              </a:lnSpc>
              <a:buNone/>
            </a:pPr>
            <a:r>
              <a:rPr lang="en-US" sz="1400" dirty="0">
                <a:latin typeface="Consolas"/>
              </a:rPr>
              <a:t>localhost:5432</a:t>
            </a:r>
          </a:p>
          <a:p>
            <a:pPr>
              <a:lnSpc>
                <a:spcPts val="1900"/>
              </a:lnSpc>
              <a:buNone/>
            </a:pPr>
            <a:r>
              <a:rPr lang="en-US" sz="1400" dirty="0">
                <a:latin typeface="Consolas"/>
              </a:rPr>
              <a:t>grafana / grafana</a:t>
            </a:r>
          </a:p>
          <a:p>
            <a:pPr>
              <a:lnSpc>
                <a:spcPts val="1900"/>
              </a:lnSpc>
              <a:buNone/>
            </a:pPr>
            <a:r>
              <a:rPr lang="en-US" sz="1400" dirty="0">
                <a:latin typeface="Consolas"/>
              </a:rPr>
              <a:t>db: demo</a:t>
            </a:r>
          </a:p>
          <a:p>
            <a:pPr>
              <a:lnSpc>
                <a:spcPts val="1900"/>
              </a:lnSpc>
              <a:buNone/>
            </a:pPr>
            <a:endParaRPr lang="en-US" sz="1400" dirty="0">
              <a:latin typeface="Consolas"/>
            </a:endParaRPr>
          </a:p>
          <a:p>
            <a:pPr>
              <a:lnSpc>
                <a:spcPts val="1900"/>
              </a:lnSpc>
              <a:buNone/>
            </a:pPr>
            <a:r>
              <a:rPr lang="en-US" sz="1400" dirty="0">
                <a:latin typeface="Consolas"/>
              </a:rPr>
              <a:t># check the stack</a:t>
            </a:r>
          </a:p>
          <a:p>
            <a:pPr>
              <a:lnSpc>
                <a:spcPts val="1900"/>
              </a:lnSpc>
              <a:buNone/>
            </a:pPr>
            <a:r>
              <a:rPr lang="en-US" sz="1400" dirty="0">
                <a:latin typeface="Consolas"/>
              </a:rPr>
              <a:t>docker compose ps</a:t>
            </a:r>
          </a:p>
        </p:txBody>
      </p:sp>
      <p:sp>
        <p:nvSpPr>
          <p:cNvPr id="973" name="S973"/>
          <p:cNvSpPr/>
          <p:nvPr/>
        </p:nvSpPr>
        <p:spPr>
          <a:xfrm>
            <a:off x="762000" y="5791200"/>
            <a:ext cx="10668000" cy="508000"/>
          </a:xfrm>
          <a:prstGeom prst="roundRect">
            <a:avLst/>
          </a:prstGeom>
          <a:solidFill>
            <a:srgbClr val="111620"/>
          </a:solidFill>
          <a:ln w="12700">
            <a:solidFill>
              <a:srgbClr val="262C38"/>
            </a:solidFill>
          </a:ln>
        </p:spPr>
        <p:txBody>
          <a:bodyPr wrap="square" lIns="177800" tIns="38100" rIns="177800" bIns="38100" anchor="ctr"/>
          <a:lstStyle/>
          <a:p>
            <a:pPr algn="l">
              <a:buNone/>
            </a:pPr>
            <a:r>
              <a:rPr lang="en-US" sz="1400" b="0" dirty="0">
                <a:solidFill>
                  <a:srgbClr val="B4BECC"/>
                </a:solidFill>
              </a:rPr>
              <a:t>If a service is down: docker compose up -d &lt;service&gt;. If a port is taken, tell the instructor before changing the compose file.</a:t>
            </a:r>
          </a:p>
        </p:txBody>
      </p:sp>
      <p:sp>
        <p:nvSpPr>
          <p:cNvPr id="1201" name="S1201"/>
          <p:cNvSpPr/>
          <p:nvPr/>
        </p:nvSpPr>
        <p:spPr>
          <a:xfrm>
            <a:off x="6870700" y="3479800"/>
            <a:ext cx="254000" cy="304800"/>
          </a:xfrm>
          <a:prstGeom prst="downArrow">
            <a:avLst/>
          </a:prstGeom>
          <a:solidFill>
            <a:srgbClr val="B877D9"/>
          </a:solidFill>
          <a:ln>
            <a:noFill/>
          </a:ln>
        </p:spPr>
        <p:txBody>
          <a:bodyPr wrap="square" lIns="0" tIns="0" rIns="0" bIns="0" anchor="ctr"/>
          <a:lstStyle/>
          <a:p>
            <a:endParaRPr/>
          </a:p>
        </p:txBody>
      </p:sp>
      <p:sp>
        <p:nvSpPr>
          <p:cNvPr id="1202" name="S1202"/>
          <p:cNvSpPr/>
          <p:nvPr/>
        </p:nvSpPr>
        <p:spPr>
          <a:xfrm>
            <a:off x="2235200" y="4216400"/>
            <a:ext cx="3505200" cy="228600"/>
          </a:xfrm>
          <a:prstGeom prst="rightArrow">
            <a:avLst/>
          </a:prstGeom>
          <a:solidFill>
            <a:srgbClr val="56A64B"/>
          </a:solidFill>
          <a:ln>
            <a:noFill/>
          </a:ln>
        </p:spPr>
        <p:txBody>
          <a:bodyPr wrap="square" lIns="0" tIns="0" rIns="0" bIns="0" anchor="ctr"/>
          <a:lstStyle/>
          <a:p>
            <a:endParaRPr/>
          </a:p>
        </p:txBody>
      </p:sp>
      <p:sp>
        <p:nvSpPr>
          <p:cNvPr id="1203" name="S1203"/>
          <p:cNvSpPr/>
          <p:nvPr/>
        </p:nvSpPr>
        <p:spPr>
          <a:xfrm>
            <a:off x="2489200" y="4470400"/>
            <a:ext cx="3124200" cy="254000"/>
          </a:xfrm>
          <a:prstGeom prst="rect">
            <a:avLst/>
          </a:prstGeom>
          <a:noFill/>
          <a:ln>
            <a:noFill/>
          </a:ln>
        </p:spPr>
        <p:txBody>
          <a:bodyPr wrap="square" lIns="0" tIns="0" rIns="0" bIns="0" anchor="ctr"/>
          <a:lstStyle/>
          <a:p>
            <a:pPr algn="ctr">
              <a:buNone/>
            </a:pPr>
            <a:r>
              <a:rPr lang="en-US" sz="1400" b="0" dirty="0">
                <a:solidFill>
                  <a:srgbClr val="7FD46F"/>
                </a:solidFill>
              </a:rPr>
              <a:t>direct SQL query</a:t>
            </a:r>
          </a:p>
        </p:txBody>
      </p:sp>
      <p:sp>
        <p:nvSpPr>
          <p:cNvPr id="1210" name="S1210"/>
          <p:cNvSpPr/>
          <p:nvPr/>
        </p:nvSpPr>
        <p:spPr>
          <a:xfrm>
            <a:off x="1854200" y="3810000"/>
            <a:ext cx="254000" cy="508000"/>
          </a:xfrm>
          <a:prstGeom prst="downArrow">
            <a:avLst/>
          </a:prstGeom>
          <a:solidFill>
            <a:srgbClr val="56A64B"/>
          </a:solidFill>
          <a:ln>
            <a:noFill/>
          </a:ln>
        </p:spPr>
        <p:txBody>
          <a:bodyPr/>
          <a:lstStyle/>
          <a:p>
            <a:endParaRPr/>
          </a:p>
        </p:txBody>
      </p:sp>
    </p:spTree>
    <p:extLst>
      <p:ext uri="{BB962C8B-B14F-4D97-AF65-F5344CB8AC3E}">
        <p14:creationId xmlns:p14="http://schemas.microsoft.com/office/powerpoint/2010/main" val="1309711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E83E-DEAB-ABB8-EB72-7112C3BA73DC}"/>
              </a:ext>
            </a:extLst>
          </p:cNvPr>
          <p:cNvSpPr>
            <a:spLocks noGrp="1"/>
          </p:cNvSpPr>
          <p:nvPr>
            <p:ph type="title"/>
          </p:nvPr>
        </p:nvSpPr>
        <p:spPr>
          <a:xfrm>
            <a:off x="762000" y="279400"/>
            <a:ext cx="10668000" cy="508000"/>
          </a:xfrm>
        </p:spPr>
        <p:txBody>
          <a:bodyPr>
            <a:normAutofit fontScale="90000"/>
          </a:bodyPr>
          <a:lstStyle/>
          <a:p>
            <a:pPr algn="l">
              <a:buNone/>
            </a:pPr>
            <a:r>
              <a:rPr lang="en-US" sz="3400" b="1" dirty="0">
                <a:solidFill>
                  <a:srgbClr val="FFFFFF"/>
                </a:solidFill>
              </a:rPr>
              <a:t>Lab 2: Tasks and Checkpoints</a:t>
            </a:r>
          </a:p>
        </p:txBody>
      </p:sp>
      <p:sp>
        <p:nvSpPr>
          <p:cNvPr id="1001" name="S1001"/>
          <p:cNvSpPr/>
          <p:nvPr/>
        </p:nvSpPr>
        <p:spPr>
          <a:xfrm>
            <a:off x="762000" y="812800"/>
            <a:ext cx="1524000" cy="50800"/>
          </a:xfrm>
          <a:prstGeom prst="rect">
            <a:avLst/>
          </a:prstGeom>
          <a:solidFill>
            <a:srgbClr val="56A64B"/>
          </a:solidFill>
          <a:ln>
            <a:noFill/>
          </a:ln>
        </p:spPr>
        <p:txBody>
          <a:bodyPr wrap="square" lIns="127000" tIns="50800" rIns="127000" bIns="50800" anchor="ctr"/>
          <a:lstStyle/>
          <a:p>
            <a:endParaRPr/>
          </a:p>
        </p:txBody>
      </p:sp>
      <p:sp>
        <p:nvSpPr>
          <p:cNvPr id="1002" name="S1002"/>
          <p:cNvSpPr/>
          <p:nvPr/>
        </p:nvSpPr>
        <p:spPr>
          <a:xfrm>
            <a:off x="762000" y="914400"/>
            <a:ext cx="10668000" cy="279400"/>
          </a:xfrm>
          <a:prstGeom prst="rect">
            <a:avLst/>
          </a:prstGeom>
          <a:noFill/>
          <a:ln>
            <a:noFill/>
          </a:ln>
        </p:spPr>
        <p:txBody>
          <a:bodyPr wrap="square" lIns="0" tIns="50800" rIns="0" bIns="50800" anchor="ctr"/>
          <a:lstStyle/>
          <a:p>
            <a:pPr algn="l">
              <a:buNone/>
            </a:pPr>
            <a:r>
              <a:rPr lang="en-US" sz="1500" b="0" dirty="0">
                <a:solidFill>
                  <a:srgbClr val="98A2B3"/>
                </a:solidFill>
              </a:rPr>
              <a:t>30 minutes | work through them in order | checkpoint must pass before you move on</a:t>
            </a:r>
          </a:p>
        </p:txBody>
      </p:sp>
      <p:sp>
        <p:nvSpPr>
          <p:cNvPr id="1003" name="S1003"/>
          <p:cNvSpPr/>
          <p:nvPr/>
        </p:nvSpPr>
        <p:spPr>
          <a:xfrm>
            <a:off x="762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04" name="S1004"/>
          <p:cNvSpPr/>
          <p:nvPr/>
        </p:nvSpPr>
        <p:spPr>
          <a:xfrm>
            <a:off x="762000" y="1295400"/>
            <a:ext cx="3429000" cy="50800"/>
          </a:xfrm>
          <a:prstGeom prst="rect">
            <a:avLst/>
          </a:prstGeom>
          <a:solidFill>
            <a:srgbClr val="F46800"/>
          </a:solidFill>
          <a:ln>
            <a:noFill/>
          </a:ln>
        </p:spPr>
        <p:txBody>
          <a:bodyPr wrap="square" lIns="127000" tIns="50800" rIns="127000" bIns="50800" anchor="ctr"/>
          <a:lstStyle/>
          <a:p>
            <a:endParaRPr/>
          </a:p>
        </p:txBody>
      </p:sp>
      <p:sp>
        <p:nvSpPr>
          <p:cNvPr id="1005" name="S1005"/>
          <p:cNvSpPr/>
          <p:nvPr/>
        </p:nvSpPr>
        <p:spPr>
          <a:xfrm>
            <a:off x="914400" y="1447800"/>
            <a:ext cx="406400" cy="355600"/>
          </a:xfrm>
          <a:prstGeom prst="roundRect">
            <a:avLst/>
          </a:prstGeom>
          <a:solidFill>
            <a:srgbClr val="F46800"/>
          </a:solidFill>
          <a:ln>
            <a:noFill/>
          </a:ln>
        </p:spPr>
        <p:txBody>
          <a:bodyPr wrap="square" lIns="0" tIns="50800" rIns="0" bIns="50800" anchor="ctr"/>
          <a:lstStyle/>
          <a:p>
            <a:pPr algn="ctr">
              <a:buNone/>
            </a:pPr>
            <a:r>
              <a:rPr lang="en-US" sz="1500" b="1" dirty="0">
                <a:solidFill>
                  <a:srgbClr val="000000"/>
                </a:solidFill>
              </a:rPr>
              <a:t>1</a:t>
            </a:r>
          </a:p>
        </p:txBody>
      </p:sp>
      <p:sp>
        <p:nvSpPr>
          <p:cNvPr id="1006" name="S1006"/>
          <p:cNvSpPr/>
          <p:nvPr/>
        </p:nvSpPr>
        <p:spPr>
          <a:xfrm>
            <a:off x="1397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Configure Prometheus</a:t>
            </a:r>
          </a:p>
        </p:txBody>
      </p:sp>
      <p:sp>
        <p:nvSpPr>
          <p:cNvPr id="1007" name="S1007"/>
          <p:cNvSpPr/>
          <p:nvPr/>
        </p:nvSpPr>
        <p:spPr>
          <a:xfrm>
            <a:off x="914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Connections &gt; Data sources &gt; Add</a:t>
            </a:r>
          </a:p>
          <a:p>
            <a:pPr marL="140000" indent="-140000">
              <a:lnSpc>
                <a:spcPts val="1700"/>
              </a:lnSpc>
              <a:spcBef>
                <a:spcPts val="300"/>
              </a:spcBef>
              <a:buFont typeface="Arial"/>
              <a:buChar char="•"/>
            </a:pPr>
            <a:r>
              <a:rPr lang="en-US" sz="1400" dirty="0">
                <a:solidFill>
                  <a:srgbClr val="B4BECC"/>
                </a:solidFill>
              </a:rPr>
              <a:t>URL: http://prometheus:9090</a:t>
            </a:r>
          </a:p>
          <a:p>
            <a:pPr marL="140000" indent="-140000">
              <a:lnSpc>
                <a:spcPts val="1700"/>
              </a:lnSpc>
              <a:spcBef>
                <a:spcPts val="300"/>
              </a:spcBef>
              <a:buFont typeface="Arial"/>
              <a:buChar char="•"/>
            </a:pPr>
            <a:r>
              <a:rPr lang="en-US" sz="1400" dirty="0">
                <a:solidFill>
                  <a:srgbClr val="B4BECC"/>
                </a:solidFill>
              </a:rPr>
              <a:t>Scrape interval 15s, then Save &amp; test</a:t>
            </a:r>
          </a:p>
        </p:txBody>
      </p:sp>
      <p:sp>
        <p:nvSpPr>
          <p:cNvPr id="1008" name="S1008"/>
          <p:cNvSpPr/>
          <p:nvPr/>
        </p:nvSpPr>
        <p:spPr>
          <a:xfrm>
            <a:off x="914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09" name="S1009"/>
          <p:cNvSpPr/>
          <p:nvPr/>
        </p:nvSpPr>
        <p:spPr>
          <a:xfrm>
            <a:off x="1016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Prometheus API queried successfully</a:t>
            </a:r>
          </a:p>
        </p:txBody>
      </p:sp>
      <p:sp>
        <p:nvSpPr>
          <p:cNvPr id="1010" name="S1010"/>
          <p:cNvSpPr/>
          <p:nvPr/>
        </p:nvSpPr>
        <p:spPr>
          <a:xfrm>
            <a:off x="43815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1" name="S1011"/>
          <p:cNvSpPr/>
          <p:nvPr/>
        </p:nvSpPr>
        <p:spPr>
          <a:xfrm>
            <a:off x="4381500" y="1295400"/>
            <a:ext cx="3429000" cy="50800"/>
          </a:xfrm>
          <a:prstGeom prst="rect">
            <a:avLst/>
          </a:prstGeom>
          <a:solidFill>
            <a:srgbClr val="FF9830"/>
          </a:solidFill>
          <a:ln>
            <a:noFill/>
          </a:ln>
        </p:spPr>
        <p:txBody>
          <a:bodyPr wrap="square" lIns="127000" tIns="50800" rIns="127000" bIns="50800" anchor="ctr"/>
          <a:lstStyle/>
          <a:p>
            <a:endParaRPr/>
          </a:p>
        </p:txBody>
      </p:sp>
      <p:sp>
        <p:nvSpPr>
          <p:cNvPr id="1012" name="S1012"/>
          <p:cNvSpPr/>
          <p:nvPr/>
        </p:nvSpPr>
        <p:spPr>
          <a:xfrm>
            <a:off x="4533900" y="1447800"/>
            <a:ext cx="406400" cy="355600"/>
          </a:xfrm>
          <a:prstGeom prst="roundRect">
            <a:avLst/>
          </a:prstGeom>
          <a:solidFill>
            <a:srgbClr val="FF9830"/>
          </a:solidFill>
          <a:ln>
            <a:noFill/>
          </a:ln>
        </p:spPr>
        <p:txBody>
          <a:bodyPr wrap="square" lIns="0" tIns="50800" rIns="0" bIns="50800" anchor="ctr"/>
          <a:lstStyle/>
          <a:p>
            <a:pPr algn="ctr">
              <a:buNone/>
            </a:pPr>
            <a:r>
              <a:rPr lang="en-US" sz="1500" b="1" dirty="0">
                <a:solidFill>
                  <a:srgbClr val="000000"/>
                </a:solidFill>
              </a:rPr>
              <a:t>2</a:t>
            </a:r>
          </a:p>
        </p:txBody>
      </p:sp>
      <p:sp>
        <p:nvSpPr>
          <p:cNvPr id="1013" name="S1013"/>
          <p:cNvSpPr/>
          <p:nvPr/>
        </p:nvSpPr>
        <p:spPr>
          <a:xfrm>
            <a:off x="50165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Configure PostgreSQL</a:t>
            </a:r>
          </a:p>
        </p:txBody>
      </p:sp>
      <p:sp>
        <p:nvSpPr>
          <p:cNvPr id="1014" name="S1014"/>
          <p:cNvSpPr/>
          <p:nvPr/>
        </p:nvSpPr>
        <p:spPr>
          <a:xfrm>
            <a:off x="45339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Add &gt; PostgreSQL</a:t>
            </a:r>
          </a:p>
          <a:p>
            <a:pPr marL="140000" indent="-140000">
              <a:lnSpc>
                <a:spcPts val="1700"/>
              </a:lnSpc>
              <a:spcBef>
                <a:spcPts val="300"/>
              </a:spcBef>
              <a:buFont typeface="Arial"/>
              <a:buChar char="•"/>
            </a:pPr>
            <a:r>
              <a:rPr lang="en-US" sz="1400" dirty="0">
                <a:solidFill>
                  <a:srgbClr val="B4BECC"/>
                </a:solidFill>
              </a:rPr>
              <a:t>Host postgres:5432, database demo</a:t>
            </a:r>
          </a:p>
          <a:p>
            <a:pPr marL="140000" indent="-140000">
              <a:lnSpc>
                <a:spcPts val="1700"/>
              </a:lnSpc>
              <a:spcBef>
                <a:spcPts val="300"/>
              </a:spcBef>
              <a:buFont typeface="Arial"/>
              <a:buChar char="•"/>
            </a:pPr>
            <a:r>
              <a:rPr lang="en-US" sz="1400" dirty="0">
                <a:solidFill>
                  <a:srgbClr val="B4BECC"/>
                </a:solidFill>
              </a:rPr>
              <a:t>User grafana, TLS/SSL mode: disable</a:t>
            </a:r>
          </a:p>
        </p:txBody>
      </p:sp>
      <p:sp>
        <p:nvSpPr>
          <p:cNvPr id="1015" name="S1015"/>
          <p:cNvSpPr/>
          <p:nvPr/>
        </p:nvSpPr>
        <p:spPr>
          <a:xfrm>
            <a:off x="45339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16" name="S1016"/>
          <p:cNvSpPr/>
          <p:nvPr/>
        </p:nvSpPr>
        <p:spPr>
          <a:xfrm>
            <a:off x="46355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database connection OK</a:t>
            </a:r>
          </a:p>
        </p:txBody>
      </p:sp>
      <p:sp>
        <p:nvSpPr>
          <p:cNvPr id="1017" name="S1017"/>
          <p:cNvSpPr/>
          <p:nvPr/>
        </p:nvSpPr>
        <p:spPr>
          <a:xfrm>
            <a:off x="8001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8" name="S1018"/>
          <p:cNvSpPr/>
          <p:nvPr/>
        </p:nvSpPr>
        <p:spPr>
          <a:xfrm>
            <a:off x="8001000" y="1295400"/>
            <a:ext cx="3429000" cy="50800"/>
          </a:xfrm>
          <a:prstGeom prst="rect">
            <a:avLst/>
          </a:prstGeom>
          <a:solidFill>
            <a:srgbClr val="3274D9"/>
          </a:solidFill>
          <a:ln>
            <a:noFill/>
          </a:ln>
        </p:spPr>
        <p:txBody>
          <a:bodyPr wrap="square" lIns="127000" tIns="50800" rIns="127000" bIns="50800" anchor="ctr"/>
          <a:lstStyle/>
          <a:p>
            <a:endParaRPr/>
          </a:p>
        </p:txBody>
      </p:sp>
      <p:sp>
        <p:nvSpPr>
          <p:cNvPr id="1019" name="S1019"/>
          <p:cNvSpPr/>
          <p:nvPr/>
        </p:nvSpPr>
        <p:spPr>
          <a:xfrm>
            <a:off x="8153400" y="1447800"/>
            <a:ext cx="406400" cy="355600"/>
          </a:xfrm>
          <a:prstGeom prst="roundRect">
            <a:avLst/>
          </a:prstGeom>
          <a:solidFill>
            <a:srgbClr val="3274D9"/>
          </a:solidFill>
          <a:ln>
            <a:noFill/>
          </a:ln>
        </p:spPr>
        <p:txBody>
          <a:bodyPr wrap="square" lIns="0" tIns="50800" rIns="0" bIns="50800" anchor="ctr"/>
          <a:lstStyle/>
          <a:p>
            <a:pPr algn="ctr">
              <a:buNone/>
            </a:pPr>
            <a:r>
              <a:rPr lang="en-US" sz="1500" b="1" dirty="0">
                <a:solidFill>
                  <a:srgbClr val="000000"/>
                </a:solidFill>
              </a:rPr>
              <a:t>3</a:t>
            </a:r>
          </a:p>
        </p:txBody>
      </p:sp>
      <p:sp>
        <p:nvSpPr>
          <p:cNvPr id="1020" name="S1020"/>
          <p:cNvSpPr/>
          <p:nvPr/>
        </p:nvSpPr>
        <p:spPr>
          <a:xfrm>
            <a:off x="8636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Create the dashboard</a:t>
            </a:r>
          </a:p>
        </p:txBody>
      </p:sp>
      <p:sp>
        <p:nvSpPr>
          <p:cNvPr id="1021" name="S1021"/>
          <p:cNvSpPr/>
          <p:nvPr/>
        </p:nvSpPr>
        <p:spPr>
          <a:xfrm>
            <a:off x="8153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New dashboard: Day 2 - Service Health</a:t>
            </a:r>
          </a:p>
          <a:p>
            <a:pPr marL="140000" indent="-140000">
              <a:lnSpc>
                <a:spcPts val="1700"/>
              </a:lnSpc>
              <a:spcBef>
                <a:spcPts val="300"/>
              </a:spcBef>
              <a:buFont typeface="Arial"/>
              <a:buChar char="•"/>
            </a:pPr>
            <a:r>
              <a:rPr lang="en-US" sz="1400" dirty="0">
                <a:solidFill>
                  <a:srgbClr val="B4BECC"/>
                </a:solidFill>
              </a:rPr>
              <a:t>Time range last 6h, refresh 30s</a:t>
            </a:r>
          </a:p>
          <a:p>
            <a:pPr marL="140000" indent="-140000">
              <a:lnSpc>
                <a:spcPts val="1700"/>
              </a:lnSpc>
              <a:spcBef>
                <a:spcPts val="300"/>
              </a:spcBef>
              <a:buFont typeface="Arial"/>
              <a:buChar char="•"/>
            </a:pPr>
            <a:r>
              <a:rPr lang="en-US" sz="1400" dirty="0">
                <a:solidFill>
                  <a:srgbClr val="B4BECC"/>
                </a:solidFill>
              </a:rPr>
              <a:t>Save into the Training folder</a:t>
            </a:r>
          </a:p>
        </p:txBody>
      </p:sp>
      <p:sp>
        <p:nvSpPr>
          <p:cNvPr id="1022" name="S1022"/>
          <p:cNvSpPr/>
          <p:nvPr/>
        </p:nvSpPr>
        <p:spPr>
          <a:xfrm>
            <a:off x="8153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23" name="S1023"/>
          <p:cNvSpPr/>
          <p:nvPr/>
        </p:nvSpPr>
        <p:spPr>
          <a:xfrm>
            <a:off x="8255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dashboard listed in Training folder</a:t>
            </a:r>
          </a:p>
        </p:txBody>
      </p:sp>
      <p:sp>
        <p:nvSpPr>
          <p:cNvPr id="1024" name="S1024"/>
          <p:cNvSpPr/>
          <p:nvPr/>
        </p:nvSpPr>
        <p:spPr>
          <a:xfrm>
            <a:off x="7620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25" name="S1025"/>
          <p:cNvSpPr/>
          <p:nvPr/>
        </p:nvSpPr>
        <p:spPr>
          <a:xfrm>
            <a:off x="762000" y="3733800"/>
            <a:ext cx="3429000" cy="50800"/>
          </a:xfrm>
          <a:prstGeom prst="rect">
            <a:avLst/>
          </a:prstGeom>
          <a:solidFill>
            <a:srgbClr val="B877D9"/>
          </a:solidFill>
          <a:ln>
            <a:noFill/>
          </a:ln>
        </p:spPr>
        <p:txBody>
          <a:bodyPr wrap="square" lIns="127000" tIns="50800" rIns="127000" bIns="50800" anchor="ctr"/>
          <a:lstStyle/>
          <a:p>
            <a:endParaRPr/>
          </a:p>
        </p:txBody>
      </p:sp>
      <p:sp>
        <p:nvSpPr>
          <p:cNvPr id="1026" name="S1026"/>
          <p:cNvSpPr/>
          <p:nvPr/>
        </p:nvSpPr>
        <p:spPr>
          <a:xfrm>
            <a:off x="914400" y="3886200"/>
            <a:ext cx="406400" cy="355600"/>
          </a:xfrm>
          <a:prstGeom prst="roundRect">
            <a:avLst/>
          </a:prstGeom>
          <a:solidFill>
            <a:srgbClr val="B877D9"/>
          </a:solidFill>
          <a:ln>
            <a:noFill/>
          </a:ln>
        </p:spPr>
        <p:txBody>
          <a:bodyPr wrap="square" lIns="0" tIns="50800" rIns="0" bIns="50800" anchor="ctr"/>
          <a:lstStyle/>
          <a:p>
            <a:pPr algn="ctr">
              <a:buNone/>
            </a:pPr>
            <a:r>
              <a:rPr lang="en-US" sz="1500" b="1" dirty="0">
                <a:solidFill>
                  <a:srgbClr val="000000"/>
                </a:solidFill>
              </a:rPr>
              <a:t>4</a:t>
            </a:r>
          </a:p>
        </p:txBody>
      </p:sp>
      <p:sp>
        <p:nvSpPr>
          <p:cNvPr id="1027" name="S1027"/>
          <p:cNvSpPr/>
          <p:nvPr/>
        </p:nvSpPr>
        <p:spPr>
          <a:xfrm>
            <a:off x="13970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Add variables</a:t>
            </a:r>
          </a:p>
        </p:txBody>
      </p:sp>
      <p:sp>
        <p:nvSpPr>
          <p:cNvPr id="1028" name="S1028"/>
          <p:cNvSpPr/>
          <p:nvPr/>
        </p:nvSpPr>
        <p:spPr>
          <a:xfrm>
            <a:off x="9144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Query var instance from label_values()</a:t>
            </a:r>
          </a:p>
          <a:p>
            <a:pPr marL="140000" indent="-140000">
              <a:lnSpc>
                <a:spcPts val="1700"/>
              </a:lnSpc>
              <a:spcBef>
                <a:spcPts val="300"/>
              </a:spcBef>
              <a:buFont typeface="Arial"/>
              <a:buChar char="•"/>
            </a:pPr>
            <a:r>
              <a:rPr lang="en-US" sz="1400" dirty="0">
                <a:solidFill>
                  <a:srgbClr val="B4BECC"/>
                </a:solidFill>
              </a:rPr>
              <a:t>Interval var: 1m, 5m, 1h</a:t>
            </a:r>
          </a:p>
          <a:p>
            <a:pPr marL="140000" indent="-140000">
              <a:lnSpc>
                <a:spcPts val="1700"/>
              </a:lnSpc>
              <a:spcBef>
                <a:spcPts val="300"/>
              </a:spcBef>
              <a:buFont typeface="Arial"/>
              <a:buChar char="•"/>
            </a:pPr>
            <a:r>
              <a:rPr lang="en-US" sz="1400" dirty="0">
                <a:solidFill>
                  <a:srgbClr val="B4BECC"/>
                </a:solidFill>
              </a:rPr>
              <a:t>Enable Multi-value and All</a:t>
            </a:r>
          </a:p>
        </p:txBody>
      </p:sp>
      <p:sp>
        <p:nvSpPr>
          <p:cNvPr id="1029" name="S1029"/>
          <p:cNvSpPr/>
          <p:nvPr/>
        </p:nvSpPr>
        <p:spPr>
          <a:xfrm>
            <a:off x="9144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0" name="S1030"/>
          <p:cNvSpPr/>
          <p:nvPr/>
        </p:nvSpPr>
        <p:spPr>
          <a:xfrm>
            <a:off x="10160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instance dropdown lists your targets</a:t>
            </a:r>
          </a:p>
        </p:txBody>
      </p:sp>
      <p:sp>
        <p:nvSpPr>
          <p:cNvPr id="1031" name="S1031"/>
          <p:cNvSpPr/>
          <p:nvPr/>
        </p:nvSpPr>
        <p:spPr>
          <a:xfrm>
            <a:off x="43815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32" name="S1032"/>
          <p:cNvSpPr/>
          <p:nvPr/>
        </p:nvSpPr>
        <p:spPr>
          <a:xfrm>
            <a:off x="4381500" y="3733800"/>
            <a:ext cx="3429000" cy="50800"/>
          </a:xfrm>
          <a:prstGeom prst="rect">
            <a:avLst/>
          </a:prstGeom>
          <a:solidFill>
            <a:srgbClr val="4ECDC4"/>
          </a:solidFill>
          <a:ln>
            <a:noFill/>
          </a:ln>
        </p:spPr>
        <p:txBody>
          <a:bodyPr wrap="square" lIns="127000" tIns="50800" rIns="127000" bIns="50800" anchor="ctr"/>
          <a:lstStyle/>
          <a:p>
            <a:endParaRPr/>
          </a:p>
        </p:txBody>
      </p:sp>
      <p:sp>
        <p:nvSpPr>
          <p:cNvPr id="1033" name="S1033"/>
          <p:cNvSpPr/>
          <p:nvPr/>
        </p:nvSpPr>
        <p:spPr>
          <a:xfrm>
            <a:off x="4533900" y="3886200"/>
            <a:ext cx="406400" cy="355600"/>
          </a:xfrm>
          <a:prstGeom prst="roundRect">
            <a:avLst/>
          </a:prstGeom>
          <a:solidFill>
            <a:srgbClr val="4ECDC4"/>
          </a:solidFill>
          <a:ln>
            <a:noFill/>
          </a:ln>
        </p:spPr>
        <p:txBody>
          <a:bodyPr wrap="square" lIns="0" tIns="50800" rIns="0" bIns="50800" anchor="ctr"/>
          <a:lstStyle/>
          <a:p>
            <a:pPr algn="ctr">
              <a:buNone/>
            </a:pPr>
            <a:r>
              <a:rPr lang="en-US" sz="1500" b="1" dirty="0">
                <a:solidFill>
                  <a:srgbClr val="000000"/>
                </a:solidFill>
              </a:rPr>
              <a:t>5</a:t>
            </a:r>
          </a:p>
        </p:txBody>
      </p:sp>
      <p:sp>
        <p:nvSpPr>
          <p:cNvPr id="1034" name="S1034"/>
          <p:cNvSpPr/>
          <p:nvPr/>
        </p:nvSpPr>
        <p:spPr>
          <a:xfrm>
            <a:off x="50165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Add the panels</a:t>
            </a:r>
          </a:p>
        </p:txBody>
      </p:sp>
      <p:sp>
        <p:nvSpPr>
          <p:cNvPr id="1035" name="S1035"/>
          <p:cNvSpPr/>
          <p:nvPr/>
        </p:nvSpPr>
        <p:spPr>
          <a:xfrm>
            <a:off x="45339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Stat: up | Time series: CPU rate</a:t>
            </a:r>
          </a:p>
          <a:p>
            <a:pPr marL="140000" indent="-140000">
              <a:lnSpc>
                <a:spcPts val="1700"/>
              </a:lnSpc>
              <a:spcBef>
                <a:spcPts val="300"/>
              </a:spcBef>
              <a:buFont typeface="Arial"/>
              <a:buChar char="•"/>
            </a:pPr>
            <a:r>
              <a:rPr lang="en-US" sz="1400" dirty="0">
                <a:solidFill>
                  <a:srgbClr val="B4BECC"/>
                </a:solidFill>
              </a:rPr>
              <a:t>Gauge: memory % | Bar gauge: by instance</a:t>
            </a:r>
          </a:p>
          <a:p>
            <a:pPr marL="140000" indent="-140000">
              <a:lnSpc>
                <a:spcPts val="1700"/>
              </a:lnSpc>
              <a:spcBef>
                <a:spcPts val="300"/>
              </a:spcBef>
              <a:buFont typeface="Arial"/>
              <a:buChar char="•"/>
            </a:pPr>
            <a:r>
              <a:rPr lang="en-US" sz="1400" dirty="0">
                <a:solidFill>
                  <a:srgbClr val="B4BECC"/>
                </a:solidFill>
              </a:rPr>
              <a:t>Table: SQL query, grouped into 2 rows</a:t>
            </a:r>
          </a:p>
        </p:txBody>
      </p:sp>
      <p:sp>
        <p:nvSpPr>
          <p:cNvPr id="1036" name="S1036"/>
          <p:cNvSpPr/>
          <p:nvPr/>
        </p:nvSpPr>
        <p:spPr>
          <a:xfrm>
            <a:off x="45339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7" name="S1037"/>
          <p:cNvSpPr/>
          <p:nvPr/>
        </p:nvSpPr>
        <p:spPr>
          <a:xfrm>
            <a:off x="46355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all five panels render, no errors</a:t>
            </a:r>
          </a:p>
        </p:txBody>
      </p:sp>
      <p:sp>
        <p:nvSpPr>
          <p:cNvPr id="1038" name="S1038"/>
          <p:cNvSpPr/>
          <p:nvPr/>
        </p:nvSpPr>
        <p:spPr>
          <a:xfrm>
            <a:off x="8001000" y="3733800"/>
            <a:ext cx="3429000" cy="2311400"/>
          </a:xfrm>
          <a:prstGeom prst="roundRect">
            <a:avLst/>
          </a:prstGeom>
          <a:solidFill>
            <a:srgbClr val="111620"/>
          </a:solidFill>
          <a:ln w="12700">
            <a:solidFill>
              <a:srgbClr val="5A3A10"/>
            </a:solidFill>
          </a:ln>
        </p:spPr>
        <p:txBody>
          <a:bodyPr wrap="square" lIns="127000" tIns="50800" rIns="127000" bIns="50800" anchor="ctr"/>
          <a:lstStyle/>
          <a:p>
            <a:endParaRPr/>
          </a:p>
        </p:txBody>
      </p:sp>
      <p:sp>
        <p:nvSpPr>
          <p:cNvPr id="1039" name="S1039"/>
          <p:cNvSpPr/>
          <p:nvPr/>
        </p:nvSpPr>
        <p:spPr>
          <a:xfrm>
            <a:off x="8001000" y="3733800"/>
            <a:ext cx="3429000" cy="50800"/>
          </a:xfrm>
          <a:prstGeom prst="rect">
            <a:avLst/>
          </a:prstGeom>
          <a:solidFill>
            <a:srgbClr val="F2CC0C"/>
          </a:solidFill>
          <a:ln>
            <a:noFill/>
          </a:ln>
        </p:spPr>
        <p:txBody>
          <a:bodyPr wrap="square" lIns="127000" tIns="50800" rIns="127000" bIns="50800" anchor="ctr"/>
          <a:lstStyle/>
          <a:p>
            <a:endParaRPr/>
          </a:p>
        </p:txBody>
      </p:sp>
      <p:sp>
        <p:nvSpPr>
          <p:cNvPr id="1040" name="S1040"/>
          <p:cNvSpPr/>
          <p:nvPr/>
        </p:nvSpPr>
        <p:spPr>
          <a:xfrm>
            <a:off x="8153400" y="3886200"/>
            <a:ext cx="3124200" cy="355600"/>
          </a:xfrm>
          <a:prstGeom prst="rect">
            <a:avLst/>
          </a:prstGeom>
          <a:noFill/>
          <a:ln>
            <a:noFill/>
          </a:ln>
        </p:spPr>
        <p:txBody>
          <a:bodyPr wrap="square" lIns="0" tIns="50800" rIns="0" bIns="50800" anchor="ctr"/>
          <a:lstStyle/>
          <a:p>
            <a:pPr algn="l">
              <a:buNone/>
            </a:pPr>
            <a:r>
              <a:rPr lang="en-US" sz="1700" b="1" dirty="0">
                <a:solidFill>
                  <a:srgbClr val="F2CC0C"/>
                </a:solidFill>
              </a:rPr>
              <a:t>Done when...</a:t>
            </a:r>
          </a:p>
        </p:txBody>
      </p:sp>
      <p:sp>
        <p:nvSpPr>
          <p:cNvPr id="1041" name="S1041"/>
          <p:cNvSpPr/>
          <p:nvPr/>
        </p:nvSpPr>
        <p:spPr>
          <a:xfrm>
            <a:off x="8153400" y="4292600"/>
            <a:ext cx="3124200" cy="16510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E8D48B"/>
                </a:solidFill>
              </a:rPr>
              <a:t>Both data sources save and test green</a:t>
            </a:r>
          </a:p>
          <a:p>
            <a:pPr marL="140000" indent="-140000">
              <a:lnSpc>
                <a:spcPts val="1700"/>
              </a:lnSpc>
              <a:spcBef>
                <a:spcPts val="300"/>
              </a:spcBef>
              <a:buFont typeface="Arial"/>
              <a:buChar char="•"/>
            </a:pPr>
            <a:r>
              <a:rPr lang="en-US" sz="1400" dirty="0">
                <a:solidFill>
                  <a:srgbClr val="E8D48B"/>
                </a:solidFill>
              </a:rPr>
              <a:t>One dashboard uses both of them</a:t>
            </a:r>
          </a:p>
          <a:p>
            <a:pPr marL="140000" indent="-140000">
              <a:lnSpc>
                <a:spcPts val="1700"/>
              </a:lnSpc>
              <a:spcBef>
                <a:spcPts val="300"/>
              </a:spcBef>
              <a:buFont typeface="Arial"/>
              <a:buChar char="•"/>
            </a:pPr>
            <a:r>
              <a:rPr lang="en-US" sz="1400" dirty="0">
                <a:solidFill>
                  <a:srgbClr val="E8D48B"/>
                </a:solidFill>
              </a:rPr>
              <a:t>Changing instance updates every panel</a:t>
            </a:r>
          </a:p>
          <a:p>
            <a:pPr marL="140000" indent="-140000">
              <a:lnSpc>
                <a:spcPts val="1700"/>
              </a:lnSpc>
              <a:spcBef>
                <a:spcPts val="300"/>
              </a:spcBef>
              <a:buFont typeface="Arial"/>
              <a:buChar char="•"/>
            </a:pPr>
            <a:r>
              <a:rPr lang="en-US" sz="1400" dirty="0">
                <a:solidFill>
                  <a:srgbClr val="E8D48B"/>
                </a:solidFill>
              </a:rPr>
              <a:t>Panels sit in two collapsible rows</a:t>
            </a:r>
          </a:p>
          <a:p>
            <a:pPr marL="140000" indent="-140000">
              <a:lnSpc>
                <a:spcPts val="1700"/>
              </a:lnSpc>
              <a:spcBef>
                <a:spcPts val="300"/>
              </a:spcBef>
              <a:buFont typeface="Arial"/>
              <a:buChar char="•"/>
            </a:pPr>
            <a:r>
              <a:rPr lang="en-US" sz="1400" dirty="0">
                <a:solidFill>
                  <a:srgbClr val="E8D48B"/>
                </a:solidFill>
              </a:rPr>
              <a:t>Dashboard saved and JSON exported</a:t>
            </a:r>
          </a:p>
        </p:txBody>
      </p:sp>
    </p:spTree>
    <p:extLst>
      <p:ext uri="{BB962C8B-B14F-4D97-AF65-F5344CB8AC3E}">
        <p14:creationId xmlns:p14="http://schemas.microsoft.com/office/powerpoint/2010/main" val="3797331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EFE2F-4443-69FC-E638-9F79A0C85A68}"/>
              </a:ext>
            </a:extLst>
          </p:cNvPr>
          <p:cNvSpPr>
            <a:spLocks noGrp="1"/>
          </p:cNvSpPr>
          <p:nvPr>
            <p:ph type="title"/>
          </p:nvPr>
        </p:nvSpPr>
        <p:spPr>
          <a:xfrm>
            <a:off x="838200" y="2489200"/>
            <a:ext cx="7874000" cy="1016000"/>
          </a:xfrm>
        </p:spPr>
        <p:txBody>
          <a:bodyPr/>
          <a:lstStyle/>
          <a:p>
            <a:pPr algn="l">
              <a:buNone/>
            </a:pPr>
            <a:r>
              <a:rPr lang="en-US" sz="4400" b="1" dirty="0">
                <a:solidFill>
                  <a:srgbClr val="FFFFFF"/>
                </a:solidFill>
              </a:rPr>
              <a:t>Dashboard Creation</a:t>
            </a:r>
          </a:p>
        </p:txBody>
      </p:sp>
      <p:sp>
        <p:nvSpPr>
          <p:cNvPr id="3" name="Text Placeholder 2">
            <a:extLst>
              <a:ext uri="{FF2B5EF4-FFF2-40B4-BE49-F238E27FC236}">
                <a16:creationId xmlns:a16="http://schemas.microsoft.com/office/drawing/2014/main" id="{94FA002B-A9C8-C227-ADE1-895702E0A497}"/>
              </a:ext>
            </a:extLst>
          </p:cNvPr>
          <p:cNvSpPr>
            <a:spLocks noGrp="1"/>
          </p:cNvSpPr>
          <p:nvPr>
            <p:ph type="body" idx="1"/>
          </p:nvPr>
        </p:nvSpPr>
        <p:spPr>
          <a:xfrm>
            <a:off x="838200" y="3632200"/>
            <a:ext cx="9144000" cy="762000"/>
          </a:xfrm>
        </p:spPr>
        <p:txBody>
          <a:bodyPr/>
          <a:lstStyle/>
          <a:p>
            <a:pPr algn="l">
              <a:buNone/>
            </a:pPr>
            <a:r>
              <a:rPr lang="en-US" sz="1700" b="0" dirty="0">
                <a:solidFill>
                  <a:srgbClr val="A9B2C1"/>
                </a:solidFill>
              </a:rPr>
              <a:t>From a blank canvas to a dashboard people actually trust: structure, variables and reuse.</a:t>
            </a:r>
          </a:p>
        </p:txBody>
      </p:sp>
      <p:sp>
        <p:nvSpPr>
          <p:cNvPr id="701" name="S701"/>
          <p:cNvSpPr/>
          <p:nvPr/>
        </p:nvSpPr>
        <p:spPr>
          <a:xfrm>
            <a:off x="7620000" y="1524000"/>
            <a:ext cx="3810000" cy="3048000"/>
          </a:xfrm>
          <a:prstGeom prst="rect">
            <a:avLst/>
          </a:prstGeom>
          <a:noFill/>
          <a:ln>
            <a:noFill/>
          </a:ln>
        </p:spPr>
        <p:txBody>
          <a:bodyPr wrap="square" lIns="0" tIns="50800" rIns="0" bIns="50800" anchor="ctr"/>
          <a:lstStyle/>
          <a:p>
            <a:pPr algn="r">
              <a:buNone/>
            </a:pPr>
            <a:r>
              <a:rPr lang="en-US" sz="16000" b="1" dirty="0">
                <a:solidFill>
                  <a:srgbClr val="1B202B"/>
                </a:solidFill>
              </a:rPr>
              <a:t>07</a:t>
            </a:r>
          </a:p>
        </p:txBody>
      </p:sp>
      <p:sp>
        <p:nvSpPr>
          <p:cNvPr id="702" name="S702"/>
          <p:cNvSpPr/>
          <p:nvPr/>
        </p:nvSpPr>
        <p:spPr>
          <a:xfrm>
            <a:off x="838200" y="1905000"/>
            <a:ext cx="3302000" cy="406400"/>
          </a:xfrm>
          <a:prstGeom prst="roundRect">
            <a:avLst/>
          </a:prstGeom>
          <a:solidFill>
            <a:srgbClr val="0B1B33"/>
          </a:solidFill>
          <a:ln w="12700">
            <a:solidFill>
              <a:srgbClr val="3274D9"/>
            </a:solidFill>
          </a:ln>
        </p:spPr>
        <p:txBody>
          <a:bodyPr wrap="square" lIns="127000" tIns="50800" rIns="127000" bIns="50800" anchor="ctr"/>
          <a:lstStyle/>
          <a:p>
            <a:pPr algn="ctr">
              <a:buNone/>
            </a:pPr>
            <a:r>
              <a:rPr lang="en-US" sz="1400" b="1" dirty="0">
                <a:solidFill>
                  <a:srgbClr val="62B0FF"/>
                </a:solidFill>
              </a:rPr>
              <a:t>MODULE 7</a:t>
            </a:r>
          </a:p>
        </p:txBody>
      </p:sp>
      <p:sp>
        <p:nvSpPr>
          <p:cNvPr id="703" name="S703"/>
          <p:cNvSpPr/>
          <p:nvPr/>
        </p:nvSpPr>
        <p:spPr>
          <a:xfrm>
            <a:off x="838200" y="3581400"/>
            <a:ext cx="1524000" cy="50800"/>
          </a:xfrm>
          <a:prstGeom prst="rect">
            <a:avLst/>
          </a:prstGeom>
          <a:solidFill>
            <a:srgbClr val="3274D9"/>
          </a:solidFill>
          <a:ln>
            <a:noFill/>
          </a:ln>
        </p:spPr>
        <p:txBody>
          <a:bodyPr wrap="square" lIns="127000" tIns="50800" rIns="127000" bIns="50800" anchor="ctr"/>
          <a:lstStyle/>
          <a:p>
            <a:endParaRPr/>
          </a:p>
        </p:txBody>
      </p:sp>
    </p:spTree>
    <p:extLst>
      <p:ext uri="{BB962C8B-B14F-4D97-AF65-F5344CB8AC3E}">
        <p14:creationId xmlns:p14="http://schemas.microsoft.com/office/powerpoint/2010/main" val="3275572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36D6B-BC2D-4DA8-1685-3C686EB71642}"/>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Dashboard Design Principles</a:t>
            </a:r>
          </a:p>
        </p:txBody>
      </p:sp>
      <p:sp>
        <p:nvSpPr>
          <p:cNvPr id="721" name="S721"/>
          <p:cNvSpPr/>
          <p:nvPr/>
        </p:nvSpPr>
        <p:spPr>
          <a:xfrm>
            <a:off x="762000" y="914400"/>
            <a:ext cx="1524000" cy="50800"/>
          </a:xfrm>
          <a:prstGeom prst="rect">
            <a:avLst/>
          </a:prstGeom>
          <a:solidFill>
            <a:srgbClr val="3274D9"/>
          </a:solidFill>
          <a:ln>
            <a:noFill/>
          </a:ln>
        </p:spPr>
        <p:txBody>
          <a:bodyPr wrap="square" lIns="127000" tIns="50800" rIns="127000" bIns="50800" anchor="ctr"/>
          <a:lstStyle/>
          <a:p>
            <a:endParaRPr/>
          </a:p>
        </p:txBody>
      </p:sp>
      <p:sp>
        <p:nvSpPr>
          <p:cNvPr id="722" name="S722"/>
          <p:cNvSpPr/>
          <p:nvPr/>
        </p:nvSpPr>
        <p:spPr>
          <a:xfrm>
            <a:off x="762000" y="1066800"/>
            <a:ext cx="10668000" cy="304800"/>
          </a:xfrm>
          <a:prstGeom prst="rect">
            <a:avLst/>
          </a:prstGeom>
          <a:noFill/>
          <a:ln>
            <a:noFill/>
          </a:ln>
        </p:spPr>
        <p:txBody>
          <a:bodyPr wrap="square" lIns="0" tIns="50800" rIns="0" bIns="50800" anchor="ctr"/>
          <a:lstStyle/>
          <a:p>
            <a:pPr algn="l">
              <a:buNone/>
            </a:pPr>
            <a:r>
              <a:rPr lang="en-US" sz="1500" b="0" dirty="0">
                <a:solidFill>
                  <a:srgbClr val="98A2B3"/>
                </a:solidFill>
              </a:rPr>
              <a:t>A dashboard is a product. Someone has to read it at 3am.</a:t>
            </a:r>
          </a:p>
        </p:txBody>
      </p:sp>
      <p:sp>
        <p:nvSpPr>
          <p:cNvPr id="723" name="S723"/>
          <p:cNvSpPr/>
          <p:nvPr/>
        </p:nvSpPr>
        <p:spPr>
          <a:xfrm>
            <a:off x="762000" y="14732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24" name="S724"/>
          <p:cNvSpPr/>
          <p:nvPr/>
        </p:nvSpPr>
        <p:spPr>
          <a:xfrm>
            <a:off x="762000" y="1473200"/>
            <a:ext cx="3429000" cy="50800"/>
          </a:xfrm>
          <a:prstGeom prst="rect">
            <a:avLst/>
          </a:prstGeom>
          <a:solidFill>
            <a:srgbClr val="F46800"/>
          </a:solidFill>
          <a:ln>
            <a:noFill/>
          </a:ln>
        </p:spPr>
        <p:txBody>
          <a:bodyPr wrap="square" lIns="127000" tIns="50800" rIns="127000" bIns="50800" anchor="ctr"/>
          <a:lstStyle/>
          <a:p>
            <a:endParaRPr/>
          </a:p>
        </p:txBody>
      </p:sp>
      <p:sp>
        <p:nvSpPr>
          <p:cNvPr id="725" name="S725"/>
          <p:cNvSpPr/>
          <p:nvPr/>
        </p:nvSpPr>
        <p:spPr>
          <a:xfrm>
            <a:off x="3149600" y="16002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01</a:t>
            </a:r>
          </a:p>
        </p:txBody>
      </p:sp>
      <p:sp>
        <p:nvSpPr>
          <p:cNvPr id="726" name="S726"/>
          <p:cNvSpPr/>
          <p:nvPr/>
        </p:nvSpPr>
        <p:spPr>
          <a:xfrm>
            <a:off x="939800" y="1676400"/>
            <a:ext cx="2286000" cy="635000"/>
          </a:xfrm>
          <a:prstGeom prst="rect">
            <a:avLst/>
          </a:prstGeom>
          <a:noFill/>
          <a:ln>
            <a:noFill/>
          </a:ln>
        </p:spPr>
        <p:txBody>
          <a:bodyPr wrap="square" lIns="0" tIns="50800" rIns="0" bIns="50800" anchor="ctr"/>
          <a:lstStyle/>
          <a:p>
            <a:pPr algn="l">
              <a:buNone/>
            </a:pPr>
            <a:r>
              <a:rPr lang="en-US" sz="1700" b="1" dirty="0">
                <a:solidFill>
                  <a:srgbClr val="F46800"/>
                </a:solidFill>
              </a:rPr>
              <a:t>One dashboard, one question</a:t>
            </a:r>
          </a:p>
        </p:txBody>
      </p:sp>
      <p:sp>
        <p:nvSpPr>
          <p:cNvPr id="727" name="S727"/>
          <p:cNvSpPr/>
          <p:nvPr/>
        </p:nvSpPr>
        <p:spPr>
          <a:xfrm>
            <a:off x="939800" y="23622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Start from the decision it supports, not from the metrics you happen to have.</a:t>
            </a:r>
          </a:p>
        </p:txBody>
      </p:sp>
      <p:sp>
        <p:nvSpPr>
          <p:cNvPr id="728" name="S728"/>
          <p:cNvSpPr/>
          <p:nvPr/>
        </p:nvSpPr>
        <p:spPr>
          <a:xfrm>
            <a:off x="4381500" y="14732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29" name="S729"/>
          <p:cNvSpPr/>
          <p:nvPr/>
        </p:nvSpPr>
        <p:spPr>
          <a:xfrm>
            <a:off x="4381500" y="1473200"/>
            <a:ext cx="3429000" cy="50800"/>
          </a:xfrm>
          <a:prstGeom prst="rect">
            <a:avLst/>
          </a:prstGeom>
          <a:solidFill>
            <a:srgbClr val="FF9830"/>
          </a:solidFill>
          <a:ln>
            <a:noFill/>
          </a:ln>
        </p:spPr>
        <p:txBody>
          <a:bodyPr wrap="square" lIns="127000" tIns="50800" rIns="127000" bIns="50800" anchor="ctr"/>
          <a:lstStyle/>
          <a:p>
            <a:endParaRPr/>
          </a:p>
        </p:txBody>
      </p:sp>
      <p:sp>
        <p:nvSpPr>
          <p:cNvPr id="730" name="S730"/>
          <p:cNvSpPr/>
          <p:nvPr/>
        </p:nvSpPr>
        <p:spPr>
          <a:xfrm>
            <a:off x="6769100" y="16002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02</a:t>
            </a:r>
          </a:p>
        </p:txBody>
      </p:sp>
      <p:sp>
        <p:nvSpPr>
          <p:cNvPr id="731" name="S731"/>
          <p:cNvSpPr/>
          <p:nvPr/>
        </p:nvSpPr>
        <p:spPr>
          <a:xfrm>
            <a:off x="4559300" y="1676400"/>
            <a:ext cx="2286000" cy="635000"/>
          </a:xfrm>
          <a:prstGeom prst="rect">
            <a:avLst/>
          </a:prstGeom>
          <a:noFill/>
          <a:ln>
            <a:noFill/>
          </a:ln>
        </p:spPr>
        <p:txBody>
          <a:bodyPr wrap="square" lIns="0" tIns="50800" rIns="0" bIns="50800" anchor="ctr"/>
          <a:lstStyle/>
          <a:p>
            <a:pPr algn="l">
              <a:buNone/>
            </a:pPr>
            <a:r>
              <a:rPr lang="en-US" sz="1700" b="1" dirty="0">
                <a:solidFill>
                  <a:srgbClr val="FF9830"/>
                </a:solidFill>
              </a:rPr>
              <a:t>Top-left is prime space</a:t>
            </a:r>
          </a:p>
        </p:txBody>
      </p:sp>
      <p:sp>
        <p:nvSpPr>
          <p:cNvPr id="732" name="S732"/>
          <p:cNvSpPr/>
          <p:nvPr/>
        </p:nvSpPr>
        <p:spPr>
          <a:xfrm>
            <a:off x="4559300" y="23622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Health summary and SLOs first, supporting detail underneath.</a:t>
            </a:r>
          </a:p>
        </p:txBody>
      </p:sp>
      <p:sp>
        <p:nvSpPr>
          <p:cNvPr id="733" name="S733"/>
          <p:cNvSpPr/>
          <p:nvPr/>
        </p:nvSpPr>
        <p:spPr>
          <a:xfrm>
            <a:off x="8001000" y="14732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34" name="S734"/>
          <p:cNvSpPr/>
          <p:nvPr/>
        </p:nvSpPr>
        <p:spPr>
          <a:xfrm>
            <a:off x="8001000" y="1473200"/>
            <a:ext cx="3429000" cy="50800"/>
          </a:xfrm>
          <a:prstGeom prst="rect">
            <a:avLst/>
          </a:prstGeom>
          <a:solidFill>
            <a:srgbClr val="3274D9"/>
          </a:solidFill>
          <a:ln>
            <a:noFill/>
          </a:ln>
        </p:spPr>
        <p:txBody>
          <a:bodyPr wrap="square" lIns="127000" tIns="50800" rIns="127000" bIns="50800" anchor="ctr"/>
          <a:lstStyle/>
          <a:p>
            <a:endParaRPr/>
          </a:p>
        </p:txBody>
      </p:sp>
      <p:sp>
        <p:nvSpPr>
          <p:cNvPr id="735" name="S735"/>
          <p:cNvSpPr/>
          <p:nvPr/>
        </p:nvSpPr>
        <p:spPr>
          <a:xfrm>
            <a:off x="10388600" y="16002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03</a:t>
            </a:r>
          </a:p>
        </p:txBody>
      </p:sp>
      <p:sp>
        <p:nvSpPr>
          <p:cNvPr id="736" name="S736"/>
          <p:cNvSpPr/>
          <p:nvPr/>
        </p:nvSpPr>
        <p:spPr>
          <a:xfrm>
            <a:off x="8178800" y="1676400"/>
            <a:ext cx="2286000" cy="635000"/>
          </a:xfrm>
          <a:prstGeom prst="rect">
            <a:avLst/>
          </a:prstGeom>
          <a:noFill/>
          <a:ln>
            <a:noFill/>
          </a:ln>
        </p:spPr>
        <p:txBody>
          <a:bodyPr wrap="square" lIns="0" tIns="50800" rIns="0" bIns="50800" anchor="ctr"/>
          <a:lstStyle/>
          <a:p>
            <a:pPr algn="l">
              <a:buNone/>
            </a:pPr>
            <a:r>
              <a:rPr lang="en-US" sz="1700" b="1" dirty="0">
                <a:solidFill>
                  <a:srgbClr val="3274D9"/>
                </a:solidFill>
              </a:rPr>
              <a:t>Five to nine panels</a:t>
            </a:r>
          </a:p>
        </p:txBody>
      </p:sp>
      <p:sp>
        <p:nvSpPr>
          <p:cNvPr id="737" name="S737"/>
          <p:cNvSpPr/>
          <p:nvPr/>
        </p:nvSpPr>
        <p:spPr>
          <a:xfrm>
            <a:off x="8178800" y="23622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Past that, nobody reads it. Link out to a drill-down dashboard instead.</a:t>
            </a:r>
          </a:p>
        </p:txBody>
      </p:sp>
      <p:sp>
        <p:nvSpPr>
          <p:cNvPr id="738" name="S738"/>
          <p:cNvSpPr/>
          <p:nvPr/>
        </p:nvSpPr>
        <p:spPr>
          <a:xfrm>
            <a:off x="762000" y="34798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39" name="S739"/>
          <p:cNvSpPr/>
          <p:nvPr/>
        </p:nvSpPr>
        <p:spPr>
          <a:xfrm>
            <a:off x="762000" y="3479800"/>
            <a:ext cx="3429000" cy="50800"/>
          </a:xfrm>
          <a:prstGeom prst="rect">
            <a:avLst/>
          </a:prstGeom>
          <a:solidFill>
            <a:srgbClr val="B877D9"/>
          </a:solidFill>
          <a:ln>
            <a:noFill/>
          </a:ln>
        </p:spPr>
        <p:txBody>
          <a:bodyPr wrap="square" lIns="127000" tIns="50800" rIns="127000" bIns="50800" anchor="ctr"/>
          <a:lstStyle/>
          <a:p>
            <a:endParaRPr/>
          </a:p>
        </p:txBody>
      </p:sp>
      <p:sp>
        <p:nvSpPr>
          <p:cNvPr id="740" name="S740"/>
          <p:cNvSpPr/>
          <p:nvPr/>
        </p:nvSpPr>
        <p:spPr>
          <a:xfrm>
            <a:off x="3149600" y="36068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04</a:t>
            </a:r>
          </a:p>
        </p:txBody>
      </p:sp>
      <p:sp>
        <p:nvSpPr>
          <p:cNvPr id="741" name="S741"/>
          <p:cNvSpPr/>
          <p:nvPr/>
        </p:nvSpPr>
        <p:spPr>
          <a:xfrm>
            <a:off x="939800" y="3683000"/>
            <a:ext cx="2286000" cy="635000"/>
          </a:xfrm>
          <a:prstGeom prst="rect">
            <a:avLst/>
          </a:prstGeom>
          <a:noFill/>
          <a:ln>
            <a:noFill/>
          </a:ln>
        </p:spPr>
        <p:txBody>
          <a:bodyPr wrap="square" lIns="0" tIns="50800" rIns="0" bIns="50800" anchor="ctr"/>
          <a:lstStyle/>
          <a:p>
            <a:pPr algn="l">
              <a:buNone/>
            </a:pPr>
            <a:r>
              <a:rPr lang="en-US" sz="1700" b="1" dirty="0">
                <a:solidFill>
                  <a:srgbClr val="B877D9"/>
                </a:solidFill>
              </a:rPr>
              <a:t>Consistent units and colour</a:t>
            </a:r>
          </a:p>
        </p:txBody>
      </p:sp>
      <p:sp>
        <p:nvSpPr>
          <p:cNvPr id="742" name="S742"/>
          <p:cNvSpPr/>
          <p:nvPr/>
        </p:nvSpPr>
        <p:spPr>
          <a:xfrm>
            <a:off x="939800" y="43688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Same colour means the same thing on every panel. Always set the unit.</a:t>
            </a:r>
          </a:p>
        </p:txBody>
      </p:sp>
      <p:sp>
        <p:nvSpPr>
          <p:cNvPr id="743" name="S743"/>
          <p:cNvSpPr/>
          <p:nvPr/>
        </p:nvSpPr>
        <p:spPr>
          <a:xfrm>
            <a:off x="4381500" y="34798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44" name="S744"/>
          <p:cNvSpPr/>
          <p:nvPr/>
        </p:nvSpPr>
        <p:spPr>
          <a:xfrm>
            <a:off x="4381500" y="3479800"/>
            <a:ext cx="3429000" cy="50800"/>
          </a:xfrm>
          <a:prstGeom prst="rect">
            <a:avLst/>
          </a:prstGeom>
          <a:solidFill>
            <a:srgbClr val="56A64B"/>
          </a:solidFill>
          <a:ln>
            <a:noFill/>
          </a:ln>
        </p:spPr>
        <p:txBody>
          <a:bodyPr wrap="square" lIns="127000" tIns="50800" rIns="127000" bIns="50800" anchor="ctr"/>
          <a:lstStyle/>
          <a:p>
            <a:endParaRPr/>
          </a:p>
        </p:txBody>
      </p:sp>
      <p:sp>
        <p:nvSpPr>
          <p:cNvPr id="745" name="S745"/>
          <p:cNvSpPr/>
          <p:nvPr/>
        </p:nvSpPr>
        <p:spPr>
          <a:xfrm>
            <a:off x="6769100" y="36068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05</a:t>
            </a:r>
          </a:p>
        </p:txBody>
      </p:sp>
      <p:sp>
        <p:nvSpPr>
          <p:cNvPr id="746" name="S746"/>
          <p:cNvSpPr/>
          <p:nvPr/>
        </p:nvSpPr>
        <p:spPr>
          <a:xfrm>
            <a:off x="4559300" y="3683000"/>
            <a:ext cx="2286000" cy="635000"/>
          </a:xfrm>
          <a:prstGeom prst="rect">
            <a:avLst/>
          </a:prstGeom>
          <a:noFill/>
          <a:ln>
            <a:noFill/>
          </a:ln>
        </p:spPr>
        <p:txBody>
          <a:bodyPr wrap="square" lIns="0" tIns="50800" rIns="0" bIns="50800" anchor="ctr"/>
          <a:lstStyle/>
          <a:p>
            <a:pPr algn="l">
              <a:buNone/>
            </a:pPr>
            <a:r>
              <a:rPr lang="en-US" sz="1700" b="1" dirty="0">
                <a:solidFill>
                  <a:srgbClr val="56A64B"/>
                </a:solidFill>
              </a:rPr>
              <a:t>Design for the time picker</a:t>
            </a:r>
          </a:p>
        </p:txBody>
      </p:sp>
      <p:sp>
        <p:nvSpPr>
          <p:cNvPr id="747" name="S747"/>
          <p:cNvSpPr/>
          <p:nvPr/>
        </p:nvSpPr>
        <p:spPr>
          <a:xfrm>
            <a:off x="4559300" y="43688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Every panel must still make sense at 5 minutes and at 7 days.</a:t>
            </a:r>
          </a:p>
        </p:txBody>
      </p:sp>
      <p:sp>
        <p:nvSpPr>
          <p:cNvPr id="748" name="S748"/>
          <p:cNvSpPr/>
          <p:nvPr/>
        </p:nvSpPr>
        <p:spPr>
          <a:xfrm>
            <a:off x="8001000" y="3479800"/>
            <a:ext cx="3429000" cy="1854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49" name="S749"/>
          <p:cNvSpPr/>
          <p:nvPr/>
        </p:nvSpPr>
        <p:spPr>
          <a:xfrm>
            <a:off x="8001000" y="3479800"/>
            <a:ext cx="3429000" cy="50800"/>
          </a:xfrm>
          <a:prstGeom prst="rect">
            <a:avLst/>
          </a:prstGeom>
          <a:solidFill>
            <a:srgbClr val="F2CC0C"/>
          </a:solidFill>
          <a:ln>
            <a:noFill/>
          </a:ln>
        </p:spPr>
        <p:txBody>
          <a:bodyPr wrap="square" lIns="127000" tIns="50800" rIns="127000" bIns="50800" anchor="ctr"/>
          <a:lstStyle/>
          <a:p>
            <a:endParaRPr/>
          </a:p>
        </p:txBody>
      </p:sp>
      <p:sp>
        <p:nvSpPr>
          <p:cNvPr id="750" name="S750"/>
          <p:cNvSpPr/>
          <p:nvPr/>
        </p:nvSpPr>
        <p:spPr>
          <a:xfrm>
            <a:off x="10388600" y="3606800"/>
            <a:ext cx="889000" cy="508000"/>
          </a:xfrm>
          <a:prstGeom prst="rect">
            <a:avLst/>
          </a:prstGeom>
          <a:noFill/>
          <a:ln>
            <a:noFill/>
          </a:ln>
        </p:spPr>
        <p:txBody>
          <a:bodyPr wrap="square" lIns="0" tIns="50800" rIns="0" bIns="50800" anchor="ctr"/>
          <a:lstStyle/>
          <a:p>
            <a:pPr algn="r">
              <a:buNone/>
            </a:pPr>
            <a:r>
              <a:rPr lang="en-US" sz="2800" b="1" dirty="0">
                <a:solidFill>
                  <a:srgbClr val="1E2430"/>
                </a:solidFill>
              </a:rPr>
              <a:t>06</a:t>
            </a:r>
          </a:p>
        </p:txBody>
      </p:sp>
      <p:sp>
        <p:nvSpPr>
          <p:cNvPr id="751" name="S751"/>
          <p:cNvSpPr/>
          <p:nvPr/>
        </p:nvSpPr>
        <p:spPr>
          <a:xfrm>
            <a:off x="8178800" y="3683000"/>
            <a:ext cx="2286000" cy="635000"/>
          </a:xfrm>
          <a:prstGeom prst="rect">
            <a:avLst/>
          </a:prstGeom>
          <a:noFill/>
          <a:ln>
            <a:noFill/>
          </a:ln>
        </p:spPr>
        <p:txBody>
          <a:bodyPr wrap="square" lIns="0" tIns="50800" rIns="0" bIns="50800" anchor="ctr"/>
          <a:lstStyle/>
          <a:p>
            <a:pPr algn="l">
              <a:buNone/>
            </a:pPr>
            <a:r>
              <a:rPr lang="en-US" sz="1700" b="1" dirty="0">
                <a:solidFill>
                  <a:srgbClr val="F2CC0C"/>
                </a:solidFill>
              </a:rPr>
              <a:t>Title states the question</a:t>
            </a:r>
          </a:p>
        </p:txBody>
      </p:sp>
      <p:sp>
        <p:nvSpPr>
          <p:cNvPr id="752" name="S752"/>
          <p:cNvSpPr/>
          <p:nvPr/>
        </p:nvSpPr>
        <p:spPr>
          <a:xfrm>
            <a:off x="8178800" y="4368800"/>
            <a:ext cx="3073400" cy="838200"/>
          </a:xfrm>
          <a:prstGeom prst="rect">
            <a:avLst/>
          </a:prstGeom>
          <a:noFill/>
          <a:ln>
            <a:noFill/>
          </a:ln>
        </p:spPr>
        <p:txBody>
          <a:bodyPr wrap="square" lIns="0" tIns="50800" rIns="0" bIns="50800" anchor="t"/>
          <a:lstStyle/>
          <a:p>
            <a:pPr algn="l">
              <a:buNone/>
            </a:pPr>
            <a:r>
              <a:rPr lang="en-US" sz="1400" b="0" dirty="0">
                <a:solidFill>
                  <a:srgbClr val="A9B2C1"/>
                </a:solidFill>
              </a:rPr>
              <a:t>Add a panel description. Future you will not remember the query.</a:t>
            </a:r>
          </a:p>
        </p:txBody>
      </p:sp>
      <p:sp>
        <p:nvSpPr>
          <p:cNvPr id="753" name="S753"/>
          <p:cNvSpPr/>
          <p:nvPr/>
        </p:nvSpPr>
        <p:spPr>
          <a:xfrm>
            <a:off x="762000" y="5562600"/>
            <a:ext cx="10668000" cy="762000"/>
          </a:xfrm>
          <a:prstGeom prst="roundRect">
            <a:avLst/>
          </a:prstGeom>
          <a:solidFill>
            <a:srgbClr val="1C1408"/>
          </a:solidFill>
          <a:ln w="12700">
            <a:solidFill>
              <a:srgbClr val="5A3A10"/>
            </a:solidFill>
          </a:ln>
        </p:spPr>
        <p:txBody>
          <a:bodyPr wrap="square" lIns="203200" tIns="50800" rIns="203200" bIns="50800" anchor="ctr"/>
          <a:lstStyle/>
          <a:p>
            <a:pPr algn="l">
              <a:buNone/>
            </a:pPr>
            <a:r>
              <a:rPr lang="en-US" sz="1500" b="0" dirty="0">
                <a:solidFill>
                  <a:srgbClr val="FFC078"/>
                </a:solidFill>
              </a:rPr>
              <a:t>Anti-pattern: the wall of graphs. Thirty panels with no hierarchy is not observability - it is decoration.</a:t>
            </a:r>
          </a:p>
        </p:txBody>
      </p:sp>
    </p:spTree>
    <p:extLst>
      <p:ext uri="{BB962C8B-B14F-4D97-AF65-F5344CB8AC3E}">
        <p14:creationId xmlns:p14="http://schemas.microsoft.com/office/powerpoint/2010/main" val="2525587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EE987-E772-A05F-9DF9-61D0D2E44744}"/>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Anatomy of a Dashboard</a:t>
            </a:r>
          </a:p>
        </p:txBody>
      </p:sp>
      <p:sp>
        <p:nvSpPr>
          <p:cNvPr id="741" name="S741"/>
          <p:cNvSpPr/>
          <p:nvPr/>
        </p:nvSpPr>
        <p:spPr>
          <a:xfrm>
            <a:off x="762000" y="914400"/>
            <a:ext cx="1524000" cy="50800"/>
          </a:xfrm>
          <a:prstGeom prst="rect">
            <a:avLst/>
          </a:prstGeom>
          <a:solidFill>
            <a:srgbClr val="3274D9"/>
          </a:solidFill>
          <a:ln>
            <a:noFill/>
          </a:ln>
        </p:spPr>
        <p:txBody>
          <a:bodyPr wrap="square" lIns="127000" tIns="38100" rIns="127000" bIns="38100" anchor="ctr"/>
          <a:lstStyle/>
          <a:p>
            <a:endParaRPr/>
          </a:p>
        </p:txBody>
      </p:sp>
      <p:sp>
        <p:nvSpPr>
          <p:cNvPr id="742" name="S742"/>
          <p:cNvSpPr/>
          <p:nvPr/>
        </p:nvSpPr>
        <p:spPr>
          <a:xfrm>
            <a:off x="762000" y="1270000"/>
            <a:ext cx="6731000" cy="4368800"/>
          </a:xfrm>
          <a:prstGeom prst="roundRect">
            <a:avLst/>
          </a:prstGeom>
          <a:solidFill>
            <a:srgbClr val="0F131A"/>
          </a:solidFill>
          <a:ln w="12700">
            <a:solidFill>
              <a:srgbClr val="2B3140"/>
            </a:solidFill>
          </a:ln>
        </p:spPr>
        <p:txBody>
          <a:bodyPr wrap="square" lIns="127000" tIns="38100" rIns="127000" bIns="38100" anchor="ctr"/>
          <a:lstStyle/>
          <a:p>
            <a:endParaRPr/>
          </a:p>
        </p:txBody>
      </p:sp>
      <p:sp>
        <p:nvSpPr>
          <p:cNvPr id="743" name="S743"/>
          <p:cNvSpPr/>
          <p:nvPr/>
        </p:nvSpPr>
        <p:spPr>
          <a:xfrm>
            <a:off x="914400" y="1371600"/>
            <a:ext cx="3810000" cy="330200"/>
          </a:xfrm>
          <a:prstGeom prst="rect">
            <a:avLst/>
          </a:prstGeom>
          <a:noFill/>
          <a:ln>
            <a:noFill/>
          </a:ln>
        </p:spPr>
        <p:txBody>
          <a:bodyPr wrap="square" lIns="0" tIns="38100" rIns="0" bIns="38100" anchor="ctr"/>
          <a:lstStyle/>
          <a:p>
            <a:pPr algn="l">
              <a:buNone/>
            </a:pPr>
            <a:r>
              <a:rPr lang="en-US" sz="1500" b="1" dirty="0">
                <a:solidFill>
                  <a:srgbClr val="FFFFFF"/>
                </a:solidFill>
              </a:rPr>
              <a:t>Service Health Overview</a:t>
            </a:r>
          </a:p>
        </p:txBody>
      </p:sp>
      <p:sp>
        <p:nvSpPr>
          <p:cNvPr id="744" name="S744"/>
          <p:cNvSpPr/>
          <p:nvPr/>
        </p:nvSpPr>
        <p:spPr>
          <a:xfrm>
            <a:off x="5461000" y="1397000"/>
            <a:ext cx="914400" cy="279400"/>
          </a:xfrm>
          <a:prstGeom prst="roundRect">
            <a:avLst/>
          </a:prstGeom>
          <a:solidFill>
            <a:srgbClr val="1B2029"/>
          </a:solidFill>
          <a:ln w="12700">
            <a:solidFill>
              <a:srgbClr val="2B3140"/>
            </a:solidFill>
          </a:ln>
        </p:spPr>
        <p:txBody>
          <a:bodyPr wrap="square" lIns="50800" tIns="38100" rIns="50800" bIns="38100" anchor="ctr"/>
          <a:lstStyle/>
          <a:p>
            <a:pPr algn="ctr">
              <a:buNone/>
            </a:pPr>
            <a:r>
              <a:rPr lang="en-US" sz="1400" b="0" dirty="0">
                <a:solidFill>
                  <a:srgbClr val="B4BECC"/>
                </a:solidFill>
              </a:rPr>
              <a:t>Last 6h</a:t>
            </a:r>
          </a:p>
        </p:txBody>
      </p:sp>
      <p:sp>
        <p:nvSpPr>
          <p:cNvPr id="745" name="S745"/>
          <p:cNvSpPr/>
          <p:nvPr/>
        </p:nvSpPr>
        <p:spPr>
          <a:xfrm>
            <a:off x="6451600" y="1397000"/>
            <a:ext cx="889000" cy="279400"/>
          </a:xfrm>
          <a:prstGeom prst="roundRect">
            <a:avLst/>
          </a:prstGeom>
          <a:solidFill>
            <a:srgbClr val="1B2029"/>
          </a:solidFill>
          <a:ln w="12700">
            <a:solidFill>
              <a:srgbClr val="2B3140"/>
            </a:solidFill>
          </a:ln>
        </p:spPr>
        <p:txBody>
          <a:bodyPr wrap="square" lIns="50800" tIns="38100" rIns="50800" bIns="38100" anchor="ctr"/>
          <a:lstStyle/>
          <a:p>
            <a:pPr algn="ctr">
              <a:buNone/>
            </a:pPr>
            <a:r>
              <a:rPr lang="en-US" sz="1400" b="0" dirty="0">
                <a:solidFill>
                  <a:srgbClr val="B4BECC"/>
                </a:solidFill>
              </a:rPr>
              <a:t>10s</a:t>
            </a:r>
          </a:p>
        </p:txBody>
      </p:sp>
      <p:sp>
        <p:nvSpPr>
          <p:cNvPr id="746" name="S746"/>
          <p:cNvSpPr/>
          <p:nvPr/>
        </p:nvSpPr>
        <p:spPr>
          <a:xfrm>
            <a:off x="914400" y="1778000"/>
            <a:ext cx="1397000" cy="304800"/>
          </a:xfrm>
          <a:prstGeom prst="roundRect">
            <a:avLst/>
          </a:prstGeom>
          <a:solidFill>
            <a:srgbClr val="10233A"/>
          </a:solidFill>
          <a:ln w="12700">
            <a:solidFill>
              <a:srgbClr val="3274D9"/>
            </a:solidFill>
          </a:ln>
        </p:spPr>
        <p:txBody>
          <a:bodyPr wrap="square" lIns="50800" tIns="38100" rIns="50800" bIns="38100" anchor="ctr"/>
          <a:lstStyle/>
          <a:p>
            <a:pPr algn="ctr">
              <a:buNone/>
            </a:pPr>
            <a:r>
              <a:rPr lang="en-US" sz="1400" b="0" dirty="0">
                <a:solidFill>
                  <a:srgbClr val="62B0FF"/>
                </a:solidFill>
              </a:rPr>
              <a:t>datasource</a:t>
            </a:r>
          </a:p>
        </p:txBody>
      </p:sp>
      <p:sp>
        <p:nvSpPr>
          <p:cNvPr id="747" name="S747"/>
          <p:cNvSpPr/>
          <p:nvPr/>
        </p:nvSpPr>
        <p:spPr>
          <a:xfrm>
            <a:off x="2413000" y="1778000"/>
            <a:ext cx="1270000" cy="304800"/>
          </a:xfrm>
          <a:prstGeom prst="roundRect">
            <a:avLst/>
          </a:prstGeom>
          <a:solidFill>
            <a:srgbClr val="10233A"/>
          </a:solidFill>
          <a:ln w="12700">
            <a:solidFill>
              <a:srgbClr val="3274D9"/>
            </a:solidFill>
          </a:ln>
        </p:spPr>
        <p:txBody>
          <a:bodyPr wrap="square" lIns="50800" tIns="38100" rIns="50800" bIns="38100" anchor="ctr"/>
          <a:lstStyle/>
          <a:p>
            <a:pPr algn="ctr">
              <a:buNone/>
            </a:pPr>
            <a:r>
              <a:rPr lang="en-US" sz="1400" b="0" dirty="0">
                <a:solidFill>
                  <a:srgbClr val="62B0FF"/>
                </a:solidFill>
              </a:rPr>
              <a:t>env = prod</a:t>
            </a:r>
          </a:p>
        </p:txBody>
      </p:sp>
      <p:sp>
        <p:nvSpPr>
          <p:cNvPr id="748" name="S748"/>
          <p:cNvSpPr/>
          <p:nvPr/>
        </p:nvSpPr>
        <p:spPr>
          <a:xfrm>
            <a:off x="3784600" y="1778000"/>
            <a:ext cx="1473200" cy="304800"/>
          </a:xfrm>
          <a:prstGeom prst="roundRect">
            <a:avLst/>
          </a:prstGeom>
          <a:solidFill>
            <a:srgbClr val="10233A"/>
          </a:solidFill>
          <a:ln w="12700">
            <a:solidFill>
              <a:srgbClr val="3274D9"/>
            </a:solidFill>
          </a:ln>
        </p:spPr>
        <p:txBody>
          <a:bodyPr wrap="square" lIns="50800" tIns="38100" rIns="50800" bIns="38100" anchor="ctr"/>
          <a:lstStyle/>
          <a:p>
            <a:pPr algn="ctr">
              <a:buNone/>
            </a:pPr>
            <a:r>
              <a:rPr lang="en-US" sz="1400" b="0" dirty="0">
                <a:solidFill>
                  <a:srgbClr val="62B0FF"/>
                </a:solidFill>
              </a:rPr>
              <a:t>instance = All</a:t>
            </a:r>
          </a:p>
        </p:txBody>
      </p:sp>
      <p:sp>
        <p:nvSpPr>
          <p:cNvPr id="749" name="S749"/>
          <p:cNvSpPr/>
          <p:nvPr/>
        </p:nvSpPr>
        <p:spPr>
          <a:xfrm>
            <a:off x="914400" y="2184400"/>
            <a:ext cx="3810000" cy="279400"/>
          </a:xfrm>
          <a:prstGeom prst="rect">
            <a:avLst/>
          </a:prstGeom>
          <a:noFill/>
          <a:ln>
            <a:noFill/>
          </a:ln>
        </p:spPr>
        <p:txBody>
          <a:bodyPr wrap="square" lIns="0" tIns="38100" rIns="0" bIns="38100" anchor="ctr"/>
          <a:lstStyle/>
          <a:p>
            <a:pPr algn="l">
              <a:buNone/>
            </a:pPr>
            <a:r>
              <a:rPr lang="en-US" sz="1400" b="1" dirty="0">
                <a:solidFill>
                  <a:srgbClr val="FF9830"/>
                </a:solidFill>
              </a:rPr>
              <a:t>v  Overview</a:t>
            </a:r>
          </a:p>
        </p:txBody>
      </p:sp>
      <p:sp>
        <p:nvSpPr>
          <p:cNvPr id="750" name="S750"/>
          <p:cNvSpPr/>
          <p:nvPr/>
        </p:nvSpPr>
        <p:spPr>
          <a:xfrm>
            <a:off x="914400" y="2489200"/>
            <a:ext cx="1498600" cy="7366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Stat</a:t>
            </a:r>
          </a:p>
        </p:txBody>
      </p:sp>
      <p:sp>
        <p:nvSpPr>
          <p:cNvPr id="751" name="S751"/>
          <p:cNvSpPr/>
          <p:nvPr/>
        </p:nvSpPr>
        <p:spPr>
          <a:xfrm>
            <a:off x="2514600" y="2489200"/>
            <a:ext cx="1498600" cy="7366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Stat</a:t>
            </a:r>
          </a:p>
        </p:txBody>
      </p:sp>
      <p:sp>
        <p:nvSpPr>
          <p:cNvPr id="752" name="S752"/>
          <p:cNvSpPr/>
          <p:nvPr/>
        </p:nvSpPr>
        <p:spPr>
          <a:xfrm>
            <a:off x="4114800" y="2489200"/>
            <a:ext cx="1498600" cy="7366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Stat</a:t>
            </a:r>
          </a:p>
        </p:txBody>
      </p:sp>
      <p:sp>
        <p:nvSpPr>
          <p:cNvPr id="753" name="S753"/>
          <p:cNvSpPr/>
          <p:nvPr/>
        </p:nvSpPr>
        <p:spPr>
          <a:xfrm>
            <a:off x="5715000" y="2489200"/>
            <a:ext cx="1498600" cy="7366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Stat</a:t>
            </a:r>
          </a:p>
        </p:txBody>
      </p:sp>
      <p:sp>
        <p:nvSpPr>
          <p:cNvPr id="754" name="S754"/>
          <p:cNvSpPr/>
          <p:nvPr/>
        </p:nvSpPr>
        <p:spPr>
          <a:xfrm>
            <a:off x="914400" y="3327400"/>
            <a:ext cx="3810000" cy="279400"/>
          </a:xfrm>
          <a:prstGeom prst="rect">
            <a:avLst/>
          </a:prstGeom>
          <a:noFill/>
          <a:ln>
            <a:noFill/>
          </a:ln>
        </p:spPr>
        <p:txBody>
          <a:bodyPr wrap="square" lIns="0" tIns="38100" rIns="0" bIns="38100" anchor="ctr"/>
          <a:lstStyle/>
          <a:p>
            <a:pPr algn="l">
              <a:buNone/>
            </a:pPr>
            <a:r>
              <a:rPr lang="en-US" sz="1400" b="1" dirty="0">
                <a:solidFill>
                  <a:srgbClr val="FF9830"/>
                </a:solidFill>
              </a:rPr>
              <a:t>v  Latency and errors</a:t>
            </a:r>
          </a:p>
        </p:txBody>
      </p:sp>
      <p:sp>
        <p:nvSpPr>
          <p:cNvPr id="755" name="S755"/>
          <p:cNvSpPr/>
          <p:nvPr/>
        </p:nvSpPr>
        <p:spPr>
          <a:xfrm>
            <a:off x="914400" y="3632200"/>
            <a:ext cx="3098800" cy="11684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Time series</a:t>
            </a:r>
          </a:p>
        </p:txBody>
      </p:sp>
      <p:sp>
        <p:nvSpPr>
          <p:cNvPr id="756" name="S756"/>
          <p:cNvSpPr/>
          <p:nvPr/>
        </p:nvSpPr>
        <p:spPr>
          <a:xfrm>
            <a:off x="4114800" y="3632200"/>
            <a:ext cx="3098800" cy="1168400"/>
          </a:xfrm>
          <a:prstGeom prst="roundRect">
            <a:avLst/>
          </a:prstGeom>
          <a:solidFill>
            <a:srgbClr val="161B24"/>
          </a:solidFill>
          <a:ln w="12700">
            <a:solidFill>
              <a:srgbClr val="2B3140"/>
            </a:solidFill>
          </a:ln>
        </p:spPr>
        <p:txBody>
          <a:bodyPr wrap="square" lIns="50800" tIns="38100" rIns="50800" bIns="38100" anchor="ctr"/>
          <a:lstStyle/>
          <a:p>
            <a:pPr algn="ctr">
              <a:buNone/>
            </a:pPr>
            <a:r>
              <a:rPr lang="en-US" sz="1400" b="0" dirty="0">
                <a:solidFill>
                  <a:srgbClr val="B4BECC"/>
                </a:solidFill>
              </a:rPr>
              <a:t>Bar gauge</a:t>
            </a:r>
          </a:p>
        </p:txBody>
      </p:sp>
      <p:sp>
        <p:nvSpPr>
          <p:cNvPr id="757" name="S757"/>
          <p:cNvSpPr/>
          <p:nvPr/>
        </p:nvSpPr>
        <p:spPr>
          <a:xfrm>
            <a:off x="914400" y="4902200"/>
            <a:ext cx="3810000" cy="279400"/>
          </a:xfrm>
          <a:prstGeom prst="rect">
            <a:avLst/>
          </a:prstGeom>
          <a:noFill/>
          <a:ln>
            <a:noFill/>
          </a:ln>
        </p:spPr>
        <p:txBody>
          <a:bodyPr wrap="square" lIns="0" tIns="38100" rIns="0" bIns="38100" anchor="ctr"/>
          <a:lstStyle/>
          <a:p>
            <a:pPr algn="l">
              <a:buNone/>
            </a:pPr>
            <a:r>
              <a:rPr lang="en-US" sz="1400" b="1" dirty="0">
                <a:solidFill>
                  <a:srgbClr val="8E99AB"/>
                </a:solidFill>
              </a:rPr>
              <a:t>&gt;  Database  (collapsed row)</a:t>
            </a:r>
          </a:p>
        </p:txBody>
      </p:sp>
      <p:sp>
        <p:nvSpPr>
          <p:cNvPr id="758" name="S758"/>
          <p:cNvSpPr/>
          <p:nvPr/>
        </p:nvSpPr>
        <p:spPr>
          <a:xfrm>
            <a:off x="914400" y="5207000"/>
            <a:ext cx="6299200" cy="279400"/>
          </a:xfrm>
          <a:prstGeom prst="rect">
            <a:avLst/>
          </a:prstGeom>
          <a:noFill/>
          <a:ln>
            <a:noFill/>
          </a:ln>
        </p:spPr>
        <p:txBody>
          <a:bodyPr wrap="square" lIns="0" tIns="38100" rIns="0" bIns="38100" anchor="ctr"/>
          <a:lstStyle/>
          <a:p>
            <a:pPr algn="l">
              <a:buNone/>
            </a:pPr>
            <a:r>
              <a:rPr lang="en-US" sz="1400" b="0" dirty="0">
                <a:solidFill>
                  <a:srgbClr val="8E99AB"/>
                </a:solidFill>
              </a:rPr>
              <a:t>Panels snap to a 24-column grid, so alignment is automatic.</a:t>
            </a:r>
          </a:p>
        </p:txBody>
      </p:sp>
      <p:sp>
        <p:nvSpPr>
          <p:cNvPr id="759" name="S759"/>
          <p:cNvSpPr/>
          <p:nvPr/>
        </p:nvSpPr>
        <p:spPr>
          <a:xfrm>
            <a:off x="7747000" y="1270000"/>
            <a:ext cx="3683000" cy="7874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760" name="S760"/>
          <p:cNvSpPr/>
          <p:nvPr/>
        </p:nvSpPr>
        <p:spPr>
          <a:xfrm>
            <a:off x="7747000" y="1270000"/>
            <a:ext cx="50800" cy="787400"/>
          </a:xfrm>
          <a:prstGeom prst="rect">
            <a:avLst/>
          </a:prstGeom>
          <a:solidFill>
            <a:srgbClr val="FF9830"/>
          </a:solidFill>
          <a:ln>
            <a:noFill/>
          </a:ln>
        </p:spPr>
        <p:txBody>
          <a:bodyPr wrap="square" lIns="127000" tIns="38100" rIns="127000" bIns="38100" anchor="ctr"/>
          <a:lstStyle/>
          <a:p>
            <a:endParaRPr/>
          </a:p>
        </p:txBody>
      </p:sp>
      <p:sp>
        <p:nvSpPr>
          <p:cNvPr id="761" name="S761"/>
          <p:cNvSpPr/>
          <p:nvPr/>
        </p:nvSpPr>
        <p:spPr>
          <a:xfrm>
            <a:off x="7924800" y="1346200"/>
            <a:ext cx="3352800" cy="304800"/>
          </a:xfrm>
          <a:prstGeom prst="rect">
            <a:avLst/>
          </a:prstGeom>
          <a:noFill/>
          <a:ln>
            <a:noFill/>
          </a:ln>
        </p:spPr>
        <p:txBody>
          <a:bodyPr wrap="square" lIns="0" tIns="38100" rIns="0" bIns="38100" anchor="ctr"/>
          <a:lstStyle/>
          <a:p>
            <a:pPr algn="l">
              <a:buNone/>
            </a:pPr>
            <a:r>
              <a:rPr lang="en-US" sz="1500" b="1" dirty="0">
                <a:solidFill>
                  <a:srgbClr val="FF9830"/>
                </a:solidFill>
              </a:rPr>
              <a:t>Time range and refresh</a:t>
            </a:r>
          </a:p>
        </p:txBody>
      </p:sp>
      <p:sp>
        <p:nvSpPr>
          <p:cNvPr id="762" name="S762"/>
          <p:cNvSpPr/>
          <p:nvPr/>
        </p:nvSpPr>
        <p:spPr>
          <a:xfrm>
            <a:off x="7924800" y="1625600"/>
            <a:ext cx="3352800" cy="381000"/>
          </a:xfrm>
          <a:prstGeom prst="rect">
            <a:avLst/>
          </a:prstGeom>
          <a:noFill/>
          <a:ln>
            <a:noFill/>
          </a:ln>
        </p:spPr>
        <p:txBody>
          <a:bodyPr wrap="square" lIns="0" tIns="38100" rIns="0" bIns="38100" anchor="t"/>
          <a:lstStyle/>
          <a:p>
            <a:pPr algn="l">
              <a:buNone/>
            </a:pPr>
            <a:r>
              <a:rPr lang="en-US" sz="1400" b="0" dirty="0">
                <a:solidFill>
                  <a:srgbClr val="A9B2C1"/>
                </a:solidFill>
              </a:rPr>
              <a:t>Global. Every panel query inherits it.</a:t>
            </a:r>
          </a:p>
        </p:txBody>
      </p:sp>
      <p:sp>
        <p:nvSpPr>
          <p:cNvPr id="763" name="S763"/>
          <p:cNvSpPr/>
          <p:nvPr/>
        </p:nvSpPr>
        <p:spPr>
          <a:xfrm>
            <a:off x="7747000" y="2159000"/>
            <a:ext cx="3683000" cy="7874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764" name="S764"/>
          <p:cNvSpPr/>
          <p:nvPr/>
        </p:nvSpPr>
        <p:spPr>
          <a:xfrm>
            <a:off x="7747000" y="2159000"/>
            <a:ext cx="50800" cy="787400"/>
          </a:xfrm>
          <a:prstGeom prst="rect">
            <a:avLst/>
          </a:prstGeom>
          <a:solidFill>
            <a:srgbClr val="3274D9"/>
          </a:solidFill>
          <a:ln>
            <a:noFill/>
          </a:ln>
        </p:spPr>
        <p:txBody>
          <a:bodyPr wrap="square" lIns="127000" tIns="38100" rIns="127000" bIns="38100" anchor="ctr"/>
          <a:lstStyle/>
          <a:p>
            <a:endParaRPr/>
          </a:p>
        </p:txBody>
      </p:sp>
      <p:sp>
        <p:nvSpPr>
          <p:cNvPr id="765" name="S765"/>
          <p:cNvSpPr/>
          <p:nvPr/>
        </p:nvSpPr>
        <p:spPr>
          <a:xfrm>
            <a:off x="7924800" y="2235200"/>
            <a:ext cx="3352800" cy="304800"/>
          </a:xfrm>
          <a:prstGeom prst="rect">
            <a:avLst/>
          </a:prstGeom>
          <a:noFill/>
          <a:ln>
            <a:noFill/>
          </a:ln>
        </p:spPr>
        <p:txBody>
          <a:bodyPr wrap="square" lIns="0" tIns="38100" rIns="0" bIns="38100" anchor="ctr"/>
          <a:lstStyle/>
          <a:p>
            <a:pPr algn="l">
              <a:buNone/>
            </a:pPr>
            <a:r>
              <a:rPr lang="en-US" sz="1500" b="1" dirty="0">
                <a:solidFill>
                  <a:srgbClr val="3274D9"/>
                </a:solidFill>
              </a:rPr>
              <a:t>Template variables</a:t>
            </a:r>
          </a:p>
        </p:txBody>
      </p:sp>
      <p:sp>
        <p:nvSpPr>
          <p:cNvPr id="766" name="S766"/>
          <p:cNvSpPr/>
          <p:nvPr/>
        </p:nvSpPr>
        <p:spPr>
          <a:xfrm>
            <a:off x="7924800" y="2514600"/>
            <a:ext cx="3352800" cy="381000"/>
          </a:xfrm>
          <a:prstGeom prst="rect">
            <a:avLst/>
          </a:prstGeom>
          <a:noFill/>
          <a:ln>
            <a:noFill/>
          </a:ln>
        </p:spPr>
        <p:txBody>
          <a:bodyPr wrap="square" lIns="0" tIns="38100" rIns="0" bIns="38100" anchor="t"/>
          <a:lstStyle/>
          <a:p>
            <a:pPr algn="l">
              <a:buNone/>
            </a:pPr>
            <a:r>
              <a:rPr lang="en-US" sz="1400" b="0" dirty="0">
                <a:solidFill>
                  <a:srgbClr val="A9B2C1"/>
                </a:solidFill>
              </a:rPr>
              <a:t>One selector rewrites every query on the page.</a:t>
            </a:r>
          </a:p>
        </p:txBody>
      </p:sp>
      <p:sp>
        <p:nvSpPr>
          <p:cNvPr id="767" name="S767"/>
          <p:cNvSpPr/>
          <p:nvPr/>
        </p:nvSpPr>
        <p:spPr>
          <a:xfrm>
            <a:off x="7747000" y="3048000"/>
            <a:ext cx="3683000" cy="7874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768" name="S768"/>
          <p:cNvSpPr/>
          <p:nvPr/>
        </p:nvSpPr>
        <p:spPr>
          <a:xfrm>
            <a:off x="7747000" y="3048000"/>
            <a:ext cx="50800" cy="787400"/>
          </a:xfrm>
          <a:prstGeom prst="rect">
            <a:avLst/>
          </a:prstGeom>
          <a:solidFill>
            <a:srgbClr val="B877D9"/>
          </a:solidFill>
          <a:ln>
            <a:noFill/>
          </a:ln>
        </p:spPr>
        <p:txBody>
          <a:bodyPr wrap="square" lIns="127000" tIns="38100" rIns="127000" bIns="38100" anchor="ctr"/>
          <a:lstStyle/>
          <a:p>
            <a:endParaRPr/>
          </a:p>
        </p:txBody>
      </p:sp>
      <p:sp>
        <p:nvSpPr>
          <p:cNvPr id="769" name="S769"/>
          <p:cNvSpPr/>
          <p:nvPr/>
        </p:nvSpPr>
        <p:spPr>
          <a:xfrm>
            <a:off x="7924800" y="3124200"/>
            <a:ext cx="3352800" cy="304800"/>
          </a:xfrm>
          <a:prstGeom prst="rect">
            <a:avLst/>
          </a:prstGeom>
          <a:noFill/>
          <a:ln>
            <a:noFill/>
          </a:ln>
        </p:spPr>
        <p:txBody>
          <a:bodyPr wrap="square" lIns="0" tIns="38100" rIns="0" bIns="38100" anchor="ctr"/>
          <a:lstStyle/>
          <a:p>
            <a:pPr algn="l">
              <a:buNone/>
            </a:pPr>
            <a:r>
              <a:rPr lang="en-US" sz="1500" b="1" dirty="0">
                <a:solidFill>
                  <a:srgbClr val="B877D9"/>
                </a:solidFill>
              </a:rPr>
              <a:t>Rows</a:t>
            </a:r>
          </a:p>
        </p:txBody>
      </p:sp>
      <p:sp>
        <p:nvSpPr>
          <p:cNvPr id="770" name="S770"/>
          <p:cNvSpPr/>
          <p:nvPr/>
        </p:nvSpPr>
        <p:spPr>
          <a:xfrm>
            <a:off x="7924800" y="3403600"/>
            <a:ext cx="3352800" cy="381000"/>
          </a:xfrm>
          <a:prstGeom prst="rect">
            <a:avLst/>
          </a:prstGeom>
          <a:noFill/>
          <a:ln>
            <a:noFill/>
          </a:ln>
        </p:spPr>
        <p:txBody>
          <a:bodyPr wrap="square" lIns="0" tIns="38100" rIns="0" bIns="38100" anchor="t"/>
          <a:lstStyle/>
          <a:p>
            <a:pPr algn="l">
              <a:buNone/>
            </a:pPr>
            <a:r>
              <a:rPr lang="en-US" sz="1400" b="0" dirty="0">
                <a:solidFill>
                  <a:srgbClr val="A9B2C1"/>
                </a:solidFill>
              </a:rPr>
              <a:t>Collapsible groups. Can repeat per variable value.</a:t>
            </a:r>
          </a:p>
        </p:txBody>
      </p:sp>
      <p:sp>
        <p:nvSpPr>
          <p:cNvPr id="771" name="S771"/>
          <p:cNvSpPr/>
          <p:nvPr/>
        </p:nvSpPr>
        <p:spPr>
          <a:xfrm>
            <a:off x="7747000" y="3937000"/>
            <a:ext cx="3683000" cy="7874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772" name="S772"/>
          <p:cNvSpPr/>
          <p:nvPr/>
        </p:nvSpPr>
        <p:spPr>
          <a:xfrm>
            <a:off x="7747000" y="3937000"/>
            <a:ext cx="50800" cy="787400"/>
          </a:xfrm>
          <a:prstGeom prst="rect">
            <a:avLst/>
          </a:prstGeom>
          <a:solidFill>
            <a:srgbClr val="F46800"/>
          </a:solidFill>
          <a:ln>
            <a:noFill/>
          </a:ln>
        </p:spPr>
        <p:txBody>
          <a:bodyPr wrap="square" lIns="127000" tIns="38100" rIns="127000" bIns="38100" anchor="ctr"/>
          <a:lstStyle/>
          <a:p>
            <a:endParaRPr/>
          </a:p>
        </p:txBody>
      </p:sp>
      <p:sp>
        <p:nvSpPr>
          <p:cNvPr id="773" name="S773"/>
          <p:cNvSpPr/>
          <p:nvPr/>
        </p:nvSpPr>
        <p:spPr>
          <a:xfrm>
            <a:off x="7924800" y="4013200"/>
            <a:ext cx="3352800" cy="304800"/>
          </a:xfrm>
          <a:prstGeom prst="rect">
            <a:avLst/>
          </a:prstGeom>
          <a:noFill/>
          <a:ln>
            <a:noFill/>
          </a:ln>
        </p:spPr>
        <p:txBody>
          <a:bodyPr wrap="square" lIns="0" tIns="38100" rIns="0" bIns="38100" anchor="ctr"/>
          <a:lstStyle/>
          <a:p>
            <a:pPr algn="l">
              <a:buNone/>
            </a:pPr>
            <a:r>
              <a:rPr lang="en-US" sz="1500" b="1" dirty="0">
                <a:solidFill>
                  <a:srgbClr val="F46800"/>
                </a:solidFill>
              </a:rPr>
              <a:t>Panels</a:t>
            </a:r>
          </a:p>
        </p:txBody>
      </p:sp>
      <p:sp>
        <p:nvSpPr>
          <p:cNvPr id="774" name="S774"/>
          <p:cNvSpPr/>
          <p:nvPr/>
        </p:nvSpPr>
        <p:spPr>
          <a:xfrm>
            <a:off x="7924800" y="4292600"/>
            <a:ext cx="3352800" cy="381000"/>
          </a:xfrm>
          <a:prstGeom prst="rect">
            <a:avLst/>
          </a:prstGeom>
          <a:noFill/>
          <a:ln>
            <a:noFill/>
          </a:ln>
        </p:spPr>
        <p:txBody>
          <a:bodyPr wrap="square" lIns="0" tIns="38100" rIns="0" bIns="38100" anchor="t"/>
          <a:lstStyle/>
          <a:p>
            <a:pPr algn="l">
              <a:buNone/>
            </a:pPr>
            <a:r>
              <a:rPr lang="en-US" sz="1400" b="0" dirty="0">
                <a:solidFill>
                  <a:srgbClr val="A9B2C1"/>
                </a:solidFill>
              </a:rPr>
              <a:t>The unit of visualisation. Drag to move and resize.</a:t>
            </a:r>
          </a:p>
        </p:txBody>
      </p:sp>
      <p:sp>
        <p:nvSpPr>
          <p:cNvPr id="775" name="S775"/>
          <p:cNvSpPr/>
          <p:nvPr/>
        </p:nvSpPr>
        <p:spPr>
          <a:xfrm>
            <a:off x="7747000" y="4826000"/>
            <a:ext cx="3683000" cy="787400"/>
          </a:xfrm>
          <a:prstGeom prst="roundRect">
            <a:avLst/>
          </a:prstGeom>
          <a:solidFill>
            <a:srgbClr val="151922"/>
          </a:solidFill>
          <a:ln w="12700">
            <a:solidFill>
              <a:srgbClr val="262C38"/>
            </a:solidFill>
          </a:ln>
        </p:spPr>
        <p:txBody>
          <a:bodyPr wrap="square" lIns="127000" tIns="38100" rIns="127000" bIns="38100" anchor="ctr"/>
          <a:lstStyle/>
          <a:p>
            <a:endParaRPr/>
          </a:p>
        </p:txBody>
      </p:sp>
      <p:sp>
        <p:nvSpPr>
          <p:cNvPr id="776" name="S776"/>
          <p:cNvSpPr/>
          <p:nvPr/>
        </p:nvSpPr>
        <p:spPr>
          <a:xfrm>
            <a:off x="7747000" y="4826000"/>
            <a:ext cx="50800" cy="787400"/>
          </a:xfrm>
          <a:prstGeom prst="rect">
            <a:avLst/>
          </a:prstGeom>
          <a:solidFill>
            <a:srgbClr val="56A64B"/>
          </a:solidFill>
          <a:ln>
            <a:noFill/>
          </a:ln>
        </p:spPr>
        <p:txBody>
          <a:bodyPr wrap="square" lIns="127000" tIns="38100" rIns="127000" bIns="38100" anchor="ctr"/>
          <a:lstStyle/>
          <a:p>
            <a:endParaRPr/>
          </a:p>
        </p:txBody>
      </p:sp>
      <p:sp>
        <p:nvSpPr>
          <p:cNvPr id="777" name="S777"/>
          <p:cNvSpPr/>
          <p:nvPr/>
        </p:nvSpPr>
        <p:spPr>
          <a:xfrm>
            <a:off x="7924800" y="4902200"/>
            <a:ext cx="3352800" cy="304800"/>
          </a:xfrm>
          <a:prstGeom prst="rect">
            <a:avLst/>
          </a:prstGeom>
          <a:noFill/>
          <a:ln>
            <a:noFill/>
          </a:ln>
        </p:spPr>
        <p:txBody>
          <a:bodyPr wrap="square" lIns="0" tIns="38100" rIns="0" bIns="38100" anchor="ctr"/>
          <a:lstStyle/>
          <a:p>
            <a:pPr algn="l">
              <a:buNone/>
            </a:pPr>
            <a:r>
              <a:rPr lang="en-US" sz="1500" b="1" dirty="0">
                <a:solidFill>
                  <a:srgbClr val="56A64B"/>
                </a:solidFill>
              </a:rPr>
              <a:t>Library panels</a:t>
            </a:r>
          </a:p>
        </p:txBody>
      </p:sp>
      <p:sp>
        <p:nvSpPr>
          <p:cNvPr id="778" name="S778"/>
          <p:cNvSpPr/>
          <p:nvPr/>
        </p:nvSpPr>
        <p:spPr>
          <a:xfrm>
            <a:off x="7924800" y="5181600"/>
            <a:ext cx="3352800" cy="381000"/>
          </a:xfrm>
          <a:prstGeom prst="rect">
            <a:avLst/>
          </a:prstGeom>
          <a:noFill/>
          <a:ln>
            <a:noFill/>
          </a:ln>
        </p:spPr>
        <p:txBody>
          <a:bodyPr wrap="square" lIns="0" tIns="38100" rIns="0" bIns="38100" anchor="t"/>
          <a:lstStyle/>
          <a:p>
            <a:pPr algn="l">
              <a:buNone/>
            </a:pPr>
            <a:r>
              <a:rPr lang="en-US" sz="1400" b="0" dirty="0">
                <a:solidFill>
                  <a:srgbClr val="A9B2C1"/>
                </a:solidFill>
              </a:rPr>
              <a:t>Defined once, reused and updated everywhere.</a:t>
            </a:r>
          </a:p>
        </p:txBody>
      </p:sp>
      <p:sp>
        <p:nvSpPr>
          <p:cNvPr id="779" name="S779"/>
          <p:cNvSpPr/>
          <p:nvPr/>
        </p:nvSpPr>
        <p:spPr>
          <a:xfrm>
            <a:off x="762000" y="5791200"/>
            <a:ext cx="10668000" cy="533400"/>
          </a:xfrm>
          <a:prstGeom prst="roundRect">
            <a:avLst/>
          </a:prstGeom>
          <a:solidFill>
            <a:srgbClr val="111620"/>
          </a:solidFill>
          <a:ln w="12700">
            <a:solidFill>
              <a:srgbClr val="262C38"/>
            </a:solidFill>
          </a:ln>
        </p:spPr>
        <p:txBody>
          <a:bodyPr wrap="square" lIns="177800" tIns="38100" rIns="177800" bIns="38100" anchor="ctr"/>
          <a:lstStyle/>
          <a:p>
            <a:pPr algn="l">
              <a:buNone/>
            </a:pPr>
            <a:r>
              <a:rPr lang="en-US" sz="1500" b="0" dirty="0">
                <a:solidFill>
                  <a:srgbClr val="D6DBE4"/>
                </a:solidFill>
              </a:rPr>
              <a:t>Build order that works: pick the question, add variables first, then panels, then group into rows and set the default time range.</a:t>
            </a:r>
          </a:p>
        </p:txBody>
      </p:sp>
    </p:spTree>
    <p:extLst>
      <p:ext uri="{BB962C8B-B14F-4D97-AF65-F5344CB8AC3E}">
        <p14:creationId xmlns:p14="http://schemas.microsoft.com/office/powerpoint/2010/main" val="4191467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0FCC0-3C2C-9BC5-6AAC-B6851191B6FA}"/>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Variables: One Dashboard, Every Environment</a:t>
            </a:r>
          </a:p>
        </p:txBody>
      </p:sp>
      <p:sp>
        <p:nvSpPr>
          <p:cNvPr id="781" name="S781"/>
          <p:cNvSpPr/>
          <p:nvPr/>
        </p:nvSpPr>
        <p:spPr>
          <a:xfrm>
            <a:off x="762000" y="914400"/>
            <a:ext cx="1524000" cy="50800"/>
          </a:xfrm>
          <a:prstGeom prst="rect">
            <a:avLst/>
          </a:prstGeom>
          <a:solidFill>
            <a:srgbClr val="3274D9"/>
          </a:solidFill>
          <a:ln>
            <a:noFill/>
          </a:ln>
        </p:spPr>
        <p:txBody>
          <a:bodyPr wrap="square" lIns="127000" tIns="50800" rIns="127000" bIns="50800" anchor="ctr"/>
          <a:lstStyle/>
          <a:p>
            <a:endParaRPr/>
          </a:p>
        </p:txBody>
      </p:sp>
      <p:sp>
        <p:nvSpPr>
          <p:cNvPr id="782" name="S782"/>
          <p:cNvSpPr/>
          <p:nvPr/>
        </p:nvSpPr>
        <p:spPr>
          <a:xfrm>
            <a:off x="762000" y="1219200"/>
            <a:ext cx="5334000" cy="330200"/>
          </a:xfrm>
          <a:prstGeom prst="rect">
            <a:avLst/>
          </a:prstGeom>
          <a:noFill/>
          <a:ln>
            <a:noFill/>
          </a:ln>
        </p:spPr>
        <p:txBody>
          <a:bodyPr wrap="square" lIns="0" tIns="50800" rIns="0" bIns="50800" anchor="ctr"/>
          <a:lstStyle/>
          <a:p>
            <a:pPr algn="l">
              <a:buNone/>
            </a:pPr>
            <a:r>
              <a:rPr lang="en-US" sz="1800" b="1" dirty="0">
                <a:solidFill>
                  <a:srgbClr val="FFFFFF"/>
                </a:solidFill>
              </a:rPr>
              <a:t>The types you will use</a:t>
            </a:r>
          </a:p>
        </p:txBody>
      </p:sp>
      <p:sp>
        <p:nvSpPr>
          <p:cNvPr id="783" name="S783"/>
          <p:cNvSpPr/>
          <p:nvPr/>
        </p:nvSpPr>
        <p:spPr>
          <a:xfrm>
            <a:off x="762000" y="1625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84" name="S784"/>
          <p:cNvSpPr/>
          <p:nvPr/>
        </p:nvSpPr>
        <p:spPr>
          <a:xfrm>
            <a:off x="762000" y="1625600"/>
            <a:ext cx="50800" cy="558800"/>
          </a:xfrm>
          <a:prstGeom prst="rect">
            <a:avLst/>
          </a:prstGeom>
          <a:solidFill>
            <a:srgbClr val="3274D9"/>
          </a:solidFill>
          <a:ln>
            <a:noFill/>
          </a:ln>
        </p:spPr>
        <p:txBody>
          <a:bodyPr wrap="square" lIns="127000" tIns="50800" rIns="127000" bIns="50800" anchor="ctr"/>
          <a:lstStyle/>
          <a:p>
            <a:endParaRPr/>
          </a:p>
        </p:txBody>
      </p:sp>
      <p:sp>
        <p:nvSpPr>
          <p:cNvPr id="785" name="S785"/>
          <p:cNvSpPr/>
          <p:nvPr/>
        </p:nvSpPr>
        <p:spPr>
          <a:xfrm>
            <a:off x="965200" y="1625600"/>
            <a:ext cx="1524000" cy="558800"/>
          </a:xfrm>
          <a:prstGeom prst="rect">
            <a:avLst/>
          </a:prstGeom>
          <a:noFill/>
          <a:ln>
            <a:noFill/>
          </a:ln>
        </p:spPr>
        <p:txBody>
          <a:bodyPr wrap="square" lIns="0" tIns="50800" rIns="0" bIns="50800" anchor="ctr"/>
          <a:lstStyle/>
          <a:p>
            <a:pPr algn="l">
              <a:buNone/>
            </a:pPr>
            <a:r>
              <a:rPr lang="en-US" sz="1500" b="1" dirty="0">
                <a:solidFill>
                  <a:srgbClr val="3274D9"/>
                </a:solidFill>
              </a:rPr>
              <a:t>Query</a:t>
            </a:r>
          </a:p>
        </p:txBody>
      </p:sp>
      <p:sp>
        <p:nvSpPr>
          <p:cNvPr id="786" name="S786"/>
          <p:cNvSpPr/>
          <p:nvPr/>
        </p:nvSpPr>
        <p:spPr>
          <a:xfrm>
            <a:off x="2489200" y="1625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Values come from a data source query</a:t>
            </a:r>
          </a:p>
        </p:txBody>
      </p:sp>
      <p:sp>
        <p:nvSpPr>
          <p:cNvPr id="787" name="S787"/>
          <p:cNvSpPr/>
          <p:nvPr/>
        </p:nvSpPr>
        <p:spPr>
          <a:xfrm>
            <a:off x="762000" y="2260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88" name="S788"/>
          <p:cNvSpPr/>
          <p:nvPr/>
        </p:nvSpPr>
        <p:spPr>
          <a:xfrm>
            <a:off x="762000" y="2260600"/>
            <a:ext cx="50800" cy="558800"/>
          </a:xfrm>
          <a:prstGeom prst="rect">
            <a:avLst/>
          </a:prstGeom>
          <a:solidFill>
            <a:srgbClr val="3274D9"/>
          </a:solidFill>
          <a:ln>
            <a:noFill/>
          </a:ln>
        </p:spPr>
        <p:txBody>
          <a:bodyPr wrap="square" lIns="127000" tIns="50800" rIns="127000" bIns="50800" anchor="ctr"/>
          <a:lstStyle/>
          <a:p>
            <a:endParaRPr/>
          </a:p>
        </p:txBody>
      </p:sp>
      <p:sp>
        <p:nvSpPr>
          <p:cNvPr id="789" name="S789"/>
          <p:cNvSpPr/>
          <p:nvPr/>
        </p:nvSpPr>
        <p:spPr>
          <a:xfrm>
            <a:off x="965200" y="2260600"/>
            <a:ext cx="1524000" cy="558800"/>
          </a:xfrm>
          <a:prstGeom prst="rect">
            <a:avLst/>
          </a:prstGeom>
          <a:noFill/>
          <a:ln>
            <a:noFill/>
          </a:ln>
        </p:spPr>
        <p:txBody>
          <a:bodyPr wrap="square" lIns="0" tIns="50800" rIns="0" bIns="50800" anchor="ctr"/>
          <a:lstStyle/>
          <a:p>
            <a:pPr algn="l">
              <a:buNone/>
            </a:pPr>
            <a:r>
              <a:rPr lang="en-US" sz="1500" b="1" dirty="0">
                <a:solidFill>
                  <a:srgbClr val="3274D9"/>
                </a:solidFill>
              </a:rPr>
              <a:t>Custom</a:t>
            </a:r>
          </a:p>
        </p:txBody>
      </p:sp>
      <p:sp>
        <p:nvSpPr>
          <p:cNvPr id="790" name="S790"/>
          <p:cNvSpPr/>
          <p:nvPr/>
        </p:nvSpPr>
        <p:spPr>
          <a:xfrm>
            <a:off x="2489200" y="2260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A comma-separated list you type yourself</a:t>
            </a:r>
          </a:p>
        </p:txBody>
      </p:sp>
      <p:sp>
        <p:nvSpPr>
          <p:cNvPr id="791" name="S791"/>
          <p:cNvSpPr/>
          <p:nvPr/>
        </p:nvSpPr>
        <p:spPr>
          <a:xfrm>
            <a:off x="762000" y="2895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92" name="S792"/>
          <p:cNvSpPr/>
          <p:nvPr/>
        </p:nvSpPr>
        <p:spPr>
          <a:xfrm>
            <a:off x="762000" y="2895600"/>
            <a:ext cx="50800" cy="558800"/>
          </a:xfrm>
          <a:prstGeom prst="rect">
            <a:avLst/>
          </a:prstGeom>
          <a:solidFill>
            <a:srgbClr val="B877D9"/>
          </a:solidFill>
          <a:ln>
            <a:noFill/>
          </a:ln>
        </p:spPr>
        <p:txBody>
          <a:bodyPr wrap="square" lIns="127000" tIns="50800" rIns="127000" bIns="50800" anchor="ctr"/>
          <a:lstStyle/>
          <a:p>
            <a:endParaRPr/>
          </a:p>
        </p:txBody>
      </p:sp>
      <p:sp>
        <p:nvSpPr>
          <p:cNvPr id="793" name="S793"/>
          <p:cNvSpPr/>
          <p:nvPr/>
        </p:nvSpPr>
        <p:spPr>
          <a:xfrm>
            <a:off x="965200" y="2895600"/>
            <a:ext cx="1524000" cy="558800"/>
          </a:xfrm>
          <a:prstGeom prst="rect">
            <a:avLst/>
          </a:prstGeom>
          <a:noFill/>
          <a:ln>
            <a:noFill/>
          </a:ln>
        </p:spPr>
        <p:txBody>
          <a:bodyPr wrap="square" lIns="0" tIns="50800" rIns="0" bIns="50800" anchor="ctr"/>
          <a:lstStyle/>
          <a:p>
            <a:pPr algn="l">
              <a:buNone/>
            </a:pPr>
            <a:r>
              <a:rPr lang="en-US" sz="1500" b="1" dirty="0">
                <a:solidFill>
                  <a:srgbClr val="B877D9"/>
                </a:solidFill>
              </a:rPr>
              <a:t>Constant</a:t>
            </a:r>
          </a:p>
        </p:txBody>
      </p:sp>
      <p:sp>
        <p:nvSpPr>
          <p:cNvPr id="794" name="S794"/>
          <p:cNvSpPr/>
          <p:nvPr/>
        </p:nvSpPr>
        <p:spPr>
          <a:xfrm>
            <a:off x="2489200" y="2895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Hidden fixed value - handy for metric prefixes</a:t>
            </a:r>
          </a:p>
        </p:txBody>
      </p:sp>
      <p:sp>
        <p:nvSpPr>
          <p:cNvPr id="795" name="S795"/>
          <p:cNvSpPr/>
          <p:nvPr/>
        </p:nvSpPr>
        <p:spPr>
          <a:xfrm>
            <a:off x="762000" y="3530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796" name="S796"/>
          <p:cNvSpPr/>
          <p:nvPr/>
        </p:nvSpPr>
        <p:spPr>
          <a:xfrm>
            <a:off x="762000" y="3530600"/>
            <a:ext cx="50800" cy="558800"/>
          </a:xfrm>
          <a:prstGeom prst="rect">
            <a:avLst/>
          </a:prstGeom>
          <a:solidFill>
            <a:srgbClr val="B877D9"/>
          </a:solidFill>
          <a:ln>
            <a:noFill/>
          </a:ln>
        </p:spPr>
        <p:txBody>
          <a:bodyPr wrap="square" lIns="127000" tIns="50800" rIns="127000" bIns="50800" anchor="ctr"/>
          <a:lstStyle/>
          <a:p>
            <a:endParaRPr/>
          </a:p>
        </p:txBody>
      </p:sp>
      <p:sp>
        <p:nvSpPr>
          <p:cNvPr id="797" name="S797"/>
          <p:cNvSpPr/>
          <p:nvPr/>
        </p:nvSpPr>
        <p:spPr>
          <a:xfrm>
            <a:off x="965200" y="3530600"/>
            <a:ext cx="1524000" cy="558800"/>
          </a:xfrm>
          <a:prstGeom prst="rect">
            <a:avLst/>
          </a:prstGeom>
          <a:noFill/>
          <a:ln>
            <a:noFill/>
          </a:ln>
        </p:spPr>
        <p:txBody>
          <a:bodyPr wrap="square" lIns="0" tIns="50800" rIns="0" bIns="50800" anchor="ctr"/>
          <a:lstStyle/>
          <a:p>
            <a:pPr algn="l">
              <a:buNone/>
            </a:pPr>
            <a:r>
              <a:rPr lang="en-US" sz="1500" b="1" dirty="0">
                <a:solidFill>
                  <a:srgbClr val="B877D9"/>
                </a:solidFill>
              </a:rPr>
              <a:t>Data source</a:t>
            </a:r>
          </a:p>
        </p:txBody>
      </p:sp>
      <p:sp>
        <p:nvSpPr>
          <p:cNvPr id="798" name="S798"/>
          <p:cNvSpPr/>
          <p:nvPr/>
        </p:nvSpPr>
        <p:spPr>
          <a:xfrm>
            <a:off x="2489200" y="3530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Switch the whole dashboard between sources</a:t>
            </a:r>
          </a:p>
        </p:txBody>
      </p:sp>
      <p:sp>
        <p:nvSpPr>
          <p:cNvPr id="799" name="S799"/>
          <p:cNvSpPr/>
          <p:nvPr/>
        </p:nvSpPr>
        <p:spPr>
          <a:xfrm>
            <a:off x="762000" y="4165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00" name="S800"/>
          <p:cNvSpPr/>
          <p:nvPr/>
        </p:nvSpPr>
        <p:spPr>
          <a:xfrm>
            <a:off x="762000" y="4165600"/>
            <a:ext cx="50800" cy="558800"/>
          </a:xfrm>
          <a:prstGeom prst="rect">
            <a:avLst/>
          </a:prstGeom>
          <a:solidFill>
            <a:srgbClr val="56A64B"/>
          </a:solidFill>
          <a:ln>
            <a:noFill/>
          </a:ln>
        </p:spPr>
        <p:txBody>
          <a:bodyPr wrap="square" lIns="127000" tIns="50800" rIns="127000" bIns="50800" anchor="ctr"/>
          <a:lstStyle/>
          <a:p>
            <a:endParaRPr/>
          </a:p>
        </p:txBody>
      </p:sp>
      <p:sp>
        <p:nvSpPr>
          <p:cNvPr id="801" name="S801"/>
          <p:cNvSpPr/>
          <p:nvPr/>
        </p:nvSpPr>
        <p:spPr>
          <a:xfrm>
            <a:off x="965200" y="4165600"/>
            <a:ext cx="1524000" cy="558800"/>
          </a:xfrm>
          <a:prstGeom prst="rect">
            <a:avLst/>
          </a:prstGeom>
          <a:noFill/>
          <a:ln>
            <a:noFill/>
          </a:ln>
        </p:spPr>
        <p:txBody>
          <a:bodyPr wrap="square" lIns="0" tIns="50800" rIns="0" bIns="50800" anchor="ctr"/>
          <a:lstStyle/>
          <a:p>
            <a:pPr algn="l">
              <a:buNone/>
            </a:pPr>
            <a:r>
              <a:rPr lang="en-US" sz="1500" b="1" dirty="0">
                <a:solidFill>
                  <a:srgbClr val="56A64B"/>
                </a:solidFill>
              </a:rPr>
              <a:t>Interval</a:t>
            </a:r>
          </a:p>
        </p:txBody>
      </p:sp>
      <p:sp>
        <p:nvSpPr>
          <p:cNvPr id="802" name="S802"/>
          <p:cNvSpPr/>
          <p:nvPr/>
        </p:nvSpPr>
        <p:spPr>
          <a:xfrm>
            <a:off x="2489200" y="4165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Selectable time buckets: 1m, 5m, 1h</a:t>
            </a:r>
          </a:p>
        </p:txBody>
      </p:sp>
      <p:sp>
        <p:nvSpPr>
          <p:cNvPr id="803" name="S803"/>
          <p:cNvSpPr/>
          <p:nvPr/>
        </p:nvSpPr>
        <p:spPr>
          <a:xfrm>
            <a:off x="762000" y="4800600"/>
            <a:ext cx="5334000" cy="5588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04" name="S804"/>
          <p:cNvSpPr/>
          <p:nvPr/>
        </p:nvSpPr>
        <p:spPr>
          <a:xfrm>
            <a:off x="762000" y="4800600"/>
            <a:ext cx="50800" cy="558800"/>
          </a:xfrm>
          <a:prstGeom prst="rect">
            <a:avLst/>
          </a:prstGeom>
          <a:solidFill>
            <a:srgbClr val="56A64B"/>
          </a:solidFill>
          <a:ln>
            <a:noFill/>
          </a:ln>
        </p:spPr>
        <p:txBody>
          <a:bodyPr wrap="square" lIns="127000" tIns="50800" rIns="127000" bIns="50800" anchor="ctr"/>
          <a:lstStyle/>
          <a:p>
            <a:endParaRPr/>
          </a:p>
        </p:txBody>
      </p:sp>
      <p:sp>
        <p:nvSpPr>
          <p:cNvPr id="805" name="S805"/>
          <p:cNvSpPr/>
          <p:nvPr/>
        </p:nvSpPr>
        <p:spPr>
          <a:xfrm>
            <a:off x="965200" y="4800600"/>
            <a:ext cx="1524000" cy="558800"/>
          </a:xfrm>
          <a:prstGeom prst="rect">
            <a:avLst/>
          </a:prstGeom>
          <a:noFill/>
          <a:ln>
            <a:noFill/>
          </a:ln>
        </p:spPr>
        <p:txBody>
          <a:bodyPr wrap="square" lIns="0" tIns="50800" rIns="0" bIns="50800" anchor="ctr"/>
          <a:lstStyle/>
          <a:p>
            <a:pPr algn="l">
              <a:buNone/>
            </a:pPr>
            <a:r>
              <a:rPr lang="en-US" sz="1500" b="1" dirty="0">
                <a:solidFill>
                  <a:srgbClr val="56A64B"/>
                </a:solidFill>
              </a:rPr>
              <a:t>Ad hoc filters</a:t>
            </a:r>
          </a:p>
        </p:txBody>
      </p:sp>
      <p:sp>
        <p:nvSpPr>
          <p:cNvPr id="806" name="S806"/>
          <p:cNvSpPr/>
          <p:nvPr/>
        </p:nvSpPr>
        <p:spPr>
          <a:xfrm>
            <a:off x="2489200" y="4800600"/>
            <a:ext cx="3454400" cy="558800"/>
          </a:xfrm>
          <a:prstGeom prst="rect">
            <a:avLst/>
          </a:prstGeom>
          <a:noFill/>
          <a:ln>
            <a:noFill/>
          </a:ln>
        </p:spPr>
        <p:txBody>
          <a:bodyPr wrap="square" lIns="0" tIns="50800" rIns="0" bIns="50800" anchor="ctr"/>
          <a:lstStyle/>
          <a:p>
            <a:pPr algn="l">
              <a:buNone/>
            </a:pPr>
            <a:r>
              <a:rPr lang="en-US" sz="1400" b="0" dirty="0">
                <a:solidFill>
                  <a:srgbClr val="A9B2C1"/>
                </a:solidFill>
              </a:rPr>
              <a:t>Free-form label filters applied to every query</a:t>
            </a:r>
          </a:p>
        </p:txBody>
      </p:sp>
      <p:sp>
        <p:nvSpPr>
          <p:cNvPr id="807" name="S807"/>
          <p:cNvSpPr/>
          <p:nvPr/>
        </p:nvSpPr>
        <p:spPr>
          <a:xfrm>
            <a:off x="6350000" y="1219200"/>
            <a:ext cx="5080000" cy="330200"/>
          </a:xfrm>
          <a:prstGeom prst="rect">
            <a:avLst/>
          </a:prstGeom>
          <a:noFill/>
          <a:ln>
            <a:noFill/>
          </a:ln>
        </p:spPr>
        <p:txBody>
          <a:bodyPr wrap="square" lIns="0" tIns="50800" rIns="0" bIns="50800" anchor="ctr"/>
          <a:lstStyle/>
          <a:p>
            <a:pPr algn="l">
              <a:buNone/>
            </a:pPr>
            <a:r>
              <a:rPr lang="en-US" sz="1800" b="1" dirty="0">
                <a:solidFill>
                  <a:srgbClr val="FFFFFF"/>
                </a:solidFill>
              </a:rPr>
              <a:t>From definition to query</a:t>
            </a:r>
          </a:p>
        </p:txBody>
      </p:sp>
      <p:sp>
        <p:nvSpPr>
          <p:cNvPr id="808" name="S808"/>
          <p:cNvSpPr/>
          <p:nvPr/>
        </p:nvSpPr>
        <p:spPr>
          <a:xfrm>
            <a:off x="6350000" y="1625600"/>
            <a:ext cx="5080000" cy="2133600"/>
          </a:xfrm>
          <a:prstGeom prst="roundRect">
            <a:avLst/>
          </a:prstGeom>
          <a:solidFill>
            <a:srgbClr val="0C1016"/>
          </a:solidFill>
          <a:ln w="12700">
            <a:solidFill>
              <a:srgbClr val="263042"/>
            </a:solidFill>
          </a:ln>
        </p:spPr>
        <p:txBody>
          <a:bodyPr wrap="square" lIns="127000" tIns="50800" rIns="127000" bIns="50800" anchor="ctr"/>
          <a:lstStyle/>
          <a:p>
            <a:endParaRPr/>
          </a:p>
        </p:txBody>
      </p:sp>
      <p:sp>
        <p:nvSpPr>
          <p:cNvPr id="809" name="S809"/>
          <p:cNvSpPr/>
          <p:nvPr/>
        </p:nvSpPr>
        <p:spPr>
          <a:xfrm>
            <a:off x="6527800" y="1727200"/>
            <a:ext cx="4724400" cy="1930400"/>
          </a:xfrm>
          <a:prstGeom prst="rect">
            <a:avLst/>
          </a:prstGeom>
          <a:noFill/>
          <a:ln>
            <a:noFill/>
          </a:ln>
        </p:spPr>
        <p:txBody>
          <a:bodyPr wrap="square" lIns="0" tIns="50800" rIns="0" bIns="50800" anchor="t"/>
          <a:lstStyle/>
          <a:p>
            <a:pPr>
              <a:lnSpc>
                <a:spcPts val="1900"/>
              </a:lnSpc>
              <a:buNone/>
            </a:pPr>
            <a:r>
              <a:rPr lang="en-US" sz="1400" dirty="0">
                <a:latin typeface="Consolas"/>
              </a:rPr>
              <a:t># 1. define the variable</a:t>
            </a:r>
          </a:p>
          <a:p>
            <a:pPr>
              <a:lnSpc>
                <a:spcPts val="1900"/>
              </a:lnSpc>
              <a:buNone/>
            </a:pPr>
            <a:r>
              <a:rPr lang="en-US" sz="1400" dirty="0">
                <a:latin typeface="Consolas"/>
              </a:rPr>
              <a:t>label_values(node_cpu_seconds_total, instance)</a:t>
            </a:r>
          </a:p>
          <a:p>
            <a:pPr>
              <a:lnSpc>
                <a:spcPts val="1900"/>
              </a:lnSpc>
              <a:buNone/>
            </a:pPr>
            <a:endParaRPr lang="en-US" sz="1400" dirty="0">
              <a:latin typeface="Consolas"/>
            </a:endParaRPr>
          </a:p>
          <a:p>
            <a:pPr>
              <a:lnSpc>
                <a:spcPts val="1900"/>
              </a:lnSpc>
              <a:buNone/>
            </a:pPr>
            <a:r>
              <a:rPr lang="en-US" sz="1400" dirty="0">
                <a:latin typeface="Consolas"/>
              </a:rPr>
              <a:t># 2. use it in the panel query</a:t>
            </a:r>
          </a:p>
          <a:p>
            <a:pPr>
              <a:lnSpc>
                <a:spcPts val="1900"/>
              </a:lnSpc>
              <a:buNone/>
            </a:pPr>
            <a:r>
              <a:rPr lang="en-US" sz="1400" dirty="0">
                <a:latin typeface="Consolas"/>
              </a:rPr>
              <a:t>rate(node_cpu{instance=~"$instance"}[5m])</a:t>
            </a:r>
          </a:p>
          <a:p>
            <a:pPr>
              <a:lnSpc>
                <a:spcPts val="1900"/>
              </a:lnSpc>
              <a:buNone/>
            </a:pPr>
            <a:endParaRPr lang="en-US" sz="1400" dirty="0">
              <a:latin typeface="Consolas"/>
            </a:endParaRPr>
          </a:p>
          <a:p>
            <a:pPr>
              <a:lnSpc>
                <a:spcPts val="1900"/>
              </a:lnSpc>
              <a:buNone/>
            </a:pPr>
            <a:r>
              <a:rPr lang="en-US" sz="1400" dirty="0">
                <a:latin typeface="Consolas"/>
              </a:rPr>
              <a:t># 3. repeat a panel or row per value</a:t>
            </a:r>
          </a:p>
          <a:p>
            <a:pPr>
              <a:lnSpc>
                <a:spcPts val="1900"/>
              </a:lnSpc>
              <a:buNone/>
            </a:pPr>
            <a:r>
              <a:rPr lang="en-US" sz="1400" dirty="0">
                <a:latin typeface="Consolas"/>
              </a:rPr>
              <a:t>Panel options &gt; Repeat by variable</a:t>
            </a:r>
          </a:p>
        </p:txBody>
      </p:sp>
      <p:sp>
        <p:nvSpPr>
          <p:cNvPr id="810" name="S810"/>
          <p:cNvSpPr/>
          <p:nvPr/>
        </p:nvSpPr>
        <p:spPr>
          <a:xfrm>
            <a:off x="6350000" y="3886200"/>
            <a:ext cx="5080000" cy="914400"/>
          </a:xfrm>
          <a:prstGeom prst="roundRect">
            <a:avLst/>
          </a:prstGeom>
          <a:solidFill>
            <a:srgbClr val="1C1408"/>
          </a:solidFill>
          <a:ln w="12700">
            <a:solidFill>
              <a:srgbClr val="5A3A10"/>
            </a:solidFill>
          </a:ln>
        </p:spPr>
        <p:txBody>
          <a:bodyPr wrap="square" lIns="127000" tIns="50800" rIns="127000" bIns="50800" anchor="ctr"/>
          <a:lstStyle/>
          <a:p>
            <a:endParaRPr/>
          </a:p>
        </p:txBody>
      </p:sp>
      <p:sp>
        <p:nvSpPr>
          <p:cNvPr id="811" name="S811"/>
          <p:cNvSpPr/>
          <p:nvPr/>
        </p:nvSpPr>
        <p:spPr>
          <a:xfrm>
            <a:off x="6527800" y="3962400"/>
            <a:ext cx="4724400" cy="304800"/>
          </a:xfrm>
          <a:prstGeom prst="rect">
            <a:avLst/>
          </a:prstGeom>
          <a:noFill/>
          <a:ln>
            <a:noFill/>
          </a:ln>
        </p:spPr>
        <p:txBody>
          <a:bodyPr wrap="square" lIns="0" tIns="50800" rIns="0" bIns="50800" anchor="ctr"/>
          <a:lstStyle/>
          <a:p>
            <a:pPr algn="l">
              <a:buNone/>
            </a:pPr>
            <a:r>
              <a:rPr lang="en-US" sz="1500" b="1" dirty="0">
                <a:solidFill>
                  <a:srgbClr val="FFC078"/>
                </a:solidFill>
              </a:rPr>
              <a:t>Multi-value gotcha</a:t>
            </a:r>
          </a:p>
        </p:txBody>
      </p:sp>
      <p:sp>
        <p:nvSpPr>
          <p:cNvPr id="812" name="S812"/>
          <p:cNvSpPr/>
          <p:nvPr/>
        </p:nvSpPr>
        <p:spPr>
          <a:xfrm>
            <a:off x="6527800" y="4241800"/>
            <a:ext cx="4724400" cy="508000"/>
          </a:xfrm>
          <a:prstGeom prst="rect">
            <a:avLst/>
          </a:prstGeom>
          <a:noFill/>
          <a:ln>
            <a:noFill/>
          </a:ln>
        </p:spPr>
        <p:txBody>
          <a:bodyPr wrap="square" lIns="0" tIns="50800" rIns="0" bIns="50800" anchor="t"/>
          <a:lstStyle/>
          <a:p>
            <a:pPr algn="l">
              <a:buNone/>
            </a:pPr>
            <a:r>
              <a:rPr lang="en-US" sz="1400" b="0" dirty="0">
                <a:solidFill>
                  <a:srgbClr val="FFC078"/>
                </a:solidFill>
              </a:rPr>
              <a:t>With Multi-value or All enabled, always match with =~ and never with =. Grafana expands the value into a regex.</a:t>
            </a:r>
          </a:p>
        </p:txBody>
      </p:sp>
      <p:sp>
        <p:nvSpPr>
          <p:cNvPr id="813" name="S813"/>
          <p:cNvSpPr/>
          <p:nvPr/>
        </p:nvSpPr>
        <p:spPr>
          <a:xfrm>
            <a:off x="762000" y="5537200"/>
            <a:ext cx="10668000" cy="787400"/>
          </a:xfrm>
          <a:prstGeom prst="roundRect">
            <a:avLst/>
          </a:prstGeom>
          <a:solidFill>
            <a:srgbClr val="111620"/>
          </a:solidFill>
          <a:ln w="12700">
            <a:solidFill>
              <a:srgbClr val="2B3140"/>
            </a:solidFill>
          </a:ln>
        </p:spPr>
        <p:txBody>
          <a:bodyPr wrap="square" lIns="127000" tIns="50800" rIns="127000" bIns="50800" anchor="ctr"/>
          <a:lstStyle/>
          <a:p>
            <a:endParaRPr/>
          </a:p>
        </p:txBody>
      </p:sp>
      <p:sp>
        <p:nvSpPr>
          <p:cNvPr id="814" name="S814"/>
          <p:cNvSpPr/>
          <p:nvPr/>
        </p:nvSpPr>
        <p:spPr>
          <a:xfrm>
            <a:off x="939800" y="5613400"/>
            <a:ext cx="2540000" cy="304800"/>
          </a:xfrm>
          <a:prstGeom prst="rect">
            <a:avLst/>
          </a:prstGeom>
          <a:noFill/>
          <a:ln>
            <a:noFill/>
          </a:ln>
        </p:spPr>
        <p:txBody>
          <a:bodyPr wrap="square" lIns="0" tIns="50800" rIns="0" bIns="50800" anchor="ctr"/>
          <a:lstStyle/>
          <a:p>
            <a:pPr algn="l">
              <a:buNone/>
            </a:pPr>
            <a:r>
              <a:rPr lang="en-US" sz="1500" b="1" dirty="0">
                <a:solidFill>
                  <a:srgbClr val="56A64B"/>
                </a:solidFill>
              </a:rPr>
              <a:t>Chained variables</a:t>
            </a:r>
          </a:p>
        </p:txBody>
      </p:sp>
      <p:sp>
        <p:nvSpPr>
          <p:cNvPr id="815" name="S815"/>
          <p:cNvSpPr/>
          <p:nvPr/>
        </p:nvSpPr>
        <p:spPr>
          <a:xfrm>
            <a:off x="939800" y="5892800"/>
            <a:ext cx="10312400" cy="381000"/>
          </a:xfrm>
          <a:prstGeom prst="rect">
            <a:avLst/>
          </a:prstGeom>
          <a:noFill/>
          <a:ln>
            <a:noFill/>
          </a:ln>
        </p:spPr>
        <p:txBody>
          <a:bodyPr wrap="square" lIns="0" tIns="50800" rIns="0" bIns="50800" anchor="t"/>
          <a:lstStyle/>
          <a:p>
            <a:pPr algn="l">
              <a:buNone/>
            </a:pPr>
            <a:r>
              <a:rPr lang="en-US" sz="1400" b="0" dirty="0">
                <a:solidFill>
                  <a:srgbClr val="B4BECC"/>
                </a:solidFill>
              </a:rPr>
              <a:t>$env filters the query for $cluster, which filters $instance. Selecting an environment narrows every dropdown below it.</a:t>
            </a:r>
          </a:p>
        </p:txBody>
      </p:sp>
    </p:spTree>
    <p:extLst>
      <p:ext uri="{BB962C8B-B14F-4D97-AF65-F5344CB8AC3E}">
        <p14:creationId xmlns:p14="http://schemas.microsoft.com/office/powerpoint/2010/main" val="245810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BD4B1-4AFC-4323-18EA-A277BED5C717}"/>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Rows and Library Panels</a:t>
            </a:r>
          </a:p>
        </p:txBody>
      </p:sp>
      <p:sp>
        <p:nvSpPr>
          <p:cNvPr id="811" name="S811"/>
          <p:cNvSpPr/>
          <p:nvPr/>
        </p:nvSpPr>
        <p:spPr>
          <a:xfrm>
            <a:off x="762000" y="914400"/>
            <a:ext cx="1524000" cy="50800"/>
          </a:xfrm>
          <a:prstGeom prst="rect">
            <a:avLst/>
          </a:prstGeom>
          <a:solidFill>
            <a:srgbClr val="3274D9"/>
          </a:solidFill>
          <a:ln>
            <a:noFill/>
          </a:ln>
        </p:spPr>
        <p:txBody>
          <a:bodyPr wrap="square" lIns="127000" tIns="50800" rIns="127000" bIns="50800" anchor="ctr"/>
          <a:lstStyle/>
          <a:p>
            <a:endParaRPr/>
          </a:p>
        </p:txBody>
      </p:sp>
      <p:sp>
        <p:nvSpPr>
          <p:cNvPr id="812" name="S812"/>
          <p:cNvSpPr/>
          <p:nvPr/>
        </p:nvSpPr>
        <p:spPr>
          <a:xfrm>
            <a:off x="762000" y="1270000"/>
            <a:ext cx="5207000" cy="3632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13" name="S813"/>
          <p:cNvSpPr/>
          <p:nvPr/>
        </p:nvSpPr>
        <p:spPr>
          <a:xfrm>
            <a:off x="762000" y="1270000"/>
            <a:ext cx="5207000" cy="50800"/>
          </a:xfrm>
          <a:prstGeom prst="rect">
            <a:avLst/>
          </a:prstGeom>
          <a:solidFill>
            <a:srgbClr val="B877D9"/>
          </a:solidFill>
          <a:ln>
            <a:noFill/>
          </a:ln>
        </p:spPr>
        <p:txBody>
          <a:bodyPr wrap="square" lIns="127000" tIns="50800" rIns="127000" bIns="50800" anchor="ctr"/>
          <a:lstStyle/>
          <a:p>
            <a:endParaRPr/>
          </a:p>
        </p:txBody>
      </p:sp>
      <p:sp>
        <p:nvSpPr>
          <p:cNvPr id="814" name="S814"/>
          <p:cNvSpPr/>
          <p:nvPr/>
        </p:nvSpPr>
        <p:spPr>
          <a:xfrm>
            <a:off x="965200" y="1397000"/>
            <a:ext cx="4800600" cy="355600"/>
          </a:xfrm>
          <a:prstGeom prst="rect">
            <a:avLst/>
          </a:prstGeom>
          <a:noFill/>
          <a:ln>
            <a:noFill/>
          </a:ln>
        </p:spPr>
        <p:txBody>
          <a:bodyPr wrap="square" lIns="0" tIns="50800" rIns="0" bIns="50800" anchor="ctr"/>
          <a:lstStyle/>
          <a:p>
            <a:pPr algn="l">
              <a:buNone/>
            </a:pPr>
            <a:r>
              <a:rPr lang="en-US" sz="1800" b="1" dirty="0">
                <a:solidFill>
                  <a:srgbClr val="B877D9"/>
                </a:solidFill>
              </a:rPr>
              <a:t>Rows: structure and performance</a:t>
            </a:r>
          </a:p>
        </p:txBody>
      </p:sp>
      <p:sp>
        <p:nvSpPr>
          <p:cNvPr id="815" name="S815"/>
          <p:cNvSpPr/>
          <p:nvPr/>
        </p:nvSpPr>
        <p:spPr>
          <a:xfrm>
            <a:off x="965200" y="1778000"/>
            <a:ext cx="4800600" cy="1676400"/>
          </a:xfrm>
          <a:prstGeom prst="rect">
            <a:avLst/>
          </a:prstGeom>
          <a:noFill/>
          <a:ln>
            <a:noFill/>
          </a:ln>
        </p:spPr>
        <p:txBody>
          <a:bodyPr wrap="square" lIns="0" tIns="50800" rIns="0" bIns="50800" anchor="t"/>
          <a:lstStyle/>
          <a:p>
            <a:pPr marL="171450" indent="-171450">
              <a:lnSpc>
                <a:spcPts val="1800"/>
              </a:lnSpc>
              <a:spcBef>
                <a:spcPts val="600"/>
              </a:spcBef>
              <a:buFont typeface="Arial"/>
              <a:buChar char="•"/>
            </a:pPr>
            <a:r>
              <a:rPr lang="en-US" sz="1400" dirty="0">
                <a:solidFill>
                  <a:srgbClr val="B4BECC"/>
                </a:solidFill>
              </a:rPr>
              <a:t>Collapsible group header for related panels</a:t>
            </a:r>
          </a:p>
          <a:p>
            <a:pPr marL="171450" indent="-171450">
              <a:lnSpc>
                <a:spcPts val="1800"/>
              </a:lnSpc>
              <a:spcBef>
                <a:spcPts val="600"/>
              </a:spcBef>
              <a:buFont typeface="Arial"/>
              <a:buChar char="•"/>
            </a:pPr>
            <a:r>
              <a:rPr lang="en-US" sz="1400" dirty="0">
                <a:solidFill>
                  <a:srgbClr val="B4BECC"/>
                </a:solidFill>
              </a:rPr>
              <a:t>A collapsed row does not run its queries - real load saving</a:t>
            </a:r>
          </a:p>
          <a:p>
            <a:pPr marL="171450" indent="-171450">
              <a:lnSpc>
                <a:spcPts val="1800"/>
              </a:lnSpc>
              <a:spcBef>
                <a:spcPts val="600"/>
              </a:spcBef>
              <a:buFont typeface="Arial"/>
              <a:buChar char="•"/>
            </a:pPr>
            <a:r>
              <a:rPr lang="en-US" sz="1400" dirty="0">
                <a:solidFill>
                  <a:srgbClr val="B4BECC"/>
                </a:solidFill>
              </a:rPr>
              <a:t>Repeat a row per variable value (one row per instance)</a:t>
            </a:r>
          </a:p>
          <a:p>
            <a:pPr marL="171450" indent="-171450">
              <a:lnSpc>
                <a:spcPts val="1800"/>
              </a:lnSpc>
              <a:spcBef>
                <a:spcPts val="600"/>
              </a:spcBef>
              <a:buFont typeface="Arial"/>
              <a:buChar char="•"/>
            </a:pPr>
            <a:r>
              <a:rPr lang="en-US" sz="1400" dirty="0">
                <a:solidFill>
                  <a:srgbClr val="B4BECC"/>
                </a:solidFill>
              </a:rPr>
              <a:t>Convention: overview expanded, deep-dive rows collapsed</a:t>
            </a:r>
          </a:p>
        </p:txBody>
      </p:sp>
      <p:sp>
        <p:nvSpPr>
          <p:cNvPr id="816" name="S816"/>
          <p:cNvSpPr/>
          <p:nvPr/>
        </p:nvSpPr>
        <p:spPr>
          <a:xfrm>
            <a:off x="965200" y="3530600"/>
            <a:ext cx="4800600" cy="330200"/>
          </a:xfrm>
          <a:prstGeom prst="roundRect">
            <a:avLst/>
          </a:prstGeom>
          <a:solidFill>
            <a:srgbClr val="1B2029"/>
          </a:solidFill>
          <a:ln w="12700">
            <a:solidFill>
              <a:srgbClr val="2B3140"/>
            </a:solidFill>
          </a:ln>
        </p:spPr>
        <p:txBody>
          <a:bodyPr wrap="square" lIns="127000" tIns="50800" rIns="127000" bIns="50800" anchor="ctr"/>
          <a:lstStyle/>
          <a:p>
            <a:pPr algn="l">
              <a:buNone/>
            </a:pPr>
            <a:r>
              <a:rPr lang="en-US" sz="1400" b="1" dirty="0">
                <a:solidFill>
                  <a:srgbClr val="FF9830"/>
                </a:solidFill>
              </a:rPr>
              <a:t>v  Overview  (expanded)</a:t>
            </a:r>
          </a:p>
        </p:txBody>
      </p:sp>
      <p:sp>
        <p:nvSpPr>
          <p:cNvPr id="817" name="S817"/>
          <p:cNvSpPr/>
          <p:nvPr/>
        </p:nvSpPr>
        <p:spPr>
          <a:xfrm>
            <a:off x="965200" y="3911600"/>
            <a:ext cx="4800600" cy="330200"/>
          </a:xfrm>
          <a:prstGeom prst="roundRect">
            <a:avLst/>
          </a:prstGeom>
          <a:solidFill>
            <a:srgbClr val="141821"/>
          </a:solidFill>
          <a:ln w="12700">
            <a:solidFill>
              <a:srgbClr val="2B3140"/>
            </a:solidFill>
          </a:ln>
        </p:spPr>
        <p:txBody>
          <a:bodyPr wrap="square" lIns="127000" tIns="50800" rIns="127000" bIns="50800" anchor="ctr"/>
          <a:lstStyle/>
          <a:p>
            <a:pPr algn="l">
              <a:buNone/>
            </a:pPr>
            <a:r>
              <a:rPr lang="en-US" sz="1400" b="1" dirty="0">
                <a:solidFill>
                  <a:srgbClr val="7C8798"/>
                </a:solidFill>
              </a:rPr>
              <a:t>&gt;  Latency  (collapsed)</a:t>
            </a:r>
          </a:p>
        </p:txBody>
      </p:sp>
      <p:sp>
        <p:nvSpPr>
          <p:cNvPr id="818" name="S818"/>
          <p:cNvSpPr/>
          <p:nvPr/>
        </p:nvSpPr>
        <p:spPr>
          <a:xfrm>
            <a:off x="965200" y="4292600"/>
            <a:ext cx="4800600" cy="330200"/>
          </a:xfrm>
          <a:prstGeom prst="roundRect">
            <a:avLst/>
          </a:prstGeom>
          <a:solidFill>
            <a:srgbClr val="141821"/>
          </a:solidFill>
          <a:ln w="12700">
            <a:solidFill>
              <a:srgbClr val="2B3140"/>
            </a:solidFill>
          </a:ln>
        </p:spPr>
        <p:txBody>
          <a:bodyPr wrap="square" lIns="127000" tIns="50800" rIns="127000" bIns="50800" anchor="ctr"/>
          <a:lstStyle/>
          <a:p>
            <a:pPr algn="l">
              <a:buNone/>
            </a:pPr>
            <a:r>
              <a:rPr lang="en-US" sz="1400" b="1" dirty="0">
                <a:solidFill>
                  <a:srgbClr val="7C8798"/>
                </a:solidFill>
              </a:rPr>
              <a:t>&gt;  Database  (collapsed)</a:t>
            </a:r>
          </a:p>
        </p:txBody>
      </p:sp>
      <p:sp>
        <p:nvSpPr>
          <p:cNvPr id="819" name="S819"/>
          <p:cNvSpPr/>
          <p:nvPr/>
        </p:nvSpPr>
        <p:spPr>
          <a:xfrm>
            <a:off x="6223000" y="1270000"/>
            <a:ext cx="5207000" cy="3632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20" name="S820"/>
          <p:cNvSpPr/>
          <p:nvPr/>
        </p:nvSpPr>
        <p:spPr>
          <a:xfrm>
            <a:off x="6223000" y="1270000"/>
            <a:ext cx="5207000" cy="50800"/>
          </a:xfrm>
          <a:prstGeom prst="rect">
            <a:avLst/>
          </a:prstGeom>
          <a:solidFill>
            <a:srgbClr val="56A64B"/>
          </a:solidFill>
          <a:ln>
            <a:noFill/>
          </a:ln>
        </p:spPr>
        <p:txBody>
          <a:bodyPr wrap="square" lIns="127000" tIns="50800" rIns="127000" bIns="50800" anchor="ctr"/>
          <a:lstStyle/>
          <a:p>
            <a:endParaRPr/>
          </a:p>
        </p:txBody>
      </p:sp>
      <p:sp>
        <p:nvSpPr>
          <p:cNvPr id="821" name="S821"/>
          <p:cNvSpPr/>
          <p:nvPr/>
        </p:nvSpPr>
        <p:spPr>
          <a:xfrm>
            <a:off x="6426200" y="1397000"/>
            <a:ext cx="4800600" cy="355600"/>
          </a:xfrm>
          <a:prstGeom prst="rect">
            <a:avLst/>
          </a:prstGeom>
          <a:noFill/>
          <a:ln>
            <a:noFill/>
          </a:ln>
        </p:spPr>
        <p:txBody>
          <a:bodyPr wrap="square" lIns="0" tIns="50800" rIns="0" bIns="50800" anchor="ctr"/>
          <a:lstStyle/>
          <a:p>
            <a:pPr algn="l">
              <a:buNone/>
            </a:pPr>
            <a:r>
              <a:rPr lang="en-US" sz="1800" b="1" dirty="0">
                <a:solidFill>
                  <a:srgbClr val="56A64B"/>
                </a:solidFill>
              </a:rPr>
              <a:t>Library panels: build once, reuse</a:t>
            </a:r>
          </a:p>
        </p:txBody>
      </p:sp>
      <p:sp>
        <p:nvSpPr>
          <p:cNvPr id="822" name="S822"/>
          <p:cNvSpPr/>
          <p:nvPr/>
        </p:nvSpPr>
        <p:spPr>
          <a:xfrm>
            <a:off x="6426200" y="1778000"/>
            <a:ext cx="4800600" cy="2006600"/>
          </a:xfrm>
          <a:prstGeom prst="rect">
            <a:avLst/>
          </a:prstGeom>
          <a:noFill/>
          <a:ln>
            <a:noFill/>
          </a:ln>
        </p:spPr>
        <p:txBody>
          <a:bodyPr wrap="square" lIns="0" tIns="50800" rIns="0" bIns="50800" anchor="t"/>
          <a:lstStyle/>
          <a:p>
            <a:pPr marL="171450" indent="-171450">
              <a:lnSpc>
                <a:spcPts val="1800"/>
              </a:lnSpc>
              <a:spcBef>
                <a:spcPts val="600"/>
              </a:spcBef>
              <a:buFont typeface="Arial"/>
              <a:buChar char="•"/>
            </a:pPr>
            <a:r>
              <a:rPr lang="en-US" sz="1400" dirty="0">
                <a:solidFill>
                  <a:srgbClr val="B4BECC"/>
                </a:solidFill>
              </a:rPr>
              <a:t>Panel menu &gt; More &gt; Create library panel</a:t>
            </a:r>
          </a:p>
          <a:p>
            <a:pPr marL="171450" indent="-171450">
              <a:lnSpc>
                <a:spcPts val="1800"/>
              </a:lnSpc>
              <a:spcBef>
                <a:spcPts val="600"/>
              </a:spcBef>
              <a:buFont typeface="Arial"/>
              <a:buChar char="•"/>
            </a:pPr>
            <a:r>
              <a:rPr lang="en-US" sz="1400" dirty="0">
                <a:solidFill>
                  <a:srgbClr val="B4BECC"/>
                </a:solidFill>
              </a:rPr>
              <a:t>Saved in a folder and linked by reference, not copied</a:t>
            </a:r>
          </a:p>
          <a:p>
            <a:pPr marL="171450" indent="-171450">
              <a:lnSpc>
                <a:spcPts val="1800"/>
              </a:lnSpc>
              <a:spcBef>
                <a:spcPts val="600"/>
              </a:spcBef>
              <a:buFont typeface="Arial"/>
              <a:buChar char="•"/>
            </a:pPr>
            <a:r>
              <a:rPr lang="en-US" sz="1400" dirty="0">
                <a:solidFill>
                  <a:srgbClr val="B4BECC"/>
                </a:solidFill>
              </a:rPr>
              <a:t>Edit it once and every dashboard using it updates</a:t>
            </a:r>
          </a:p>
          <a:p>
            <a:pPr marL="171450" indent="-171450">
              <a:lnSpc>
                <a:spcPts val="1800"/>
              </a:lnSpc>
              <a:spcBef>
                <a:spcPts val="600"/>
              </a:spcBef>
              <a:buFont typeface="Arial"/>
              <a:buChar char="•"/>
            </a:pPr>
            <a:r>
              <a:rPr lang="en-US" sz="1400" dirty="0">
                <a:solidFill>
                  <a:srgbClr val="B4BECC"/>
                </a:solidFill>
              </a:rPr>
              <a:t>Grafana shows the usage count before you save a change</a:t>
            </a:r>
          </a:p>
          <a:p>
            <a:pPr marL="171450" indent="-171450">
              <a:lnSpc>
                <a:spcPts val="1800"/>
              </a:lnSpc>
              <a:spcBef>
                <a:spcPts val="600"/>
              </a:spcBef>
              <a:buFont typeface="Arial"/>
              <a:buChar char="•"/>
            </a:pPr>
            <a:r>
              <a:rPr lang="en-US" sz="1400" dirty="0">
                <a:solidFill>
                  <a:srgbClr val="B4BECC"/>
                </a:solidFill>
              </a:rPr>
              <a:t>Ideal for SLO summaries and standard CPU / memory panels</a:t>
            </a:r>
          </a:p>
        </p:txBody>
      </p:sp>
      <p:sp>
        <p:nvSpPr>
          <p:cNvPr id="823" name="S823"/>
          <p:cNvSpPr/>
          <p:nvPr/>
        </p:nvSpPr>
        <p:spPr>
          <a:xfrm>
            <a:off x="6426200" y="3810000"/>
            <a:ext cx="4800600" cy="939800"/>
          </a:xfrm>
          <a:prstGeom prst="roundRect">
            <a:avLst/>
          </a:prstGeom>
          <a:solidFill>
            <a:srgbClr val="1C1408"/>
          </a:solidFill>
          <a:ln w="12700">
            <a:solidFill>
              <a:srgbClr val="5A3A10"/>
            </a:solidFill>
          </a:ln>
        </p:spPr>
        <p:txBody>
          <a:bodyPr wrap="square" lIns="177800" tIns="50800" rIns="177800" bIns="50800" anchor="ctr"/>
          <a:lstStyle/>
          <a:p>
            <a:pPr algn="l">
              <a:buNone/>
            </a:pPr>
            <a:r>
              <a:rPr lang="en-US" sz="1400" b="0" dirty="0">
                <a:solidFill>
                  <a:srgbClr val="FFC078"/>
                </a:solidFill>
              </a:rPr>
              <a:t>Unlinking a library panel is one-way: it becomes a normal copy and stops receiving updates.</a:t>
            </a:r>
          </a:p>
        </p:txBody>
      </p:sp>
      <p:sp>
        <p:nvSpPr>
          <p:cNvPr id="824" name="S824"/>
          <p:cNvSpPr/>
          <p:nvPr/>
        </p:nvSpPr>
        <p:spPr>
          <a:xfrm>
            <a:off x="762000" y="5054600"/>
            <a:ext cx="10668000" cy="5588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500" b="0" dirty="0">
                <a:solidFill>
                  <a:srgbClr val="D6DBE4"/>
                </a:solidFill>
              </a:rPr>
              <a:t>Everything on the page is JSON. Dashboard settings &gt; JSON Model shows the exact object Grafana renders.</a:t>
            </a:r>
          </a:p>
        </p:txBody>
      </p:sp>
      <p:sp>
        <p:nvSpPr>
          <p:cNvPr id="825" name="S825"/>
          <p:cNvSpPr/>
          <p:nvPr/>
        </p:nvSpPr>
        <p:spPr>
          <a:xfrm>
            <a:off x="762000" y="5715000"/>
            <a:ext cx="10668000" cy="609600"/>
          </a:xfrm>
          <a:prstGeom prst="roundRect">
            <a:avLst/>
          </a:prstGeom>
          <a:solidFill>
            <a:srgbClr val="111620"/>
          </a:solidFill>
          <a:ln w="12700">
            <a:solidFill>
              <a:srgbClr val="262C38"/>
            </a:solidFill>
          </a:ln>
        </p:spPr>
        <p:txBody>
          <a:bodyPr wrap="square" lIns="177800" tIns="50800" rIns="177800" bIns="50800" anchor="ctr"/>
          <a:lstStyle/>
          <a:p>
            <a:pPr algn="l">
              <a:buNone/>
            </a:pPr>
            <a:r>
              <a:rPr lang="en-US" sz="1400" b="0" dirty="0">
                <a:solidFill>
                  <a:srgbClr val="B4BECC"/>
                </a:solidFill>
              </a:rPr>
              <a:t>Dashboards as code: export the JSON, commit it to git, and provision it from a file so an environment can be rebuilt from scratch.</a:t>
            </a:r>
          </a:p>
        </p:txBody>
      </p:sp>
    </p:spTree>
    <p:extLst>
      <p:ext uri="{BB962C8B-B14F-4D97-AF65-F5344CB8AC3E}">
        <p14:creationId xmlns:p14="http://schemas.microsoft.com/office/powerpoint/2010/main" val="36012698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434B-0B70-4BED-3872-421343422043}"/>
              </a:ext>
            </a:extLst>
          </p:cNvPr>
          <p:cNvSpPr>
            <a:spLocks noGrp="1"/>
          </p:cNvSpPr>
          <p:nvPr>
            <p:ph type="title"/>
          </p:nvPr>
        </p:nvSpPr>
        <p:spPr>
          <a:xfrm>
            <a:off x="762000" y="279400"/>
            <a:ext cx="10668000" cy="508000"/>
          </a:xfrm>
        </p:spPr>
        <p:txBody>
          <a:bodyPr>
            <a:normAutofit fontScale="90000"/>
          </a:bodyPr>
          <a:lstStyle/>
          <a:p>
            <a:r>
              <a:rPr lang="en-US"/>
              <a:t>Critique This Dashboard</a:t>
            </a:r>
          </a:p>
        </p:txBody>
      </p:sp>
      <p:sp>
        <p:nvSpPr>
          <p:cNvPr id="3" name="Rectangle 2">
            <a:extLst>
              <a:ext uri="{FF2B5EF4-FFF2-40B4-BE49-F238E27FC236}">
                <a16:creationId xmlns:a16="http://schemas.microsoft.com/office/drawing/2014/main" id="{03B409C7-1AD5-41DB-A275-F8AD853DC87F}"/>
              </a:ext>
            </a:extLst>
          </p:cNvPr>
          <p:cNvSpPr/>
          <p:nvPr/>
        </p:nvSpPr>
        <p:spPr>
          <a:xfrm>
            <a:off x="762000" y="812800"/>
            <a:ext cx="15240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F0D02CF5-52EB-401B-B690-60959FB82044}"/>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In pairs, five minutes. You inherited this board from someone who left.</a:t>
            </a:r>
          </a:p>
        </p:txBody>
      </p:sp>
      <p:sp>
        <p:nvSpPr>
          <p:cNvPr id="5" name="Rectangle 4">
            <a:extLst>
              <a:ext uri="{FF2B5EF4-FFF2-40B4-BE49-F238E27FC236}">
                <a16:creationId xmlns:a16="http://schemas.microsoft.com/office/drawing/2014/main" id="{633D72D6-BF29-4965-88BC-CDE8C399D9B1}"/>
              </a:ext>
            </a:extLst>
          </p:cNvPr>
          <p:cNvSpPr/>
          <p:nvPr/>
        </p:nvSpPr>
        <p:spPr>
          <a:xfrm>
            <a:off x="762000" y="1320800"/>
            <a:ext cx="5257800" cy="3175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99E73DCE-E1C1-4F08-A64C-0B1ACE416B08}"/>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TextBox 6">
            <a:extLst>
              <a:ext uri="{FF2B5EF4-FFF2-40B4-BE49-F238E27FC236}">
                <a16:creationId xmlns:a16="http://schemas.microsoft.com/office/drawing/2014/main" id="{B158C328-E1AC-4193-B6E2-4B2B885825AE}"/>
              </a:ext>
            </a:extLst>
          </p:cNvPr>
          <p:cNvSpPr txBox="1"/>
          <p:nvPr/>
        </p:nvSpPr>
        <p:spPr>
          <a:xfrm>
            <a:off x="939800" y="1524000"/>
            <a:ext cx="4902200" cy="355600"/>
          </a:xfrm>
          <a:prstGeom prst="rect">
            <a:avLst/>
          </a:prstGeom>
          <a:noFill/>
        </p:spPr>
        <p:txBody>
          <a:bodyPr vertOverflow="overflow" vert="horz" wrap="square" rtlCol="0" anchor="t">
            <a:noAutofit/>
          </a:bodyPr>
          <a:lstStyle/>
          <a:p>
            <a:pPr algn="l"/>
            <a:r>
              <a:rPr lang="en-US" sz="1700" b="1">
                <a:solidFill>
                  <a:srgbClr val="FFFFFF"/>
                </a:solidFill>
              </a:rPr>
              <a:t>What you can see on it</a:t>
            </a:r>
          </a:p>
        </p:txBody>
      </p:sp>
      <p:sp>
        <p:nvSpPr>
          <p:cNvPr id="8" name="TextBox 7">
            <a:extLst>
              <a:ext uri="{FF2B5EF4-FFF2-40B4-BE49-F238E27FC236}">
                <a16:creationId xmlns:a16="http://schemas.microsoft.com/office/drawing/2014/main" id="{5B1A9ED9-96AA-44F6-8358-BDF77AF0075C}"/>
              </a:ext>
            </a:extLst>
          </p:cNvPr>
          <p:cNvSpPr txBox="1"/>
          <p:nvPr/>
        </p:nvSpPr>
        <p:spPr>
          <a:xfrm>
            <a:off x="939800" y="1981200"/>
            <a:ext cx="4902200" cy="2336800"/>
          </a:xfrm>
          <a:prstGeom prst="rect">
            <a:avLst/>
          </a:prstGeom>
          <a:noFill/>
        </p:spPr>
        <p:txBody>
          <a:bodyPr vertOverflow="overflow" vert="horz" wrap="square" rtlCol="0" anchor="t">
            <a:noAutofit/>
          </a:bodyPr>
          <a:lstStyle/>
          <a:p>
            <a:pPr algn="l"/>
            <a:r>
              <a:rPr lang="en-US" sz="1500">
                <a:solidFill>
                  <a:srgbClr val="B4BECC"/>
                </a:solidFill>
              </a:rPr>
              <a:t>41 panels, no rows, all expanded
Every graph titled "Panel Title"
CPU shown as 0.8734521
A legend with 300 entries, one per pod
One stat panel reading 12 with no unit
Template variable used with = and one value
Time range hard-coded to Last 5 minutes</a:t>
            </a:r>
          </a:p>
        </p:txBody>
      </p:sp>
      <p:sp>
        <p:nvSpPr>
          <p:cNvPr id="9" name="Rectangle 8">
            <a:extLst>
              <a:ext uri="{FF2B5EF4-FFF2-40B4-BE49-F238E27FC236}">
                <a16:creationId xmlns:a16="http://schemas.microsoft.com/office/drawing/2014/main" id="{7169E667-9F80-45EC-84C9-79162505DD1D}"/>
              </a:ext>
            </a:extLst>
          </p:cNvPr>
          <p:cNvSpPr/>
          <p:nvPr/>
        </p:nvSpPr>
        <p:spPr>
          <a:xfrm>
            <a:off x="6172200" y="1320800"/>
            <a:ext cx="5257800" cy="3175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47B273C1-6F93-4EEA-856B-E6356760068A}"/>
              </a:ext>
            </a:extLst>
          </p:cNvPr>
          <p:cNvSpPr/>
          <p:nvPr/>
        </p:nvSpPr>
        <p:spPr>
          <a:xfrm>
            <a:off x="6172200" y="1320800"/>
            <a:ext cx="5257800" cy="508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TextBox 10">
            <a:extLst>
              <a:ext uri="{FF2B5EF4-FFF2-40B4-BE49-F238E27FC236}">
                <a16:creationId xmlns:a16="http://schemas.microsoft.com/office/drawing/2014/main" id="{4AE48BB0-6ABA-4A3B-8518-03DC83DF2DB3}"/>
              </a:ext>
            </a:extLst>
          </p:cNvPr>
          <p:cNvSpPr txBox="1"/>
          <p:nvPr/>
        </p:nvSpPr>
        <p:spPr>
          <a:xfrm>
            <a:off x="6350000" y="1524000"/>
            <a:ext cx="4902200" cy="355600"/>
          </a:xfrm>
          <a:prstGeom prst="rect">
            <a:avLst/>
          </a:prstGeom>
          <a:noFill/>
        </p:spPr>
        <p:txBody>
          <a:bodyPr vertOverflow="overflow" vert="horz" wrap="square" rtlCol="0" anchor="t">
            <a:noAutofit/>
          </a:bodyPr>
          <a:lstStyle/>
          <a:p>
            <a:pPr algn="l"/>
            <a:r>
              <a:rPr lang="en-US" sz="1700" b="1">
                <a:solidFill>
                  <a:srgbClr val="F2CC0C"/>
                </a:solidFill>
              </a:rPr>
              <a:t>Answer these, then defend it</a:t>
            </a:r>
          </a:p>
        </p:txBody>
      </p:sp>
      <p:sp>
        <p:nvSpPr>
          <p:cNvPr id="12" name="TextBox 11">
            <a:extLst>
              <a:ext uri="{FF2B5EF4-FFF2-40B4-BE49-F238E27FC236}">
                <a16:creationId xmlns:a16="http://schemas.microsoft.com/office/drawing/2014/main" id="{0ACF0920-C549-4BAA-9E2B-C8E78A5BAF56}"/>
              </a:ext>
            </a:extLst>
          </p:cNvPr>
          <p:cNvSpPr txBox="1"/>
          <p:nvPr/>
        </p:nvSpPr>
        <p:spPr>
          <a:xfrm>
            <a:off x="6350000" y="1981200"/>
            <a:ext cx="4902200" cy="2336800"/>
          </a:xfrm>
          <a:prstGeom prst="rect">
            <a:avLst/>
          </a:prstGeom>
          <a:noFill/>
        </p:spPr>
        <p:txBody>
          <a:bodyPr vertOverflow="overflow" vert="horz" wrap="square" rtlCol="0" anchor="t">
            <a:noAutofit/>
          </a:bodyPr>
          <a:lstStyle/>
          <a:p>
            <a:pPr algn="l"/>
            <a:r>
              <a:rPr lang="en-US" sz="1500">
                <a:solidFill>
                  <a:srgbClr val="E8D48B"/>
                </a:solidFill>
              </a:rPr>
              <a:t>1. Which three fixes buy the most clarity for an on-call engineer at 3am?
2. Which single choice here will cost the most money as the estate grows?
3. What would you delete outright, and what does the board look like after?</a:t>
            </a:r>
          </a:p>
        </p:txBody>
      </p:sp>
      <p:sp>
        <p:nvSpPr>
          <p:cNvPr id="13" name="Rectangle 12">
            <a:extLst>
              <a:ext uri="{FF2B5EF4-FFF2-40B4-BE49-F238E27FC236}">
                <a16:creationId xmlns:a16="http://schemas.microsoft.com/office/drawing/2014/main" id="{A3AB910B-CF49-41DB-AB33-D1706757C18F}"/>
              </a:ext>
            </a:extLst>
          </p:cNvPr>
          <p:cNvSpPr/>
          <p:nvPr/>
        </p:nvSpPr>
        <p:spPr>
          <a:xfrm>
            <a:off x="762000" y="4724400"/>
            <a:ext cx="10668000" cy="1143000"/>
          </a:xfrm>
          <a:prstGeom prst="rect">
            <a:avLst/>
          </a:prstGeom>
          <a:solidFill>
            <a:srgbClr val="1519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F620568B-8132-4354-8444-16E2A652D573}"/>
              </a:ext>
            </a:extLst>
          </p:cNvPr>
          <p:cNvSpPr/>
          <p:nvPr/>
        </p:nvSpPr>
        <p:spPr>
          <a:xfrm>
            <a:off x="762000" y="4724400"/>
            <a:ext cx="10668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TextBox 14">
            <a:extLst>
              <a:ext uri="{FF2B5EF4-FFF2-40B4-BE49-F238E27FC236}">
                <a16:creationId xmlns:a16="http://schemas.microsoft.com/office/drawing/2014/main" id="{52CE4A0D-1366-4301-9CA7-4D4746996B73}"/>
              </a:ext>
            </a:extLst>
          </p:cNvPr>
          <p:cNvSpPr txBox="1"/>
          <p:nvPr/>
        </p:nvSpPr>
        <p:spPr>
          <a:xfrm>
            <a:off x="939800" y="4902200"/>
            <a:ext cx="7620000" cy="330200"/>
          </a:xfrm>
          <a:prstGeom prst="rect">
            <a:avLst/>
          </a:prstGeom>
          <a:noFill/>
        </p:spPr>
        <p:txBody>
          <a:bodyPr vertOverflow="overflow" vert="horz" wrap="square" rtlCol="0" anchor="t">
            <a:noAutofit/>
          </a:bodyPr>
          <a:lstStyle/>
          <a:p>
            <a:pPr algn="l"/>
            <a:r>
              <a:rPr lang="en-US" sz="1700" b="1">
                <a:solidFill>
                  <a:srgbClr val="7FD46F"/>
                </a:solidFill>
              </a:rPr>
              <a:t>Two minutes of readback - we collect the fixes on the board</a:t>
            </a:r>
          </a:p>
        </p:txBody>
      </p:sp>
      <p:sp>
        <p:nvSpPr>
          <p:cNvPr id="16" name="TextBox 15">
            <a:extLst>
              <a:ext uri="{FF2B5EF4-FFF2-40B4-BE49-F238E27FC236}">
                <a16:creationId xmlns:a16="http://schemas.microsoft.com/office/drawing/2014/main" id="{0BBCBBA8-023B-4FBC-8F8B-D7C21F384767}"/>
              </a:ext>
            </a:extLst>
          </p:cNvPr>
          <p:cNvSpPr txBox="1"/>
          <p:nvPr/>
        </p:nvSpPr>
        <p:spPr>
          <a:xfrm>
            <a:off x="939800" y="5283200"/>
            <a:ext cx="10312400" cy="381000"/>
          </a:xfrm>
          <a:prstGeom prst="rect">
            <a:avLst/>
          </a:prstGeom>
          <a:noFill/>
        </p:spPr>
        <p:txBody>
          <a:bodyPr vertOverflow="overflow" vert="horz" wrap="square" rtlCol="0" anchor="t">
            <a:noAutofit/>
          </a:bodyPr>
          <a:lstStyle/>
          <a:p>
            <a:pPr algn="l"/>
            <a:r>
              <a:rPr lang="en-US" sz="1500">
                <a:solidFill>
                  <a:srgbClr val="B4BECC"/>
                </a:solidFill>
              </a:rPr>
              <a:t>Keep your list - you will apply the same fixes to your own board in Lab 3.</a:t>
            </a:r>
          </a:p>
        </p:txBody>
      </p:sp>
    </p:spTree>
    <p:extLst>
      <p:ext uri="{BB962C8B-B14F-4D97-AF65-F5344CB8AC3E}">
        <p14:creationId xmlns:p14="http://schemas.microsoft.com/office/powerpoint/2010/main" val="1819008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2A68B-02BB-EF53-8B17-17D3B7F4DAD2}"/>
              </a:ext>
            </a:extLst>
          </p:cNvPr>
          <p:cNvSpPr>
            <a:spLocks noGrp="1"/>
          </p:cNvSpPr>
          <p:nvPr>
            <p:ph type="title"/>
          </p:nvPr>
        </p:nvSpPr>
        <p:spPr>
          <a:xfrm>
            <a:off x="762000" y="279400"/>
            <a:ext cx="10668000" cy="508000"/>
          </a:xfrm>
        </p:spPr>
        <p:txBody>
          <a:bodyPr>
            <a:normAutofit fontScale="90000"/>
          </a:bodyPr>
          <a:lstStyle/>
          <a:p>
            <a:r>
              <a:rPr lang="en-US"/>
              <a:t>Quiz 3: Dashboards, Variables and Rows</a:t>
            </a:r>
          </a:p>
        </p:txBody>
      </p:sp>
      <p:sp>
        <p:nvSpPr>
          <p:cNvPr id="3" name="Rectangle 2">
            <a:extLst>
              <a:ext uri="{FF2B5EF4-FFF2-40B4-BE49-F238E27FC236}">
                <a16:creationId xmlns:a16="http://schemas.microsoft.com/office/drawing/2014/main" id="{A3335B63-A5AC-4E3F-91BB-A3B2D0BD46CD}"/>
              </a:ext>
            </a:extLst>
          </p:cNvPr>
          <p:cNvSpPr/>
          <p:nvPr/>
        </p:nvSpPr>
        <p:spPr>
          <a:xfrm>
            <a:off x="762000" y="812800"/>
            <a:ext cx="1524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AF5D7DE2-3C76-46BC-9417-BC5A002B7E9A}"/>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Four questions | shout out your answer | we debrief on the next slide</a:t>
            </a:r>
          </a:p>
        </p:txBody>
      </p:sp>
      <p:sp>
        <p:nvSpPr>
          <p:cNvPr id="5" name="Rectangle 4">
            <a:extLst>
              <a:ext uri="{FF2B5EF4-FFF2-40B4-BE49-F238E27FC236}">
                <a16:creationId xmlns:a16="http://schemas.microsoft.com/office/drawing/2014/main" id="{FE205D24-AA13-492C-BCB1-777B47C921F5}"/>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3B362C69-7076-4ED8-8BAB-43F160962B79}"/>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442735B4-FF97-4525-9A3A-46C4D791BE57}"/>
              </a:ext>
            </a:extLst>
          </p:cNvPr>
          <p:cNvSpPr/>
          <p:nvPr/>
        </p:nvSpPr>
        <p:spPr>
          <a:xfrm>
            <a:off x="914400" y="15240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4CDCFD1D-ADDD-4D6C-9243-FED1E9B10289}"/>
              </a:ext>
            </a:extLst>
          </p:cNvPr>
          <p:cNvSpPr txBox="1"/>
          <p:nvPr/>
        </p:nvSpPr>
        <p:spPr>
          <a:xfrm>
            <a:off x="1498600" y="1524000"/>
            <a:ext cx="4368800" cy="355600"/>
          </a:xfrm>
          <a:prstGeom prst="rect">
            <a:avLst/>
          </a:prstGeom>
          <a:noFill/>
        </p:spPr>
        <p:txBody>
          <a:bodyPr vertOverflow="overflow" vert="horz" wrap="square" rtlCol="0" anchor="t">
            <a:noAutofit/>
          </a:bodyPr>
          <a:lstStyle/>
          <a:p>
            <a:pPr algn="l"/>
            <a:r>
              <a:rPr lang="en-US" sz="1700" b="1">
                <a:solidFill>
                  <a:srgbClr val="FFFFFF"/>
                </a:solidFill>
              </a:rPr>
              <a:t>A multi-value variable needs which operator?</a:t>
            </a:r>
          </a:p>
        </p:txBody>
      </p:sp>
      <p:sp>
        <p:nvSpPr>
          <p:cNvPr id="9" name="TextBox 8">
            <a:extLst>
              <a:ext uri="{FF2B5EF4-FFF2-40B4-BE49-F238E27FC236}">
                <a16:creationId xmlns:a16="http://schemas.microsoft.com/office/drawing/2014/main" id="{301E263F-63F1-4D0A-988B-190BE55BB1B9}"/>
              </a:ext>
            </a:extLst>
          </p:cNvPr>
          <p:cNvSpPr txBox="1"/>
          <p:nvPr/>
        </p:nvSpPr>
        <p:spPr>
          <a:xfrm>
            <a:off x="939800" y="2032000"/>
            <a:ext cx="4927600" cy="1371600"/>
          </a:xfrm>
          <a:prstGeom prst="rect">
            <a:avLst/>
          </a:prstGeom>
          <a:noFill/>
        </p:spPr>
        <p:txBody>
          <a:bodyPr vertOverflow="overflow" vert="horz" wrap="square" rtlCol="0" anchor="t">
            <a:noAutofit/>
          </a:bodyPr>
          <a:lstStyle/>
          <a:p>
            <a:pPr algn="l"/>
            <a:r>
              <a:rPr lang="en-US" sz="1500">
                <a:solidFill>
                  <a:srgbClr val="B4BECC"/>
                </a:solidFill>
              </a:rPr>
              <a:t>A  =
B  =~
C  !=
D  Any of them</a:t>
            </a:r>
          </a:p>
        </p:txBody>
      </p:sp>
      <p:sp>
        <p:nvSpPr>
          <p:cNvPr id="10" name="Rectangle 9">
            <a:extLst>
              <a:ext uri="{FF2B5EF4-FFF2-40B4-BE49-F238E27FC236}">
                <a16:creationId xmlns:a16="http://schemas.microsoft.com/office/drawing/2014/main" id="{85C55BE6-691B-4D0A-8C3F-234B0E74BF53}"/>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A6AE26B0-A7D4-4C04-935E-1216260509EC}"/>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E409D656-D1FF-4ED1-BBDF-13F5D11C689E}"/>
              </a:ext>
            </a:extLst>
          </p:cNvPr>
          <p:cNvSpPr/>
          <p:nvPr/>
        </p:nvSpPr>
        <p:spPr>
          <a:xfrm>
            <a:off x="6324600" y="15240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8EDB3B74-5F59-4979-B077-2C79B62E0DD2}"/>
              </a:ext>
            </a:extLst>
          </p:cNvPr>
          <p:cNvSpPr txBox="1"/>
          <p:nvPr/>
        </p:nvSpPr>
        <p:spPr>
          <a:xfrm>
            <a:off x="6908800" y="1524000"/>
            <a:ext cx="4368800" cy="355600"/>
          </a:xfrm>
          <a:prstGeom prst="rect">
            <a:avLst/>
          </a:prstGeom>
          <a:noFill/>
        </p:spPr>
        <p:txBody>
          <a:bodyPr vertOverflow="overflow" vert="horz" wrap="square" rtlCol="0" anchor="t">
            <a:noAutofit/>
          </a:bodyPr>
          <a:lstStyle/>
          <a:p>
            <a:pPr algn="l"/>
            <a:r>
              <a:rPr lang="en-US" sz="1700" b="1">
                <a:solidFill>
                  <a:srgbClr val="FFFFFF"/>
                </a:solidFill>
              </a:rPr>
              <a:t>What is a library panel for?</a:t>
            </a:r>
          </a:p>
        </p:txBody>
      </p:sp>
      <p:sp>
        <p:nvSpPr>
          <p:cNvPr id="14" name="TextBox 13">
            <a:extLst>
              <a:ext uri="{FF2B5EF4-FFF2-40B4-BE49-F238E27FC236}">
                <a16:creationId xmlns:a16="http://schemas.microsoft.com/office/drawing/2014/main" id="{AF46C3E1-4EB1-4CAF-AEA2-3F62B1135505}"/>
              </a:ext>
            </a:extLst>
          </p:cNvPr>
          <p:cNvSpPr txBox="1"/>
          <p:nvPr/>
        </p:nvSpPr>
        <p:spPr>
          <a:xfrm>
            <a:off x="6350000" y="2032000"/>
            <a:ext cx="4927600" cy="1371600"/>
          </a:xfrm>
          <a:prstGeom prst="rect">
            <a:avLst/>
          </a:prstGeom>
          <a:noFill/>
        </p:spPr>
        <p:txBody>
          <a:bodyPr vertOverflow="overflow" vert="horz" wrap="square" rtlCol="0" anchor="t">
            <a:noAutofit/>
          </a:bodyPr>
          <a:lstStyle/>
          <a:p>
            <a:pPr algn="l"/>
            <a:r>
              <a:rPr lang="en-US" sz="1500">
                <a:solidFill>
                  <a:srgbClr val="B4BECC"/>
                </a:solidFill>
              </a:rPr>
              <a:t>A  Saving a whole dashboard
B  One panel reused across boards
C  Storing queries offline
D  Exporting to PDF</a:t>
            </a:r>
          </a:p>
        </p:txBody>
      </p:sp>
      <p:sp>
        <p:nvSpPr>
          <p:cNvPr id="15" name="Rectangle 14">
            <a:extLst>
              <a:ext uri="{FF2B5EF4-FFF2-40B4-BE49-F238E27FC236}">
                <a16:creationId xmlns:a16="http://schemas.microsoft.com/office/drawing/2014/main" id="{5EFA0FDA-6A07-4687-9CEC-CD4DFEC4C4B0}"/>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4D978D5B-23D6-4A9A-AE94-B9EC584BCF7A}"/>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9F02BB13-C8A4-4E81-840F-A443FADA75F2}"/>
              </a:ext>
            </a:extLst>
          </p:cNvPr>
          <p:cNvSpPr/>
          <p:nvPr/>
        </p:nvSpPr>
        <p:spPr>
          <a:xfrm>
            <a:off x="914400" y="39878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12B32F34-9E87-47A4-8AAA-65DFAD53267B}"/>
              </a:ext>
            </a:extLst>
          </p:cNvPr>
          <p:cNvSpPr txBox="1"/>
          <p:nvPr/>
        </p:nvSpPr>
        <p:spPr>
          <a:xfrm>
            <a:off x="1498600" y="3987800"/>
            <a:ext cx="4368800" cy="355600"/>
          </a:xfrm>
          <a:prstGeom prst="rect">
            <a:avLst/>
          </a:prstGeom>
          <a:noFill/>
        </p:spPr>
        <p:txBody>
          <a:bodyPr vertOverflow="overflow" vert="horz" wrap="square" rtlCol="0" anchor="t">
            <a:noAutofit/>
          </a:bodyPr>
          <a:lstStyle/>
          <a:p>
            <a:pPr algn="l"/>
            <a:r>
              <a:rPr lang="en-US" sz="1700" b="1">
                <a:solidFill>
                  <a:srgbClr val="FFFFFF"/>
                </a:solidFill>
              </a:rPr>
              <a:t>Which belongs at the top of a board?</a:t>
            </a:r>
          </a:p>
        </p:txBody>
      </p:sp>
      <p:sp>
        <p:nvSpPr>
          <p:cNvPr id="19" name="TextBox 18">
            <a:extLst>
              <a:ext uri="{FF2B5EF4-FFF2-40B4-BE49-F238E27FC236}">
                <a16:creationId xmlns:a16="http://schemas.microsoft.com/office/drawing/2014/main" id="{0BF9A5AF-411C-4895-9FD4-71A68B37962D}"/>
              </a:ext>
            </a:extLst>
          </p:cNvPr>
          <p:cNvSpPr txBox="1"/>
          <p:nvPr/>
        </p:nvSpPr>
        <p:spPr>
          <a:xfrm>
            <a:off x="939800" y="4495800"/>
            <a:ext cx="4927600" cy="1371600"/>
          </a:xfrm>
          <a:prstGeom prst="rect">
            <a:avLst/>
          </a:prstGeom>
          <a:noFill/>
        </p:spPr>
        <p:txBody>
          <a:bodyPr vertOverflow="overflow" vert="horz" wrap="square" rtlCol="0" anchor="t">
            <a:noAutofit/>
          </a:bodyPr>
          <a:lstStyle/>
          <a:p>
            <a:pPr algn="l"/>
            <a:r>
              <a:rPr lang="en-US" sz="1500">
                <a:solidFill>
                  <a:srgbClr val="B4BECC"/>
                </a:solidFill>
              </a:rPr>
              <a:t>A  Per-pod debug graphs
B  The four numbers on-call needs
C  A geomap
D  The raw log table</a:t>
            </a:r>
          </a:p>
        </p:txBody>
      </p:sp>
      <p:sp>
        <p:nvSpPr>
          <p:cNvPr id="20" name="Rectangle 19">
            <a:extLst>
              <a:ext uri="{FF2B5EF4-FFF2-40B4-BE49-F238E27FC236}">
                <a16:creationId xmlns:a16="http://schemas.microsoft.com/office/drawing/2014/main" id="{923A7F0E-5B61-4435-93FF-F8BDD7FA35AD}"/>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6F91BDF8-55AC-40E1-9348-BE56D8D9709B}"/>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4B083A25-9D62-45CD-9CF1-D82DFEA0B4E9}"/>
              </a:ext>
            </a:extLst>
          </p:cNvPr>
          <p:cNvSpPr/>
          <p:nvPr/>
        </p:nvSpPr>
        <p:spPr>
          <a:xfrm>
            <a:off x="6324600" y="39878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5F0E70F3-49B8-499D-AC12-23672375EC64}"/>
              </a:ext>
            </a:extLst>
          </p:cNvPr>
          <p:cNvSpPr txBox="1"/>
          <p:nvPr/>
        </p:nvSpPr>
        <p:spPr>
          <a:xfrm>
            <a:off x="6908800" y="3987800"/>
            <a:ext cx="4368800" cy="355600"/>
          </a:xfrm>
          <a:prstGeom prst="rect">
            <a:avLst/>
          </a:prstGeom>
          <a:noFill/>
        </p:spPr>
        <p:txBody>
          <a:bodyPr vertOverflow="overflow" vert="horz" wrap="square" rtlCol="0" anchor="t">
            <a:noAutofit/>
          </a:bodyPr>
          <a:lstStyle/>
          <a:p>
            <a:pPr algn="l"/>
            <a:r>
              <a:rPr lang="en-US" sz="1700" b="1">
                <a:solidFill>
                  <a:srgbClr val="FFFFFF"/>
                </a:solidFill>
              </a:rPr>
              <a:t>Rows on a dashboard mainly give you:</a:t>
            </a:r>
          </a:p>
        </p:txBody>
      </p:sp>
      <p:sp>
        <p:nvSpPr>
          <p:cNvPr id="24" name="TextBox 23">
            <a:extLst>
              <a:ext uri="{FF2B5EF4-FFF2-40B4-BE49-F238E27FC236}">
                <a16:creationId xmlns:a16="http://schemas.microsoft.com/office/drawing/2014/main" id="{BCB54EB7-A09B-4B51-ABD3-F23C5550FD14}"/>
              </a:ext>
            </a:extLst>
          </p:cNvPr>
          <p:cNvSpPr txBox="1"/>
          <p:nvPr/>
        </p:nvSpPr>
        <p:spPr>
          <a:xfrm>
            <a:off x="6350000" y="4495800"/>
            <a:ext cx="4927600" cy="1371600"/>
          </a:xfrm>
          <a:prstGeom prst="rect">
            <a:avLst/>
          </a:prstGeom>
          <a:noFill/>
        </p:spPr>
        <p:txBody>
          <a:bodyPr vertOverflow="overflow" vert="horz" wrap="square" rtlCol="0" anchor="t">
            <a:noAutofit/>
          </a:bodyPr>
          <a:lstStyle/>
          <a:p>
            <a:pPr algn="l"/>
            <a:r>
              <a:rPr lang="en-US" sz="1500">
                <a:solidFill>
                  <a:srgbClr val="B4BECC"/>
                </a:solidFill>
              </a:rPr>
              <a:t>A  Faster queries
B  Grouping you can collapse
C  Extra data sources
D  Alert rules</a:t>
            </a:r>
          </a:p>
        </p:txBody>
      </p:sp>
    </p:spTree>
    <p:extLst>
      <p:ext uri="{BB962C8B-B14F-4D97-AF65-F5344CB8AC3E}">
        <p14:creationId xmlns:p14="http://schemas.microsoft.com/office/powerpoint/2010/main" val="1349838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5FE82A-EF7E-B6C6-D3F3-B0D7D43EF443}"/>
              </a:ext>
            </a:extLst>
          </p:cNvPr>
          <p:cNvSpPr>
            <a:spLocks noGrp="1"/>
          </p:cNvSpPr>
          <p:nvPr>
            <p:ph type="title"/>
          </p:nvPr>
        </p:nvSpPr>
        <p:spPr>
          <a:xfrm>
            <a:off x="762000" y="279400"/>
            <a:ext cx="10668000" cy="508000"/>
          </a:xfrm>
        </p:spPr>
        <p:txBody>
          <a:bodyPr>
            <a:normAutofit fontScale="90000"/>
          </a:bodyPr>
          <a:lstStyle/>
          <a:p>
            <a:r>
              <a:rPr lang="en-US"/>
              <a:t>Quiz 3: Answers and Why</a:t>
            </a:r>
          </a:p>
        </p:txBody>
      </p:sp>
      <p:sp>
        <p:nvSpPr>
          <p:cNvPr id="3" name="Rectangle 2">
            <a:extLst>
              <a:ext uri="{FF2B5EF4-FFF2-40B4-BE49-F238E27FC236}">
                <a16:creationId xmlns:a16="http://schemas.microsoft.com/office/drawing/2014/main" id="{BF9AD81C-9827-4B7E-AB3D-FEF3C09D94D9}"/>
              </a:ext>
            </a:extLst>
          </p:cNvPr>
          <p:cNvSpPr/>
          <p:nvPr/>
        </p:nvSpPr>
        <p:spPr>
          <a:xfrm>
            <a:off x="762000" y="812800"/>
            <a:ext cx="1524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E834042-E986-493A-BA49-ACA98FB0C763}"/>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Green is the answer | the line underneath is the point to remember</a:t>
            </a:r>
          </a:p>
        </p:txBody>
      </p:sp>
      <p:sp>
        <p:nvSpPr>
          <p:cNvPr id="5" name="Rectangle 4">
            <a:extLst>
              <a:ext uri="{FF2B5EF4-FFF2-40B4-BE49-F238E27FC236}">
                <a16:creationId xmlns:a16="http://schemas.microsoft.com/office/drawing/2014/main" id="{30816E11-2FB0-4F6E-B71E-179FEB236F23}"/>
              </a:ext>
            </a:extLst>
          </p:cNvPr>
          <p:cNvSpPr/>
          <p:nvPr/>
        </p:nvSpPr>
        <p:spPr>
          <a:xfrm>
            <a:off x="7620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6A0860A4-6F4B-4E8C-A229-54CED1EFE8DD}"/>
              </a:ext>
            </a:extLst>
          </p:cNvPr>
          <p:cNvSpPr/>
          <p:nvPr/>
        </p:nvSpPr>
        <p:spPr>
          <a:xfrm>
            <a:off x="762000" y="1320800"/>
            <a:ext cx="52578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18205975-5C73-4A08-8B6E-040E7185D3ED}"/>
              </a:ext>
            </a:extLst>
          </p:cNvPr>
          <p:cNvSpPr/>
          <p:nvPr/>
        </p:nvSpPr>
        <p:spPr>
          <a:xfrm>
            <a:off x="914400" y="1524000"/>
            <a:ext cx="4826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Q1</a:t>
            </a:r>
          </a:p>
        </p:txBody>
      </p:sp>
      <p:sp>
        <p:nvSpPr>
          <p:cNvPr id="8" name="TextBox 7">
            <a:extLst>
              <a:ext uri="{FF2B5EF4-FFF2-40B4-BE49-F238E27FC236}">
                <a16:creationId xmlns:a16="http://schemas.microsoft.com/office/drawing/2014/main" id="{F42AE9A1-B3A9-4DB6-92CE-7B77737B246F}"/>
              </a:ext>
            </a:extLst>
          </p:cNvPr>
          <p:cNvSpPr txBox="1"/>
          <p:nvPr/>
        </p:nvSpPr>
        <p:spPr>
          <a:xfrm>
            <a:off x="14986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B  =~  (regex match)</a:t>
            </a:r>
          </a:p>
        </p:txBody>
      </p:sp>
      <p:sp>
        <p:nvSpPr>
          <p:cNvPr id="9" name="TextBox 8">
            <a:extLst>
              <a:ext uri="{FF2B5EF4-FFF2-40B4-BE49-F238E27FC236}">
                <a16:creationId xmlns:a16="http://schemas.microsoft.com/office/drawing/2014/main" id="{B3DE16CE-5C43-4904-AE04-2CA8D726DEE0}"/>
              </a:ext>
            </a:extLst>
          </p:cNvPr>
          <p:cNvSpPr txBox="1"/>
          <p:nvPr/>
        </p:nvSpPr>
        <p:spPr>
          <a:xfrm>
            <a:off x="9398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Multi-value variables expand to a regex. Use = and the panel silently returns one series or none.</a:t>
            </a:r>
          </a:p>
        </p:txBody>
      </p:sp>
      <p:sp>
        <p:nvSpPr>
          <p:cNvPr id="10" name="Rectangle 9">
            <a:extLst>
              <a:ext uri="{FF2B5EF4-FFF2-40B4-BE49-F238E27FC236}">
                <a16:creationId xmlns:a16="http://schemas.microsoft.com/office/drawing/2014/main" id="{FE5A1EEE-A1B6-42D9-AEB3-63F9C8CAA532}"/>
              </a:ext>
            </a:extLst>
          </p:cNvPr>
          <p:cNvSpPr/>
          <p:nvPr/>
        </p:nvSpPr>
        <p:spPr>
          <a:xfrm>
            <a:off x="6172200" y="13208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DD7FBCB6-CA7C-466F-8B10-A301C3DB50F5}"/>
              </a:ext>
            </a:extLst>
          </p:cNvPr>
          <p:cNvSpPr/>
          <p:nvPr/>
        </p:nvSpPr>
        <p:spPr>
          <a:xfrm>
            <a:off x="6172200" y="1320800"/>
            <a:ext cx="52578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B9A70D1C-FB73-4224-8E15-85658188A3D7}"/>
              </a:ext>
            </a:extLst>
          </p:cNvPr>
          <p:cNvSpPr/>
          <p:nvPr/>
        </p:nvSpPr>
        <p:spPr>
          <a:xfrm>
            <a:off x="6324600" y="1524000"/>
            <a:ext cx="4826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Q2</a:t>
            </a:r>
          </a:p>
        </p:txBody>
      </p:sp>
      <p:sp>
        <p:nvSpPr>
          <p:cNvPr id="13" name="TextBox 12">
            <a:extLst>
              <a:ext uri="{FF2B5EF4-FFF2-40B4-BE49-F238E27FC236}">
                <a16:creationId xmlns:a16="http://schemas.microsoft.com/office/drawing/2014/main" id="{BF5583AF-90BF-4DF6-93D4-E786D9006551}"/>
              </a:ext>
            </a:extLst>
          </p:cNvPr>
          <p:cNvSpPr txBox="1"/>
          <p:nvPr/>
        </p:nvSpPr>
        <p:spPr>
          <a:xfrm>
            <a:off x="6908800" y="1524000"/>
            <a:ext cx="4368800" cy="355600"/>
          </a:xfrm>
          <a:prstGeom prst="rect">
            <a:avLst/>
          </a:prstGeom>
          <a:noFill/>
        </p:spPr>
        <p:txBody>
          <a:bodyPr vertOverflow="overflow" vert="horz" wrap="square" rtlCol="0" anchor="t">
            <a:noAutofit/>
          </a:bodyPr>
          <a:lstStyle/>
          <a:p>
            <a:pPr algn="l"/>
            <a:r>
              <a:rPr lang="en-US" sz="1700" b="1">
                <a:solidFill>
                  <a:srgbClr val="7FD46F"/>
                </a:solidFill>
              </a:rPr>
              <a:t>B  One panel reused across boards</a:t>
            </a:r>
          </a:p>
        </p:txBody>
      </p:sp>
      <p:sp>
        <p:nvSpPr>
          <p:cNvPr id="14" name="TextBox 13">
            <a:extLst>
              <a:ext uri="{FF2B5EF4-FFF2-40B4-BE49-F238E27FC236}">
                <a16:creationId xmlns:a16="http://schemas.microsoft.com/office/drawing/2014/main" id="{61779E82-8978-4089-82D6-EC8ECF202195}"/>
              </a:ext>
            </a:extLst>
          </p:cNvPr>
          <p:cNvSpPr txBox="1"/>
          <p:nvPr/>
        </p:nvSpPr>
        <p:spPr>
          <a:xfrm>
            <a:off x="6350000" y="2032000"/>
            <a:ext cx="4927600" cy="1270000"/>
          </a:xfrm>
          <a:prstGeom prst="rect">
            <a:avLst/>
          </a:prstGeom>
          <a:noFill/>
        </p:spPr>
        <p:txBody>
          <a:bodyPr vertOverflow="overflow" vert="horz" wrap="square" rtlCol="0" anchor="t">
            <a:noAutofit/>
          </a:bodyPr>
          <a:lstStyle/>
          <a:p>
            <a:pPr algn="l"/>
            <a:r>
              <a:rPr lang="en-US" sz="1500">
                <a:solidFill>
                  <a:srgbClr val="B4BECC"/>
                </a:solidFill>
              </a:rPr>
              <a:t>Edit the library panel once and every dashboard using it updates - the cure for copy-paste panels.</a:t>
            </a:r>
          </a:p>
        </p:txBody>
      </p:sp>
      <p:sp>
        <p:nvSpPr>
          <p:cNvPr id="15" name="Rectangle 14">
            <a:extLst>
              <a:ext uri="{FF2B5EF4-FFF2-40B4-BE49-F238E27FC236}">
                <a16:creationId xmlns:a16="http://schemas.microsoft.com/office/drawing/2014/main" id="{D0F6AD50-79FC-4C01-9334-E872C05AA355}"/>
              </a:ext>
            </a:extLst>
          </p:cNvPr>
          <p:cNvSpPr/>
          <p:nvPr/>
        </p:nvSpPr>
        <p:spPr>
          <a:xfrm>
            <a:off x="7620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FFDD78E7-8DC1-4DE4-AB2E-CDC9F3CB7B08}"/>
              </a:ext>
            </a:extLst>
          </p:cNvPr>
          <p:cNvSpPr/>
          <p:nvPr/>
        </p:nvSpPr>
        <p:spPr>
          <a:xfrm>
            <a:off x="762000" y="3784600"/>
            <a:ext cx="52578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F6D636E-C038-41B8-8678-E9CFD4004F5E}"/>
              </a:ext>
            </a:extLst>
          </p:cNvPr>
          <p:cNvSpPr/>
          <p:nvPr/>
        </p:nvSpPr>
        <p:spPr>
          <a:xfrm>
            <a:off x="914400" y="3987800"/>
            <a:ext cx="4826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Q3</a:t>
            </a:r>
          </a:p>
        </p:txBody>
      </p:sp>
      <p:sp>
        <p:nvSpPr>
          <p:cNvPr id="18" name="TextBox 17">
            <a:extLst>
              <a:ext uri="{FF2B5EF4-FFF2-40B4-BE49-F238E27FC236}">
                <a16:creationId xmlns:a16="http://schemas.microsoft.com/office/drawing/2014/main" id="{6DCE8392-3FFA-4C27-8F16-AB2860E19DBA}"/>
              </a:ext>
            </a:extLst>
          </p:cNvPr>
          <p:cNvSpPr txBox="1"/>
          <p:nvPr/>
        </p:nvSpPr>
        <p:spPr>
          <a:xfrm>
            <a:off x="14986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B  The four numbers on-call needs</a:t>
            </a:r>
          </a:p>
        </p:txBody>
      </p:sp>
      <p:sp>
        <p:nvSpPr>
          <p:cNvPr id="19" name="TextBox 18">
            <a:extLst>
              <a:ext uri="{FF2B5EF4-FFF2-40B4-BE49-F238E27FC236}">
                <a16:creationId xmlns:a16="http://schemas.microsoft.com/office/drawing/2014/main" id="{F739FC01-AAA5-49CD-A470-3938BEEF6B01}"/>
              </a:ext>
            </a:extLst>
          </p:cNvPr>
          <p:cNvSpPr txBox="1"/>
          <p:nvPr/>
        </p:nvSpPr>
        <p:spPr>
          <a:xfrm>
            <a:off x="9398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Top-left is the most expensive real estate on the screen. Summary first, detail underneath.</a:t>
            </a:r>
          </a:p>
        </p:txBody>
      </p:sp>
      <p:sp>
        <p:nvSpPr>
          <p:cNvPr id="20" name="Rectangle 19">
            <a:extLst>
              <a:ext uri="{FF2B5EF4-FFF2-40B4-BE49-F238E27FC236}">
                <a16:creationId xmlns:a16="http://schemas.microsoft.com/office/drawing/2014/main" id="{68467660-1F1A-41EE-9BFD-AC479FC834D0}"/>
              </a:ext>
            </a:extLst>
          </p:cNvPr>
          <p:cNvSpPr/>
          <p:nvPr/>
        </p:nvSpPr>
        <p:spPr>
          <a:xfrm>
            <a:off x="6172200" y="3784600"/>
            <a:ext cx="52578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13055873-A89F-4172-AD66-AE598D6E314D}"/>
              </a:ext>
            </a:extLst>
          </p:cNvPr>
          <p:cNvSpPr/>
          <p:nvPr/>
        </p:nvSpPr>
        <p:spPr>
          <a:xfrm>
            <a:off x="6172200" y="3784600"/>
            <a:ext cx="52578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CDD3FD36-27D5-4685-BFA1-AAD417D8E42E}"/>
              </a:ext>
            </a:extLst>
          </p:cNvPr>
          <p:cNvSpPr/>
          <p:nvPr/>
        </p:nvSpPr>
        <p:spPr>
          <a:xfrm>
            <a:off x="6324600" y="3987800"/>
            <a:ext cx="4826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Q4</a:t>
            </a:r>
          </a:p>
        </p:txBody>
      </p:sp>
      <p:sp>
        <p:nvSpPr>
          <p:cNvPr id="23" name="TextBox 22">
            <a:extLst>
              <a:ext uri="{FF2B5EF4-FFF2-40B4-BE49-F238E27FC236}">
                <a16:creationId xmlns:a16="http://schemas.microsoft.com/office/drawing/2014/main" id="{B9C18FCB-92DF-42C3-B583-3D83F50B2843}"/>
              </a:ext>
            </a:extLst>
          </p:cNvPr>
          <p:cNvSpPr txBox="1"/>
          <p:nvPr/>
        </p:nvSpPr>
        <p:spPr>
          <a:xfrm>
            <a:off x="6908800" y="3987800"/>
            <a:ext cx="4368800" cy="355600"/>
          </a:xfrm>
          <a:prstGeom prst="rect">
            <a:avLst/>
          </a:prstGeom>
          <a:noFill/>
        </p:spPr>
        <p:txBody>
          <a:bodyPr vertOverflow="overflow" vert="horz" wrap="square" rtlCol="0" anchor="t">
            <a:noAutofit/>
          </a:bodyPr>
          <a:lstStyle/>
          <a:p>
            <a:pPr algn="l"/>
            <a:r>
              <a:rPr lang="en-US" sz="1700" b="1">
                <a:solidFill>
                  <a:srgbClr val="7FD46F"/>
                </a:solidFill>
              </a:rPr>
              <a:t>B  Grouping you can collapse</a:t>
            </a:r>
          </a:p>
        </p:txBody>
      </p:sp>
      <p:sp>
        <p:nvSpPr>
          <p:cNvPr id="24" name="TextBox 23">
            <a:extLst>
              <a:ext uri="{FF2B5EF4-FFF2-40B4-BE49-F238E27FC236}">
                <a16:creationId xmlns:a16="http://schemas.microsoft.com/office/drawing/2014/main" id="{090B3B19-D69E-4D09-92AF-AB961557F52E}"/>
              </a:ext>
            </a:extLst>
          </p:cNvPr>
          <p:cNvSpPr txBox="1"/>
          <p:nvPr/>
        </p:nvSpPr>
        <p:spPr>
          <a:xfrm>
            <a:off x="6350000" y="4495800"/>
            <a:ext cx="4927600" cy="1270000"/>
          </a:xfrm>
          <a:prstGeom prst="rect">
            <a:avLst/>
          </a:prstGeom>
          <a:noFill/>
        </p:spPr>
        <p:txBody>
          <a:bodyPr vertOverflow="overflow" vert="horz" wrap="square" rtlCol="0" anchor="t">
            <a:noAutofit/>
          </a:bodyPr>
          <a:lstStyle/>
          <a:p>
            <a:pPr algn="l"/>
            <a:r>
              <a:rPr lang="en-US" sz="1500">
                <a:solidFill>
                  <a:srgbClr val="B4BECC"/>
                </a:solidFill>
              </a:rPr>
              <a:t>Rows keep a long board scannable. Collapsed rows also stop off-screen panels from querying.</a:t>
            </a:r>
          </a:p>
        </p:txBody>
      </p:sp>
    </p:spTree>
    <p:extLst>
      <p:ext uri="{BB962C8B-B14F-4D97-AF65-F5344CB8AC3E}">
        <p14:creationId xmlns:p14="http://schemas.microsoft.com/office/powerpoint/2010/main" val="736648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15ECE-4BEB-E4D7-AEF4-5E052AFC60EF}"/>
              </a:ext>
            </a:extLst>
          </p:cNvPr>
          <p:cNvSpPr>
            <a:spLocks noGrp="1"/>
          </p:cNvSpPr>
          <p:nvPr>
            <p:ph type="title"/>
          </p:nvPr>
        </p:nvSpPr>
        <p:spPr>
          <a:xfrm>
            <a:off x="838200" y="2489200"/>
            <a:ext cx="7874000" cy="1016000"/>
          </a:xfrm>
        </p:spPr>
        <p:txBody>
          <a:bodyPr/>
          <a:lstStyle/>
          <a:p>
            <a:pPr algn="l">
              <a:buNone/>
            </a:pPr>
            <a:r>
              <a:rPr lang="en-US" sz="4400" b="1" dirty="0">
                <a:solidFill>
                  <a:srgbClr val="FFFFFF"/>
                </a:solidFill>
              </a:rPr>
              <a:t>Visualization Panels</a:t>
            </a:r>
          </a:p>
        </p:txBody>
      </p:sp>
      <p:sp>
        <p:nvSpPr>
          <p:cNvPr id="3" name="Text Placeholder 2">
            <a:extLst>
              <a:ext uri="{FF2B5EF4-FFF2-40B4-BE49-F238E27FC236}">
                <a16:creationId xmlns:a16="http://schemas.microsoft.com/office/drawing/2014/main" id="{576FD2C8-6F2D-FB9B-5F06-A8F7ACA193A7}"/>
              </a:ext>
            </a:extLst>
          </p:cNvPr>
          <p:cNvSpPr>
            <a:spLocks noGrp="1"/>
          </p:cNvSpPr>
          <p:nvPr>
            <p:ph type="body" idx="1"/>
          </p:nvPr>
        </p:nvSpPr>
        <p:spPr>
          <a:xfrm>
            <a:off x="838200" y="3632200"/>
            <a:ext cx="9144000" cy="762000"/>
          </a:xfrm>
        </p:spPr>
        <p:txBody>
          <a:bodyPr/>
          <a:lstStyle/>
          <a:p>
            <a:pPr algn="l">
              <a:buNone/>
            </a:pPr>
            <a:r>
              <a:rPr lang="en-US" sz="1700" b="0" dirty="0">
                <a:solidFill>
                  <a:srgbClr val="A9B2C1"/>
                </a:solidFill>
              </a:rPr>
              <a:t>Nine panel types, and the question each one is actually good at answering.</a:t>
            </a:r>
          </a:p>
        </p:txBody>
      </p:sp>
      <p:sp>
        <p:nvSpPr>
          <p:cNvPr id="831" name="S831"/>
          <p:cNvSpPr/>
          <p:nvPr/>
        </p:nvSpPr>
        <p:spPr>
          <a:xfrm>
            <a:off x="7620000" y="1524000"/>
            <a:ext cx="3810000" cy="3048000"/>
          </a:xfrm>
          <a:prstGeom prst="rect">
            <a:avLst/>
          </a:prstGeom>
          <a:noFill/>
          <a:ln>
            <a:noFill/>
          </a:ln>
        </p:spPr>
        <p:txBody>
          <a:bodyPr wrap="square" lIns="0" tIns="50800" rIns="0" bIns="50800" anchor="ctr"/>
          <a:lstStyle/>
          <a:p>
            <a:pPr algn="r">
              <a:buNone/>
            </a:pPr>
            <a:r>
              <a:rPr lang="en-US" sz="16000" b="1" dirty="0">
                <a:solidFill>
                  <a:srgbClr val="1B202B"/>
                </a:solidFill>
              </a:rPr>
              <a:t>08</a:t>
            </a:r>
          </a:p>
        </p:txBody>
      </p:sp>
      <p:sp>
        <p:nvSpPr>
          <p:cNvPr id="832" name="S832"/>
          <p:cNvSpPr/>
          <p:nvPr/>
        </p:nvSpPr>
        <p:spPr>
          <a:xfrm>
            <a:off x="838200" y="1905000"/>
            <a:ext cx="3302000" cy="406400"/>
          </a:xfrm>
          <a:prstGeom prst="roundRect">
            <a:avLst/>
          </a:prstGeom>
          <a:solidFill>
            <a:srgbClr val="1E0E2E"/>
          </a:solidFill>
          <a:ln w="12700">
            <a:solidFill>
              <a:srgbClr val="B877D9"/>
            </a:solidFill>
          </a:ln>
        </p:spPr>
        <p:txBody>
          <a:bodyPr wrap="square" lIns="127000" tIns="50800" rIns="127000" bIns="50800" anchor="ctr"/>
          <a:lstStyle/>
          <a:p>
            <a:pPr algn="ctr">
              <a:buNone/>
            </a:pPr>
            <a:r>
              <a:rPr lang="en-US" sz="1400" b="1" dirty="0">
                <a:solidFill>
                  <a:srgbClr val="D0A2F0"/>
                </a:solidFill>
              </a:rPr>
              <a:t>MODULE 8</a:t>
            </a:r>
          </a:p>
        </p:txBody>
      </p:sp>
      <p:sp>
        <p:nvSpPr>
          <p:cNvPr id="833" name="S833"/>
          <p:cNvSpPr/>
          <p:nvPr/>
        </p:nvSpPr>
        <p:spPr>
          <a:xfrm>
            <a:off x="838200" y="3581400"/>
            <a:ext cx="1524000" cy="50800"/>
          </a:xfrm>
          <a:prstGeom prst="rect">
            <a:avLst/>
          </a:prstGeom>
          <a:solidFill>
            <a:srgbClr val="B877D9"/>
          </a:solidFill>
          <a:ln>
            <a:noFill/>
          </a:ln>
        </p:spPr>
        <p:txBody>
          <a:bodyPr wrap="square" lIns="127000" tIns="50800" rIns="127000" bIns="50800" anchor="ctr"/>
          <a:lstStyle/>
          <a:p>
            <a:endParaRPr/>
          </a:p>
        </p:txBody>
      </p:sp>
    </p:spTree>
    <p:extLst>
      <p:ext uri="{BB962C8B-B14F-4D97-AF65-F5344CB8AC3E}">
        <p14:creationId xmlns:p14="http://schemas.microsoft.com/office/powerpoint/2010/main" val="8636289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5F532-8EA7-24E7-88A6-53845FB360C1}"/>
              </a:ext>
            </a:extLst>
          </p:cNvPr>
          <p:cNvSpPr>
            <a:spLocks noGrp="1"/>
          </p:cNvSpPr>
          <p:nvPr>
            <p:ph type="title"/>
          </p:nvPr>
        </p:nvSpPr>
        <p:spPr>
          <a:xfrm>
            <a:off x="762000" y="304800"/>
            <a:ext cx="10668000" cy="533400"/>
          </a:xfrm>
        </p:spPr>
        <p:txBody>
          <a:bodyPr>
            <a:normAutofit fontScale="90000"/>
          </a:bodyPr>
          <a:lstStyle/>
          <a:p>
            <a:pPr algn="l">
              <a:buNone/>
            </a:pPr>
            <a:r>
              <a:rPr lang="en-US" sz="3400" b="1" dirty="0">
                <a:solidFill>
                  <a:srgbClr val="FFFFFF"/>
                </a:solidFill>
              </a:rPr>
              <a:t>The Panel Gallery</a:t>
            </a:r>
          </a:p>
        </p:txBody>
      </p:sp>
      <p:sp>
        <p:nvSpPr>
          <p:cNvPr id="851" name="S851"/>
          <p:cNvSpPr/>
          <p:nvPr/>
        </p:nvSpPr>
        <p:spPr>
          <a:xfrm>
            <a:off x="762000" y="863600"/>
            <a:ext cx="1524000" cy="50800"/>
          </a:xfrm>
          <a:prstGeom prst="rect">
            <a:avLst/>
          </a:prstGeom>
          <a:solidFill>
            <a:srgbClr val="B877D9"/>
          </a:solidFill>
          <a:ln>
            <a:noFill/>
          </a:ln>
        </p:spPr>
        <p:txBody>
          <a:bodyPr wrap="square" lIns="127000" tIns="50800" rIns="127000" bIns="50800" anchor="ctr"/>
          <a:lstStyle/>
          <a:p>
            <a:endParaRPr/>
          </a:p>
        </p:txBody>
      </p:sp>
      <p:sp>
        <p:nvSpPr>
          <p:cNvPr id="852" name="S852"/>
          <p:cNvSpPr/>
          <p:nvPr/>
        </p:nvSpPr>
        <p:spPr>
          <a:xfrm>
            <a:off x="762000" y="990600"/>
            <a:ext cx="10668000" cy="279400"/>
          </a:xfrm>
          <a:prstGeom prst="rect">
            <a:avLst/>
          </a:prstGeom>
          <a:noFill/>
          <a:ln>
            <a:noFill/>
          </a:ln>
        </p:spPr>
        <p:txBody>
          <a:bodyPr wrap="square" lIns="0" tIns="50800" rIns="0" bIns="50800" anchor="ctr"/>
          <a:lstStyle/>
          <a:p>
            <a:pPr algn="l">
              <a:buNone/>
            </a:pPr>
            <a:r>
              <a:rPr lang="en-US" sz="1500" b="0" dirty="0">
                <a:solidFill>
                  <a:srgbClr val="AEB8C7"/>
                </a:solidFill>
              </a:rPr>
              <a:t>Pick the panel that answers the question - not the one that looks best</a:t>
            </a:r>
          </a:p>
        </p:txBody>
      </p:sp>
      <p:sp>
        <p:nvSpPr>
          <p:cNvPr id="853" name="S853"/>
          <p:cNvSpPr/>
          <p:nvPr/>
        </p:nvSpPr>
        <p:spPr>
          <a:xfrm>
            <a:off x="762000" y="1346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54" name="S854"/>
          <p:cNvSpPr/>
          <p:nvPr/>
        </p:nvSpPr>
        <p:spPr>
          <a:xfrm>
            <a:off x="762000" y="1346200"/>
            <a:ext cx="3429000" cy="50800"/>
          </a:xfrm>
          <a:prstGeom prst="rect">
            <a:avLst/>
          </a:prstGeom>
          <a:solidFill>
            <a:srgbClr val="F46800"/>
          </a:solidFill>
          <a:ln>
            <a:noFill/>
          </a:ln>
        </p:spPr>
        <p:txBody>
          <a:bodyPr wrap="square" lIns="127000" tIns="50800" rIns="127000" bIns="50800" anchor="ctr"/>
          <a:lstStyle/>
          <a:p>
            <a:endParaRPr/>
          </a:p>
        </p:txBody>
      </p:sp>
      <p:sp>
        <p:nvSpPr>
          <p:cNvPr id="855" name="S855"/>
          <p:cNvSpPr/>
          <p:nvPr/>
        </p:nvSpPr>
        <p:spPr>
          <a:xfrm>
            <a:off x="939800" y="1473200"/>
            <a:ext cx="3073400" cy="330200"/>
          </a:xfrm>
          <a:prstGeom prst="rect">
            <a:avLst/>
          </a:prstGeom>
          <a:noFill/>
          <a:ln>
            <a:noFill/>
          </a:ln>
        </p:spPr>
        <p:txBody>
          <a:bodyPr wrap="square" lIns="0" tIns="50800" rIns="0" bIns="50800" anchor="ctr"/>
          <a:lstStyle/>
          <a:p>
            <a:pPr algn="l">
              <a:buNone/>
            </a:pPr>
            <a:r>
              <a:rPr lang="en-US" sz="1800" b="1" dirty="0">
                <a:solidFill>
                  <a:srgbClr val="F46800"/>
                </a:solidFill>
              </a:rPr>
              <a:t>Time series</a:t>
            </a:r>
          </a:p>
        </p:txBody>
      </p:sp>
      <p:sp>
        <p:nvSpPr>
          <p:cNvPr id="856" name="S856"/>
          <p:cNvSpPr/>
          <p:nvPr/>
        </p:nvSpPr>
        <p:spPr>
          <a:xfrm>
            <a:off x="939800" y="1828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Trend and shape over time. The default choice.</a:t>
            </a:r>
          </a:p>
        </p:txBody>
      </p:sp>
      <p:sp>
        <p:nvSpPr>
          <p:cNvPr id="857" name="S857"/>
          <p:cNvSpPr/>
          <p:nvPr/>
        </p:nvSpPr>
        <p:spPr>
          <a:xfrm>
            <a:off x="939800" y="2438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CPU % per instance</a:t>
            </a:r>
          </a:p>
        </p:txBody>
      </p:sp>
      <p:sp>
        <p:nvSpPr>
          <p:cNvPr id="858" name="S858"/>
          <p:cNvSpPr/>
          <p:nvPr/>
        </p:nvSpPr>
        <p:spPr>
          <a:xfrm>
            <a:off x="4381500" y="1346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59" name="S859"/>
          <p:cNvSpPr/>
          <p:nvPr/>
        </p:nvSpPr>
        <p:spPr>
          <a:xfrm>
            <a:off x="4381500" y="1346200"/>
            <a:ext cx="3429000" cy="50800"/>
          </a:xfrm>
          <a:prstGeom prst="rect">
            <a:avLst/>
          </a:prstGeom>
          <a:solidFill>
            <a:srgbClr val="FF9830"/>
          </a:solidFill>
          <a:ln>
            <a:noFill/>
          </a:ln>
        </p:spPr>
        <p:txBody>
          <a:bodyPr wrap="square" lIns="127000" tIns="50800" rIns="127000" bIns="50800" anchor="ctr"/>
          <a:lstStyle/>
          <a:p>
            <a:endParaRPr/>
          </a:p>
        </p:txBody>
      </p:sp>
      <p:sp>
        <p:nvSpPr>
          <p:cNvPr id="860" name="S860"/>
          <p:cNvSpPr/>
          <p:nvPr/>
        </p:nvSpPr>
        <p:spPr>
          <a:xfrm>
            <a:off x="4559300" y="1473200"/>
            <a:ext cx="3073400" cy="330200"/>
          </a:xfrm>
          <a:prstGeom prst="rect">
            <a:avLst/>
          </a:prstGeom>
          <a:noFill/>
          <a:ln>
            <a:noFill/>
          </a:ln>
        </p:spPr>
        <p:txBody>
          <a:bodyPr wrap="square" lIns="0" tIns="50800" rIns="0" bIns="50800" anchor="ctr"/>
          <a:lstStyle/>
          <a:p>
            <a:pPr algn="l">
              <a:buNone/>
            </a:pPr>
            <a:r>
              <a:rPr lang="en-US" sz="1800" b="1" dirty="0">
                <a:solidFill>
                  <a:srgbClr val="FF9830"/>
                </a:solidFill>
              </a:rPr>
              <a:t>Stat</a:t>
            </a:r>
          </a:p>
        </p:txBody>
      </p:sp>
      <p:sp>
        <p:nvSpPr>
          <p:cNvPr id="861" name="S861"/>
          <p:cNvSpPr/>
          <p:nvPr/>
        </p:nvSpPr>
        <p:spPr>
          <a:xfrm>
            <a:off x="4559300" y="1828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One big number with an optional sparkline.</a:t>
            </a:r>
          </a:p>
        </p:txBody>
      </p:sp>
      <p:sp>
        <p:nvSpPr>
          <p:cNvPr id="862" name="S862"/>
          <p:cNvSpPr/>
          <p:nvPr/>
        </p:nvSpPr>
        <p:spPr>
          <a:xfrm>
            <a:off x="4559300" y="2438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Current error rate</a:t>
            </a:r>
          </a:p>
        </p:txBody>
      </p:sp>
      <p:sp>
        <p:nvSpPr>
          <p:cNvPr id="863" name="S863"/>
          <p:cNvSpPr/>
          <p:nvPr/>
        </p:nvSpPr>
        <p:spPr>
          <a:xfrm>
            <a:off x="8001000" y="1346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64" name="S864"/>
          <p:cNvSpPr/>
          <p:nvPr/>
        </p:nvSpPr>
        <p:spPr>
          <a:xfrm>
            <a:off x="8001000" y="1346200"/>
            <a:ext cx="3429000" cy="50800"/>
          </a:xfrm>
          <a:prstGeom prst="rect">
            <a:avLst/>
          </a:prstGeom>
          <a:solidFill>
            <a:srgbClr val="F2CC0C"/>
          </a:solidFill>
          <a:ln>
            <a:noFill/>
          </a:ln>
        </p:spPr>
        <p:txBody>
          <a:bodyPr wrap="square" lIns="127000" tIns="50800" rIns="127000" bIns="50800" anchor="ctr"/>
          <a:lstStyle/>
          <a:p>
            <a:endParaRPr/>
          </a:p>
        </p:txBody>
      </p:sp>
      <p:sp>
        <p:nvSpPr>
          <p:cNvPr id="865" name="S865"/>
          <p:cNvSpPr/>
          <p:nvPr/>
        </p:nvSpPr>
        <p:spPr>
          <a:xfrm>
            <a:off x="8178800" y="1473200"/>
            <a:ext cx="3073400" cy="330200"/>
          </a:xfrm>
          <a:prstGeom prst="rect">
            <a:avLst/>
          </a:prstGeom>
          <a:noFill/>
          <a:ln>
            <a:noFill/>
          </a:ln>
        </p:spPr>
        <p:txBody>
          <a:bodyPr wrap="square" lIns="0" tIns="50800" rIns="0" bIns="50800" anchor="ctr"/>
          <a:lstStyle/>
          <a:p>
            <a:pPr algn="l">
              <a:buNone/>
            </a:pPr>
            <a:r>
              <a:rPr lang="en-US" sz="1800" b="1" dirty="0">
                <a:solidFill>
                  <a:srgbClr val="F2CC0C"/>
                </a:solidFill>
              </a:rPr>
              <a:t>Gauge</a:t>
            </a:r>
          </a:p>
        </p:txBody>
      </p:sp>
      <p:sp>
        <p:nvSpPr>
          <p:cNvPr id="866" name="S866"/>
          <p:cNvSpPr/>
          <p:nvPr/>
        </p:nvSpPr>
        <p:spPr>
          <a:xfrm>
            <a:off x="8178800" y="1828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A value against a threshold range.</a:t>
            </a:r>
          </a:p>
        </p:txBody>
      </p:sp>
      <p:sp>
        <p:nvSpPr>
          <p:cNvPr id="867" name="S867"/>
          <p:cNvSpPr/>
          <p:nvPr/>
        </p:nvSpPr>
        <p:spPr>
          <a:xfrm>
            <a:off x="8178800" y="2438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Disk used %</a:t>
            </a:r>
          </a:p>
        </p:txBody>
      </p:sp>
      <p:sp>
        <p:nvSpPr>
          <p:cNvPr id="868" name="S868"/>
          <p:cNvSpPr/>
          <p:nvPr/>
        </p:nvSpPr>
        <p:spPr>
          <a:xfrm>
            <a:off x="762000" y="2997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69" name="S869"/>
          <p:cNvSpPr/>
          <p:nvPr/>
        </p:nvSpPr>
        <p:spPr>
          <a:xfrm>
            <a:off x="762000" y="2997200"/>
            <a:ext cx="3429000" cy="50800"/>
          </a:xfrm>
          <a:prstGeom prst="rect">
            <a:avLst/>
          </a:prstGeom>
          <a:solidFill>
            <a:srgbClr val="B877D9"/>
          </a:solidFill>
          <a:ln>
            <a:noFill/>
          </a:ln>
        </p:spPr>
        <p:txBody>
          <a:bodyPr wrap="square" lIns="127000" tIns="50800" rIns="127000" bIns="50800" anchor="ctr"/>
          <a:lstStyle/>
          <a:p>
            <a:endParaRPr/>
          </a:p>
        </p:txBody>
      </p:sp>
      <p:sp>
        <p:nvSpPr>
          <p:cNvPr id="870" name="S870"/>
          <p:cNvSpPr/>
          <p:nvPr/>
        </p:nvSpPr>
        <p:spPr>
          <a:xfrm>
            <a:off x="939800" y="3124200"/>
            <a:ext cx="3073400" cy="330200"/>
          </a:xfrm>
          <a:prstGeom prst="rect">
            <a:avLst/>
          </a:prstGeom>
          <a:noFill/>
          <a:ln>
            <a:noFill/>
          </a:ln>
        </p:spPr>
        <p:txBody>
          <a:bodyPr wrap="square" lIns="0" tIns="50800" rIns="0" bIns="50800" anchor="ctr"/>
          <a:lstStyle/>
          <a:p>
            <a:pPr algn="l">
              <a:buNone/>
            </a:pPr>
            <a:r>
              <a:rPr lang="en-US" sz="1800" b="1" dirty="0">
                <a:solidFill>
                  <a:srgbClr val="B877D9"/>
                </a:solidFill>
              </a:rPr>
              <a:t>Pie chart</a:t>
            </a:r>
          </a:p>
        </p:txBody>
      </p:sp>
      <p:sp>
        <p:nvSpPr>
          <p:cNvPr id="871" name="S871"/>
          <p:cNvSpPr/>
          <p:nvPr/>
        </p:nvSpPr>
        <p:spPr>
          <a:xfrm>
            <a:off x="939800" y="3479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Share of a whole - only with few categories.</a:t>
            </a:r>
          </a:p>
        </p:txBody>
      </p:sp>
      <p:sp>
        <p:nvSpPr>
          <p:cNvPr id="872" name="S872"/>
          <p:cNvSpPr/>
          <p:nvPr/>
        </p:nvSpPr>
        <p:spPr>
          <a:xfrm>
            <a:off x="939800" y="4089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Traffic by status code</a:t>
            </a:r>
          </a:p>
        </p:txBody>
      </p:sp>
      <p:sp>
        <p:nvSpPr>
          <p:cNvPr id="873" name="S873"/>
          <p:cNvSpPr/>
          <p:nvPr/>
        </p:nvSpPr>
        <p:spPr>
          <a:xfrm>
            <a:off x="4381500" y="2997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74" name="S874"/>
          <p:cNvSpPr/>
          <p:nvPr/>
        </p:nvSpPr>
        <p:spPr>
          <a:xfrm>
            <a:off x="4381500" y="2997200"/>
            <a:ext cx="3429000" cy="50800"/>
          </a:xfrm>
          <a:prstGeom prst="rect">
            <a:avLst/>
          </a:prstGeom>
          <a:solidFill>
            <a:srgbClr val="3274D9"/>
          </a:solidFill>
          <a:ln>
            <a:noFill/>
          </a:ln>
        </p:spPr>
        <p:txBody>
          <a:bodyPr wrap="square" lIns="127000" tIns="50800" rIns="127000" bIns="50800" anchor="ctr"/>
          <a:lstStyle/>
          <a:p>
            <a:endParaRPr/>
          </a:p>
        </p:txBody>
      </p:sp>
      <p:sp>
        <p:nvSpPr>
          <p:cNvPr id="875" name="S875"/>
          <p:cNvSpPr/>
          <p:nvPr/>
        </p:nvSpPr>
        <p:spPr>
          <a:xfrm>
            <a:off x="4559300" y="3124200"/>
            <a:ext cx="3073400" cy="330200"/>
          </a:xfrm>
          <a:prstGeom prst="rect">
            <a:avLst/>
          </a:prstGeom>
          <a:noFill/>
          <a:ln>
            <a:noFill/>
          </a:ln>
        </p:spPr>
        <p:txBody>
          <a:bodyPr wrap="square" lIns="0" tIns="50800" rIns="0" bIns="50800" anchor="ctr"/>
          <a:lstStyle/>
          <a:p>
            <a:pPr algn="l">
              <a:buNone/>
            </a:pPr>
            <a:r>
              <a:rPr lang="en-US" sz="1800" b="1" dirty="0">
                <a:solidFill>
                  <a:srgbClr val="3274D9"/>
                </a:solidFill>
              </a:rPr>
              <a:t>Table</a:t>
            </a:r>
          </a:p>
        </p:txBody>
      </p:sp>
      <p:sp>
        <p:nvSpPr>
          <p:cNvPr id="876" name="S876"/>
          <p:cNvSpPr/>
          <p:nvPr/>
        </p:nvSpPr>
        <p:spPr>
          <a:xfrm>
            <a:off x="4559300" y="3479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Raw rows, sortable, per-column formatting.</a:t>
            </a:r>
          </a:p>
        </p:txBody>
      </p:sp>
      <p:sp>
        <p:nvSpPr>
          <p:cNvPr id="877" name="S877"/>
          <p:cNvSpPr/>
          <p:nvPr/>
        </p:nvSpPr>
        <p:spPr>
          <a:xfrm>
            <a:off x="4559300" y="4089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Top 10 slow queries</a:t>
            </a:r>
          </a:p>
        </p:txBody>
      </p:sp>
      <p:sp>
        <p:nvSpPr>
          <p:cNvPr id="878" name="S878"/>
          <p:cNvSpPr/>
          <p:nvPr/>
        </p:nvSpPr>
        <p:spPr>
          <a:xfrm>
            <a:off x="8001000" y="2997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79" name="S879"/>
          <p:cNvSpPr/>
          <p:nvPr/>
        </p:nvSpPr>
        <p:spPr>
          <a:xfrm>
            <a:off x="8001000" y="2997200"/>
            <a:ext cx="3429000" cy="50800"/>
          </a:xfrm>
          <a:prstGeom prst="rect">
            <a:avLst/>
          </a:prstGeom>
          <a:solidFill>
            <a:srgbClr val="56A64B"/>
          </a:solidFill>
          <a:ln>
            <a:noFill/>
          </a:ln>
        </p:spPr>
        <p:txBody>
          <a:bodyPr wrap="square" lIns="127000" tIns="50800" rIns="127000" bIns="50800" anchor="ctr"/>
          <a:lstStyle/>
          <a:p>
            <a:endParaRPr/>
          </a:p>
        </p:txBody>
      </p:sp>
      <p:sp>
        <p:nvSpPr>
          <p:cNvPr id="880" name="S880"/>
          <p:cNvSpPr/>
          <p:nvPr/>
        </p:nvSpPr>
        <p:spPr>
          <a:xfrm>
            <a:off x="8178800" y="3124200"/>
            <a:ext cx="3073400" cy="330200"/>
          </a:xfrm>
          <a:prstGeom prst="rect">
            <a:avLst/>
          </a:prstGeom>
          <a:noFill/>
          <a:ln>
            <a:noFill/>
          </a:ln>
        </p:spPr>
        <p:txBody>
          <a:bodyPr wrap="square" lIns="0" tIns="50800" rIns="0" bIns="50800" anchor="ctr"/>
          <a:lstStyle/>
          <a:p>
            <a:pPr algn="l">
              <a:buNone/>
            </a:pPr>
            <a:r>
              <a:rPr lang="en-US" sz="1800" b="1" dirty="0">
                <a:solidFill>
                  <a:srgbClr val="56A64B"/>
                </a:solidFill>
              </a:rPr>
              <a:t>Bar gauge</a:t>
            </a:r>
          </a:p>
        </p:txBody>
      </p:sp>
      <p:sp>
        <p:nvSpPr>
          <p:cNvPr id="881" name="S881"/>
          <p:cNvSpPr/>
          <p:nvPr/>
        </p:nvSpPr>
        <p:spPr>
          <a:xfrm>
            <a:off x="8178800" y="3479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Compare many named values side by side.</a:t>
            </a:r>
          </a:p>
        </p:txBody>
      </p:sp>
      <p:sp>
        <p:nvSpPr>
          <p:cNvPr id="882" name="S882"/>
          <p:cNvSpPr/>
          <p:nvPr/>
        </p:nvSpPr>
        <p:spPr>
          <a:xfrm>
            <a:off x="8178800" y="4089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p95 latency by endpoint</a:t>
            </a:r>
          </a:p>
        </p:txBody>
      </p:sp>
      <p:sp>
        <p:nvSpPr>
          <p:cNvPr id="883" name="S883"/>
          <p:cNvSpPr/>
          <p:nvPr/>
        </p:nvSpPr>
        <p:spPr>
          <a:xfrm>
            <a:off x="762000" y="4648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84" name="S884"/>
          <p:cNvSpPr/>
          <p:nvPr/>
        </p:nvSpPr>
        <p:spPr>
          <a:xfrm>
            <a:off x="762000" y="4648200"/>
            <a:ext cx="3429000" cy="50800"/>
          </a:xfrm>
          <a:prstGeom prst="rect">
            <a:avLst/>
          </a:prstGeom>
          <a:solidFill>
            <a:srgbClr val="FF6B6B"/>
          </a:solidFill>
          <a:ln>
            <a:noFill/>
          </a:ln>
        </p:spPr>
        <p:txBody>
          <a:bodyPr wrap="square" lIns="127000" tIns="50800" rIns="127000" bIns="50800" anchor="ctr"/>
          <a:lstStyle/>
          <a:p>
            <a:endParaRPr/>
          </a:p>
        </p:txBody>
      </p:sp>
      <p:sp>
        <p:nvSpPr>
          <p:cNvPr id="885" name="S885"/>
          <p:cNvSpPr/>
          <p:nvPr/>
        </p:nvSpPr>
        <p:spPr>
          <a:xfrm>
            <a:off x="939800" y="4775200"/>
            <a:ext cx="3073400" cy="330200"/>
          </a:xfrm>
          <a:prstGeom prst="rect">
            <a:avLst/>
          </a:prstGeom>
          <a:noFill/>
          <a:ln>
            <a:noFill/>
          </a:ln>
        </p:spPr>
        <p:txBody>
          <a:bodyPr wrap="square" lIns="0" tIns="50800" rIns="0" bIns="50800" anchor="ctr"/>
          <a:lstStyle/>
          <a:p>
            <a:pPr algn="l">
              <a:buNone/>
            </a:pPr>
            <a:r>
              <a:rPr lang="en-US" sz="1800" b="1" dirty="0">
                <a:solidFill>
                  <a:srgbClr val="FF6B6B"/>
                </a:solidFill>
              </a:rPr>
              <a:t>Heatmap</a:t>
            </a:r>
          </a:p>
        </p:txBody>
      </p:sp>
      <p:sp>
        <p:nvSpPr>
          <p:cNvPr id="886" name="S886"/>
          <p:cNvSpPr/>
          <p:nvPr/>
        </p:nvSpPr>
        <p:spPr>
          <a:xfrm>
            <a:off x="939800" y="5130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How a distribution changes over time.</a:t>
            </a:r>
          </a:p>
        </p:txBody>
      </p:sp>
      <p:sp>
        <p:nvSpPr>
          <p:cNvPr id="887" name="S887"/>
          <p:cNvSpPr/>
          <p:nvPr/>
        </p:nvSpPr>
        <p:spPr>
          <a:xfrm>
            <a:off x="939800" y="5740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Response time buckets</a:t>
            </a:r>
          </a:p>
        </p:txBody>
      </p:sp>
      <p:sp>
        <p:nvSpPr>
          <p:cNvPr id="888" name="S888"/>
          <p:cNvSpPr/>
          <p:nvPr/>
        </p:nvSpPr>
        <p:spPr>
          <a:xfrm>
            <a:off x="4381500" y="4648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89" name="S889"/>
          <p:cNvSpPr/>
          <p:nvPr/>
        </p:nvSpPr>
        <p:spPr>
          <a:xfrm>
            <a:off x="4381500" y="4648200"/>
            <a:ext cx="3429000" cy="50800"/>
          </a:xfrm>
          <a:prstGeom prst="rect">
            <a:avLst/>
          </a:prstGeom>
          <a:solidFill>
            <a:srgbClr val="4ECDC4"/>
          </a:solidFill>
          <a:ln>
            <a:noFill/>
          </a:ln>
        </p:spPr>
        <p:txBody>
          <a:bodyPr wrap="square" lIns="127000" tIns="50800" rIns="127000" bIns="50800" anchor="ctr"/>
          <a:lstStyle/>
          <a:p>
            <a:endParaRPr/>
          </a:p>
        </p:txBody>
      </p:sp>
      <p:sp>
        <p:nvSpPr>
          <p:cNvPr id="890" name="S890"/>
          <p:cNvSpPr/>
          <p:nvPr/>
        </p:nvSpPr>
        <p:spPr>
          <a:xfrm>
            <a:off x="4559300" y="4775200"/>
            <a:ext cx="3073400" cy="330200"/>
          </a:xfrm>
          <a:prstGeom prst="rect">
            <a:avLst/>
          </a:prstGeom>
          <a:noFill/>
          <a:ln>
            <a:noFill/>
          </a:ln>
        </p:spPr>
        <p:txBody>
          <a:bodyPr wrap="square" lIns="0" tIns="50800" rIns="0" bIns="50800" anchor="ctr"/>
          <a:lstStyle/>
          <a:p>
            <a:pPr algn="l">
              <a:buNone/>
            </a:pPr>
            <a:r>
              <a:rPr lang="en-US" sz="1800" b="1" dirty="0">
                <a:solidFill>
                  <a:srgbClr val="4ECDC4"/>
                </a:solidFill>
              </a:rPr>
              <a:t>Histogram</a:t>
            </a:r>
          </a:p>
        </p:txBody>
      </p:sp>
      <p:sp>
        <p:nvSpPr>
          <p:cNvPr id="891" name="S891"/>
          <p:cNvSpPr/>
          <p:nvPr/>
        </p:nvSpPr>
        <p:spPr>
          <a:xfrm>
            <a:off x="4559300" y="5130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Distribution at one point in time.</a:t>
            </a:r>
          </a:p>
        </p:txBody>
      </p:sp>
      <p:sp>
        <p:nvSpPr>
          <p:cNvPr id="892" name="S892"/>
          <p:cNvSpPr/>
          <p:nvPr/>
        </p:nvSpPr>
        <p:spPr>
          <a:xfrm>
            <a:off x="4559300" y="5740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Request size spread</a:t>
            </a:r>
          </a:p>
        </p:txBody>
      </p:sp>
      <p:sp>
        <p:nvSpPr>
          <p:cNvPr id="893" name="S893"/>
          <p:cNvSpPr/>
          <p:nvPr/>
        </p:nvSpPr>
        <p:spPr>
          <a:xfrm>
            <a:off x="8001000" y="4648200"/>
            <a:ext cx="3429000" cy="1524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94" name="S894"/>
          <p:cNvSpPr/>
          <p:nvPr/>
        </p:nvSpPr>
        <p:spPr>
          <a:xfrm>
            <a:off x="8001000" y="4648200"/>
            <a:ext cx="3429000" cy="50800"/>
          </a:xfrm>
          <a:prstGeom prst="rect">
            <a:avLst/>
          </a:prstGeom>
          <a:solidFill>
            <a:srgbClr val="D0A2F0"/>
          </a:solidFill>
          <a:ln>
            <a:noFill/>
          </a:ln>
        </p:spPr>
        <p:txBody>
          <a:bodyPr wrap="square" lIns="127000" tIns="50800" rIns="127000" bIns="50800" anchor="ctr"/>
          <a:lstStyle/>
          <a:p>
            <a:endParaRPr/>
          </a:p>
        </p:txBody>
      </p:sp>
      <p:sp>
        <p:nvSpPr>
          <p:cNvPr id="895" name="S895"/>
          <p:cNvSpPr/>
          <p:nvPr/>
        </p:nvSpPr>
        <p:spPr>
          <a:xfrm>
            <a:off x="8178800" y="4775200"/>
            <a:ext cx="3073400" cy="330200"/>
          </a:xfrm>
          <a:prstGeom prst="rect">
            <a:avLst/>
          </a:prstGeom>
          <a:noFill/>
          <a:ln>
            <a:noFill/>
          </a:ln>
        </p:spPr>
        <p:txBody>
          <a:bodyPr wrap="square" lIns="0" tIns="50800" rIns="0" bIns="50800" anchor="ctr"/>
          <a:lstStyle/>
          <a:p>
            <a:pPr algn="l">
              <a:buNone/>
            </a:pPr>
            <a:r>
              <a:rPr lang="en-US" sz="1800" b="1" dirty="0">
                <a:solidFill>
                  <a:srgbClr val="D0A2F0"/>
                </a:solidFill>
              </a:rPr>
              <a:t>Geomap</a:t>
            </a:r>
          </a:p>
        </p:txBody>
      </p:sp>
      <p:sp>
        <p:nvSpPr>
          <p:cNvPr id="896" name="S896"/>
          <p:cNvSpPr/>
          <p:nvPr/>
        </p:nvSpPr>
        <p:spPr>
          <a:xfrm>
            <a:off x="8178800" y="5130800"/>
            <a:ext cx="3073400" cy="558800"/>
          </a:xfrm>
          <a:prstGeom prst="rect">
            <a:avLst/>
          </a:prstGeom>
          <a:noFill/>
          <a:ln>
            <a:noFill/>
          </a:ln>
        </p:spPr>
        <p:txBody>
          <a:bodyPr wrap="square" lIns="0" tIns="50800" rIns="0" bIns="50800" anchor="t"/>
          <a:lstStyle/>
          <a:p>
            <a:pPr algn="l">
              <a:buNone/>
            </a:pPr>
            <a:r>
              <a:rPr lang="en-US" sz="1400" b="0" dirty="0">
                <a:solidFill>
                  <a:srgbClr val="A9B2C1"/>
                </a:solidFill>
              </a:rPr>
              <a:t>Values placed on a map.</a:t>
            </a:r>
          </a:p>
        </p:txBody>
      </p:sp>
      <p:sp>
        <p:nvSpPr>
          <p:cNvPr id="897" name="S897"/>
          <p:cNvSpPr/>
          <p:nvPr/>
        </p:nvSpPr>
        <p:spPr>
          <a:xfrm>
            <a:off x="8178800" y="5740400"/>
            <a:ext cx="3073400" cy="330200"/>
          </a:xfrm>
          <a:prstGeom prst="rect">
            <a:avLst/>
          </a:prstGeom>
          <a:noFill/>
          <a:ln>
            <a:noFill/>
          </a:ln>
        </p:spPr>
        <p:txBody>
          <a:bodyPr wrap="square" lIns="0" tIns="50800" rIns="0" bIns="50800" anchor="ctr"/>
          <a:lstStyle/>
          <a:p>
            <a:pPr algn="l">
              <a:buNone/>
            </a:pPr>
            <a:r>
              <a:rPr lang="en-US" sz="1400" b="0" dirty="0">
                <a:solidFill>
                  <a:srgbClr val="949EAF"/>
                </a:solidFill>
              </a:rPr>
              <a:t>e.g.  Requests by region</a:t>
            </a:r>
          </a:p>
        </p:txBody>
      </p:sp>
    </p:spTree>
    <p:extLst>
      <p:ext uri="{BB962C8B-B14F-4D97-AF65-F5344CB8AC3E}">
        <p14:creationId xmlns:p14="http://schemas.microsoft.com/office/powerpoint/2010/main" val="1128095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F1898-C9A0-B2B6-4CFD-9E19A557C162}"/>
              </a:ext>
            </a:extLst>
          </p:cNvPr>
          <p:cNvSpPr>
            <a:spLocks noGrp="1"/>
          </p:cNvSpPr>
          <p:nvPr>
            <p:ph type="title"/>
          </p:nvPr>
        </p:nvSpPr>
        <p:spPr>
          <a:xfrm>
            <a:off x="762000" y="304800"/>
            <a:ext cx="10668000" cy="533400"/>
          </a:xfrm>
        </p:spPr>
        <p:txBody>
          <a:bodyPr>
            <a:normAutofit fontScale="90000"/>
          </a:bodyPr>
          <a:lstStyle/>
          <a:p>
            <a:pPr algn="l">
              <a:buNone/>
            </a:pPr>
            <a:r>
              <a:rPr lang="en-US" sz="3400" b="1" dirty="0">
                <a:solidFill>
                  <a:srgbClr val="FFFFFF"/>
                </a:solidFill>
              </a:rPr>
              <a:t>Choosing the Right Panel</a:t>
            </a:r>
          </a:p>
        </p:txBody>
      </p:sp>
      <p:sp>
        <p:nvSpPr>
          <p:cNvPr id="881" name="S881"/>
          <p:cNvSpPr/>
          <p:nvPr/>
        </p:nvSpPr>
        <p:spPr>
          <a:xfrm>
            <a:off x="762000" y="863600"/>
            <a:ext cx="1524000" cy="50800"/>
          </a:xfrm>
          <a:prstGeom prst="rect">
            <a:avLst/>
          </a:prstGeom>
          <a:solidFill>
            <a:srgbClr val="B877D9"/>
          </a:solidFill>
          <a:ln>
            <a:noFill/>
          </a:ln>
        </p:spPr>
        <p:txBody>
          <a:bodyPr wrap="square" lIns="127000" tIns="50800" rIns="127000" bIns="50800" anchor="ctr"/>
          <a:lstStyle/>
          <a:p>
            <a:endParaRPr/>
          </a:p>
        </p:txBody>
      </p:sp>
      <p:sp>
        <p:nvSpPr>
          <p:cNvPr id="882" name="S882"/>
          <p:cNvSpPr/>
          <p:nvPr/>
        </p:nvSpPr>
        <p:spPr>
          <a:xfrm>
            <a:off x="762000" y="1066800"/>
            <a:ext cx="5969000" cy="304800"/>
          </a:xfrm>
          <a:prstGeom prst="rect">
            <a:avLst/>
          </a:prstGeom>
          <a:noFill/>
          <a:ln>
            <a:noFill/>
          </a:ln>
        </p:spPr>
        <p:txBody>
          <a:bodyPr wrap="square" lIns="0" tIns="50800" rIns="0" bIns="50800" anchor="ctr"/>
          <a:lstStyle/>
          <a:p>
            <a:pPr algn="l">
              <a:buNone/>
            </a:pPr>
            <a:r>
              <a:rPr lang="en-US" sz="1800" b="1" dirty="0">
                <a:solidFill>
                  <a:srgbClr val="FFFFFF"/>
                </a:solidFill>
              </a:rPr>
              <a:t>Start from the question</a:t>
            </a:r>
          </a:p>
        </p:txBody>
      </p:sp>
      <p:sp>
        <p:nvSpPr>
          <p:cNvPr id="883" name="S883"/>
          <p:cNvSpPr/>
          <p:nvPr/>
        </p:nvSpPr>
        <p:spPr>
          <a:xfrm>
            <a:off x="762000" y="14478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84" name="S884"/>
          <p:cNvSpPr/>
          <p:nvPr/>
        </p:nvSpPr>
        <p:spPr>
          <a:xfrm>
            <a:off x="939800" y="14478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How has it changed over time?</a:t>
            </a:r>
          </a:p>
        </p:txBody>
      </p:sp>
      <p:sp>
        <p:nvSpPr>
          <p:cNvPr id="885" name="S885"/>
          <p:cNvSpPr/>
          <p:nvPr/>
        </p:nvSpPr>
        <p:spPr>
          <a:xfrm>
            <a:off x="4419600" y="1638300"/>
            <a:ext cx="228600" cy="254000"/>
          </a:xfrm>
          <a:prstGeom prst="rightArrow">
            <a:avLst/>
          </a:prstGeom>
          <a:solidFill>
            <a:srgbClr val="3A4252"/>
          </a:solidFill>
          <a:ln>
            <a:noFill/>
          </a:ln>
        </p:spPr>
        <p:txBody>
          <a:bodyPr wrap="square" lIns="127000" tIns="50800" rIns="127000" bIns="50800" anchor="ctr"/>
          <a:lstStyle/>
          <a:p>
            <a:endParaRPr/>
          </a:p>
        </p:txBody>
      </p:sp>
      <p:sp>
        <p:nvSpPr>
          <p:cNvPr id="886" name="S886"/>
          <p:cNvSpPr/>
          <p:nvPr/>
        </p:nvSpPr>
        <p:spPr>
          <a:xfrm>
            <a:off x="4775200" y="1549400"/>
            <a:ext cx="1803400" cy="431800"/>
          </a:xfrm>
          <a:prstGeom prst="roundRect">
            <a:avLst/>
          </a:prstGeom>
          <a:solidFill>
            <a:srgbClr val="10141C"/>
          </a:solidFill>
          <a:ln w="12700">
            <a:solidFill>
              <a:srgbClr val="F46800"/>
            </a:solidFill>
          </a:ln>
        </p:spPr>
        <p:txBody>
          <a:bodyPr wrap="square" lIns="50800" tIns="50800" rIns="50800" bIns="50800" anchor="ctr"/>
          <a:lstStyle/>
          <a:p>
            <a:pPr algn="ctr">
              <a:buNone/>
            </a:pPr>
            <a:r>
              <a:rPr lang="en-US" sz="1400" b="1" dirty="0">
                <a:solidFill>
                  <a:srgbClr val="F46800"/>
                </a:solidFill>
              </a:rPr>
              <a:t>Time series</a:t>
            </a:r>
          </a:p>
        </p:txBody>
      </p:sp>
      <p:sp>
        <p:nvSpPr>
          <p:cNvPr id="887" name="S887"/>
          <p:cNvSpPr/>
          <p:nvPr/>
        </p:nvSpPr>
        <p:spPr>
          <a:xfrm>
            <a:off x="762000" y="21844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88" name="S888"/>
          <p:cNvSpPr/>
          <p:nvPr/>
        </p:nvSpPr>
        <p:spPr>
          <a:xfrm>
            <a:off x="939800" y="21844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What is the value right now?</a:t>
            </a:r>
          </a:p>
        </p:txBody>
      </p:sp>
      <p:sp>
        <p:nvSpPr>
          <p:cNvPr id="889" name="S889"/>
          <p:cNvSpPr/>
          <p:nvPr/>
        </p:nvSpPr>
        <p:spPr>
          <a:xfrm>
            <a:off x="4419600" y="2374900"/>
            <a:ext cx="228600" cy="254000"/>
          </a:xfrm>
          <a:prstGeom prst="rightArrow">
            <a:avLst/>
          </a:prstGeom>
          <a:solidFill>
            <a:srgbClr val="3A4252"/>
          </a:solidFill>
          <a:ln>
            <a:noFill/>
          </a:ln>
        </p:spPr>
        <p:txBody>
          <a:bodyPr wrap="square" lIns="127000" tIns="50800" rIns="127000" bIns="50800" anchor="ctr"/>
          <a:lstStyle/>
          <a:p>
            <a:endParaRPr/>
          </a:p>
        </p:txBody>
      </p:sp>
      <p:sp>
        <p:nvSpPr>
          <p:cNvPr id="890" name="S890"/>
          <p:cNvSpPr/>
          <p:nvPr/>
        </p:nvSpPr>
        <p:spPr>
          <a:xfrm>
            <a:off x="4775200" y="2286000"/>
            <a:ext cx="1803400" cy="431800"/>
          </a:xfrm>
          <a:prstGeom prst="roundRect">
            <a:avLst/>
          </a:prstGeom>
          <a:solidFill>
            <a:srgbClr val="10141C"/>
          </a:solidFill>
          <a:ln w="12700">
            <a:solidFill>
              <a:srgbClr val="FF9830"/>
            </a:solidFill>
          </a:ln>
        </p:spPr>
        <p:txBody>
          <a:bodyPr wrap="square" lIns="50800" tIns="50800" rIns="50800" bIns="50800" anchor="ctr"/>
          <a:lstStyle/>
          <a:p>
            <a:pPr algn="ctr">
              <a:buNone/>
            </a:pPr>
            <a:r>
              <a:rPr lang="en-US" sz="1400" b="1" dirty="0">
                <a:solidFill>
                  <a:srgbClr val="FF9830"/>
                </a:solidFill>
              </a:rPr>
              <a:t>Stat / Gauge</a:t>
            </a:r>
          </a:p>
        </p:txBody>
      </p:sp>
      <p:sp>
        <p:nvSpPr>
          <p:cNvPr id="891" name="S891"/>
          <p:cNvSpPr/>
          <p:nvPr/>
        </p:nvSpPr>
        <p:spPr>
          <a:xfrm>
            <a:off x="762000" y="29210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92" name="S892"/>
          <p:cNvSpPr/>
          <p:nvPr/>
        </p:nvSpPr>
        <p:spPr>
          <a:xfrm>
            <a:off x="939800" y="29210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How do these items compare?</a:t>
            </a:r>
          </a:p>
        </p:txBody>
      </p:sp>
      <p:sp>
        <p:nvSpPr>
          <p:cNvPr id="893" name="S893"/>
          <p:cNvSpPr/>
          <p:nvPr/>
        </p:nvSpPr>
        <p:spPr>
          <a:xfrm>
            <a:off x="4419600" y="3111500"/>
            <a:ext cx="228600" cy="254000"/>
          </a:xfrm>
          <a:prstGeom prst="rightArrow">
            <a:avLst/>
          </a:prstGeom>
          <a:solidFill>
            <a:srgbClr val="3A4252"/>
          </a:solidFill>
          <a:ln>
            <a:noFill/>
          </a:ln>
        </p:spPr>
        <p:txBody>
          <a:bodyPr wrap="square" lIns="127000" tIns="50800" rIns="127000" bIns="50800" anchor="ctr"/>
          <a:lstStyle/>
          <a:p>
            <a:endParaRPr/>
          </a:p>
        </p:txBody>
      </p:sp>
      <p:sp>
        <p:nvSpPr>
          <p:cNvPr id="894" name="S894"/>
          <p:cNvSpPr/>
          <p:nvPr/>
        </p:nvSpPr>
        <p:spPr>
          <a:xfrm>
            <a:off x="4775200" y="3022600"/>
            <a:ext cx="1803400" cy="431800"/>
          </a:xfrm>
          <a:prstGeom prst="roundRect">
            <a:avLst/>
          </a:prstGeom>
          <a:solidFill>
            <a:srgbClr val="10141C"/>
          </a:solidFill>
          <a:ln w="12700">
            <a:solidFill>
              <a:srgbClr val="56A64B"/>
            </a:solidFill>
          </a:ln>
        </p:spPr>
        <p:txBody>
          <a:bodyPr wrap="square" lIns="50800" tIns="50800" rIns="50800" bIns="50800" anchor="ctr"/>
          <a:lstStyle/>
          <a:p>
            <a:pPr algn="ctr">
              <a:buNone/>
            </a:pPr>
            <a:r>
              <a:rPr lang="en-US" sz="1400" b="1" dirty="0">
                <a:solidFill>
                  <a:srgbClr val="56A64B"/>
                </a:solidFill>
              </a:rPr>
              <a:t>Bar gauge</a:t>
            </a:r>
          </a:p>
        </p:txBody>
      </p:sp>
      <p:sp>
        <p:nvSpPr>
          <p:cNvPr id="895" name="S895"/>
          <p:cNvSpPr/>
          <p:nvPr/>
        </p:nvSpPr>
        <p:spPr>
          <a:xfrm>
            <a:off x="762000" y="36576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896" name="S896"/>
          <p:cNvSpPr/>
          <p:nvPr/>
        </p:nvSpPr>
        <p:spPr>
          <a:xfrm>
            <a:off x="939800" y="36576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How is it distributed?</a:t>
            </a:r>
          </a:p>
        </p:txBody>
      </p:sp>
      <p:sp>
        <p:nvSpPr>
          <p:cNvPr id="897" name="S897"/>
          <p:cNvSpPr/>
          <p:nvPr/>
        </p:nvSpPr>
        <p:spPr>
          <a:xfrm>
            <a:off x="4419600" y="3848100"/>
            <a:ext cx="228600" cy="254000"/>
          </a:xfrm>
          <a:prstGeom prst="rightArrow">
            <a:avLst/>
          </a:prstGeom>
          <a:solidFill>
            <a:srgbClr val="3A4252"/>
          </a:solidFill>
          <a:ln>
            <a:noFill/>
          </a:ln>
        </p:spPr>
        <p:txBody>
          <a:bodyPr wrap="square" lIns="127000" tIns="50800" rIns="127000" bIns="50800" anchor="ctr"/>
          <a:lstStyle/>
          <a:p>
            <a:endParaRPr/>
          </a:p>
        </p:txBody>
      </p:sp>
      <p:sp>
        <p:nvSpPr>
          <p:cNvPr id="898" name="S898"/>
          <p:cNvSpPr/>
          <p:nvPr/>
        </p:nvSpPr>
        <p:spPr>
          <a:xfrm>
            <a:off x="4775200" y="3759200"/>
            <a:ext cx="1803400" cy="431800"/>
          </a:xfrm>
          <a:prstGeom prst="roundRect">
            <a:avLst/>
          </a:prstGeom>
          <a:solidFill>
            <a:srgbClr val="10141C"/>
          </a:solidFill>
          <a:ln w="12700">
            <a:solidFill>
              <a:srgbClr val="4ECDC4"/>
            </a:solidFill>
          </a:ln>
        </p:spPr>
        <p:txBody>
          <a:bodyPr wrap="square" lIns="50800" tIns="50800" rIns="50800" bIns="50800" anchor="ctr"/>
          <a:lstStyle/>
          <a:p>
            <a:pPr algn="ctr">
              <a:buNone/>
            </a:pPr>
            <a:r>
              <a:rPr lang="en-US" sz="1400" b="1" dirty="0">
                <a:solidFill>
                  <a:srgbClr val="4ECDC4"/>
                </a:solidFill>
              </a:rPr>
              <a:t>Heatmap / Histogram</a:t>
            </a:r>
          </a:p>
        </p:txBody>
      </p:sp>
      <p:sp>
        <p:nvSpPr>
          <p:cNvPr id="899" name="S899"/>
          <p:cNvSpPr/>
          <p:nvPr/>
        </p:nvSpPr>
        <p:spPr>
          <a:xfrm>
            <a:off x="762000" y="43942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900" name="S900"/>
          <p:cNvSpPr/>
          <p:nvPr/>
        </p:nvSpPr>
        <p:spPr>
          <a:xfrm>
            <a:off x="939800" y="43942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Where is it happening?</a:t>
            </a:r>
          </a:p>
        </p:txBody>
      </p:sp>
      <p:sp>
        <p:nvSpPr>
          <p:cNvPr id="901" name="S901"/>
          <p:cNvSpPr/>
          <p:nvPr/>
        </p:nvSpPr>
        <p:spPr>
          <a:xfrm>
            <a:off x="4419600" y="4584700"/>
            <a:ext cx="228600" cy="254000"/>
          </a:xfrm>
          <a:prstGeom prst="rightArrow">
            <a:avLst/>
          </a:prstGeom>
          <a:solidFill>
            <a:srgbClr val="3A4252"/>
          </a:solidFill>
          <a:ln>
            <a:noFill/>
          </a:ln>
        </p:spPr>
        <p:txBody>
          <a:bodyPr wrap="square" lIns="127000" tIns="50800" rIns="127000" bIns="50800" anchor="ctr"/>
          <a:lstStyle/>
          <a:p>
            <a:endParaRPr/>
          </a:p>
        </p:txBody>
      </p:sp>
      <p:sp>
        <p:nvSpPr>
          <p:cNvPr id="902" name="S902"/>
          <p:cNvSpPr/>
          <p:nvPr/>
        </p:nvSpPr>
        <p:spPr>
          <a:xfrm>
            <a:off x="4775200" y="4495800"/>
            <a:ext cx="1803400" cy="431800"/>
          </a:xfrm>
          <a:prstGeom prst="roundRect">
            <a:avLst/>
          </a:prstGeom>
          <a:solidFill>
            <a:srgbClr val="10141C"/>
          </a:solidFill>
          <a:ln w="12700">
            <a:solidFill>
              <a:srgbClr val="D0A2F0"/>
            </a:solidFill>
          </a:ln>
        </p:spPr>
        <p:txBody>
          <a:bodyPr wrap="square" lIns="50800" tIns="50800" rIns="50800" bIns="50800" anchor="ctr"/>
          <a:lstStyle/>
          <a:p>
            <a:pPr algn="ctr">
              <a:buNone/>
            </a:pPr>
            <a:r>
              <a:rPr lang="en-US" sz="1400" b="1" dirty="0">
                <a:solidFill>
                  <a:srgbClr val="D0A2F0"/>
                </a:solidFill>
              </a:rPr>
              <a:t>Geomap</a:t>
            </a:r>
          </a:p>
        </p:txBody>
      </p:sp>
      <p:sp>
        <p:nvSpPr>
          <p:cNvPr id="903" name="S903"/>
          <p:cNvSpPr/>
          <p:nvPr/>
        </p:nvSpPr>
        <p:spPr>
          <a:xfrm>
            <a:off x="762000" y="5130800"/>
            <a:ext cx="5969000" cy="63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904" name="S904"/>
          <p:cNvSpPr/>
          <p:nvPr/>
        </p:nvSpPr>
        <p:spPr>
          <a:xfrm>
            <a:off x="939800" y="5130800"/>
            <a:ext cx="3429000" cy="635000"/>
          </a:xfrm>
          <a:prstGeom prst="rect">
            <a:avLst/>
          </a:prstGeom>
          <a:noFill/>
          <a:ln>
            <a:noFill/>
          </a:ln>
        </p:spPr>
        <p:txBody>
          <a:bodyPr wrap="square" lIns="0" tIns="50800" rIns="0" bIns="50800" anchor="ctr"/>
          <a:lstStyle/>
          <a:p>
            <a:pPr algn="l">
              <a:buNone/>
            </a:pPr>
            <a:r>
              <a:rPr lang="en-US" sz="1500" b="0" dirty="0">
                <a:solidFill>
                  <a:srgbClr val="E8EBF0"/>
                </a:solidFill>
              </a:rPr>
              <a:t>I need the exact numbers</a:t>
            </a:r>
          </a:p>
        </p:txBody>
      </p:sp>
      <p:sp>
        <p:nvSpPr>
          <p:cNvPr id="905" name="S905"/>
          <p:cNvSpPr/>
          <p:nvPr/>
        </p:nvSpPr>
        <p:spPr>
          <a:xfrm>
            <a:off x="4419600" y="5321300"/>
            <a:ext cx="228600" cy="254000"/>
          </a:xfrm>
          <a:prstGeom prst="rightArrow">
            <a:avLst/>
          </a:prstGeom>
          <a:solidFill>
            <a:srgbClr val="3A4252"/>
          </a:solidFill>
          <a:ln>
            <a:noFill/>
          </a:ln>
        </p:spPr>
        <p:txBody>
          <a:bodyPr wrap="square" lIns="127000" tIns="50800" rIns="127000" bIns="50800" anchor="ctr"/>
          <a:lstStyle/>
          <a:p>
            <a:endParaRPr/>
          </a:p>
        </p:txBody>
      </p:sp>
      <p:sp>
        <p:nvSpPr>
          <p:cNvPr id="906" name="S906"/>
          <p:cNvSpPr/>
          <p:nvPr/>
        </p:nvSpPr>
        <p:spPr>
          <a:xfrm>
            <a:off x="4775200" y="5232400"/>
            <a:ext cx="1803400" cy="431800"/>
          </a:xfrm>
          <a:prstGeom prst="roundRect">
            <a:avLst/>
          </a:prstGeom>
          <a:solidFill>
            <a:srgbClr val="10141C"/>
          </a:solidFill>
          <a:ln w="12700">
            <a:solidFill>
              <a:srgbClr val="3274D9"/>
            </a:solidFill>
          </a:ln>
        </p:spPr>
        <p:txBody>
          <a:bodyPr wrap="square" lIns="50800" tIns="50800" rIns="50800" bIns="50800" anchor="ctr"/>
          <a:lstStyle/>
          <a:p>
            <a:pPr algn="ctr">
              <a:buNone/>
            </a:pPr>
            <a:r>
              <a:rPr lang="en-US" sz="1400" b="1" dirty="0">
                <a:solidFill>
                  <a:srgbClr val="5A9BF0"/>
                </a:solidFill>
              </a:rPr>
              <a:t>Table</a:t>
            </a:r>
          </a:p>
        </p:txBody>
      </p:sp>
      <p:sp>
        <p:nvSpPr>
          <p:cNvPr id="907" name="S907"/>
          <p:cNvSpPr/>
          <p:nvPr/>
        </p:nvSpPr>
        <p:spPr>
          <a:xfrm>
            <a:off x="7112000" y="1066800"/>
            <a:ext cx="4318000" cy="304800"/>
          </a:xfrm>
          <a:prstGeom prst="rect">
            <a:avLst/>
          </a:prstGeom>
          <a:noFill/>
          <a:ln>
            <a:noFill/>
          </a:ln>
        </p:spPr>
        <p:txBody>
          <a:bodyPr wrap="square" lIns="0" tIns="50800" rIns="0" bIns="50800" anchor="ctr"/>
          <a:lstStyle/>
          <a:p>
            <a:pPr algn="l">
              <a:buNone/>
            </a:pPr>
            <a:r>
              <a:rPr lang="en-US" sz="1800" b="1" dirty="0">
                <a:solidFill>
                  <a:srgbClr val="FFFFFF"/>
                </a:solidFill>
              </a:rPr>
              <a:t>Set these on every panel</a:t>
            </a:r>
          </a:p>
        </p:txBody>
      </p:sp>
      <p:sp>
        <p:nvSpPr>
          <p:cNvPr id="908" name="S908"/>
          <p:cNvSpPr/>
          <p:nvPr/>
        </p:nvSpPr>
        <p:spPr>
          <a:xfrm>
            <a:off x="7112000" y="1447800"/>
            <a:ext cx="4318000" cy="23622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909" name="S909"/>
          <p:cNvSpPr/>
          <p:nvPr/>
        </p:nvSpPr>
        <p:spPr>
          <a:xfrm>
            <a:off x="7112000" y="1447800"/>
            <a:ext cx="4318000" cy="50800"/>
          </a:xfrm>
          <a:prstGeom prst="rect">
            <a:avLst/>
          </a:prstGeom>
          <a:solidFill>
            <a:srgbClr val="F46800"/>
          </a:solidFill>
          <a:ln>
            <a:noFill/>
          </a:ln>
        </p:spPr>
        <p:txBody>
          <a:bodyPr wrap="square" lIns="127000" tIns="50800" rIns="127000" bIns="50800" anchor="ctr"/>
          <a:lstStyle/>
          <a:p>
            <a:endParaRPr/>
          </a:p>
        </p:txBody>
      </p:sp>
      <p:sp>
        <p:nvSpPr>
          <p:cNvPr id="910" name="S910"/>
          <p:cNvSpPr/>
          <p:nvPr/>
        </p:nvSpPr>
        <p:spPr>
          <a:xfrm>
            <a:off x="7315200" y="1574800"/>
            <a:ext cx="3911600" cy="2133600"/>
          </a:xfrm>
          <a:prstGeom prst="rect">
            <a:avLst/>
          </a:prstGeom>
          <a:noFill/>
          <a:ln>
            <a:noFill/>
          </a:ln>
        </p:spPr>
        <p:txBody>
          <a:bodyPr wrap="square" lIns="0" tIns="50800" rIns="0" bIns="50800" anchor="t"/>
          <a:lstStyle/>
          <a:p>
            <a:pPr marL="171450" indent="-171450">
              <a:lnSpc>
                <a:spcPts val="1800"/>
              </a:lnSpc>
              <a:spcBef>
                <a:spcPts val="500"/>
              </a:spcBef>
              <a:buFont typeface="Arial"/>
              <a:buChar char="•"/>
            </a:pPr>
            <a:r>
              <a:rPr lang="en-US" sz="1400" dirty="0">
                <a:solidFill>
                  <a:srgbClr val="B4BECC"/>
                </a:solidFill>
              </a:rPr>
              <a:t>Unit - seconds, bytes, percent (0-100)</a:t>
            </a:r>
          </a:p>
          <a:p>
            <a:pPr marL="171450" indent="-171450">
              <a:lnSpc>
                <a:spcPts val="1800"/>
              </a:lnSpc>
              <a:spcBef>
                <a:spcPts val="500"/>
              </a:spcBef>
              <a:buFont typeface="Arial"/>
              <a:buChar char="•"/>
            </a:pPr>
            <a:r>
              <a:rPr lang="en-US" sz="1400" dirty="0">
                <a:solidFill>
                  <a:srgbClr val="B4BECC"/>
                </a:solidFill>
              </a:rPr>
              <a:t>Decimals - stop 87.3333333 %</a:t>
            </a:r>
          </a:p>
          <a:p>
            <a:pPr marL="171450" indent="-171450">
              <a:lnSpc>
                <a:spcPts val="1800"/>
              </a:lnSpc>
              <a:spcBef>
                <a:spcPts val="500"/>
              </a:spcBef>
              <a:buFont typeface="Arial"/>
              <a:buChar char="•"/>
            </a:pPr>
            <a:r>
              <a:rPr lang="en-US" sz="1400" dirty="0">
                <a:solidFill>
                  <a:srgbClr val="B4BECC"/>
                </a:solidFill>
              </a:rPr>
              <a:t>Thresholds - green / amber / red, shared across panels</a:t>
            </a:r>
          </a:p>
          <a:p>
            <a:pPr marL="171450" indent="-171450">
              <a:lnSpc>
                <a:spcPts val="1800"/>
              </a:lnSpc>
              <a:spcBef>
                <a:spcPts val="500"/>
              </a:spcBef>
              <a:buFont typeface="Arial"/>
              <a:buChar char="•"/>
            </a:pPr>
            <a:r>
              <a:rPr lang="en-US" sz="1400" dirty="0">
                <a:solidFill>
                  <a:srgbClr val="B4BECC"/>
                </a:solidFill>
              </a:rPr>
              <a:t>Legend - mean, max, last, and a readable {{label}}</a:t>
            </a:r>
          </a:p>
          <a:p>
            <a:pPr marL="171450" indent="-171450">
              <a:lnSpc>
                <a:spcPts val="1800"/>
              </a:lnSpc>
              <a:spcBef>
                <a:spcPts val="500"/>
              </a:spcBef>
              <a:buFont typeface="Arial"/>
              <a:buChar char="•"/>
            </a:pPr>
            <a:r>
              <a:rPr lang="en-US" sz="1400" dirty="0">
                <a:solidFill>
                  <a:srgbClr val="B4BECC"/>
                </a:solidFill>
              </a:rPr>
              <a:t>Null handling - connect, null, or zero changes the story</a:t>
            </a:r>
          </a:p>
        </p:txBody>
      </p:sp>
      <p:sp>
        <p:nvSpPr>
          <p:cNvPr id="911" name="S911"/>
          <p:cNvSpPr/>
          <p:nvPr/>
        </p:nvSpPr>
        <p:spPr>
          <a:xfrm>
            <a:off x="7112000" y="3962400"/>
            <a:ext cx="4318000" cy="19050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912" name="S912"/>
          <p:cNvSpPr/>
          <p:nvPr/>
        </p:nvSpPr>
        <p:spPr>
          <a:xfrm>
            <a:off x="7112000" y="3962400"/>
            <a:ext cx="4318000" cy="50800"/>
          </a:xfrm>
          <a:prstGeom prst="rect">
            <a:avLst/>
          </a:prstGeom>
          <a:solidFill>
            <a:srgbClr val="56A64B"/>
          </a:solidFill>
          <a:ln>
            <a:noFill/>
          </a:ln>
        </p:spPr>
        <p:txBody>
          <a:bodyPr wrap="square" lIns="127000" tIns="50800" rIns="127000" bIns="50800" anchor="ctr"/>
          <a:lstStyle/>
          <a:p>
            <a:endParaRPr/>
          </a:p>
        </p:txBody>
      </p:sp>
      <p:sp>
        <p:nvSpPr>
          <p:cNvPr id="913" name="S913"/>
          <p:cNvSpPr/>
          <p:nvPr/>
        </p:nvSpPr>
        <p:spPr>
          <a:xfrm>
            <a:off x="7315200" y="4064000"/>
            <a:ext cx="3911600" cy="330200"/>
          </a:xfrm>
          <a:prstGeom prst="rect">
            <a:avLst/>
          </a:prstGeom>
          <a:noFill/>
          <a:ln>
            <a:noFill/>
          </a:ln>
        </p:spPr>
        <p:txBody>
          <a:bodyPr wrap="square" lIns="0" tIns="50800" rIns="0" bIns="50800" anchor="ctr"/>
          <a:lstStyle/>
          <a:p>
            <a:pPr algn="l">
              <a:buNone/>
            </a:pPr>
            <a:r>
              <a:rPr lang="en-US" sz="1600" b="1" dirty="0">
                <a:solidFill>
                  <a:srgbClr val="56A64B"/>
                </a:solidFill>
              </a:rPr>
              <a:t>Transformations tab</a:t>
            </a:r>
          </a:p>
        </p:txBody>
      </p:sp>
      <p:sp>
        <p:nvSpPr>
          <p:cNvPr id="914" name="S914"/>
          <p:cNvSpPr/>
          <p:nvPr/>
        </p:nvSpPr>
        <p:spPr>
          <a:xfrm>
            <a:off x="7315200" y="4394200"/>
            <a:ext cx="3911600" cy="1397000"/>
          </a:xfrm>
          <a:prstGeom prst="rect">
            <a:avLst/>
          </a:prstGeom>
          <a:noFill/>
          <a:ln>
            <a:noFill/>
          </a:ln>
        </p:spPr>
        <p:txBody>
          <a:bodyPr wrap="square" lIns="0" tIns="50800" rIns="0" bIns="50800" anchor="t"/>
          <a:lstStyle/>
          <a:p>
            <a:pPr marL="171450" indent="-171450">
              <a:lnSpc>
                <a:spcPts val="1800"/>
              </a:lnSpc>
              <a:spcBef>
                <a:spcPts val="500"/>
              </a:spcBef>
              <a:buFont typeface="Arial"/>
              <a:buChar char="•"/>
            </a:pPr>
            <a:r>
              <a:rPr lang="en-US" sz="1400" dirty="0">
                <a:solidFill>
                  <a:srgbClr val="B4BECC"/>
                </a:solidFill>
              </a:rPr>
              <a:t>Reduce - series to a single value for Stat</a:t>
            </a:r>
          </a:p>
          <a:p>
            <a:pPr marL="171450" indent="-171450">
              <a:lnSpc>
                <a:spcPts val="1800"/>
              </a:lnSpc>
              <a:spcBef>
                <a:spcPts val="500"/>
              </a:spcBef>
              <a:buFont typeface="Arial"/>
              <a:buChar char="•"/>
            </a:pPr>
            <a:r>
              <a:rPr lang="en-US" sz="1400" dirty="0">
                <a:solidFill>
                  <a:srgbClr val="B4BECC"/>
                </a:solidFill>
              </a:rPr>
              <a:t>Join by field - merge Prometheus with SQL</a:t>
            </a:r>
          </a:p>
          <a:p>
            <a:pPr marL="171450" indent="-171450">
              <a:lnSpc>
                <a:spcPts val="1800"/>
              </a:lnSpc>
              <a:spcBef>
                <a:spcPts val="500"/>
              </a:spcBef>
              <a:buFont typeface="Arial"/>
              <a:buChar char="•"/>
            </a:pPr>
            <a:r>
              <a:rPr lang="en-US" sz="1400" dirty="0">
                <a:solidFill>
                  <a:srgbClr val="B4BECC"/>
                </a:solidFill>
              </a:rPr>
              <a:t>Organize fields - rename, reorder, hide columns</a:t>
            </a:r>
          </a:p>
        </p:txBody>
      </p:sp>
    </p:spTree>
    <p:extLst>
      <p:ext uri="{BB962C8B-B14F-4D97-AF65-F5344CB8AC3E}">
        <p14:creationId xmlns:p14="http://schemas.microsoft.com/office/powerpoint/2010/main" val="3409779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653D2-6D4C-C6C6-7287-E3EFBB5616EA}"/>
              </a:ext>
            </a:extLst>
          </p:cNvPr>
          <p:cNvSpPr>
            <a:spLocks noGrp="1"/>
          </p:cNvSpPr>
          <p:nvPr>
            <p:ph type="title"/>
          </p:nvPr>
        </p:nvSpPr>
        <p:spPr>
          <a:xfrm>
            <a:off x="762000" y="279400"/>
            <a:ext cx="10668000" cy="508000"/>
          </a:xfrm>
        </p:spPr>
        <p:txBody>
          <a:bodyPr>
            <a:normAutofit fontScale="90000"/>
          </a:bodyPr>
          <a:lstStyle/>
          <a:p>
            <a:r>
              <a:rPr lang="en-US"/>
              <a:t>Rapid Fire: Name That Panel</a:t>
            </a:r>
          </a:p>
        </p:txBody>
      </p:sp>
      <p:sp>
        <p:nvSpPr>
          <p:cNvPr id="3" name="Rectangle 2">
            <a:extLst>
              <a:ext uri="{FF2B5EF4-FFF2-40B4-BE49-F238E27FC236}">
                <a16:creationId xmlns:a16="http://schemas.microsoft.com/office/drawing/2014/main" id="{D74C10DC-51E7-4894-8E27-B22A07CD9BFD}"/>
              </a:ext>
            </a:extLst>
          </p:cNvPr>
          <p:cNvSpPr/>
          <p:nvPr/>
        </p:nvSpPr>
        <p:spPr>
          <a:xfrm>
            <a:off x="762000" y="812800"/>
            <a:ext cx="1524000" cy="50800"/>
          </a:xfrm>
          <a:prstGeom prst="rect">
            <a:avLst/>
          </a:prstGeom>
          <a:solidFill>
            <a:srgbClr val="FF98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6CE22B72-DC68-477C-BDEF-0DC4FA6F3FF5}"/>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I read the ask, you call the panel - ten seconds each, answers revealed as we go</a:t>
            </a:r>
          </a:p>
        </p:txBody>
      </p:sp>
      <p:sp>
        <p:nvSpPr>
          <p:cNvPr id="5" name="Rectangle 4">
            <a:extLst>
              <a:ext uri="{FF2B5EF4-FFF2-40B4-BE49-F238E27FC236}">
                <a16:creationId xmlns:a16="http://schemas.microsoft.com/office/drawing/2014/main" id="{CA85FC92-CAD6-442A-96DC-47C601478E40}"/>
              </a:ext>
            </a:extLst>
          </p:cNvPr>
          <p:cNvSpPr/>
          <p:nvPr/>
        </p:nvSpPr>
        <p:spPr>
          <a:xfrm>
            <a:off x="7620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29CEF220-FDC0-4293-9745-12A24764FD47}"/>
              </a:ext>
            </a:extLst>
          </p:cNvPr>
          <p:cNvSpPr/>
          <p:nvPr/>
        </p:nvSpPr>
        <p:spPr>
          <a:xfrm>
            <a:off x="762000" y="1320800"/>
            <a:ext cx="3429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C5195A77-156E-4279-96E7-F9778DD574C5}"/>
              </a:ext>
            </a:extLst>
          </p:cNvPr>
          <p:cNvSpPr/>
          <p:nvPr/>
        </p:nvSpPr>
        <p:spPr>
          <a:xfrm>
            <a:off x="914400" y="1524000"/>
            <a:ext cx="4064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1</a:t>
            </a:r>
          </a:p>
        </p:txBody>
      </p:sp>
      <p:sp>
        <p:nvSpPr>
          <p:cNvPr id="8" name="TextBox 7">
            <a:extLst>
              <a:ext uri="{FF2B5EF4-FFF2-40B4-BE49-F238E27FC236}">
                <a16:creationId xmlns:a16="http://schemas.microsoft.com/office/drawing/2014/main" id="{EE7EE47F-335E-4DFF-9C1B-ABCC103B02A8}"/>
              </a:ext>
            </a:extLst>
          </p:cNvPr>
          <p:cNvSpPr txBox="1"/>
          <p:nvPr/>
        </p:nvSpPr>
        <p:spPr>
          <a:xfrm>
            <a:off x="939800" y="1981200"/>
            <a:ext cx="3073400" cy="762000"/>
          </a:xfrm>
          <a:prstGeom prst="rect">
            <a:avLst/>
          </a:prstGeom>
          <a:noFill/>
        </p:spPr>
        <p:txBody>
          <a:bodyPr vertOverflow="overflow" vert="horz" wrap="square" rtlCol="0" anchor="t">
            <a:noAutofit/>
          </a:bodyPr>
          <a:lstStyle/>
          <a:p>
            <a:pPr algn="l"/>
            <a:r>
              <a:rPr lang="en-US" sz="1500">
                <a:solidFill>
                  <a:srgbClr val="FFFFFF"/>
                </a:solidFill>
              </a:rPr>
              <a:t>"Is the service up? One number, big."</a:t>
            </a:r>
          </a:p>
        </p:txBody>
      </p:sp>
      <p:sp>
        <p:nvSpPr>
          <p:cNvPr id="9" name="Rectangle 8">
            <a:extLst>
              <a:ext uri="{FF2B5EF4-FFF2-40B4-BE49-F238E27FC236}">
                <a16:creationId xmlns:a16="http://schemas.microsoft.com/office/drawing/2014/main" id="{7C7448AD-F623-4BFD-AFCC-04B691079759}"/>
              </a:ext>
            </a:extLst>
          </p:cNvPr>
          <p:cNvSpPr/>
          <p:nvPr/>
        </p:nvSpPr>
        <p:spPr>
          <a:xfrm>
            <a:off x="914400" y="28448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Stat</a:t>
            </a:r>
          </a:p>
        </p:txBody>
      </p:sp>
      <p:sp>
        <p:nvSpPr>
          <p:cNvPr id="10" name="Rectangle 9">
            <a:extLst>
              <a:ext uri="{FF2B5EF4-FFF2-40B4-BE49-F238E27FC236}">
                <a16:creationId xmlns:a16="http://schemas.microsoft.com/office/drawing/2014/main" id="{CDF825F8-8CAB-4514-9411-D0DC1AF848D2}"/>
              </a:ext>
            </a:extLst>
          </p:cNvPr>
          <p:cNvSpPr/>
          <p:nvPr/>
        </p:nvSpPr>
        <p:spPr>
          <a:xfrm>
            <a:off x="43815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FDD99EC9-0F8C-48BE-B8DE-72836B0173AC}"/>
              </a:ext>
            </a:extLst>
          </p:cNvPr>
          <p:cNvSpPr/>
          <p:nvPr/>
        </p:nvSpPr>
        <p:spPr>
          <a:xfrm>
            <a:off x="4381500" y="1320800"/>
            <a:ext cx="34290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8EEBAF6A-C580-4518-8781-786B308971AA}"/>
              </a:ext>
            </a:extLst>
          </p:cNvPr>
          <p:cNvSpPr/>
          <p:nvPr/>
        </p:nvSpPr>
        <p:spPr>
          <a:xfrm>
            <a:off x="4533900" y="1524000"/>
            <a:ext cx="4064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2</a:t>
            </a:r>
          </a:p>
        </p:txBody>
      </p:sp>
      <p:sp>
        <p:nvSpPr>
          <p:cNvPr id="13" name="TextBox 12">
            <a:extLst>
              <a:ext uri="{FF2B5EF4-FFF2-40B4-BE49-F238E27FC236}">
                <a16:creationId xmlns:a16="http://schemas.microsoft.com/office/drawing/2014/main" id="{670CEF91-2EEB-4EAF-93B2-812ED4552DC3}"/>
              </a:ext>
            </a:extLst>
          </p:cNvPr>
          <p:cNvSpPr txBox="1"/>
          <p:nvPr/>
        </p:nvSpPr>
        <p:spPr>
          <a:xfrm>
            <a:off x="4559300" y="1981200"/>
            <a:ext cx="3073400" cy="762000"/>
          </a:xfrm>
          <a:prstGeom prst="rect">
            <a:avLst/>
          </a:prstGeom>
          <a:noFill/>
        </p:spPr>
        <p:txBody>
          <a:bodyPr vertOverflow="overflow" vert="horz" wrap="square" rtlCol="0" anchor="t">
            <a:noAutofit/>
          </a:bodyPr>
          <a:lstStyle/>
          <a:p>
            <a:pPr algn="l"/>
            <a:r>
              <a:rPr lang="en-US" sz="1500">
                <a:solidFill>
                  <a:srgbClr val="FFFFFF"/>
                </a:solidFill>
              </a:rPr>
              <a:t>"CPU across six hours, per host."</a:t>
            </a:r>
          </a:p>
        </p:txBody>
      </p:sp>
      <p:sp>
        <p:nvSpPr>
          <p:cNvPr id="14" name="Rectangle 13">
            <a:extLst>
              <a:ext uri="{FF2B5EF4-FFF2-40B4-BE49-F238E27FC236}">
                <a16:creationId xmlns:a16="http://schemas.microsoft.com/office/drawing/2014/main" id="{2C9CB348-A129-4517-9454-62FE05DFC274}"/>
              </a:ext>
            </a:extLst>
          </p:cNvPr>
          <p:cNvSpPr/>
          <p:nvPr/>
        </p:nvSpPr>
        <p:spPr>
          <a:xfrm>
            <a:off x="4533900" y="28448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Time series</a:t>
            </a:r>
          </a:p>
        </p:txBody>
      </p:sp>
      <p:sp>
        <p:nvSpPr>
          <p:cNvPr id="15" name="Rectangle 14">
            <a:extLst>
              <a:ext uri="{FF2B5EF4-FFF2-40B4-BE49-F238E27FC236}">
                <a16:creationId xmlns:a16="http://schemas.microsoft.com/office/drawing/2014/main" id="{2E549F7C-B705-49C0-9C01-072CE985F3F0}"/>
              </a:ext>
            </a:extLst>
          </p:cNvPr>
          <p:cNvSpPr/>
          <p:nvPr/>
        </p:nvSpPr>
        <p:spPr>
          <a:xfrm>
            <a:off x="80010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C67CB0A2-BB7A-484D-9DB7-47D62BB7DF42}"/>
              </a:ext>
            </a:extLst>
          </p:cNvPr>
          <p:cNvSpPr/>
          <p:nvPr/>
        </p:nvSpPr>
        <p:spPr>
          <a:xfrm>
            <a:off x="8001000" y="1320800"/>
            <a:ext cx="34290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7CCD62ED-010A-442E-A260-46E66E65F393}"/>
              </a:ext>
            </a:extLst>
          </p:cNvPr>
          <p:cNvSpPr/>
          <p:nvPr/>
        </p:nvSpPr>
        <p:spPr>
          <a:xfrm>
            <a:off x="8153400" y="1524000"/>
            <a:ext cx="4064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3</a:t>
            </a:r>
          </a:p>
        </p:txBody>
      </p:sp>
      <p:sp>
        <p:nvSpPr>
          <p:cNvPr id="18" name="TextBox 17">
            <a:extLst>
              <a:ext uri="{FF2B5EF4-FFF2-40B4-BE49-F238E27FC236}">
                <a16:creationId xmlns:a16="http://schemas.microsoft.com/office/drawing/2014/main" id="{5F53AF7C-4F87-43E0-957D-5115F7ECF465}"/>
              </a:ext>
            </a:extLst>
          </p:cNvPr>
          <p:cNvSpPr txBox="1"/>
          <p:nvPr/>
        </p:nvSpPr>
        <p:spPr>
          <a:xfrm>
            <a:off x="8178800" y="1981200"/>
            <a:ext cx="3073400" cy="762000"/>
          </a:xfrm>
          <a:prstGeom prst="rect">
            <a:avLst/>
          </a:prstGeom>
          <a:noFill/>
        </p:spPr>
        <p:txBody>
          <a:bodyPr vertOverflow="overflow" vert="horz" wrap="square" rtlCol="0" anchor="t">
            <a:noAutofit/>
          </a:bodyPr>
          <a:lstStyle/>
          <a:p>
            <a:pPr algn="l"/>
            <a:r>
              <a:rPr lang="en-US" sz="1500">
                <a:solidFill>
                  <a:srgbClr val="FFFFFF"/>
                </a:solidFill>
              </a:rPr>
              <a:t>"Disk used against its limit."</a:t>
            </a:r>
          </a:p>
        </p:txBody>
      </p:sp>
      <p:sp>
        <p:nvSpPr>
          <p:cNvPr id="19" name="Rectangle 18">
            <a:extLst>
              <a:ext uri="{FF2B5EF4-FFF2-40B4-BE49-F238E27FC236}">
                <a16:creationId xmlns:a16="http://schemas.microsoft.com/office/drawing/2014/main" id="{46D2F2DE-D4C3-4D1B-812D-DB3EFBC31148}"/>
              </a:ext>
            </a:extLst>
          </p:cNvPr>
          <p:cNvSpPr/>
          <p:nvPr/>
        </p:nvSpPr>
        <p:spPr>
          <a:xfrm>
            <a:off x="8153400" y="28448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Gauge</a:t>
            </a:r>
          </a:p>
        </p:txBody>
      </p:sp>
      <p:sp>
        <p:nvSpPr>
          <p:cNvPr id="20" name="Rectangle 19">
            <a:extLst>
              <a:ext uri="{FF2B5EF4-FFF2-40B4-BE49-F238E27FC236}">
                <a16:creationId xmlns:a16="http://schemas.microsoft.com/office/drawing/2014/main" id="{8E48478D-A0DA-4349-BDDE-C6E510C98279}"/>
              </a:ext>
            </a:extLst>
          </p:cNvPr>
          <p:cNvSpPr/>
          <p:nvPr/>
        </p:nvSpPr>
        <p:spPr>
          <a:xfrm>
            <a:off x="7620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A12FB7E0-CC19-4FB5-8C18-AF299D0E3C2E}"/>
              </a:ext>
            </a:extLst>
          </p:cNvPr>
          <p:cNvSpPr/>
          <p:nvPr/>
        </p:nvSpPr>
        <p:spPr>
          <a:xfrm>
            <a:off x="762000" y="3784600"/>
            <a:ext cx="3429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40C8D9EE-C519-4702-9EE0-6D90CD48A99F}"/>
              </a:ext>
            </a:extLst>
          </p:cNvPr>
          <p:cNvSpPr/>
          <p:nvPr/>
        </p:nvSpPr>
        <p:spPr>
          <a:xfrm>
            <a:off x="914400" y="3987800"/>
            <a:ext cx="4064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4</a:t>
            </a:r>
          </a:p>
        </p:txBody>
      </p:sp>
      <p:sp>
        <p:nvSpPr>
          <p:cNvPr id="23" name="TextBox 22">
            <a:extLst>
              <a:ext uri="{FF2B5EF4-FFF2-40B4-BE49-F238E27FC236}">
                <a16:creationId xmlns:a16="http://schemas.microsoft.com/office/drawing/2014/main" id="{02EB3B81-0F4B-42FF-B242-2C0075D80901}"/>
              </a:ext>
            </a:extLst>
          </p:cNvPr>
          <p:cNvSpPr txBox="1"/>
          <p:nvPr/>
        </p:nvSpPr>
        <p:spPr>
          <a:xfrm>
            <a:off x="939800" y="4445000"/>
            <a:ext cx="3073400" cy="762000"/>
          </a:xfrm>
          <a:prstGeom prst="rect">
            <a:avLst/>
          </a:prstGeom>
          <a:noFill/>
        </p:spPr>
        <p:txBody>
          <a:bodyPr vertOverflow="overflow" vert="horz" wrap="square" rtlCol="0" anchor="t">
            <a:noAutofit/>
          </a:bodyPr>
          <a:lstStyle/>
          <a:p>
            <a:pPr algn="l"/>
            <a:r>
              <a:rPr lang="en-US" sz="1500">
                <a:solidFill>
                  <a:srgbClr val="FFFFFF"/>
                </a:solidFill>
              </a:rPr>
              <a:t>"Ten slowest endpoints, sortable."</a:t>
            </a:r>
          </a:p>
        </p:txBody>
      </p:sp>
      <p:sp>
        <p:nvSpPr>
          <p:cNvPr id="24" name="Rectangle 23">
            <a:extLst>
              <a:ext uri="{FF2B5EF4-FFF2-40B4-BE49-F238E27FC236}">
                <a16:creationId xmlns:a16="http://schemas.microsoft.com/office/drawing/2014/main" id="{3198F059-DD86-4257-852F-8E206ABDF641}"/>
              </a:ext>
            </a:extLst>
          </p:cNvPr>
          <p:cNvSpPr/>
          <p:nvPr/>
        </p:nvSpPr>
        <p:spPr>
          <a:xfrm>
            <a:off x="914400" y="53086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Table</a:t>
            </a:r>
          </a:p>
        </p:txBody>
      </p:sp>
      <p:sp>
        <p:nvSpPr>
          <p:cNvPr id="25" name="Rectangle 24">
            <a:extLst>
              <a:ext uri="{FF2B5EF4-FFF2-40B4-BE49-F238E27FC236}">
                <a16:creationId xmlns:a16="http://schemas.microsoft.com/office/drawing/2014/main" id="{06F27E2F-2363-47FC-8904-804274D60809}"/>
              </a:ext>
            </a:extLst>
          </p:cNvPr>
          <p:cNvSpPr/>
          <p:nvPr/>
        </p:nvSpPr>
        <p:spPr>
          <a:xfrm>
            <a:off x="43815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E30A9D7E-9873-40BE-B664-00E9DE20B4B5}"/>
              </a:ext>
            </a:extLst>
          </p:cNvPr>
          <p:cNvSpPr/>
          <p:nvPr/>
        </p:nvSpPr>
        <p:spPr>
          <a:xfrm>
            <a:off x="4381500" y="3784600"/>
            <a:ext cx="3429000" cy="50800"/>
          </a:xfrm>
          <a:prstGeom prst="rect">
            <a:avLst/>
          </a:prstGeom>
          <a:solidFill>
            <a:srgbClr val="FF98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EC6ECACD-02AB-4BAE-988A-324A5AD833E8}"/>
              </a:ext>
            </a:extLst>
          </p:cNvPr>
          <p:cNvSpPr/>
          <p:nvPr/>
        </p:nvSpPr>
        <p:spPr>
          <a:xfrm>
            <a:off x="4533900" y="3987800"/>
            <a:ext cx="406400" cy="355600"/>
          </a:xfrm>
          <a:prstGeom prst="rect">
            <a:avLst/>
          </a:prstGeom>
          <a:solidFill>
            <a:srgbClr val="FF98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5</a:t>
            </a:r>
          </a:p>
        </p:txBody>
      </p:sp>
      <p:sp>
        <p:nvSpPr>
          <p:cNvPr id="28" name="TextBox 27">
            <a:extLst>
              <a:ext uri="{FF2B5EF4-FFF2-40B4-BE49-F238E27FC236}">
                <a16:creationId xmlns:a16="http://schemas.microsoft.com/office/drawing/2014/main" id="{3A5CA2B6-2EF3-4228-AD07-54A8CC9F1568}"/>
              </a:ext>
            </a:extLst>
          </p:cNvPr>
          <p:cNvSpPr txBox="1"/>
          <p:nvPr/>
        </p:nvSpPr>
        <p:spPr>
          <a:xfrm>
            <a:off x="4559300" y="4445000"/>
            <a:ext cx="3073400" cy="762000"/>
          </a:xfrm>
          <a:prstGeom prst="rect">
            <a:avLst/>
          </a:prstGeom>
          <a:noFill/>
        </p:spPr>
        <p:txBody>
          <a:bodyPr vertOverflow="overflow" vert="horz" wrap="square" rtlCol="0" anchor="t">
            <a:noAutofit/>
          </a:bodyPr>
          <a:lstStyle/>
          <a:p>
            <a:pPr algn="l"/>
            <a:r>
              <a:rPr lang="en-US" sz="1500">
                <a:solidFill>
                  <a:srgbClr val="FFFFFF"/>
                </a:solidFill>
              </a:rPr>
              <a:t>"Where latency bunches up over time."</a:t>
            </a:r>
          </a:p>
        </p:txBody>
      </p:sp>
      <p:sp>
        <p:nvSpPr>
          <p:cNvPr id="29" name="Rectangle 28">
            <a:extLst>
              <a:ext uri="{FF2B5EF4-FFF2-40B4-BE49-F238E27FC236}">
                <a16:creationId xmlns:a16="http://schemas.microsoft.com/office/drawing/2014/main" id="{981DFC61-ADB6-4FDB-BA12-C3E6D7A8B0D0}"/>
              </a:ext>
            </a:extLst>
          </p:cNvPr>
          <p:cNvSpPr/>
          <p:nvPr/>
        </p:nvSpPr>
        <p:spPr>
          <a:xfrm>
            <a:off x="4533900" y="53086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Heatmap</a:t>
            </a:r>
          </a:p>
        </p:txBody>
      </p:sp>
      <p:sp>
        <p:nvSpPr>
          <p:cNvPr id="30" name="Rectangle 29">
            <a:extLst>
              <a:ext uri="{FF2B5EF4-FFF2-40B4-BE49-F238E27FC236}">
                <a16:creationId xmlns:a16="http://schemas.microsoft.com/office/drawing/2014/main" id="{A8CEE061-9681-4993-A9BC-327E953F6BFC}"/>
              </a:ext>
            </a:extLst>
          </p:cNvPr>
          <p:cNvSpPr/>
          <p:nvPr/>
        </p:nvSpPr>
        <p:spPr>
          <a:xfrm>
            <a:off x="80010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65ED3BA6-1F82-449A-9D4E-CC19EE43C6C0}"/>
              </a:ext>
            </a:extLst>
          </p:cNvPr>
          <p:cNvSpPr/>
          <p:nvPr/>
        </p:nvSpPr>
        <p:spPr>
          <a:xfrm>
            <a:off x="8001000" y="3784600"/>
            <a:ext cx="3429000" cy="508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B9474BCD-199D-43F7-8594-89C70014B58A}"/>
              </a:ext>
            </a:extLst>
          </p:cNvPr>
          <p:cNvSpPr/>
          <p:nvPr/>
        </p:nvSpPr>
        <p:spPr>
          <a:xfrm>
            <a:off x="8153400" y="3987800"/>
            <a:ext cx="406400" cy="3556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6</a:t>
            </a:r>
          </a:p>
        </p:txBody>
      </p:sp>
      <p:sp>
        <p:nvSpPr>
          <p:cNvPr id="33" name="TextBox 32">
            <a:extLst>
              <a:ext uri="{FF2B5EF4-FFF2-40B4-BE49-F238E27FC236}">
                <a16:creationId xmlns:a16="http://schemas.microsoft.com/office/drawing/2014/main" id="{C6DACCA3-B2DD-48DA-AC42-4D5F14388ED6}"/>
              </a:ext>
            </a:extLst>
          </p:cNvPr>
          <p:cNvSpPr txBox="1"/>
          <p:nvPr/>
        </p:nvSpPr>
        <p:spPr>
          <a:xfrm>
            <a:off x="8178800" y="4445000"/>
            <a:ext cx="3073400" cy="762000"/>
          </a:xfrm>
          <a:prstGeom prst="rect">
            <a:avLst/>
          </a:prstGeom>
          <a:noFill/>
        </p:spPr>
        <p:txBody>
          <a:bodyPr vertOverflow="overflow" vert="horz" wrap="square" rtlCol="0" anchor="t">
            <a:noAutofit/>
          </a:bodyPr>
          <a:lstStyle/>
          <a:p>
            <a:pPr algn="l"/>
            <a:r>
              <a:rPr lang="en-US" sz="1500">
                <a:solidFill>
                  <a:srgbClr val="FFFFFF"/>
                </a:solidFill>
              </a:rPr>
              <a:t>"Error rate by region, on a map."</a:t>
            </a:r>
          </a:p>
        </p:txBody>
      </p:sp>
      <p:sp>
        <p:nvSpPr>
          <p:cNvPr id="34" name="Rectangle 33">
            <a:extLst>
              <a:ext uri="{FF2B5EF4-FFF2-40B4-BE49-F238E27FC236}">
                <a16:creationId xmlns:a16="http://schemas.microsoft.com/office/drawing/2014/main" id="{0B4F441C-A6D4-4473-AACE-660FD22568A7}"/>
              </a:ext>
            </a:extLst>
          </p:cNvPr>
          <p:cNvSpPr/>
          <p:nvPr/>
        </p:nvSpPr>
        <p:spPr>
          <a:xfrm>
            <a:off x="8153400" y="5308600"/>
            <a:ext cx="3124200" cy="482600"/>
          </a:xfrm>
          <a:prstGeom prst="rect">
            <a:avLst/>
          </a:prstGeom>
          <a:solidFill>
            <a:srgbClr val="16261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700" b="1">
                <a:solidFill>
                  <a:srgbClr val="7FD46F"/>
                </a:solidFill>
              </a:rPr>
              <a:t>Geomap</a:t>
            </a:r>
          </a:p>
        </p:txBody>
      </p:sp>
    </p:spTree>
    <p:extLst>
      <p:ext uri="{BB962C8B-B14F-4D97-AF65-F5344CB8AC3E}">
        <p14:creationId xmlns:p14="http://schemas.microsoft.com/office/powerpoint/2010/main" val="5665774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8311-5473-F98C-86A7-B1E1CA9A1B60}"/>
              </a:ext>
            </a:extLst>
          </p:cNvPr>
          <p:cNvSpPr>
            <a:spLocks noGrp="1"/>
          </p:cNvSpPr>
          <p:nvPr>
            <p:ph type="title"/>
          </p:nvPr>
        </p:nvSpPr>
        <p:spPr>
          <a:xfrm>
            <a:off x="838200" y="2489200"/>
            <a:ext cx="6350000" cy="1016000"/>
          </a:xfrm>
        </p:spPr>
        <p:txBody>
          <a:bodyPr>
            <a:normAutofit fontScale="90000"/>
          </a:bodyPr>
          <a:lstStyle/>
          <a:p>
            <a:pPr algn="l">
              <a:buNone/>
            </a:pPr>
            <a:r>
              <a:rPr lang="en-US"/>
              <a:t>Lab 3: Dashboards</a:t>
            </a:r>
            <a:endParaRPr lang="en-US" dirty="0"/>
          </a:p>
        </p:txBody>
      </p:sp>
      <p:sp>
        <p:nvSpPr>
          <p:cNvPr id="3" name="Text Placeholder 2">
            <a:extLst>
              <a:ext uri="{FF2B5EF4-FFF2-40B4-BE49-F238E27FC236}">
                <a16:creationId xmlns:a16="http://schemas.microsoft.com/office/drawing/2014/main" id="{912B38F1-F4C2-9AC5-69D6-9D0E077B621C}"/>
              </a:ext>
            </a:extLst>
          </p:cNvPr>
          <p:cNvSpPr>
            <a:spLocks noGrp="1"/>
          </p:cNvSpPr>
          <p:nvPr>
            <p:ph type="body" idx="1"/>
          </p:nvPr>
        </p:nvSpPr>
        <p:spPr>
          <a:xfrm>
            <a:off x="838200" y="3632200"/>
            <a:ext cx="9398000" cy="762000"/>
          </a:xfrm>
        </p:spPr>
        <p:txBody>
          <a:bodyPr/>
          <a:lstStyle/>
          <a:p>
            <a:pPr algn="l">
              <a:buNone/>
            </a:pPr>
            <a:r>
              <a:rPr lang="en-US" sz="1700" b="0" dirty="0">
                <a:solidFill>
                  <a:srgbClr val="A9B2C1"/>
                </a:solidFill>
              </a:rPr>
              <a:t>Five tasks, 30 minutes. Lay out a dashboard, then build one panel of each major type.</a:t>
            </a:r>
          </a:p>
        </p:txBody>
      </p:sp>
      <p:sp>
        <p:nvSpPr>
          <p:cNvPr id="911" name="S911"/>
          <p:cNvSpPr/>
          <p:nvPr/>
        </p:nvSpPr>
        <p:spPr>
          <a:xfrm>
            <a:off x="7493000" y="1524000"/>
            <a:ext cx="3937000" cy="3048000"/>
          </a:xfrm>
          <a:prstGeom prst="rect">
            <a:avLst/>
          </a:prstGeom>
          <a:noFill/>
          <a:ln>
            <a:noFill/>
          </a:ln>
        </p:spPr>
        <p:txBody>
          <a:bodyPr wrap="square" lIns="0" tIns="50800" rIns="0" bIns="50800" anchor="ctr"/>
          <a:lstStyle/>
          <a:p>
            <a:pPr algn="r">
              <a:buNone/>
            </a:pPr>
            <a:r>
              <a:rPr lang="en-US" sz="11000" b="1" dirty="0">
                <a:solidFill>
                  <a:srgbClr val="1B202B"/>
                </a:solidFill>
              </a:rPr>
              <a:t>LAB</a:t>
            </a:r>
          </a:p>
        </p:txBody>
      </p:sp>
      <p:sp>
        <p:nvSpPr>
          <p:cNvPr id="912" name="S912"/>
          <p:cNvSpPr/>
          <p:nvPr/>
        </p:nvSpPr>
        <p:spPr>
          <a:xfrm>
            <a:off x="838200" y="1905000"/>
            <a:ext cx="3810000" cy="406400"/>
          </a:xfrm>
          <a:prstGeom prst="roundRect">
            <a:avLst/>
          </a:prstGeom>
          <a:solidFill>
            <a:srgbClr val="0C2010"/>
          </a:solidFill>
          <a:ln w="12700">
            <a:solidFill>
              <a:srgbClr val="56A64B"/>
            </a:solidFill>
          </a:ln>
        </p:spPr>
        <p:txBody>
          <a:bodyPr wrap="square" lIns="127000" tIns="50800" rIns="127000" bIns="50800" anchor="ctr"/>
          <a:lstStyle/>
          <a:p>
            <a:pPr algn="ctr">
              <a:buNone/>
            </a:pPr>
            <a:r>
              <a:rPr lang="en-US" sz="1400" b="1" dirty="0">
                <a:solidFill>
                  <a:srgbClr val="7FD46F"/>
                </a:solidFill>
              </a:rPr>
              <a:t>HANDS-ON LAB 3</a:t>
            </a:r>
          </a:p>
        </p:txBody>
      </p:sp>
      <p:sp>
        <p:nvSpPr>
          <p:cNvPr id="913" name="S913"/>
          <p:cNvSpPr/>
          <p:nvPr/>
        </p:nvSpPr>
        <p:spPr>
          <a:xfrm>
            <a:off x="838200" y="3581400"/>
            <a:ext cx="1524000" cy="50800"/>
          </a:xfrm>
          <a:prstGeom prst="rect">
            <a:avLst/>
          </a:prstGeom>
          <a:solidFill>
            <a:srgbClr val="56A64B"/>
          </a:solidFill>
          <a:ln>
            <a:noFill/>
          </a:ln>
        </p:spPr>
        <p:txBody>
          <a:bodyPr wrap="square" lIns="127000" tIns="50800" rIns="127000" bIns="50800" anchor="ctr"/>
          <a:lstStyle/>
          <a:p>
            <a:endParaRPr/>
          </a:p>
        </p:txBody>
      </p:sp>
      <p:sp>
        <p:nvSpPr>
          <p:cNvPr id="4" name="Lab1Callback">
            <a:extLst>
              <a:ext uri="{FF2B5EF4-FFF2-40B4-BE49-F238E27FC236}">
                <a16:creationId xmlns:a16="http://schemas.microsoft.com/office/drawing/2014/main" id="{699D8AF7-B96F-455D-9E47-8DF45A2E3C09}"/>
              </a:ext>
            </a:extLst>
          </p:cNvPr>
          <p:cNvSpPr txBox="1"/>
          <p:nvPr/>
        </p:nvSpPr>
        <p:spPr>
          <a:xfrm>
            <a:off x="838200" y="4470400"/>
            <a:ext cx="9398000" cy="330200"/>
          </a:xfrm>
          <a:prstGeom prst="rect">
            <a:avLst/>
          </a:prstGeom>
          <a:noFill/>
        </p:spPr>
        <p:txBody>
          <a:bodyPr vertOverflow="overflow" vert="horz" wrap="square" rtlCol="0" anchor="t" anchorCtr="0">
            <a:noAutofit/>
          </a:bodyPr>
          <a:lstStyle/>
          <a:p>
            <a:pPr algn="l">
              <a:buNone/>
            </a:pPr>
            <a:r>
              <a:rPr lang="en-US" sz="1500" b="0" i="1" dirty="0">
                <a:solidFill>
                  <a:srgbClr val="D6DDE6"/>
                </a:solidFill>
              </a:rPr>
              <a:t>Builds on Modules 7 and 8 — uses the data sources you wired in Lab 1.</a:t>
            </a:r>
          </a:p>
        </p:txBody>
      </p:sp>
    </p:spTree>
    <p:extLst>
      <p:ext uri="{BB962C8B-B14F-4D97-AF65-F5344CB8AC3E}">
        <p14:creationId xmlns:p14="http://schemas.microsoft.com/office/powerpoint/2010/main" val="21924362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E83E-DEAB-ABB8-EB72-7112C3BA73DC}"/>
              </a:ext>
            </a:extLst>
          </p:cNvPr>
          <p:cNvSpPr>
            <a:spLocks noGrp="1"/>
          </p:cNvSpPr>
          <p:nvPr>
            <p:ph type="title"/>
          </p:nvPr>
        </p:nvSpPr>
        <p:spPr>
          <a:xfrm>
            <a:off x="762000" y="279400"/>
            <a:ext cx="10668000" cy="508000"/>
          </a:xfrm>
        </p:spPr>
        <p:txBody>
          <a:bodyPr>
            <a:normAutofit fontScale="90000"/>
          </a:bodyPr>
          <a:lstStyle/>
          <a:p>
            <a:pPr algn="l">
              <a:buNone/>
            </a:pPr>
            <a:r>
              <a:rPr lang="en-US" dirty="0"/>
              <a:t>Lab 3: Tasks and Checkpoints</a:t>
            </a:r>
          </a:p>
        </p:txBody>
      </p:sp>
      <p:sp>
        <p:nvSpPr>
          <p:cNvPr id="1001" name="S1001"/>
          <p:cNvSpPr/>
          <p:nvPr/>
        </p:nvSpPr>
        <p:spPr>
          <a:xfrm>
            <a:off x="762000" y="812800"/>
            <a:ext cx="1524000" cy="50800"/>
          </a:xfrm>
          <a:prstGeom prst="rect">
            <a:avLst/>
          </a:prstGeom>
          <a:solidFill>
            <a:srgbClr val="56A64B"/>
          </a:solidFill>
          <a:ln>
            <a:noFill/>
          </a:ln>
        </p:spPr>
        <p:txBody>
          <a:bodyPr wrap="square" lIns="127000" tIns="50800" rIns="127000" bIns="50800" anchor="ctr"/>
          <a:lstStyle/>
          <a:p>
            <a:endParaRPr/>
          </a:p>
        </p:txBody>
      </p:sp>
      <p:sp>
        <p:nvSpPr>
          <p:cNvPr id="1002" name="S1002"/>
          <p:cNvSpPr/>
          <p:nvPr/>
        </p:nvSpPr>
        <p:spPr>
          <a:xfrm>
            <a:off x="762000" y="914400"/>
            <a:ext cx="10668000" cy="279400"/>
          </a:xfrm>
          <a:prstGeom prst="rect">
            <a:avLst/>
          </a:prstGeom>
          <a:noFill/>
          <a:ln>
            <a:noFill/>
          </a:ln>
        </p:spPr>
        <p:txBody>
          <a:bodyPr wrap="square" lIns="0" tIns="50800" rIns="0" bIns="50800" anchor="ctr"/>
          <a:lstStyle/>
          <a:p>
            <a:pPr algn="l">
              <a:buNone/>
            </a:pPr>
            <a:r>
              <a:rPr lang="en-US" sz="1500" b="0" dirty="0">
                <a:solidFill>
                  <a:srgbClr val="98A2B3"/>
                </a:solidFill>
              </a:rPr>
              <a:t>30 minutes | work through them in order | checkpoint must pass before you move on</a:t>
            </a:r>
          </a:p>
        </p:txBody>
      </p:sp>
      <p:sp>
        <p:nvSpPr>
          <p:cNvPr id="1003" name="S1003"/>
          <p:cNvSpPr/>
          <p:nvPr/>
        </p:nvSpPr>
        <p:spPr>
          <a:xfrm>
            <a:off x="762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04" name="S1004"/>
          <p:cNvSpPr/>
          <p:nvPr/>
        </p:nvSpPr>
        <p:spPr>
          <a:xfrm>
            <a:off x="762000" y="1295400"/>
            <a:ext cx="3429000" cy="50800"/>
          </a:xfrm>
          <a:prstGeom prst="rect">
            <a:avLst/>
          </a:prstGeom>
          <a:solidFill>
            <a:srgbClr val="F46800"/>
          </a:solidFill>
          <a:ln>
            <a:noFill/>
          </a:ln>
        </p:spPr>
        <p:txBody>
          <a:bodyPr wrap="square" lIns="127000" tIns="50800" rIns="127000" bIns="50800" anchor="ctr"/>
          <a:lstStyle/>
          <a:p>
            <a:endParaRPr/>
          </a:p>
        </p:txBody>
      </p:sp>
      <p:sp>
        <p:nvSpPr>
          <p:cNvPr id="1005" name="S1005"/>
          <p:cNvSpPr/>
          <p:nvPr/>
        </p:nvSpPr>
        <p:spPr>
          <a:xfrm>
            <a:off x="914400" y="1447800"/>
            <a:ext cx="406400" cy="355600"/>
          </a:xfrm>
          <a:prstGeom prst="roundRect">
            <a:avLst/>
          </a:prstGeom>
          <a:solidFill>
            <a:srgbClr val="F46800"/>
          </a:solidFill>
          <a:ln>
            <a:noFill/>
          </a:ln>
        </p:spPr>
        <p:txBody>
          <a:bodyPr wrap="square" lIns="0" tIns="50800" rIns="0" bIns="50800" anchor="ctr"/>
          <a:lstStyle/>
          <a:p>
            <a:pPr algn="ctr">
              <a:buNone/>
            </a:pPr>
            <a:r>
              <a:rPr lang="en-US" sz="1500" b="1" dirty="0">
                <a:solidFill>
                  <a:srgbClr val="000000"/>
                </a:solidFill>
              </a:rPr>
              <a:t>1</a:t>
            </a:r>
          </a:p>
        </p:txBody>
      </p:sp>
      <p:sp>
        <p:nvSpPr>
          <p:cNvPr id="1006" name="S1006"/>
          <p:cNvSpPr/>
          <p:nvPr/>
        </p:nvSpPr>
        <p:spPr>
          <a:xfrm>
            <a:off x="1397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Lay out the board</a:t>
            </a:r>
          </a:p>
        </p:txBody>
      </p:sp>
      <p:sp>
        <p:nvSpPr>
          <p:cNvPr id="1007" name="S1007"/>
          <p:cNvSpPr/>
          <p:nvPr/>
        </p:nvSpPr>
        <p:spPr>
          <a:xfrm>
            <a:off x="914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New dashboard, name it Host Health</a:t>
            </a:r>
          </a:p>
          <a:p>
            <a:pPr marL="140000" indent="-140000">
              <a:lnSpc>
                <a:spcPts val="1700"/>
              </a:lnSpc>
              <a:spcBef>
                <a:spcPts val="300"/>
              </a:spcBef>
              <a:buFont typeface="Arial"/>
              <a:buChar char="•"/>
            </a:pPr>
            <a:r>
              <a:rPr lang="en-US" sz="1400" dirty="0">
                <a:solidFill>
                  <a:srgbClr val="B4BECC"/>
                </a:solidFill>
              </a:rPr>
              <a:t>Two rows: Overview and Detail</a:t>
            </a:r>
          </a:p>
          <a:p>
            <a:pPr marL="140000" indent="-140000">
              <a:lnSpc>
                <a:spcPts val="1700"/>
              </a:lnSpc>
              <a:spcBef>
                <a:spcPts val="300"/>
              </a:spcBef>
              <a:buFont typeface="Arial"/>
              <a:buChar char="•"/>
            </a:pPr>
            <a:r>
              <a:rPr lang="en-US" sz="1400" dirty="0">
                <a:solidFill>
                  <a:srgbClr val="B4BECC"/>
                </a:solidFill>
              </a:rPr>
              <a:t>Set refresh to 30s</a:t>
            </a:r>
          </a:p>
        </p:txBody>
      </p:sp>
      <p:sp>
        <p:nvSpPr>
          <p:cNvPr id="1008" name="S1008"/>
          <p:cNvSpPr/>
          <p:nvPr/>
        </p:nvSpPr>
        <p:spPr>
          <a:xfrm>
            <a:off x="914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09" name="S1009"/>
          <p:cNvSpPr/>
          <p:nvPr/>
        </p:nvSpPr>
        <p:spPr>
          <a:xfrm>
            <a:off x="1016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both rows collapse cleanly</a:t>
            </a:r>
          </a:p>
        </p:txBody>
      </p:sp>
      <p:sp>
        <p:nvSpPr>
          <p:cNvPr id="1010" name="S1010"/>
          <p:cNvSpPr/>
          <p:nvPr/>
        </p:nvSpPr>
        <p:spPr>
          <a:xfrm>
            <a:off x="43815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1" name="S1011"/>
          <p:cNvSpPr/>
          <p:nvPr/>
        </p:nvSpPr>
        <p:spPr>
          <a:xfrm>
            <a:off x="4381500" y="1295400"/>
            <a:ext cx="3429000" cy="50800"/>
          </a:xfrm>
          <a:prstGeom prst="rect">
            <a:avLst/>
          </a:prstGeom>
          <a:solidFill>
            <a:srgbClr val="FF9830"/>
          </a:solidFill>
          <a:ln>
            <a:noFill/>
          </a:ln>
        </p:spPr>
        <p:txBody>
          <a:bodyPr wrap="square" lIns="127000" tIns="50800" rIns="127000" bIns="50800" anchor="ctr"/>
          <a:lstStyle/>
          <a:p>
            <a:endParaRPr/>
          </a:p>
        </p:txBody>
      </p:sp>
      <p:sp>
        <p:nvSpPr>
          <p:cNvPr id="1012" name="S1012"/>
          <p:cNvSpPr/>
          <p:nvPr/>
        </p:nvSpPr>
        <p:spPr>
          <a:xfrm>
            <a:off x="4533900" y="1447800"/>
            <a:ext cx="406400" cy="355600"/>
          </a:xfrm>
          <a:prstGeom prst="roundRect">
            <a:avLst/>
          </a:prstGeom>
          <a:solidFill>
            <a:srgbClr val="FF9830"/>
          </a:solidFill>
          <a:ln>
            <a:noFill/>
          </a:ln>
        </p:spPr>
        <p:txBody>
          <a:bodyPr wrap="square" lIns="0" tIns="50800" rIns="0" bIns="50800" anchor="ctr"/>
          <a:lstStyle/>
          <a:p>
            <a:pPr algn="ctr">
              <a:buNone/>
            </a:pPr>
            <a:r>
              <a:rPr lang="en-US" sz="1500" b="1" dirty="0">
                <a:solidFill>
                  <a:srgbClr val="000000"/>
                </a:solidFill>
              </a:rPr>
              <a:t>2</a:t>
            </a:r>
          </a:p>
        </p:txBody>
      </p:sp>
      <p:sp>
        <p:nvSpPr>
          <p:cNvPr id="1013" name="S1013"/>
          <p:cNvSpPr/>
          <p:nvPr/>
        </p:nvSpPr>
        <p:spPr>
          <a:xfrm>
            <a:off x="50165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Time series panel</a:t>
            </a:r>
          </a:p>
        </p:txBody>
      </p:sp>
      <p:sp>
        <p:nvSpPr>
          <p:cNvPr id="1014" name="S1014"/>
          <p:cNvSpPr/>
          <p:nvPr/>
        </p:nvSpPr>
        <p:spPr>
          <a:xfrm>
            <a:off x="45339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CPU: rate(node_cpu_seconds_total)</a:t>
            </a:r>
          </a:p>
          <a:p>
            <a:pPr marL="140000" indent="-140000">
              <a:lnSpc>
                <a:spcPts val="1700"/>
              </a:lnSpc>
              <a:spcBef>
                <a:spcPts val="300"/>
              </a:spcBef>
              <a:buFont typeface="Arial"/>
              <a:buChar char="•"/>
            </a:pPr>
            <a:r>
              <a:rPr lang="en-US" sz="1400" dirty="0">
                <a:solidFill>
                  <a:srgbClr val="B4BECC"/>
                </a:solidFill>
              </a:rPr>
              <a:t>Legend {{instance}}, unit percent</a:t>
            </a:r>
          </a:p>
          <a:p>
            <a:pPr marL="140000" indent="-140000">
              <a:lnSpc>
                <a:spcPts val="1700"/>
              </a:lnSpc>
              <a:spcBef>
                <a:spcPts val="300"/>
              </a:spcBef>
              <a:buFont typeface="Arial"/>
              <a:buChar char="•"/>
            </a:pPr>
            <a:r>
              <a:rPr lang="en-US" sz="1400" dirty="0">
                <a:solidFill>
                  <a:srgbClr val="B4BECC"/>
                </a:solidFill>
              </a:rPr>
              <a:t>Add amber and red thresholds</a:t>
            </a:r>
          </a:p>
        </p:txBody>
      </p:sp>
      <p:sp>
        <p:nvSpPr>
          <p:cNvPr id="1015" name="S1015"/>
          <p:cNvSpPr/>
          <p:nvPr/>
        </p:nvSpPr>
        <p:spPr>
          <a:xfrm>
            <a:off x="45339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16" name="S1016"/>
          <p:cNvSpPr/>
          <p:nvPr/>
        </p:nvSpPr>
        <p:spPr>
          <a:xfrm>
            <a:off x="46355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lines named by instance</a:t>
            </a:r>
          </a:p>
        </p:txBody>
      </p:sp>
      <p:sp>
        <p:nvSpPr>
          <p:cNvPr id="1017" name="S1017"/>
          <p:cNvSpPr/>
          <p:nvPr/>
        </p:nvSpPr>
        <p:spPr>
          <a:xfrm>
            <a:off x="8001000" y="12954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18" name="S1018"/>
          <p:cNvSpPr/>
          <p:nvPr/>
        </p:nvSpPr>
        <p:spPr>
          <a:xfrm>
            <a:off x="8001000" y="1295400"/>
            <a:ext cx="3429000" cy="50800"/>
          </a:xfrm>
          <a:prstGeom prst="rect">
            <a:avLst/>
          </a:prstGeom>
          <a:solidFill>
            <a:srgbClr val="3274D9"/>
          </a:solidFill>
          <a:ln>
            <a:noFill/>
          </a:ln>
        </p:spPr>
        <p:txBody>
          <a:bodyPr wrap="square" lIns="127000" tIns="50800" rIns="127000" bIns="50800" anchor="ctr"/>
          <a:lstStyle/>
          <a:p>
            <a:endParaRPr/>
          </a:p>
        </p:txBody>
      </p:sp>
      <p:sp>
        <p:nvSpPr>
          <p:cNvPr id="1019" name="S1019"/>
          <p:cNvSpPr/>
          <p:nvPr/>
        </p:nvSpPr>
        <p:spPr>
          <a:xfrm>
            <a:off x="8153400" y="1447800"/>
            <a:ext cx="406400" cy="355600"/>
          </a:xfrm>
          <a:prstGeom prst="roundRect">
            <a:avLst/>
          </a:prstGeom>
          <a:solidFill>
            <a:srgbClr val="3274D9"/>
          </a:solidFill>
          <a:ln>
            <a:noFill/>
          </a:ln>
        </p:spPr>
        <p:txBody>
          <a:bodyPr wrap="square" lIns="0" tIns="50800" rIns="0" bIns="50800" anchor="ctr"/>
          <a:lstStyle/>
          <a:p>
            <a:pPr algn="ctr">
              <a:buNone/>
            </a:pPr>
            <a:r>
              <a:rPr lang="en-US" sz="1500" b="1" dirty="0">
                <a:solidFill>
                  <a:srgbClr val="000000"/>
                </a:solidFill>
              </a:rPr>
              <a:t>3</a:t>
            </a:r>
          </a:p>
        </p:txBody>
      </p:sp>
      <p:sp>
        <p:nvSpPr>
          <p:cNvPr id="1020" name="S1020"/>
          <p:cNvSpPr/>
          <p:nvPr/>
        </p:nvSpPr>
        <p:spPr>
          <a:xfrm>
            <a:off x="8636000" y="14478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Stat and gauge</a:t>
            </a:r>
          </a:p>
        </p:txBody>
      </p:sp>
      <p:sp>
        <p:nvSpPr>
          <p:cNvPr id="1021" name="S1021"/>
          <p:cNvSpPr/>
          <p:nvPr/>
        </p:nvSpPr>
        <p:spPr>
          <a:xfrm>
            <a:off x="8153400" y="18542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Stat: available memory, unit bytes</a:t>
            </a:r>
          </a:p>
          <a:p>
            <a:pPr marL="140000" indent="-140000">
              <a:lnSpc>
                <a:spcPts val="1700"/>
              </a:lnSpc>
              <a:spcBef>
                <a:spcPts val="300"/>
              </a:spcBef>
              <a:buFont typeface="Arial"/>
              <a:buChar char="•"/>
            </a:pPr>
            <a:r>
              <a:rPr lang="en-US" sz="1400" dirty="0">
                <a:solidFill>
                  <a:srgbClr val="B4BECC"/>
                </a:solidFill>
              </a:rPr>
              <a:t>Gauge: disk used, 0-100 range</a:t>
            </a:r>
          </a:p>
          <a:p>
            <a:pPr marL="140000" indent="-140000">
              <a:lnSpc>
                <a:spcPts val="1700"/>
              </a:lnSpc>
              <a:spcBef>
                <a:spcPts val="300"/>
              </a:spcBef>
              <a:buFont typeface="Arial"/>
              <a:buChar char="•"/>
            </a:pPr>
            <a:r>
              <a:rPr lang="en-US" sz="1400" dirty="0">
                <a:solidFill>
                  <a:srgbClr val="B4BECC"/>
                </a:solidFill>
              </a:rPr>
              <a:t>Calculation set to Last (not null)</a:t>
            </a:r>
          </a:p>
        </p:txBody>
      </p:sp>
      <p:sp>
        <p:nvSpPr>
          <p:cNvPr id="1022" name="S1022"/>
          <p:cNvSpPr/>
          <p:nvPr/>
        </p:nvSpPr>
        <p:spPr>
          <a:xfrm>
            <a:off x="8153400" y="28956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23" name="S1023"/>
          <p:cNvSpPr/>
          <p:nvPr/>
        </p:nvSpPr>
        <p:spPr>
          <a:xfrm>
            <a:off x="8255000" y="29464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both show live values</a:t>
            </a:r>
          </a:p>
        </p:txBody>
      </p:sp>
      <p:sp>
        <p:nvSpPr>
          <p:cNvPr id="1024" name="S1024"/>
          <p:cNvSpPr/>
          <p:nvPr/>
        </p:nvSpPr>
        <p:spPr>
          <a:xfrm>
            <a:off x="7620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25" name="S1025"/>
          <p:cNvSpPr/>
          <p:nvPr/>
        </p:nvSpPr>
        <p:spPr>
          <a:xfrm>
            <a:off x="762000" y="3733800"/>
            <a:ext cx="3429000" cy="50800"/>
          </a:xfrm>
          <a:prstGeom prst="rect">
            <a:avLst/>
          </a:prstGeom>
          <a:solidFill>
            <a:srgbClr val="B877D9"/>
          </a:solidFill>
          <a:ln>
            <a:noFill/>
          </a:ln>
        </p:spPr>
        <p:txBody>
          <a:bodyPr wrap="square" lIns="127000" tIns="50800" rIns="127000" bIns="50800" anchor="ctr"/>
          <a:lstStyle/>
          <a:p>
            <a:endParaRPr/>
          </a:p>
        </p:txBody>
      </p:sp>
      <p:sp>
        <p:nvSpPr>
          <p:cNvPr id="1026" name="S1026"/>
          <p:cNvSpPr/>
          <p:nvPr/>
        </p:nvSpPr>
        <p:spPr>
          <a:xfrm>
            <a:off x="914400" y="3886200"/>
            <a:ext cx="406400" cy="355600"/>
          </a:xfrm>
          <a:prstGeom prst="roundRect">
            <a:avLst/>
          </a:prstGeom>
          <a:solidFill>
            <a:srgbClr val="B877D9"/>
          </a:solidFill>
          <a:ln>
            <a:noFill/>
          </a:ln>
        </p:spPr>
        <p:txBody>
          <a:bodyPr wrap="square" lIns="0" tIns="50800" rIns="0" bIns="50800" anchor="ctr"/>
          <a:lstStyle/>
          <a:p>
            <a:pPr algn="ctr">
              <a:buNone/>
            </a:pPr>
            <a:r>
              <a:rPr lang="en-US" sz="1500" b="1" dirty="0">
                <a:solidFill>
                  <a:srgbClr val="000000"/>
                </a:solidFill>
              </a:rPr>
              <a:t>4</a:t>
            </a:r>
          </a:p>
        </p:txBody>
      </p:sp>
      <p:sp>
        <p:nvSpPr>
          <p:cNvPr id="1027" name="S1027"/>
          <p:cNvSpPr/>
          <p:nvPr/>
        </p:nvSpPr>
        <p:spPr>
          <a:xfrm>
            <a:off x="13970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Table and bar gauge</a:t>
            </a:r>
          </a:p>
        </p:txBody>
      </p:sp>
      <p:sp>
        <p:nvSpPr>
          <p:cNvPr id="1028" name="S1028"/>
          <p:cNvSpPr/>
          <p:nvPr/>
        </p:nvSpPr>
        <p:spPr>
          <a:xfrm>
            <a:off x="9144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Table: top orders from PostgreSQL</a:t>
            </a:r>
          </a:p>
          <a:p>
            <a:pPr marL="140000" indent="-140000">
              <a:lnSpc>
                <a:spcPts val="1700"/>
              </a:lnSpc>
              <a:spcBef>
                <a:spcPts val="300"/>
              </a:spcBef>
              <a:buFont typeface="Arial"/>
              <a:buChar char="•"/>
            </a:pPr>
            <a:r>
              <a:rPr lang="en-US" sz="1400" dirty="0">
                <a:solidFill>
                  <a:srgbClr val="B4BECC"/>
                </a:solidFill>
              </a:rPr>
              <a:t>Bar gauge: requests by instance</a:t>
            </a:r>
          </a:p>
          <a:p>
            <a:pPr marL="140000" indent="-140000">
              <a:lnSpc>
                <a:spcPts val="1700"/>
              </a:lnSpc>
              <a:spcBef>
                <a:spcPts val="300"/>
              </a:spcBef>
              <a:buFont typeface="Arial"/>
              <a:buChar char="•"/>
            </a:pPr>
            <a:r>
              <a:rPr lang="en-US" sz="1400" dirty="0">
                <a:solidFill>
                  <a:srgbClr val="B4BECC"/>
                </a:solidFill>
              </a:rPr>
              <a:t>Override column units and decimals</a:t>
            </a:r>
          </a:p>
        </p:txBody>
      </p:sp>
      <p:sp>
        <p:nvSpPr>
          <p:cNvPr id="1029" name="S1029"/>
          <p:cNvSpPr/>
          <p:nvPr/>
        </p:nvSpPr>
        <p:spPr>
          <a:xfrm>
            <a:off x="9144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0" name="S1030"/>
          <p:cNvSpPr/>
          <p:nvPr/>
        </p:nvSpPr>
        <p:spPr>
          <a:xfrm>
            <a:off x="10160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table sorts and units read right</a:t>
            </a:r>
          </a:p>
        </p:txBody>
      </p:sp>
      <p:sp>
        <p:nvSpPr>
          <p:cNvPr id="1031" name="S1031"/>
          <p:cNvSpPr/>
          <p:nvPr/>
        </p:nvSpPr>
        <p:spPr>
          <a:xfrm>
            <a:off x="4381500" y="3733800"/>
            <a:ext cx="3429000" cy="2311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032" name="S1032"/>
          <p:cNvSpPr/>
          <p:nvPr/>
        </p:nvSpPr>
        <p:spPr>
          <a:xfrm>
            <a:off x="4381500" y="3733800"/>
            <a:ext cx="3429000" cy="50800"/>
          </a:xfrm>
          <a:prstGeom prst="rect">
            <a:avLst/>
          </a:prstGeom>
          <a:solidFill>
            <a:srgbClr val="4ECDC4"/>
          </a:solidFill>
          <a:ln>
            <a:noFill/>
          </a:ln>
        </p:spPr>
        <p:txBody>
          <a:bodyPr wrap="square" lIns="127000" tIns="50800" rIns="127000" bIns="50800" anchor="ctr"/>
          <a:lstStyle/>
          <a:p>
            <a:endParaRPr/>
          </a:p>
        </p:txBody>
      </p:sp>
      <p:sp>
        <p:nvSpPr>
          <p:cNvPr id="1033" name="S1033"/>
          <p:cNvSpPr/>
          <p:nvPr/>
        </p:nvSpPr>
        <p:spPr>
          <a:xfrm>
            <a:off x="4533900" y="3886200"/>
            <a:ext cx="406400" cy="355600"/>
          </a:xfrm>
          <a:prstGeom prst="roundRect">
            <a:avLst/>
          </a:prstGeom>
          <a:solidFill>
            <a:srgbClr val="4ECDC4"/>
          </a:solidFill>
          <a:ln>
            <a:noFill/>
          </a:ln>
        </p:spPr>
        <p:txBody>
          <a:bodyPr wrap="square" lIns="0" tIns="50800" rIns="0" bIns="50800" anchor="ctr"/>
          <a:lstStyle/>
          <a:p>
            <a:pPr algn="ctr">
              <a:buNone/>
            </a:pPr>
            <a:r>
              <a:rPr lang="en-US" sz="1500" b="1" dirty="0">
                <a:solidFill>
                  <a:srgbClr val="000000"/>
                </a:solidFill>
              </a:rPr>
              <a:t>5</a:t>
            </a:r>
          </a:p>
        </p:txBody>
      </p:sp>
      <p:sp>
        <p:nvSpPr>
          <p:cNvPr id="1034" name="S1034"/>
          <p:cNvSpPr/>
          <p:nvPr/>
        </p:nvSpPr>
        <p:spPr>
          <a:xfrm>
            <a:off x="5016500" y="3886200"/>
            <a:ext cx="2616200" cy="355600"/>
          </a:xfrm>
          <a:prstGeom prst="rect">
            <a:avLst/>
          </a:prstGeom>
          <a:noFill/>
          <a:ln>
            <a:noFill/>
          </a:ln>
        </p:spPr>
        <p:txBody>
          <a:bodyPr wrap="square" lIns="0" tIns="50800" rIns="0" bIns="50800" anchor="ctr"/>
          <a:lstStyle/>
          <a:p>
            <a:pPr algn="l">
              <a:buNone/>
            </a:pPr>
            <a:r>
              <a:rPr lang="en-US" sz="1700" b="1" dirty="0">
                <a:solidFill>
                  <a:srgbClr val="FFFFFF"/>
                </a:solidFill>
              </a:rPr>
              <a:t>Heatmap and geomap</a:t>
            </a:r>
          </a:p>
        </p:txBody>
      </p:sp>
      <p:sp>
        <p:nvSpPr>
          <p:cNvPr id="1035" name="S1035"/>
          <p:cNvSpPr/>
          <p:nvPr/>
        </p:nvSpPr>
        <p:spPr>
          <a:xfrm>
            <a:off x="4533900" y="4292600"/>
            <a:ext cx="3124200" cy="9906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B4BECC"/>
                </a:solidFill>
              </a:rPr>
              <a:t>Heatmap of request duration buckets</a:t>
            </a:r>
          </a:p>
          <a:p>
            <a:pPr marL="140000" indent="-140000">
              <a:lnSpc>
                <a:spcPts val="1700"/>
              </a:lnSpc>
              <a:spcBef>
                <a:spcPts val="300"/>
              </a:spcBef>
              <a:buFont typeface="Arial"/>
              <a:buChar char="•"/>
            </a:pPr>
            <a:r>
              <a:rPr lang="en-US" sz="1400" dirty="0">
                <a:solidFill>
                  <a:srgbClr val="B4BECC"/>
                </a:solidFill>
              </a:rPr>
              <a:t>Geomap from a latitude field</a:t>
            </a:r>
          </a:p>
          <a:p>
            <a:pPr marL="140000" indent="-140000">
              <a:lnSpc>
                <a:spcPts val="1700"/>
              </a:lnSpc>
              <a:spcBef>
                <a:spcPts val="300"/>
              </a:spcBef>
              <a:buFont typeface="Arial"/>
              <a:buChar char="•"/>
            </a:pPr>
            <a:r>
              <a:rPr lang="en-US" sz="1400" dirty="0">
                <a:solidFill>
                  <a:srgbClr val="B4BECC"/>
                </a:solidFill>
              </a:rPr>
              <a:t>Save one panel to the library</a:t>
            </a:r>
          </a:p>
        </p:txBody>
      </p:sp>
      <p:sp>
        <p:nvSpPr>
          <p:cNvPr id="1036" name="S1036"/>
          <p:cNvSpPr/>
          <p:nvPr/>
        </p:nvSpPr>
        <p:spPr>
          <a:xfrm>
            <a:off x="4533900" y="5334000"/>
            <a:ext cx="3124200" cy="584200"/>
          </a:xfrm>
          <a:prstGeom prst="roundRect">
            <a:avLst/>
          </a:prstGeom>
          <a:solidFill>
            <a:srgbClr val="0C1B12"/>
          </a:solidFill>
          <a:ln w="12700">
            <a:solidFill>
              <a:srgbClr val="2E5A34"/>
            </a:solidFill>
          </a:ln>
        </p:spPr>
        <p:txBody>
          <a:bodyPr wrap="square" lIns="127000" tIns="50800" rIns="127000" bIns="50800" anchor="ctr"/>
          <a:lstStyle/>
          <a:p>
            <a:endParaRPr/>
          </a:p>
        </p:txBody>
      </p:sp>
      <p:sp>
        <p:nvSpPr>
          <p:cNvPr id="1037" name="S1037"/>
          <p:cNvSpPr/>
          <p:nvPr/>
        </p:nvSpPr>
        <p:spPr>
          <a:xfrm>
            <a:off x="4635500" y="5384800"/>
            <a:ext cx="2921000" cy="482600"/>
          </a:xfrm>
          <a:prstGeom prst="rect">
            <a:avLst/>
          </a:prstGeom>
          <a:noFill/>
          <a:ln>
            <a:noFill/>
          </a:ln>
        </p:spPr>
        <p:txBody>
          <a:bodyPr wrap="square" lIns="0" tIns="50800" rIns="0" bIns="50800" anchor="ctr"/>
          <a:lstStyle/>
          <a:p>
            <a:pPr algn="l">
              <a:buNone/>
            </a:pPr>
            <a:r>
              <a:rPr lang="en-US" sz="1400" b="0" dirty="0">
                <a:solidFill>
                  <a:srgbClr val="7FD46F"/>
                </a:solidFill>
              </a:rPr>
              <a:t>Checkpoint: library panel reused twice</a:t>
            </a:r>
          </a:p>
        </p:txBody>
      </p:sp>
      <p:sp>
        <p:nvSpPr>
          <p:cNvPr id="1038" name="S1038"/>
          <p:cNvSpPr/>
          <p:nvPr/>
        </p:nvSpPr>
        <p:spPr>
          <a:xfrm>
            <a:off x="8001000" y="3733800"/>
            <a:ext cx="3429000" cy="2311400"/>
          </a:xfrm>
          <a:prstGeom prst="roundRect">
            <a:avLst/>
          </a:prstGeom>
          <a:solidFill>
            <a:srgbClr val="111620"/>
          </a:solidFill>
          <a:ln w="12700">
            <a:solidFill>
              <a:srgbClr val="5A3A10"/>
            </a:solidFill>
          </a:ln>
        </p:spPr>
        <p:txBody>
          <a:bodyPr wrap="square" lIns="127000" tIns="50800" rIns="127000" bIns="50800" anchor="ctr"/>
          <a:lstStyle/>
          <a:p>
            <a:endParaRPr/>
          </a:p>
        </p:txBody>
      </p:sp>
      <p:sp>
        <p:nvSpPr>
          <p:cNvPr id="1039" name="S1039"/>
          <p:cNvSpPr/>
          <p:nvPr/>
        </p:nvSpPr>
        <p:spPr>
          <a:xfrm>
            <a:off x="8001000" y="3733800"/>
            <a:ext cx="3429000" cy="50800"/>
          </a:xfrm>
          <a:prstGeom prst="rect">
            <a:avLst/>
          </a:prstGeom>
          <a:solidFill>
            <a:srgbClr val="F2CC0C"/>
          </a:solidFill>
          <a:ln>
            <a:noFill/>
          </a:ln>
        </p:spPr>
        <p:txBody>
          <a:bodyPr wrap="square" lIns="127000" tIns="50800" rIns="127000" bIns="50800" anchor="ctr"/>
          <a:lstStyle/>
          <a:p>
            <a:endParaRPr/>
          </a:p>
        </p:txBody>
      </p:sp>
      <p:sp>
        <p:nvSpPr>
          <p:cNvPr id="1040" name="S1040"/>
          <p:cNvSpPr/>
          <p:nvPr/>
        </p:nvSpPr>
        <p:spPr>
          <a:xfrm>
            <a:off x="8153400" y="3886200"/>
            <a:ext cx="3124200" cy="355600"/>
          </a:xfrm>
          <a:prstGeom prst="rect">
            <a:avLst/>
          </a:prstGeom>
          <a:noFill/>
          <a:ln>
            <a:noFill/>
          </a:ln>
        </p:spPr>
        <p:txBody>
          <a:bodyPr wrap="square" lIns="0" tIns="50800" rIns="0" bIns="50800" anchor="ctr"/>
          <a:lstStyle/>
          <a:p>
            <a:pPr algn="l">
              <a:buNone/>
            </a:pPr>
            <a:r>
              <a:rPr lang="en-US" sz="1700" b="1" dirty="0">
                <a:solidFill>
                  <a:srgbClr val="F2CC0C"/>
                </a:solidFill>
              </a:rPr>
              <a:t>Done when...</a:t>
            </a:r>
          </a:p>
        </p:txBody>
      </p:sp>
      <p:sp>
        <p:nvSpPr>
          <p:cNvPr id="1041" name="S1041"/>
          <p:cNvSpPr/>
          <p:nvPr/>
        </p:nvSpPr>
        <p:spPr>
          <a:xfrm>
            <a:off x="8153400" y="4292600"/>
            <a:ext cx="3124200" cy="1651000"/>
          </a:xfrm>
          <a:prstGeom prst="rect">
            <a:avLst/>
          </a:prstGeom>
          <a:noFill/>
          <a:ln>
            <a:noFill/>
          </a:ln>
        </p:spPr>
        <p:txBody>
          <a:bodyPr wrap="square" lIns="0" tIns="50800" rIns="0" bIns="50800" anchor="t"/>
          <a:lstStyle/>
          <a:p>
            <a:pPr marL="140000" indent="-140000">
              <a:lnSpc>
                <a:spcPts val="1700"/>
              </a:lnSpc>
              <a:spcBef>
                <a:spcPts val="300"/>
              </a:spcBef>
              <a:buFont typeface="Arial"/>
              <a:buChar char="•"/>
            </a:pPr>
            <a:r>
              <a:rPr lang="en-US" sz="1400" dirty="0">
                <a:solidFill>
                  <a:srgbClr val="E8D48B"/>
                </a:solidFill>
              </a:rPr>
              <a:t>Dashboard has two collapsible rows</a:t>
            </a:r>
          </a:p>
          <a:p>
            <a:pPr marL="140000" indent="-140000">
              <a:lnSpc>
                <a:spcPts val="1700"/>
              </a:lnSpc>
              <a:spcBef>
                <a:spcPts val="300"/>
              </a:spcBef>
              <a:buFont typeface="Arial"/>
              <a:buChar char="•"/>
            </a:pPr>
            <a:r>
              <a:rPr lang="en-US" sz="1400" dirty="0">
                <a:solidFill>
                  <a:srgbClr val="E8D48B"/>
                </a:solidFill>
              </a:rPr>
              <a:t>Every panel has a unit and decimals</a:t>
            </a:r>
          </a:p>
          <a:p>
            <a:pPr marL="140000" indent="-140000">
              <a:lnSpc>
                <a:spcPts val="1700"/>
              </a:lnSpc>
              <a:spcBef>
                <a:spcPts val="300"/>
              </a:spcBef>
              <a:buFont typeface="Arial"/>
              <a:buChar char="•"/>
            </a:pPr>
            <a:r>
              <a:rPr lang="en-US" sz="1400" dirty="0">
                <a:solidFill>
                  <a:srgbClr val="E8D48B"/>
                </a:solidFill>
              </a:rPr>
              <a:t>Six panel types are on the board</a:t>
            </a:r>
          </a:p>
          <a:p>
            <a:pPr marL="140000" indent="-140000">
              <a:lnSpc>
                <a:spcPts val="1700"/>
              </a:lnSpc>
              <a:spcBef>
                <a:spcPts val="300"/>
              </a:spcBef>
              <a:buFont typeface="Arial"/>
              <a:buChar char="•"/>
            </a:pPr>
            <a:r>
              <a:rPr lang="en-US" sz="1400" dirty="0">
                <a:solidFill>
                  <a:srgbClr val="E8D48B"/>
                </a:solidFill>
              </a:rPr>
              <a:t>One library panel is reused</a:t>
            </a:r>
          </a:p>
          <a:p>
            <a:pPr marL="140000" indent="-140000">
              <a:lnSpc>
                <a:spcPts val="1700"/>
              </a:lnSpc>
              <a:spcBef>
                <a:spcPts val="300"/>
              </a:spcBef>
              <a:buFont typeface="Arial"/>
              <a:buChar char="•"/>
            </a:pPr>
            <a:r>
              <a:rPr lang="en-US" sz="1400" dirty="0">
                <a:solidFill>
                  <a:srgbClr val="E8D48B"/>
                </a:solidFill>
              </a:rPr>
              <a:t>Dashboard saved and JSON exported</a:t>
            </a:r>
          </a:p>
        </p:txBody>
      </p:sp>
    </p:spTree>
    <p:extLst>
      <p:ext uri="{BB962C8B-B14F-4D97-AF65-F5344CB8AC3E}">
        <p14:creationId xmlns:p14="http://schemas.microsoft.com/office/powerpoint/2010/main" val="3566920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CDBCE-161E-40DA-95C5-45380136F095}"/>
              </a:ext>
            </a:extLst>
          </p:cNvPr>
          <p:cNvSpPr>
            <a:spLocks noGrp="1"/>
          </p:cNvSpPr>
          <p:nvPr>
            <p:ph type="title"/>
          </p:nvPr>
        </p:nvSpPr>
        <p:spPr>
          <a:xfrm>
            <a:off x="762000" y="279400"/>
            <a:ext cx="10668000" cy="508000"/>
          </a:xfrm>
        </p:spPr>
        <p:txBody>
          <a:bodyPr>
            <a:normAutofit fontScale="90000"/>
          </a:bodyPr>
          <a:lstStyle/>
          <a:p>
            <a:r>
              <a:rPr lang="en-US"/>
              <a:t>Day 2 Recap: Teach It Back</a:t>
            </a:r>
          </a:p>
        </p:txBody>
      </p:sp>
      <p:sp>
        <p:nvSpPr>
          <p:cNvPr id="3" name="Rectangle 2">
            <a:extLst>
              <a:ext uri="{FF2B5EF4-FFF2-40B4-BE49-F238E27FC236}">
                <a16:creationId xmlns:a16="http://schemas.microsoft.com/office/drawing/2014/main" id="{9C2F9DF4-AA15-472E-BFF7-0DE2253B983F}"/>
              </a:ext>
            </a:extLst>
          </p:cNvPr>
          <p:cNvSpPr/>
          <p:nvPr/>
        </p:nvSpPr>
        <p:spPr>
          <a:xfrm>
            <a:off x="762000" y="812800"/>
            <a:ext cx="1524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CF4CB3CD-A598-4BA0-9D67-CF8B27A15BC1}"/>
              </a:ext>
            </a:extLst>
          </p:cNvPr>
          <p:cNvSpPr txBox="1"/>
          <p:nvPr/>
        </p:nvSpPr>
        <p:spPr>
          <a:xfrm>
            <a:off x="762000" y="914400"/>
            <a:ext cx="10668000" cy="279400"/>
          </a:xfrm>
          <a:prstGeom prst="rect">
            <a:avLst/>
          </a:prstGeom>
          <a:noFill/>
        </p:spPr>
        <p:txBody>
          <a:bodyPr vertOverflow="overflow" vert="horz" wrap="square" rtlCol="0" anchor="t">
            <a:noAutofit/>
          </a:bodyPr>
          <a:lstStyle/>
          <a:p>
            <a:pPr algn="l"/>
            <a:r>
              <a:rPr lang="en-US" sz="1500">
                <a:solidFill>
                  <a:srgbClr val="98A2B3"/>
                </a:solidFill>
              </a:rPr>
              <a:t>One card each - explain it in your own words, then we compare with the line in green</a:t>
            </a:r>
          </a:p>
        </p:txBody>
      </p:sp>
      <p:sp>
        <p:nvSpPr>
          <p:cNvPr id="5" name="Rectangle 4">
            <a:extLst>
              <a:ext uri="{FF2B5EF4-FFF2-40B4-BE49-F238E27FC236}">
                <a16:creationId xmlns:a16="http://schemas.microsoft.com/office/drawing/2014/main" id="{7B6F2336-A3F6-4E17-8FBF-BB6699D0BFBD}"/>
              </a:ext>
            </a:extLst>
          </p:cNvPr>
          <p:cNvSpPr/>
          <p:nvPr/>
        </p:nvSpPr>
        <p:spPr>
          <a:xfrm>
            <a:off x="7620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95296CBF-4D01-4E2B-A8D3-19D41A4D68BA}"/>
              </a:ext>
            </a:extLst>
          </p:cNvPr>
          <p:cNvSpPr/>
          <p:nvPr/>
        </p:nvSpPr>
        <p:spPr>
          <a:xfrm>
            <a:off x="762000" y="1320800"/>
            <a:ext cx="3429000" cy="508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9EFAFBD0-D42C-4462-88CE-92C343E86BE3}"/>
              </a:ext>
            </a:extLst>
          </p:cNvPr>
          <p:cNvSpPr/>
          <p:nvPr/>
        </p:nvSpPr>
        <p:spPr>
          <a:xfrm>
            <a:off x="914400" y="1524000"/>
            <a:ext cx="406400" cy="355600"/>
          </a:xfrm>
          <a:prstGeom prst="rect">
            <a:avLst/>
          </a:prstGeom>
          <a:solidFill>
            <a:srgbClr val="F468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1</a:t>
            </a:r>
          </a:p>
        </p:txBody>
      </p:sp>
      <p:sp>
        <p:nvSpPr>
          <p:cNvPr id="8" name="TextBox 7">
            <a:extLst>
              <a:ext uri="{FF2B5EF4-FFF2-40B4-BE49-F238E27FC236}">
                <a16:creationId xmlns:a16="http://schemas.microsoft.com/office/drawing/2014/main" id="{92855172-E328-4B3F-B375-12C873934C3D}"/>
              </a:ext>
            </a:extLst>
          </p:cNvPr>
          <p:cNvSpPr txBox="1"/>
          <p:nvPr/>
        </p:nvSpPr>
        <p:spPr>
          <a:xfrm>
            <a:off x="1422400" y="1524000"/>
            <a:ext cx="2616200" cy="711200"/>
          </a:xfrm>
          <a:prstGeom prst="rect">
            <a:avLst/>
          </a:prstGeom>
          <a:noFill/>
        </p:spPr>
        <p:txBody>
          <a:bodyPr vertOverflow="overflow" vert="horz" wrap="square" rtlCol="0" anchor="t">
            <a:noAutofit/>
          </a:bodyPr>
          <a:lstStyle/>
          <a:p>
            <a:pPr algn="l"/>
            <a:r>
              <a:rPr lang="en-US" sz="1500" b="1">
                <a:solidFill>
                  <a:srgbClr val="FFFFFF"/>
                </a:solidFill>
              </a:rPr>
              <a:t>Why does Grafana never own your data?</a:t>
            </a:r>
          </a:p>
        </p:txBody>
      </p:sp>
      <p:sp>
        <p:nvSpPr>
          <p:cNvPr id="9" name="TextBox 8">
            <a:extLst>
              <a:ext uri="{FF2B5EF4-FFF2-40B4-BE49-F238E27FC236}">
                <a16:creationId xmlns:a16="http://schemas.microsoft.com/office/drawing/2014/main" id="{893AD2C3-189A-44ED-9D85-BEB88F129048}"/>
              </a:ext>
            </a:extLst>
          </p:cNvPr>
          <p:cNvSpPr txBox="1"/>
          <p:nvPr/>
        </p:nvSpPr>
        <p:spPr>
          <a:xfrm>
            <a:off x="939800" y="2540000"/>
            <a:ext cx="3073400" cy="787400"/>
          </a:xfrm>
          <a:prstGeom prst="rect">
            <a:avLst/>
          </a:prstGeom>
          <a:noFill/>
        </p:spPr>
        <p:txBody>
          <a:bodyPr vertOverflow="overflow" vert="horz" wrap="square" rtlCol="0" anchor="t">
            <a:noAutofit/>
          </a:bodyPr>
          <a:lstStyle/>
          <a:p>
            <a:pPr algn="l"/>
            <a:r>
              <a:rPr lang="en-US" sz="1500">
                <a:solidFill>
                  <a:srgbClr val="7FD46F"/>
                </a:solidFill>
              </a:rPr>
              <a:t>It queries and renders. Sources stay authoritative.</a:t>
            </a:r>
          </a:p>
        </p:txBody>
      </p:sp>
      <p:sp>
        <p:nvSpPr>
          <p:cNvPr id="10" name="Rectangle 9">
            <a:extLst>
              <a:ext uri="{FF2B5EF4-FFF2-40B4-BE49-F238E27FC236}">
                <a16:creationId xmlns:a16="http://schemas.microsoft.com/office/drawing/2014/main" id="{5C4775A6-DDAD-480E-8AFC-9555D5404825}"/>
              </a:ext>
            </a:extLst>
          </p:cNvPr>
          <p:cNvSpPr/>
          <p:nvPr/>
        </p:nvSpPr>
        <p:spPr>
          <a:xfrm>
            <a:off x="43815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81F6DD3A-7DEE-48E6-BA39-90ACD306F5EC}"/>
              </a:ext>
            </a:extLst>
          </p:cNvPr>
          <p:cNvSpPr/>
          <p:nvPr/>
        </p:nvSpPr>
        <p:spPr>
          <a:xfrm>
            <a:off x="4381500" y="1320800"/>
            <a:ext cx="3429000" cy="508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7103EF88-D35D-4FEC-AC83-D6954F77D312}"/>
              </a:ext>
            </a:extLst>
          </p:cNvPr>
          <p:cNvSpPr/>
          <p:nvPr/>
        </p:nvSpPr>
        <p:spPr>
          <a:xfrm>
            <a:off x="4533900" y="1524000"/>
            <a:ext cx="406400" cy="355600"/>
          </a:xfrm>
          <a:prstGeom prst="rect">
            <a:avLst/>
          </a:prstGeom>
          <a:solidFill>
            <a:srgbClr val="3274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2</a:t>
            </a:r>
          </a:p>
        </p:txBody>
      </p:sp>
      <p:sp>
        <p:nvSpPr>
          <p:cNvPr id="13" name="TextBox 12">
            <a:extLst>
              <a:ext uri="{FF2B5EF4-FFF2-40B4-BE49-F238E27FC236}">
                <a16:creationId xmlns:a16="http://schemas.microsoft.com/office/drawing/2014/main" id="{5521BAD8-3482-4815-9689-F9DE6E84A960}"/>
              </a:ext>
            </a:extLst>
          </p:cNvPr>
          <p:cNvSpPr txBox="1"/>
          <p:nvPr/>
        </p:nvSpPr>
        <p:spPr>
          <a:xfrm>
            <a:off x="5041900" y="1524000"/>
            <a:ext cx="2616200" cy="711200"/>
          </a:xfrm>
          <a:prstGeom prst="rect">
            <a:avLst/>
          </a:prstGeom>
          <a:noFill/>
        </p:spPr>
        <p:txBody>
          <a:bodyPr vertOverflow="overflow" vert="horz" wrap="square" rtlCol="0" anchor="t">
            <a:noAutofit/>
          </a:bodyPr>
          <a:lstStyle/>
          <a:p>
            <a:pPr algn="l"/>
            <a:r>
              <a:rPr lang="en-US" sz="1500" b="1">
                <a:solidFill>
                  <a:srgbClr val="FFFFFF"/>
                </a:solidFill>
              </a:rPr>
              <a:t>Pull vs push - which is Prometheus, and why does it matter?</a:t>
            </a:r>
          </a:p>
        </p:txBody>
      </p:sp>
      <p:sp>
        <p:nvSpPr>
          <p:cNvPr id="14" name="TextBox 13">
            <a:extLst>
              <a:ext uri="{FF2B5EF4-FFF2-40B4-BE49-F238E27FC236}">
                <a16:creationId xmlns:a16="http://schemas.microsoft.com/office/drawing/2014/main" id="{48848DCD-7CAC-48C0-ABAB-4E5949EDC7BF}"/>
              </a:ext>
            </a:extLst>
          </p:cNvPr>
          <p:cNvSpPr txBox="1"/>
          <p:nvPr/>
        </p:nvSpPr>
        <p:spPr>
          <a:xfrm>
            <a:off x="4559300" y="2540000"/>
            <a:ext cx="3073400" cy="787400"/>
          </a:xfrm>
          <a:prstGeom prst="rect">
            <a:avLst/>
          </a:prstGeom>
          <a:noFill/>
        </p:spPr>
        <p:txBody>
          <a:bodyPr vertOverflow="overflow" vert="horz" wrap="square" rtlCol="0" anchor="t">
            <a:noAutofit/>
          </a:bodyPr>
          <a:lstStyle/>
          <a:p>
            <a:pPr algn="l"/>
            <a:r>
              <a:rPr lang="en-US" sz="1500">
                <a:solidFill>
                  <a:srgbClr val="7FD46F"/>
                </a:solidFill>
              </a:rPr>
              <a:t>Pull. up == 0 tells you a target died.</a:t>
            </a:r>
          </a:p>
        </p:txBody>
      </p:sp>
      <p:sp>
        <p:nvSpPr>
          <p:cNvPr id="15" name="Rectangle 14">
            <a:extLst>
              <a:ext uri="{FF2B5EF4-FFF2-40B4-BE49-F238E27FC236}">
                <a16:creationId xmlns:a16="http://schemas.microsoft.com/office/drawing/2014/main" id="{4B9895C4-4ACC-40A7-AE67-49907F57BCD6}"/>
              </a:ext>
            </a:extLst>
          </p:cNvPr>
          <p:cNvSpPr/>
          <p:nvPr/>
        </p:nvSpPr>
        <p:spPr>
          <a:xfrm>
            <a:off x="8001000" y="13208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8A3AEAC8-334F-4F62-9D66-D6EDF83FBB49}"/>
              </a:ext>
            </a:extLst>
          </p:cNvPr>
          <p:cNvSpPr/>
          <p:nvPr/>
        </p:nvSpPr>
        <p:spPr>
          <a:xfrm>
            <a:off x="8001000" y="1320800"/>
            <a:ext cx="3429000" cy="508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BA2E8147-0C95-4B6C-94E5-3096BA597E56}"/>
              </a:ext>
            </a:extLst>
          </p:cNvPr>
          <p:cNvSpPr/>
          <p:nvPr/>
        </p:nvSpPr>
        <p:spPr>
          <a:xfrm>
            <a:off x="8153400" y="1524000"/>
            <a:ext cx="406400" cy="355600"/>
          </a:xfrm>
          <a:prstGeom prst="rect">
            <a:avLst/>
          </a:prstGeom>
          <a:solidFill>
            <a:srgbClr val="B877D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3</a:t>
            </a:r>
          </a:p>
        </p:txBody>
      </p:sp>
      <p:sp>
        <p:nvSpPr>
          <p:cNvPr id="18" name="TextBox 17">
            <a:extLst>
              <a:ext uri="{FF2B5EF4-FFF2-40B4-BE49-F238E27FC236}">
                <a16:creationId xmlns:a16="http://schemas.microsoft.com/office/drawing/2014/main" id="{5BB9B280-9AE6-4258-BDC5-298D0A802D83}"/>
              </a:ext>
            </a:extLst>
          </p:cNvPr>
          <p:cNvSpPr txBox="1"/>
          <p:nvPr/>
        </p:nvSpPr>
        <p:spPr>
          <a:xfrm>
            <a:off x="8661400" y="1524000"/>
            <a:ext cx="2616200" cy="711200"/>
          </a:xfrm>
          <a:prstGeom prst="rect">
            <a:avLst/>
          </a:prstGeom>
          <a:noFill/>
        </p:spPr>
        <p:txBody>
          <a:bodyPr vertOverflow="overflow" vert="horz" wrap="square" rtlCol="0" anchor="t">
            <a:noAutofit/>
          </a:bodyPr>
          <a:lstStyle/>
          <a:p>
            <a:pPr algn="l"/>
            <a:r>
              <a:rPr lang="en-US" sz="1500" b="1">
                <a:solidFill>
                  <a:srgbClr val="FFFFFF"/>
                </a:solidFill>
              </a:rPr>
              <a:t>What exactly is one time series?</a:t>
            </a:r>
          </a:p>
        </p:txBody>
      </p:sp>
      <p:sp>
        <p:nvSpPr>
          <p:cNvPr id="19" name="TextBox 18">
            <a:extLst>
              <a:ext uri="{FF2B5EF4-FFF2-40B4-BE49-F238E27FC236}">
                <a16:creationId xmlns:a16="http://schemas.microsoft.com/office/drawing/2014/main" id="{C40DD209-D1D2-42C9-9F8E-89AA14F66BF3}"/>
              </a:ext>
            </a:extLst>
          </p:cNvPr>
          <p:cNvSpPr txBox="1"/>
          <p:nvPr/>
        </p:nvSpPr>
        <p:spPr>
          <a:xfrm>
            <a:off x="8178800" y="2540000"/>
            <a:ext cx="3073400" cy="787400"/>
          </a:xfrm>
          <a:prstGeom prst="rect">
            <a:avLst/>
          </a:prstGeom>
          <a:noFill/>
        </p:spPr>
        <p:txBody>
          <a:bodyPr vertOverflow="overflow" vert="horz" wrap="square" rtlCol="0" anchor="t">
            <a:noAutofit/>
          </a:bodyPr>
          <a:lstStyle/>
          <a:p>
            <a:pPr algn="l"/>
            <a:r>
              <a:rPr lang="en-US" sz="1500">
                <a:solidFill>
                  <a:srgbClr val="7FD46F"/>
                </a:solidFill>
              </a:rPr>
              <a:t>Metric name plus one exact set of label values.</a:t>
            </a:r>
          </a:p>
        </p:txBody>
      </p:sp>
      <p:sp>
        <p:nvSpPr>
          <p:cNvPr id="20" name="Rectangle 19">
            <a:extLst>
              <a:ext uri="{FF2B5EF4-FFF2-40B4-BE49-F238E27FC236}">
                <a16:creationId xmlns:a16="http://schemas.microsoft.com/office/drawing/2014/main" id="{EAEE0A89-A9F9-46AA-A07C-BF4AA78959BD}"/>
              </a:ext>
            </a:extLst>
          </p:cNvPr>
          <p:cNvSpPr/>
          <p:nvPr/>
        </p:nvSpPr>
        <p:spPr>
          <a:xfrm>
            <a:off x="7620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75A34D54-07B0-447B-8C5E-E3DAF402EF30}"/>
              </a:ext>
            </a:extLst>
          </p:cNvPr>
          <p:cNvSpPr/>
          <p:nvPr/>
        </p:nvSpPr>
        <p:spPr>
          <a:xfrm>
            <a:off x="762000" y="3784600"/>
            <a:ext cx="3429000" cy="508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D77C451B-BD49-4386-AAFB-9592A1A9D0D4}"/>
              </a:ext>
            </a:extLst>
          </p:cNvPr>
          <p:cNvSpPr/>
          <p:nvPr/>
        </p:nvSpPr>
        <p:spPr>
          <a:xfrm>
            <a:off x="914400" y="3987800"/>
            <a:ext cx="406400" cy="355600"/>
          </a:xfrm>
          <a:prstGeom prst="rect">
            <a:avLst/>
          </a:prstGeom>
          <a:solidFill>
            <a:srgbClr val="56A64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4</a:t>
            </a:r>
          </a:p>
        </p:txBody>
      </p:sp>
      <p:sp>
        <p:nvSpPr>
          <p:cNvPr id="23" name="TextBox 22">
            <a:extLst>
              <a:ext uri="{FF2B5EF4-FFF2-40B4-BE49-F238E27FC236}">
                <a16:creationId xmlns:a16="http://schemas.microsoft.com/office/drawing/2014/main" id="{37EE4D8D-778C-44A3-BD8E-EF99942D74D1}"/>
              </a:ext>
            </a:extLst>
          </p:cNvPr>
          <p:cNvSpPr txBox="1"/>
          <p:nvPr/>
        </p:nvSpPr>
        <p:spPr>
          <a:xfrm>
            <a:off x="1422400" y="3987800"/>
            <a:ext cx="2616200" cy="711200"/>
          </a:xfrm>
          <a:prstGeom prst="rect">
            <a:avLst/>
          </a:prstGeom>
          <a:noFill/>
        </p:spPr>
        <p:txBody>
          <a:bodyPr vertOverflow="overflow" vert="horz" wrap="square" rtlCol="0" anchor="t">
            <a:noAutofit/>
          </a:bodyPr>
          <a:lstStyle/>
          <a:p>
            <a:pPr algn="l"/>
            <a:r>
              <a:rPr lang="en-US" sz="1500" b="1">
                <a:solidFill>
                  <a:srgbClr val="FFFFFF"/>
                </a:solidFill>
              </a:rPr>
              <a:t>Name the cheapest way to wreck a Prometheus.</a:t>
            </a:r>
          </a:p>
        </p:txBody>
      </p:sp>
      <p:sp>
        <p:nvSpPr>
          <p:cNvPr id="24" name="TextBox 23">
            <a:extLst>
              <a:ext uri="{FF2B5EF4-FFF2-40B4-BE49-F238E27FC236}">
                <a16:creationId xmlns:a16="http://schemas.microsoft.com/office/drawing/2014/main" id="{0EC9DA50-A83C-4BFA-A3A2-C124C25EB695}"/>
              </a:ext>
            </a:extLst>
          </p:cNvPr>
          <p:cNvSpPr txBox="1"/>
          <p:nvPr/>
        </p:nvSpPr>
        <p:spPr>
          <a:xfrm>
            <a:off x="939800" y="5003800"/>
            <a:ext cx="3073400" cy="787400"/>
          </a:xfrm>
          <a:prstGeom prst="rect">
            <a:avLst/>
          </a:prstGeom>
          <a:noFill/>
        </p:spPr>
        <p:txBody>
          <a:bodyPr vertOverflow="overflow" vert="horz" wrap="square" rtlCol="0" anchor="t">
            <a:noAutofit/>
          </a:bodyPr>
          <a:lstStyle/>
          <a:p>
            <a:pPr algn="l"/>
            <a:r>
              <a:rPr lang="en-US" sz="1500">
                <a:solidFill>
                  <a:srgbClr val="7FD46F"/>
                </a:solidFill>
              </a:rPr>
              <a:t>An unbounded label such as user_id.</a:t>
            </a:r>
          </a:p>
        </p:txBody>
      </p:sp>
      <p:sp>
        <p:nvSpPr>
          <p:cNvPr id="25" name="Rectangle 24">
            <a:extLst>
              <a:ext uri="{FF2B5EF4-FFF2-40B4-BE49-F238E27FC236}">
                <a16:creationId xmlns:a16="http://schemas.microsoft.com/office/drawing/2014/main" id="{87399C70-818E-4CF4-9B61-B7C5C5E9FA77}"/>
              </a:ext>
            </a:extLst>
          </p:cNvPr>
          <p:cNvSpPr/>
          <p:nvPr/>
        </p:nvSpPr>
        <p:spPr>
          <a:xfrm>
            <a:off x="43815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3AA867C8-1532-4D9F-A661-F8796C262A61}"/>
              </a:ext>
            </a:extLst>
          </p:cNvPr>
          <p:cNvSpPr/>
          <p:nvPr/>
        </p:nvSpPr>
        <p:spPr>
          <a:xfrm>
            <a:off x="4381500" y="3784600"/>
            <a:ext cx="3429000" cy="50800"/>
          </a:xfrm>
          <a:prstGeom prst="rect">
            <a:avLst/>
          </a:prstGeom>
          <a:solidFill>
            <a:srgbClr val="FF98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E89AAB36-48A7-4F10-B574-F2DED81CF34C}"/>
              </a:ext>
            </a:extLst>
          </p:cNvPr>
          <p:cNvSpPr/>
          <p:nvPr/>
        </p:nvSpPr>
        <p:spPr>
          <a:xfrm>
            <a:off x="4533900" y="3987800"/>
            <a:ext cx="406400" cy="355600"/>
          </a:xfrm>
          <a:prstGeom prst="rect">
            <a:avLst/>
          </a:prstGeom>
          <a:solidFill>
            <a:srgbClr val="FF983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5</a:t>
            </a:r>
          </a:p>
        </p:txBody>
      </p:sp>
      <p:sp>
        <p:nvSpPr>
          <p:cNvPr id="28" name="TextBox 27">
            <a:extLst>
              <a:ext uri="{FF2B5EF4-FFF2-40B4-BE49-F238E27FC236}">
                <a16:creationId xmlns:a16="http://schemas.microsoft.com/office/drawing/2014/main" id="{40D2784B-47A4-4B8D-A567-188F00FD02E7}"/>
              </a:ext>
            </a:extLst>
          </p:cNvPr>
          <p:cNvSpPr txBox="1"/>
          <p:nvPr/>
        </p:nvSpPr>
        <p:spPr>
          <a:xfrm>
            <a:off x="5041900" y="3987800"/>
            <a:ext cx="2616200" cy="711200"/>
          </a:xfrm>
          <a:prstGeom prst="rect">
            <a:avLst/>
          </a:prstGeom>
          <a:noFill/>
        </p:spPr>
        <p:txBody>
          <a:bodyPr vertOverflow="overflow" vert="horz" wrap="square" rtlCol="0" anchor="t">
            <a:noAutofit/>
          </a:bodyPr>
          <a:lstStyle/>
          <a:p>
            <a:pPr algn="l"/>
            <a:r>
              <a:rPr lang="en-US" sz="1500" b="1">
                <a:solidFill>
                  <a:srgbClr val="FFFFFF"/>
                </a:solidFill>
              </a:rPr>
              <a:t>Why do variables beat duplicate dashboards?</a:t>
            </a:r>
          </a:p>
        </p:txBody>
      </p:sp>
      <p:sp>
        <p:nvSpPr>
          <p:cNvPr id="29" name="TextBox 28">
            <a:extLst>
              <a:ext uri="{FF2B5EF4-FFF2-40B4-BE49-F238E27FC236}">
                <a16:creationId xmlns:a16="http://schemas.microsoft.com/office/drawing/2014/main" id="{0D08A3A3-615C-4CB7-8A91-79D6B16CD2EE}"/>
              </a:ext>
            </a:extLst>
          </p:cNvPr>
          <p:cNvSpPr txBox="1"/>
          <p:nvPr/>
        </p:nvSpPr>
        <p:spPr>
          <a:xfrm>
            <a:off x="4559300" y="5003800"/>
            <a:ext cx="3073400" cy="787400"/>
          </a:xfrm>
          <a:prstGeom prst="rect">
            <a:avLst/>
          </a:prstGeom>
          <a:noFill/>
        </p:spPr>
        <p:txBody>
          <a:bodyPr vertOverflow="overflow" vert="horz" wrap="square" rtlCol="0" anchor="t">
            <a:noAutofit/>
          </a:bodyPr>
          <a:lstStyle/>
          <a:p>
            <a:pPr algn="l"/>
            <a:r>
              <a:rPr lang="en-US" sz="1500">
                <a:solidFill>
                  <a:srgbClr val="7FD46F"/>
                </a:solidFill>
              </a:rPr>
              <a:t>One board, every environment, one place to fix.</a:t>
            </a:r>
          </a:p>
        </p:txBody>
      </p:sp>
      <p:sp>
        <p:nvSpPr>
          <p:cNvPr id="30" name="Rectangle 29">
            <a:extLst>
              <a:ext uri="{FF2B5EF4-FFF2-40B4-BE49-F238E27FC236}">
                <a16:creationId xmlns:a16="http://schemas.microsoft.com/office/drawing/2014/main" id="{875C194B-F6FB-4DB9-BDBC-FB3E0AC9A221}"/>
              </a:ext>
            </a:extLst>
          </p:cNvPr>
          <p:cNvSpPr/>
          <p:nvPr/>
        </p:nvSpPr>
        <p:spPr>
          <a:xfrm>
            <a:off x="8001000" y="3784600"/>
            <a:ext cx="3429000" cy="2159000"/>
          </a:xfrm>
          <a:prstGeom prst="rect">
            <a:avLst/>
          </a:prstGeom>
          <a:solidFill>
            <a:srgbClr val="1B1E2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6B97CF51-C6AF-4AC1-AF71-E1F1ACDA73B7}"/>
              </a:ext>
            </a:extLst>
          </p:cNvPr>
          <p:cNvSpPr/>
          <p:nvPr/>
        </p:nvSpPr>
        <p:spPr>
          <a:xfrm>
            <a:off x="8001000" y="3784600"/>
            <a:ext cx="3429000" cy="508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9D15E8F3-684A-4C11-8DDE-A3C9CE52B081}"/>
              </a:ext>
            </a:extLst>
          </p:cNvPr>
          <p:cNvSpPr/>
          <p:nvPr/>
        </p:nvSpPr>
        <p:spPr>
          <a:xfrm>
            <a:off x="8153400" y="3987800"/>
            <a:ext cx="406400" cy="355600"/>
          </a:xfrm>
          <a:prstGeom prst="rect">
            <a:avLst/>
          </a:prstGeom>
          <a:solidFill>
            <a:srgbClr val="F2CC0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500" b="1">
                <a:solidFill>
                  <a:srgbClr val="000000"/>
                </a:solidFill>
              </a:rPr>
              <a:t>6</a:t>
            </a:r>
          </a:p>
        </p:txBody>
      </p:sp>
      <p:sp>
        <p:nvSpPr>
          <p:cNvPr id="33" name="TextBox 32">
            <a:extLst>
              <a:ext uri="{FF2B5EF4-FFF2-40B4-BE49-F238E27FC236}">
                <a16:creationId xmlns:a16="http://schemas.microsoft.com/office/drawing/2014/main" id="{4EE9A4F0-9ACE-4D05-94D5-4A879862DBC4}"/>
              </a:ext>
            </a:extLst>
          </p:cNvPr>
          <p:cNvSpPr txBox="1"/>
          <p:nvPr/>
        </p:nvSpPr>
        <p:spPr>
          <a:xfrm>
            <a:off x="8661400" y="3987800"/>
            <a:ext cx="2616200" cy="711200"/>
          </a:xfrm>
          <a:prstGeom prst="rect">
            <a:avLst/>
          </a:prstGeom>
          <a:noFill/>
        </p:spPr>
        <p:txBody>
          <a:bodyPr vertOverflow="overflow" vert="horz" wrap="square" rtlCol="0" anchor="t">
            <a:noAutofit/>
          </a:bodyPr>
          <a:lstStyle/>
          <a:p>
            <a:pPr algn="l"/>
            <a:r>
              <a:rPr lang="en-US" sz="1500" b="1">
                <a:solidFill>
                  <a:srgbClr val="FFFFFF"/>
                </a:solidFill>
              </a:rPr>
              <a:t>What must every panel carry before you ship it?</a:t>
            </a:r>
          </a:p>
        </p:txBody>
      </p:sp>
      <p:sp>
        <p:nvSpPr>
          <p:cNvPr id="34" name="TextBox 33">
            <a:extLst>
              <a:ext uri="{FF2B5EF4-FFF2-40B4-BE49-F238E27FC236}">
                <a16:creationId xmlns:a16="http://schemas.microsoft.com/office/drawing/2014/main" id="{6D16A528-C896-484E-BF65-AC877F9A7A47}"/>
              </a:ext>
            </a:extLst>
          </p:cNvPr>
          <p:cNvSpPr txBox="1"/>
          <p:nvPr/>
        </p:nvSpPr>
        <p:spPr>
          <a:xfrm>
            <a:off x="8178800" y="5003800"/>
            <a:ext cx="3073400" cy="787400"/>
          </a:xfrm>
          <a:prstGeom prst="rect">
            <a:avLst/>
          </a:prstGeom>
          <a:noFill/>
        </p:spPr>
        <p:txBody>
          <a:bodyPr vertOverflow="overflow" vert="horz" wrap="square" rtlCol="0" anchor="t">
            <a:noAutofit/>
          </a:bodyPr>
          <a:lstStyle/>
          <a:p>
            <a:pPr algn="l"/>
            <a:r>
              <a:rPr lang="en-US" sz="1500">
                <a:solidFill>
                  <a:srgbClr val="7FD46F"/>
                </a:solidFill>
              </a:rPr>
              <a:t>A title, a unit, decimals and thresholds.</a:t>
            </a:r>
          </a:p>
        </p:txBody>
      </p:sp>
    </p:spTree>
    <p:extLst>
      <p:ext uri="{BB962C8B-B14F-4D97-AF65-F5344CB8AC3E}">
        <p14:creationId xmlns:p14="http://schemas.microsoft.com/office/powerpoint/2010/main" val="5245770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C72E3-00D5-89DF-855B-DB63B5FD0F75}"/>
              </a:ext>
            </a:extLst>
          </p:cNvPr>
          <p:cNvSpPr>
            <a:spLocks noGrp="1"/>
          </p:cNvSpPr>
          <p:nvPr>
            <p:ph type="title"/>
          </p:nvPr>
        </p:nvSpPr>
        <p:spPr>
          <a:xfrm>
            <a:off x="762000" y="330200"/>
            <a:ext cx="10668000" cy="558800"/>
          </a:xfrm>
        </p:spPr>
        <p:txBody>
          <a:bodyPr/>
          <a:lstStyle/>
          <a:p>
            <a:pPr algn="l">
              <a:buNone/>
            </a:pPr>
            <a:r>
              <a:rPr lang="en-US" sz="3400" b="1" dirty="0">
                <a:solidFill>
                  <a:srgbClr val="FFFFFF"/>
                </a:solidFill>
              </a:rPr>
              <a:t>Day 2 Wrap-Up</a:t>
            </a:r>
          </a:p>
        </p:txBody>
      </p:sp>
      <p:sp>
        <p:nvSpPr>
          <p:cNvPr id="1101" name="S1101"/>
          <p:cNvSpPr/>
          <p:nvPr/>
        </p:nvSpPr>
        <p:spPr>
          <a:xfrm>
            <a:off x="762000" y="914400"/>
            <a:ext cx="1524000" cy="50800"/>
          </a:xfrm>
          <a:prstGeom prst="rect">
            <a:avLst/>
          </a:prstGeom>
          <a:solidFill>
            <a:srgbClr val="F46800"/>
          </a:solidFill>
          <a:ln>
            <a:noFill/>
          </a:ln>
        </p:spPr>
        <p:txBody>
          <a:bodyPr wrap="square" lIns="127000" tIns="50800" rIns="127000" bIns="50800" anchor="ctr"/>
          <a:lstStyle/>
          <a:p>
            <a:endParaRPr/>
          </a:p>
        </p:txBody>
      </p:sp>
      <p:sp>
        <p:nvSpPr>
          <p:cNvPr id="1102" name="S1102"/>
          <p:cNvSpPr/>
          <p:nvPr/>
        </p:nvSpPr>
        <p:spPr>
          <a:xfrm>
            <a:off x="762000" y="1270000"/>
            <a:ext cx="3429000" cy="3454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103" name="S1103"/>
          <p:cNvSpPr/>
          <p:nvPr/>
        </p:nvSpPr>
        <p:spPr>
          <a:xfrm>
            <a:off x="762000" y="1270000"/>
            <a:ext cx="3429000" cy="50800"/>
          </a:xfrm>
          <a:prstGeom prst="rect">
            <a:avLst/>
          </a:prstGeom>
          <a:solidFill>
            <a:srgbClr val="56A64B"/>
          </a:solidFill>
          <a:ln>
            <a:noFill/>
          </a:ln>
        </p:spPr>
        <p:txBody>
          <a:bodyPr wrap="square" lIns="127000" tIns="50800" rIns="127000" bIns="50800" anchor="ctr"/>
          <a:lstStyle/>
          <a:p>
            <a:endParaRPr/>
          </a:p>
        </p:txBody>
      </p:sp>
      <p:sp>
        <p:nvSpPr>
          <p:cNvPr id="1104" name="S1104"/>
          <p:cNvSpPr/>
          <p:nvPr/>
        </p:nvSpPr>
        <p:spPr>
          <a:xfrm>
            <a:off x="939800" y="1422400"/>
            <a:ext cx="3073400" cy="355600"/>
          </a:xfrm>
          <a:prstGeom prst="rect">
            <a:avLst/>
          </a:prstGeom>
          <a:noFill/>
          <a:ln>
            <a:noFill/>
          </a:ln>
        </p:spPr>
        <p:txBody>
          <a:bodyPr wrap="square" lIns="0" tIns="50800" rIns="0" bIns="50800" anchor="ctr"/>
          <a:lstStyle/>
          <a:p>
            <a:pPr algn="l">
              <a:buNone/>
            </a:pPr>
            <a:r>
              <a:rPr lang="en-US" sz="1800" b="1" dirty="0">
                <a:solidFill>
                  <a:srgbClr val="56A64B"/>
                </a:solidFill>
              </a:rPr>
              <a:t>You can now</a:t>
            </a:r>
          </a:p>
        </p:txBody>
      </p:sp>
      <p:sp>
        <p:nvSpPr>
          <p:cNvPr id="1105" name="S1105"/>
          <p:cNvSpPr/>
          <p:nvPr/>
        </p:nvSpPr>
        <p:spPr>
          <a:xfrm>
            <a:off x="939800" y="1828800"/>
            <a:ext cx="3073400" cy="2768600"/>
          </a:xfrm>
          <a:prstGeom prst="rect">
            <a:avLst/>
          </a:prstGeom>
          <a:noFill/>
          <a:ln>
            <a:noFill/>
          </a:ln>
        </p:spPr>
        <p:txBody>
          <a:bodyPr wrap="square" lIns="0" tIns="50800" rIns="0" bIns="50800" anchor="t"/>
          <a:lstStyle/>
          <a:p>
            <a:pPr marL="150000" indent="-150000">
              <a:lnSpc>
                <a:spcPts val="1800"/>
              </a:lnSpc>
              <a:spcBef>
                <a:spcPts val="500"/>
              </a:spcBef>
              <a:buFont typeface="Arial"/>
              <a:buChar char="•"/>
            </a:pPr>
            <a:r>
              <a:rPr lang="en-US" sz="1400" dirty="0">
                <a:solidFill>
                  <a:srgbClr val="B4BECC"/>
                </a:solidFill>
              </a:rPr>
              <a:t>Connect Prometheus, SQL and cloud sources</a:t>
            </a:r>
          </a:p>
          <a:p>
            <a:pPr marL="150000" indent="-150000">
              <a:lnSpc>
                <a:spcPts val="1800"/>
              </a:lnSpc>
              <a:spcBef>
                <a:spcPts val="500"/>
              </a:spcBef>
              <a:buFont typeface="Arial"/>
              <a:buChar char="•"/>
            </a:pPr>
            <a:r>
              <a:rPr lang="en-US" sz="1400" dirty="0">
                <a:solidFill>
                  <a:srgbClr val="B4BECC"/>
                </a:solidFill>
              </a:rPr>
              <a:t>Read and write everyday PromQL</a:t>
            </a:r>
          </a:p>
          <a:p>
            <a:pPr marL="150000" indent="-150000">
              <a:lnSpc>
                <a:spcPts val="1800"/>
              </a:lnSpc>
              <a:spcBef>
                <a:spcPts val="500"/>
              </a:spcBef>
              <a:buFont typeface="Arial"/>
              <a:buChar char="•"/>
            </a:pPr>
            <a:r>
              <a:rPr lang="en-US" sz="1400" dirty="0">
                <a:solidFill>
                  <a:srgbClr val="B4BECC"/>
                </a:solidFill>
              </a:rPr>
              <a:t>Build a variable-driven dashboard</a:t>
            </a:r>
          </a:p>
          <a:p>
            <a:pPr marL="150000" indent="-150000">
              <a:lnSpc>
                <a:spcPts val="1800"/>
              </a:lnSpc>
              <a:spcBef>
                <a:spcPts val="500"/>
              </a:spcBef>
              <a:buFont typeface="Arial"/>
              <a:buChar char="•"/>
            </a:pPr>
            <a:r>
              <a:rPr lang="en-US" sz="1400" dirty="0">
                <a:solidFill>
                  <a:srgbClr val="B4BECC"/>
                </a:solidFill>
              </a:rPr>
              <a:t>Pick the panel that fits the question</a:t>
            </a:r>
          </a:p>
          <a:p>
            <a:pPr marL="150000" indent="-150000">
              <a:lnSpc>
                <a:spcPts val="1800"/>
              </a:lnSpc>
              <a:spcBef>
                <a:spcPts val="500"/>
              </a:spcBef>
              <a:buFont typeface="Arial"/>
              <a:buChar char="•"/>
            </a:pPr>
            <a:r>
              <a:rPr lang="en-US" sz="1400" dirty="0">
                <a:solidFill>
                  <a:srgbClr val="B4BECC"/>
                </a:solidFill>
              </a:rPr>
              <a:t>Reuse work with rows and library panels</a:t>
            </a:r>
          </a:p>
        </p:txBody>
      </p:sp>
      <p:sp>
        <p:nvSpPr>
          <p:cNvPr id="1106" name="S1106"/>
          <p:cNvSpPr/>
          <p:nvPr/>
        </p:nvSpPr>
        <p:spPr>
          <a:xfrm>
            <a:off x="4381500" y="1270000"/>
            <a:ext cx="3429000" cy="3454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107" name="S1107"/>
          <p:cNvSpPr/>
          <p:nvPr/>
        </p:nvSpPr>
        <p:spPr>
          <a:xfrm>
            <a:off x="4381500" y="1270000"/>
            <a:ext cx="3429000" cy="50800"/>
          </a:xfrm>
          <a:prstGeom prst="rect">
            <a:avLst/>
          </a:prstGeom>
          <a:solidFill>
            <a:srgbClr val="F2CC0C"/>
          </a:solidFill>
          <a:ln>
            <a:noFill/>
          </a:ln>
        </p:spPr>
        <p:txBody>
          <a:bodyPr wrap="square" lIns="127000" tIns="50800" rIns="127000" bIns="50800" anchor="ctr"/>
          <a:lstStyle/>
          <a:p>
            <a:endParaRPr/>
          </a:p>
        </p:txBody>
      </p:sp>
      <p:sp>
        <p:nvSpPr>
          <p:cNvPr id="1108" name="S1108"/>
          <p:cNvSpPr/>
          <p:nvPr/>
        </p:nvSpPr>
        <p:spPr>
          <a:xfrm>
            <a:off x="4559300" y="1422400"/>
            <a:ext cx="3073400" cy="355600"/>
          </a:xfrm>
          <a:prstGeom prst="rect">
            <a:avLst/>
          </a:prstGeom>
          <a:noFill/>
          <a:ln>
            <a:noFill/>
          </a:ln>
        </p:spPr>
        <p:txBody>
          <a:bodyPr wrap="square" lIns="0" tIns="50800" rIns="0" bIns="50800" anchor="ctr"/>
          <a:lstStyle/>
          <a:p>
            <a:pPr algn="l">
              <a:buNone/>
            </a:pPr>
            <a:r>
              <a:rPr lang="en-US" sz="1800" b="1" dirty="0">
                <a:solidFill>
                  <a:srgbClr val="F2CC0C"/>
                </a:solidFill>
              </a:rPr>
              <a:t>Watch out for</a:t>
            </a:r>
          </a:p>
        </p:txBody>
      </p:sp>
      <p:sp>
        <p:nvSpPr>
          <p:cNvPr id="1109" name="S1109"/>
          <p:cNvSpPr/>
          <p:nvPr/>
        </p:nvSpPr>
        <p:spPr>
          <a:xfrm>
            <a:off x="4559300" y="1828800"/>
            <a:ext cx="3073400" cy="2768600"/>
          </a:xfrm>
          <a:prstGeom prst="rect">
            <a:avLst/>
          </a:prstGeom>
          <a:noFill/>
          <a:ln>
            <a:noFill/>
          </a:ln>
        </p:spPr>
        <p:txBody>
          <a:bodyPr wrap="square" lIns="0" tIns="50800" rIns="0" bIns="50800" anchor="t"/>
          <a:lstStyle/>
          <a:p>
            <a:pPr marL="150000" indent="-150000">
              <a:lnSpc>
                <a:spcPts val="1800"/>
              </a:lnSpc>
              <a:spcBef>
                <a:spcPts val="500"/>
              </a:spcBef>
              <a:buFont typeface="Arial"/>
              <a:buChar char="•"/>
            </a:pPr>
            <a:r>
              <a:rPr lang="en-US" sz="1400" dirty="0">
                <a:solidFill>
                  <a:srgbClr val="B4BECC"/>
                </a:solidFill>
              </a:rPr>
              <a:t>= instead of =~ with multi-value variables</a:t>
            </a:r>
          </a:p>
          <a:p>
            <a:pPr marL="150000" indent="-150000">
              <a:lnSpc>
                <a:spcPts val="1800"/>
              </a:lnSpc>
              <a:spcBef>
                <a:spcPts val="500"/>
              </a:spcBef>
              <a:buFont typeface="Arial"/>
              <a:buChar char="•"/>
            </a:pPr>
            <a:r>
              <a:rPr lang="en-US" sz="1400" dirty="0">
                <a:solidFill>
                  <a:srgbClr val="B4BECC"/>
                </a:solidFill>
              </a:rPr>
              <a:t>Panels with no unit and no thresholds</a:t>
            </a:r>
          </a:p>
          <a:p>
            <a:pPr marL="150000" indent="-150000">
              <a:lnSpc>
                <a:spcPts val="1800"/>
              </a:lnSpc>
              <a:spcBef>
                <a:spcPts val="500"/>
              </a:spcBef>
              <a:buFont typeface="Arial"/>
              <a:buChar char="•"/>
            </a:pPr>
            <a:r>
              <a:rPr lang="en-US" sz="1400" dirty="0">
                <a:solidFill>
                  <a:srgbClr val="B4BECC"/>
                </a:solidFill>
              </a:rPr>
              <a:t>High-cardinality labels such as user_id</a:t>
            </a:r>
          </a:p>
          <a:p>
            <a:pPr marL="150000" indent="-150000">
              <a:lnSpc>
                <a:spcPts val="1800"/>
              </a:lnSpc>
              <a:spcBef>
                <a:spcPts val="500"/>
              </a:spcBef>
              <a:buFont typeface="Arial"/>
              <a:buChar char="•"/>
            </a:pPr>
            <a:r>
              <a:rPr lang="en-US" sz="1400" dirty="0">
                <a:solidFill>
                  <a:srgbClr val="B4BECC"/>
                </a:solidFill>
              </a:rPr>
              <a:t>5s refresh on a per-query billed source</a:t>
            </a:r>
          </a:p>
          <a:p>
            <a:pPr marL="150000" indent="-150000">
              <a:lnSpc>
                <a:spcPts val="1800"/>
              </a:lnSpc>
              <a:spcBef>
                <a:spcPts val="500"/>
              </a:spcBef>
              <a:buFont typeface="Arial"/>
              <a:buChar char="•"/>
            </a:pPr>
            <a:r>
              <a:rPr lang="en-US" sz="1400" dirty="0">
                <a:solidFill>
                  <a:srgbClr val="B4BECC"/>
                </a:solidFill>
              </a:rPr>
              <a:t>Dashboards that grew past nine panels</a:t>
            </a:r>
          </a:p>
        </p:txBody>
      </p:sp>
      <p:sp>
        <p:nvSpPr>
          <p:cNvPr id="1110" name="S1110"/>
          <p:cNvSpPr/>
          <p:nvPr/>
        </p:nvSpPr>
        <p:spPr>
          <a:xfrm>
            <a:off x="8001000" y="1270000"/>
            <a:ext cx="3429000" cy="3454400"/>
          </a:xfrm>
          <a:prstGeom prst="roundRect">
            <a:avLst/>
          </a:prstGeom>
          <a:solidFill>
            <a:srgbClr val="151922"/>
          </a:solidFill>
          <a:ln w="12700">
            <a:solidFill>
              <a:srgbClr val="262C38"/>
            </a:solidFill>
          </a:ln>
        </p:spPr>
        <p:txBody>
          <a:bodyPr wrap="square" lIns="127000" tIns="50800" rIns="127000" bIns="50800" anchor="ctr"/>
          <a:lstStyle/>
          <a:p>
            <a:endParaRPr/>
          </a:p>
        </p:txBody>
      </p:sp>
      <p:sp>
        <p:nvSpPr>
          <p:cNvPr id="1111" name="S1111"/>
          <p:cNvSpPr/>
          <p:nvPr/>
        </p:nvSpPr>
        <p:spPr>
          <a:xfrm>
            <a:off x="8001000" y="1270000"/>
            <a:ext cx="3429000" cy="50800"/>
          </a:xfrm>
          <a:prstGeom prst="rect">
            <a:avLst/>
          </a:prstGeom>
          <a:solidFill>
            <a:srgbClr val="3274D9"/>
          </a:solidFill>
          <a:ln>
            <a:noFill/>
          </a:ln>
        </p:spPr>
        <p:txBody>
          <a:bodyPr wrap="square" lIns="127000" tIns="50800" rIns="127000" bIns="50800" anchor="ctr"/>
          <a:lstStyle/>
          <a:p>
            <a:endParaRPr/>
          </a:p>
        </p:txBody>
      </p:sp>
      <p:sp>
        <p:nvSpPr>
          <p:cNvPr id="1112" name="S1112"/>
          <p:cNvSpPr/>
          <p:nvPr/>
        </p:nvSpPr>
        <p:spPr>
          <a:xfrm>
            <a:off x="8178800" y="1422400"/>
            <a:ext cx="3073400" cy="355600"/>
          </a:xfrm>
          <a:prstGeom prst="rect">
            <a:avLst/>
          </a:prstGeom>
          <a:noFill/>
          <a:ln>
            <a:noFill/>
          </a:ln>
        </p:spPr>
        <p:txBody>
          <a:bodyPr wrap="square" lIns="0" tIns="50800" rIns="0" bIns="50800" anchor="ctr"/>
          <a:lstStyle/>
          <a:p>
            <a:pPr algn="l">
              <a:buNone/>
            </a:pPr>
            <a:r>
              <a:rPr lang="en-US" sz="1800" b="1" dirty="0">
                <a:solidFill>
                  <a:srgbClr val="3274D9"/>
                </a:solidFill>
              </a:rPr>
              <a:t>Before Day 3</a:t>
            </a:r>
          </a:p>
        </p:txBody>
      </p:sp>
      <p:sp>
        <p:nvSpPr>
          <p:cNvPr id="1113" name="S1113"/>
          <p:cNvSpPr/>
          <p:nvPr/>
        </p:nvSpPr>
        <p:spPr>
          <a:xfrm>
            <a:off x="8178800" y="1828800"/>
            <a:ext cx="3073400" cy="2768600"/>
          </a:xfrm>
          <a:prstGeom prst="rect">
            <a:avLst/>
          </a:prstGeom>
          <a:noFill/>
          <a:ln>
            <a:noFill/>
          </a:ln>
        </p:spPr>
        <p:txBody>
          <a:bodyPr wrap="square" lIns="0" tIns="50800" rIns="0" bIns="50800" anchor="t"/>
          <a:lstStyle/>
          <a:p>
            <a:pPr marL="150000" indent="-150000">
              <a:lnSpc>
                <a:spcPts val="1800"/>
              </a:lnSpc>
              <a:spcBef>
                <a:spcPts val="500"/>
              </a:spcBef>
              <a:buFont typeface="Arial"/>
              <a:buChar char="•"/>
            </a:pPr>
            <a:r>
              <a:rPr lang="en-US" sz="1400" dirty="0">
                <a:solidFill>
                  <a:srgbClr val="B4BECC"/>
                </a:solidFill>
              </a:rPr>
              <a:t>Export your dashboard JSON and keep it</a:t>
            </a:r>
          </a:p>
          <a:p>
            <a:pPr marL="150000" indent="-150000">
              <a:lnSpc>
                <a:spcPts val="1800"/>
              </a:lnSpc>
              <a:spcBef>
                <a:spcPts val="500"/>
              </a:spcBef>
              <a:buFont typeface="Arial"/>
              <a:buChar char="•"/>
            </a:pPr>
            <a:r>
              <a:rPr lang="en-US" sz="1400" dirty="0">
                <a:solidFill>
                  <a:srgbClr val="B4BECC"/>
                </a:solidFill>
              </a:rPr>
              <a:t>Add one panel of your own choosing</a:t>
            </a:r>
          </a:p>
          <a:p>
            <a:pPr marL="150000" indent="-150000">
              <a:lnSpc>
                <a:spcPts val="1800"/>
              </a:lnSpc>
              <a:spcBef>
                <a:spcPts val="500"/>
              </a:spcBef>
              <a:buFont typeface="Arial"/>
              <a:buChar char="•"/>
            </a:pPr>
            <a:r>
              <a:rPr lang="en-US" sz="1400" dirty="0">
                <a:solidFill>
                  <a:srgbClr val="B4BECC"/>
                </a:solidFill>
              </a:rPr>
              <a:t>Skim the Grafana alerting docs</a:t>
            </a:r>
          </a:p>
          <a:p>
            <a:pPr marL="150000" indent="-150000">
              <a:lnSpc>
                <a:spcPts val="1800"/>
              </a:lnSpc>
              <a:spcBef>
                <a:spcPts val="500"/>
              </a:spcBef>
              <a:buFont typeface="Arial"/>
              <a:buChar char="•"/>
            </a:pPr>
            <a:r>
              <a:rPr lang="en-US" sz="1400" dirty="0">
                <a:solidFill>
                  <a:srgbClr val="B4BECC"/>
                </a:solidFill>
              </a:rPr>
              <a:t>Bring one dashboard you find hard to read</a:t>
            </a:r>
          </a:p>
        </p:txBody>
      </p:sp>
      <p:sp>
        <p:nvSpPr>
          <p:cNvPr id="1114" name="S1114"/>
          <p:cNvSpPr/>
          <p:nvPr/>
        </p:nvSpPr>
        <p:spPr>
          <a:xfrm>
            <a:off x="762000" y="4927600"/>
            <a:ext cx="10668000" cy="685800"/>
          </a:xfrm>
          <a:prstGeom prst="roundRect">
            <a:avLst/>
          </a:prstGeom>
          <a:solidFill>
            <a:srgbClr val="1B0E2B"/>
          </a:solidFill>
          <a:ln w="12700">
            <a:solidFill>
              <a:srgbClr val="B877D9"/>
            </a:solidFill>
          </a:ln>
        </p:spPr>
        <p:txBody>
          <a:bodyPr wrap="square" lIns="127000" tIns="50800" rIns="127000" bIns="50800" anchor="ctr"/>
          <a:lstStyle/>
          <a:p>
            <a:endParaRPr/>
          </a:p>
        </p:txBody>
      </p:sp>
      <p:sp>
        <p:nvSpPr>
          <p:cNvPr id="1115" name="S1115"/>
          <p:cNvSpPr/>
          <p:nvPr/>
        </p:nvSpPr>
        <p:spPr>
          <a:xfrm>
            <a:off x="939800" y="5003800"/>
            <a:ext cx="2133600" cy="533400"/>
          </a:xfrm>
          <a:prstGeom prst="rect">
            <a:avLst/>
          </a:prstGeom>
          <a:noFill/>
          <a:ln>
            <a:noFill/>
          </a:ln>
        </p:spPr>
        <p:txBody>
          <a:bodyPr wrap="square" lIns="0" tIns="50800" rIns="0" bIns="50800" anchor="ctr"/>
          <a:lstStyle/>
          <a:p>
            <a:pPr algn="l">
              <a:buNone/>
            </a:pPr>
            <a:r>
              <a:rPr lang="en-US" sz="1700" b="1" dirty="0">
                <a:solidFill>
                  <a:srgbClr val="D0A2F0"/>
                </a:solidFill>
              </a:rPr>
              <a:t>Next: Day 3</a:t>
            </a:r>
          </a:p>
        </p:txBody>
      </p:sp>
      <p:sp>
        <p:nvSpPr>
          <p:cNvPr id="1116" name="S1116"/>
          <p:cNvSpPr/>
          <p:nvPr/>
        </p:nvSpPr>
        <p:spPr>
          <a:xfrm>
            <a:off x="3175000" y="5003800"/>
            <a:ext cx="8077200" cy="533400"/>
          </a:xfrm>
          <a:prstGeom prst="rect">
            <a:avLst/>
          </a:prstGeom>
          <a:noFill/>
          <a:ln>
            <a:noFill/>
          </a:ln>
        </p:spPr>
        <p:txBody>
          <a:bodyPr wrap="square" lIns="0" tIns="50800" rIns="0" bIns="50800" anchor="ctr"/>
          <a:lstStyle/>
          <a:p>
            <a:pPr algn="l">
              <a:buNone/>
            </a:pPr>
            <a:r>
              <a:rPr lang="en-US" sz="1500" b="0" dirty="0">
                <a:solidFill>
                  <a:srgbClr val="D6DBE4"/>
                </a:solidFill>
              </a:rPr>
              <a:t>Alerting rules, contact points and notification policies, provisioning, and running Grafana at scale.</a:t>
            </a:r>
          </a:p>
        </p:txBody>
      </p:sp>
      <p:sp>
        <p:nvSpPr>
          <p:cNvPr id="1117" name="S1117"/>
          <p:cNvSpPr/>
          <p:nvPr/>
        </p:nvSpPr>
        <p:spPr>
          <a:xfrm>
            <a:off x="762000" y="5791200"/>
            <a:ext cx="10668000" cy="558800"/>
          </a:xfrm>
          <a:prstGeom prst="roundRect">
            <a:avLst/>
          </a:prstGeom>
          <a:solidFill>
            <a:srgbClr val="111620"/>
          </a:solidFill>
          <a:ln w="12700">
            <a:solidFill>
              <a:srgbClr val="262C38"/>
            </a:solidFill>
          </a:ln>
        </p:spPr>
        <p:txBody>
          <a:bodyPr wrap="square" lIns="177800" tIns="50800" rIns="177800" bIns="50800" anchor="ctr"/>
          <a:lstStyle/>
          <a:p>
            <a:pPr algn="ctr">
              <a:buNone/>
            </a:pPr>
            <a:r>
              <a:rPr lang="en-US" sz="1500" b="0" dirty="0">
                <a:solidFill>
                  <a:srgbClr val="B4BECC"/>
                </a:solidFill>
              </a:rPr>
              <a:t>Questions? Now is the cheapest time to ask - tomorrow we build alerts on top of what you just made.</a:t>
            </a:r>
          </a:p>
        </p:txBody>
      </p:sp>
    </p:spTree>
    <p:extLst>
      <p:ext uri="{BB962C8B-B14F-4D97-AF65-F5344CB8AC3E}">
        <p14:creationId xmlns:p14="http://schemas.microsoft.com/office/powerpoint/2010/main" val="1608299786"/>
      </p:ext>
    </p:extLst>
  </p:cSld>
  <p:clrMapOvr>
    <a:masterClrMapping/>
  </p:clrMapOvr>
</p:sld>
</file>

<file path=ppt/theme/theme1.xml><?xml version="1.0" encoding="utf-8"?>
<a:theme xmlns:a="http://schemas.openxmlformats.org/drawingml/2006/main" name="Office Theme [1785695039032]">
  <a:themeElements>
    <a:clrScheme name="Office">
      <a:dk1>
        <a:srgbClr val="E8EBF0"/>
      </a:dk1>
      <a:lt1>
        <a:srgbClr val="0E1015"/>
      </a:lt1>
      <a:dk2>
        <a:srgbClr val="C3C9D4"/>
      </a:dk2>
      <a:lt2>
        <a:srgbClr val="1B1E26"/>
      </a:lt2>
      <a:accent1>
        <a:srgbClr val="F46800"/>
      </a:accent1>
      <a:accent2>
        <a:srgbClr val="FF9830"/>
      </a:accent2>
      <a:accent3>
        <a:srgbClr val="3274D9"/>
      </a:accent3>
      <a:accent4>
        <a:srgbClr val="56A64B"/>
      </a:accent4>
      <a:accent5>
        <a:srgbClr val="B877D9"/>
      </a:accent5>
      <a:accent6>
        <a:srgbClr val="F2CC0C"/>
      </a:accent6>
      <a:hlink>
        <a:srgbClr val="0563C1"/>
      </a:hlink>
      <a:folHlink>
        <a:srgbClr val="954F72"/>
      </a:folHlink>
    </a:clrScheme>
    <a:fontScheme name="Office">
      <a:majorFont>
        <a:latin typeface="Trebuchet MS"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C716D98-C66E-4F8F-B741-F1361EECBF0F}">
  <we:reference id="WA200010001" version="1.0.0.1" store="Omex" storeType="OMEX"/>
  <we:alternateReferences>
    <we:reference id="WA200010001" version="1.0.0.1" store="WA200010001" storeType="OMEX"/>
  </we:alternateReferences>
  <we:properties>
    <we:property name="claude.fileId" value="&quot;a6d54452-c7f9-47d6-9556-c165fc7be0f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362</TotalTime>
  <Words>5129</Words>
  <Application>Microsoft Office PowerPoint</Application>
  <PresentationFormat>Widescreen</PresentationFormat>
  <Paragraphs>736</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Consolas</vt:lpstr>
      <vt:lpstr>Segoe UI</vt:lpstr>
      <vt:lpstr>Trebuchet MS</vt:lpstr>
      <vt:lpstr>Office Theme [1785695039032]</vt:lpstr>
      <vt:lpstr>Data Sources &amp; Dashboard Development</vt:lpstr>
      <vt:lpstr>How Today Runs</vt:lpstr>
      <vt:lpstr>Working with Data Sources</vt:lpstr>
      <vt:lpstr>What Are Data Sources?</vt:lpstr>
      <vt:lpstr>The Core Data Sources</vt:lpstr>
      <vt:lpstr>Metrics and Logs: Prometheus + Loki</vt:lpstr>
      <vt:lpstr>SQL Data Sources: PostgreSQL and MySQL</vt:lpstr>
      <vt:lpstr>Search and Cloud Data Sources</vt:lpstr>
      <vt:lpstr>Discuss: Which Data Source Would You Pick?</vt:lpstr>
      <vt:lpstr>Quiz 1: Data Sources</vt:lpstr>
      <vt:lpstr>Quiz 1: Answers and Why</vt:lpstr>
      <vt:lpstr>Lab 1: Data Sources</vt:lpstr>
      <vt:lpstr>Lab 1: Tasks and Checkpoints</vt:lpstr>
      <vt:lpstr>Prometheus Integration</vt:lpstr>
      <vt:lpstr>Prometheus Architecture</vt:lpstr>
      <vt:lpstr>Metrics Collection and the Data Model</vt:lpstr>
      <vt:lpstr>Targets and Scraping</vt:lpstr>
      <vt:lpstr>Time Series and PromQL Essentials</vt:lpstr>
      <vt:lpstr>Quiz 2: Prometheus and PromQL</vt:lpstr>
      <vt:lpstr>Quiz 2: Answers and Why</vt:lpstr>
      <vt:lpstr>Lab 2: Build It Yourself</vt:lpstr>
      <vt:lpstr>Lab 2 Environment</vt:lpstr>
      <vt:lpstr>Lab 2: Tasks and Checkpoints</vt:lpstr>
      <vt:lpstr>Dashboard Creation</vt:lpstr>
      <vt:lpstr>Dashboard Design Principles</vt:lpstr>
      <vt:lpstr>Anatomy of a Dashboard</vt:lpstr>
      <vt:lpstr>Variables: One Dashboard, Every Environment</vt:lpstr>
      <vt:lpstr>Rows and Library Panels</vt:lpstr>
      <vt:lpstr>Critique This Dashboard</vt:lpstr>
      <vt:lpstr>Quiz 3: Dashboards, Variables and Rows</vt:lpstr>
      <vt:lpstr>Quiz 3: Answers and Why</vt:lpstr>
      <vt:lpstr>Visualization Panels</vt:lpstr>
      <vt:lpstr>The Panel Gallery</vt:lpstr>
      <vt:lpstr>Choosing the Right Panel</vt:lpstr>
      <vt:lpstr>Rapid Fire: Name That Panel</vt:lpstr>
      <vt:lpstr>Lab 3: Dashboards</vt:lpstr>
      <vt:lpstr>Lab 3: Tasks and Checkpoints</vt:lpstr>
      <vt:lpstr>Day 2 Recap: Teach It Back</vt:lpstr>
      <vt:lpstr>Day 2 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Vikash Verma</dc:creator>
  <cp:lastModifiedBy>Vikash Verma</cp:lastModifiedBy>
  <cp:revision>3</cp:revision>
  <dcterms:created xsi:type="dcterms:W3CDTF">2026-08-02T18:20:10Z</dcterms:created>
  <dcterms:modified xsi:type="dcterms:W3CDTF">2026-08-03T17:20:09Z</dcterms:modified>
</cp:coreProperties>
</file>