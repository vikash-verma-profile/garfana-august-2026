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27" r:id="rId2"/>
    <p:sldId id="285" r:id="rId3"/>
    <p:sldId id="312" r:id="rId4"/>
    <p:sldId id="313" r:id="rId5"/>
    <p:sldId id="291" r:id="rId6"/>
    <p:sldId id="292" r:id="rId7"/>
    <p:sldId id="293" r:id="rId8"/>
    <p:sldId id="294" r:id="rId9"/>
    <p:sldId id="296" r:id="rId10"/>
    <p:sldId id="314" r:id="rId11"/>
    <p:sldId id="316" r:id="rId12"/>
    <p:sldId id="299" r:id="rId13"/>
    <p:sldId id="317" r:id="rId14"/>
    <p:sldId id="301" r:id="rId15"/>
    <p:sldId id="328" r:id="rId16"/>
    <p:sldId id="303" r:id="rId17"/>
    <p:sldId id="318" r:id="rId18"/>
    <p:sldId id="305" r:id="rId19"/>
    <p:sldId id="329" r:id="rId20"/>
    <p:sldId id="319" r:id="rId21"/>
    <p:sldId id="320" r:id="rId22"/>
    <p:sldId id="330" r:id="rId23"/>
    <p:sldId id="324" r:id="rId24"/>
    <p:sldId id="32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DEFC-401F-D769-B9B5-2F467556A9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35A28-EAEF-BB12-1F6C-24BE0AD74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B3000-0A46-CA96-F991-3A65B211E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90B41-7DB4-1F73-1B55-2A63076E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A3ED5-B955-81CB-72FE-830B9D19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56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72B60-0526-3A2A-BC44-5CF8B2A84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F423-E378-61D5-AAAB-566CE26C5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EE6E8-893D-6DAC-E31A-19AC27A27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AAF5D-92FD-2389-7546-C944D5752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CD330-9354-CCFD-C5C1-D2324B73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0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A6E14-3EFD-8742-60D5-37E21AC60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B7CFD-9BF1-315A-1212-94BF61848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AA5DC-330C-4894-D39E-791FD39F1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04C90-FF6A-54B3-9F47-CD4BF0168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AA564-FC98-FF7B-8D3F-8ECD4E993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12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DC64-CF58-8602-7494-78AC3B71A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E5B70-52F5-CBC1-1F00-3E9C8B8E99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C7BE2C-84F0-9FBD-ABD9-511100970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1F251-13A2-CD18-D9BA-B3FEE07CE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675D5C-E20F-6954-7BD5-34558A6DE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0E5F81-96C5-464A-C086-7321243AF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902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34CF-B81E-98D2-3696-50E1F1F1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9F675D-33BE-B19D-AC97-D072CAA61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4E1CC-91BF-8CDB-07AF-200C6605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5985FB-EEC6-5A18-E2DE-FF6E35EF6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A993B9-4939-F235-A38F-85FCC21A3A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A508DF-9681-D83A-2512-00E85AE24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5AFA52-491B-F224-612E-1B3D867AC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27C5AA-63CD-6FC9-D0E1-B1F7E2FD5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70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79248-2441-6F6E-C63D-7093A4A9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32FDE0-7360-C5C3-3804-A6F766C7F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3F102-957E-8A90-4051-24900D24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F393B-E6C5-DAD4-B061-9A0FECC7C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28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E31649-C321-90AD-D5FB-1B1614392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DF724E-60C7-9E62-5278-85CA84570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A42E4-4CB9-2480-D787-8CD6F30BA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300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5774-2955-3152-54B1-CA496D0B7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C1D51-6638-829F-0DA9-467612837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CCD60-D9E3-D18C-4262-2357BF00F5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069-B68E-327F-07EF-143FF17E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C87308-D3FD-EC02-7690-F0D39424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9C293-4AF9-1A8E-9CBB-3464092DF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733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C139-2FAB-5878-5730-4A90B8DD7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B87F25-A69D-E8B3-F929-7CCD795BF4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3D740F-86CE-4F0D-C95C-C9602F93F3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4622-9C03-0DA7-0C90-596AFE67E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236FF-4D32-D476-FECA-78413267A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F64A8F-FAB6-B6B1-286B-97FC14732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563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9D885-9CCC-0F60-9970-06DD9D3D6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882E17-45B1-B678-AA43-C55D93580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4A74C-80BD-1F1F-8782-0FD6FB040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036C7-46C7-8364-DDE8-2C46F8B60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8A053-8F1B-CE5C-A149-1F84CFB5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70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CC5414-F841-9812-469A-1C5C4489B9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D7D2D8-10C0-BB59-5D07-2F1D7DEF4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ED1BA-144F-E1BC-8A79-9D53B1D65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6BB25-DCB5-5A40-A1CB-02EBAABA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9376C-374B-D928-A38C-A8FDD2A5E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49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71A22"/>
            </a:gs>
            <a:gs pos="100000">
              <a:srgbClr val="0A0B0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98654-2B7F-B2AD-D716-1C10040D5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B8E1D4-AB95-DB1B-C970-862C31BF8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DA603-B72E-2778-84D5-1ADB5B33B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6A164-9FFD-47FF-87DB-F8F45E50416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648F7D-8742-9FB6-2AC1-9C22FD097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93DEF-7661-B46B-D4CB-CF1A930612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B7447-7C14-454F-B1EA-6E36E8115615}" type="slidenum">
              <a:rPr lang="en-US" smtClean="0"/>
              <a:t>‹#›</a:t>
            </a:fld>
            <a:endParaRPr lang="en-US"/>
          </a:p>
        </p:txBody>
      </p:sp>
      <p:grpSp>
        <p:nvGrpSpPr>
          <p:cNvPr id="90" name="Deco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1" name="AccentBar"/>
            <p:cNvSpPr/>
            <p:nvPr/>
          </p:nvSpPr>
          <p:spPr>
            <a:xfrm>
              <a:off x="0" y="0"/>
              <a:ext cx="60960" cy="6858000"/>
            </a:xfrm>
            <a:prstGeom prst="rect">
              <a:avLst/>
            </a:prstGeom>
            <a:gradFill>
              <a:gsLst>
                <a:gs pos="0">
                  <a:srgbClr val="F46800"/>
                </a:gs>
                <a:gs pos="100000">
                  <a:srgbClr val="B877D9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Hairline"/>
            <p:cNvSpPr/>
            <p:nvPr/>
          </p:nvSpPr>
          <p:spPr>
            <a:xfrm>
              <a:off x="0" y="6781800"/>
              <a:ext cx="12192000" cy="12700"/>
            </a:xfrm>
            <a:prstGeom prst="rect">
              <a:avLst/>
            </a:prstGeom>
            <a:solidFill>
              <a:srgbClr val="2A2F3A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30973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D6DBE4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D6DBE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D6DBE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6DBE4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9FC5-050C-AB8F-685E-0CEB2447A1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133600"/>
            <a:ext cx="10033000" cy="1524000"/>
          </a:xfrm>
        </p:spPr>
        <p:txBody>
          <a:bodyPr>
            <a:normAutofit fontScale="90000"/>
          </a:bodyPr>
          <a:lstStyle/>
          <a:p>
            <a:pPr algn="l">
              <a:buNone/>
            </a:pPr>
            <a:r>
              <a:rPr lang="en-US" sz="5400" b="1" dirty="0">
                <a:solidFill>
                  <a:srgbClr val="FFFFFF"/>
                </a:solidFill>
              </a:rPr>
              <a:t>Data Sources &amp; Dashboard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8DA76-5BBE-04E9-BD8D-D1545F64D8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886200"/>
            <a:ext cx="9144000" cy="508000"/>
          </a:xfrm>
        </p:spPr>
        <p:txBody>
          <a:bodyPr/>
          <a:lstStyle/>
          <a:p>
            <a:pPr algn="l">
              <a:buNone/>
            </a:pPr>
            <a:r>
              <a:rPr lang="en-US" sz="1800" dirty="0">
                <a:solidFill>
                  <a:srgbClr val="A9B2C1"/>
                </a:solidFill>
              </a:rPr>
              <a:t>Modules 5–8  ·  Hands-on Lab 2  ·  4-hour instructor-led session</a:t>
            </a:r>
          </a:p>
        </p:txBody>
      </p:sp>
      <p:sp>
        <p:nvSpPr>
          <p:cNvPr id="201" name="S201"/>
          <p:cNvSpPr/>
          <p:nvPr/>
        </p:nvSpPr>
        <p:spPr>
          <a:xfrm>
            <a:off x="1231900" y="1473200"/>
            <a:ext cx="4191000" cy="406400"/>
          </a:xfrm>
          <a:prstGeom prst="roundRect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127000" tIns="76200" rIns="127000" bIns="76200" anchor="ctr"/>
          <a:lstStyle/>
          <a:p>
            <a:pPr algn="ctr">
              <a:buNone/>
            </a:pPr>
            <a:r>
              <a:rPr lang="en-US" sz="1400" b="1" spc="200" dirty="0">
                <a:solidFill>
                  <a:srgbClr val="FF9830"/>
                </a:solidFill>
              </a:rPr>
              <a:t>GRAFANA TRAINING · DAY 2</a:t>
            </a:r>
          </a:p>
        </p:txBody>
      </p:sp>
      <p:sp>
        <p:nvSpPr>
          <p:cNvPr id="202" name="S202"/>
          <p:cNvSpPr/>
          <p:nvPr/>
        </p:nvSpPr>
        <p:spPr>
          <a:xfrm>
            <a:off x="1231900" y="3708400"/>
            <a:ext cx="1651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76200" rIns="127000" bIns="76200" anchor="ctr"/>
          <a:lstStyle/>
          <a:p>
            <a:endParaRPr/>
          </a:p>
        </p:txBody>
      </p:sp>
      <p:sp>
        <p:nvSpPr>
          <p:cNvPr id="203" name="S203"/>
          <p:cNvSpPr/>
          <p:nvPr/>
        </p:nvSpPr>
        <p:spPr>
          <a:xfrm>
            <a:off x="1231900" y="4978400"/>
            <a:ext cx="2362200" cy="812800"/>
          </a:xfrm>
          <a:prstGeom prst="roundRect">
            <a:avLst/>
          </a:prstGeom>
          <a:solidFill>
            <a:srgbClr val="161A22"/>
          </a:solidFill>
          <a:ln w="12700">
            <a:solidFill>
              <a:srgbClr val="2B3140"/>
            </a:solidFill>
          </a:ln>
        </p:spPr>
        <p:txBody>
          <a:bodyPr wrap="square" lIns="127000" tIns="76200" rIns="127000" bIns="762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46800"/>
                </a:solidFill>
              </a:rPr>
              <a:t>M5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E8EBF0"/>
                </a:solidFill>
              </a:rPr>
              <a:t>Data Sources</a:t>
            </a:r>
          </a:p>
        </p:txBody>
      </p:sp>
      <p:sp>
        <p:nvSpPr>
          <p:cNvPr id="204" name="S204"/>
          <p:cNvSpPr/>
          <p:nvPr/>
        </p:nvSpPr>
        <p:spPr>
          <a:xfrm>
            <a:off x="3746500" y="4978400"/>
            <a:ext cx="2362200" cy="812800"/>
          </a:xfrm>
          <a:prstGeom prst="roundRect">
            <a:avLst/>
          </a:prstGeom>
          <a:solidFill>
            <a:srgbClr val="161A22"/>
          </a:solidFill>
          <a:ln w="12700">
            <a:solidFill>
              <a:srgbClr val="2B3140"/>
            </a:solidFill>
          </a:ln>
        </p:spPr>
        <p:txBody>
          <a:bodyPr wrap="square" lIns="127000" tIns="76200" rIns="127000" bIns="762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M6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E8EBF0"/>
                </a:solidFill>
              </a:rPr>
              <a:t>Prometheus</a:t>
            </a:r>
          </a:p>
        </p:txBody>
      </p:sp>
      <p:sp>
        <p:nvSpPr>
          <p:cNvPr id="205" name="S205"/>
          <p:cNvSpPr/>
          <p:nvPr/>
        </p:nvSpPr>
        <p:spPr>
          <a:xfrm>
            <a:off x="6261100" y="4978400"/>
            <a:ext cx="2362200" cy="812800"/>
          </a:xfrm>
          <a:prstGeom prst="roundRect">
            <a:avLst/>
          </a:prstGeom>
          <a:solidFill>
            <a:srgbClr val="161A22"/>
          </a:solidFill>
          <a:ln w="12700">
            <a:solidFill>
              <a:srgbClr val="2B3140"/>
            </a:solidFill>
          </a:ln>
        </p:spPr>
        <p:txBody>
          <a:bodyPr wrap="square" lIns="127000" tIns="76200" rIns="127000" bIns="762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3274D9"/>
                </a:solidFill>
              </a:rPr>
              <a:t>M7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E8EBF0"/>
                </a:solidFill>
              </a:rPr>
              <a:t>Dashboards</a:t>
            </a:r>
          </a:p>
        </p:txBody>
      </p:sp>
      <p:sp>
        <p:nvSpPr>
          <p:cNvPr id="206" name="S206"/>
          <p:cNvSpPr/>
          <p:nvPr/>
        </p:nvSpPr>
        <p:spPr>
          <a:xfrm>
            <a:off x="8775700" y="4978400"/>
            <a:ext cx="2362200" cy="812800"/>
          </a:xfrm>
          <a:prstGeom prst="roundRect">
            <a:avLst/>
          </a:prstGeom>
          <a:solidFill>
            <a:srgbClr val="161A22"/>
          </a:solidFill>
          <a:ln w="12700">
            <a:solidFill>
              <a:srgbClr val="2B3140"/>
            </a:solidFill>
          </a:ln>
        </p:spPr>
        <p:txBody>
          <a:bodyPr wrap="square" lIns="127000" tIns="76200" rIns="127000" bIns="762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B877D9"/>
                </a:solidFill>
              </a:rPr>
              <a:t>M8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E8EBF0"/>
                </a:solidFill>
              </a:rPr>
              <a:t>Visualizations</a:t>
            </a:r>
          </a:p>
        </p:txBody>
      </p:sp>
      <p:sp>
        <p:nvSpPr>
          <p:cNvPr id="207" name="S207"/>
          <p:cNvSpPr/>
          <p:nvPr/>
        </p:nvSpPr>
        <p:spPr>
          <a:xfrm>
            <a:off x="1231900" y="6019800"/>
            <a:ext cx="990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76200" rIns="127000" bIns="76200" anchor="ctr"/>
          <a:lstStyle/>
          <a:p>
            <a:pPr algn="l">
              <a:buNone/>
            </a:pPr>
            <a:r>
              <a:rPr lang="en-US" sz="1400" dirty="0">
                <a:solidFill>
                  <a:srgbClr val="9AA5B5"/>
                </a:solidFill>
              </a:rPr>
              <a:t>Lab environment: Grafana · Prometheus · PostgreSQL · Node Exporter</a:t>
            </a:r>
          </a:p>
        </p:txBody>
      </p:sp>
    </p:spTree>
    <p:extLst>
      <p:ext uri="{BB962C8B-B14F-4D97-AF65-F5344CB8AC3E}">
        <p14:creationId xmlns:p14="http://schemas.microsoft.com/office/powerpoint/2010/main" val="2403780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9E2F2-9E19-112A-6841-F05C77B1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9200"/>
            <a:ext cx="7874000" cy="1016000"/>
          </a:xfrm>
        </p:spPr>
        <p:txBody>
          <a:bodyPr/>
          <a:lstStyle/>
          <a:p>
            <a:pPr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Working with Data 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C1F066-CAD1-64CA-269D-EF6699D82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32200"/>
            <a:ext cx="8890000" cy="762000"/>
          </a:xfrm>
        </p:spPr>
        <p:txBody>
          <a:bodyPr/>
          <a:lstStyle/>
          <a:p>
            <a:pPr algn="l">
              <a:buNone/>
            </a:pPr>
            <a:r>
              <a:rPr lang="en-US" sz="1700" b="0" dirty="0">
                <a:solidFill>
                  <a:srgbClr val="A9B2C1"/>
                </a:solidFill>
              </a:rPr>
              <a:t>The connectors that turn Grafana into a single pane of glass across metrics, logs, SQL and cloud.</a:t>
            </a:r>
          </a:p>
        </p:txBody>
      </p:sp>
      <p:sp>
        <p:nvSpPr>
          <p:cNvPr id="401" name="S401"/>
          <p:cNvSpPr/>
          <p:nvPr/>
        </p:nvSpPr>
        <p:spPr>
          <a:xfrm>
            <a:off x="7620000" y="1524000"/>
            <a:ext cx="3810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16000" b="1" dirty="0">
                <a:solidFill>
                  <a:srgbClr val="1B202B"/>
                </a:solidFill>
              </a:rPr>
              <a:t>05</a:t>
            </a:r>
          </a:p>
        </p:txBody>
      </p:sp>
      <p:sp>
        <p:nvSpPr>
          <p:cNvPr id="402" name="S402"/>
          <p:cNvSpPr/>
          <p:nvPr/>
        </p:nvSpPr>
        <p:spPr>
          <a:xfrm>
            <a:off x="838200" y="1905000"/>
            <a:ext cx="3302000" cy="406400"/>
          </a:xfrm>
          <a:prstGeom prst="roundRect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127000" tIns="50800" rIns="1270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MODULE 5</a:t>
            </a:r>
          </a:p>
        </p:txBody>
      </p:sp>
      <p:sp>
        <p:nvSpPr>
          <p:cNvPr id="403" name="S403"/>
          <p:cNvSpPr/>
          <p:nvPr/>
        </p:nvSpPr>
        <p:spPr>
          <a:xfrm>
            <a:off x="838200" y="3581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5197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5B9FB-9048-578E-DD36-0404171DE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842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What Are Data Sources?</a:t>
            </a:r>
          </a:p>
        </p:txBody>
      </p:sp>
      <p:sp>
        <p:nvSpPr>
          <p:cNvPr id="401" name="S401"/>
          <p:cNvSpPr/>
          <p:nvPr/>
        </p:nvSpPr>
        <p:spPr>
          <a:xfrm>
            <a:off x="762000" y="1219200"/>
            <a:ext cx="3429000" cy="1676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02" name="S402"/>
          <p:cNvSpPr/>
          <p:nvPr/>
        </p:nvSpPr>
        <p:spPr>
          <a:xfrm>
            <a:off x="939800" y="13716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700" b="1" dirty="0">
                <a:solidFill>
                  <a:srgbClr val="F46800"/>
                </a:solidFill>
              </a:rPr>
              <a:t>A named connection</a:t>
            </a:r>
          </a:p>
        </p:txBody>
      </p:sp>
      <p:sp>
        <p:nvSpPr>
          <p:cNvPr id="403" name="S403"/>
          <p:cNvSpPr/>
          <p:nvPr/>
        </p:nvSpPr>
        <p:spPr>
          <a:xfrm>
            <a:off x="939800" y="1778000"/>
            <a:ext cx="30734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Stores URL, auth and TLS for one backend.</a:t>
            </a:r>
          </a:p>
        </p:txBody>
      </p:sp>
      <p:sp>
        <p:nvSpPr>
          <p:cNvPr id="431" name="S431"/>
          <p:cNvSpPr/>
          <p:nvPr/>
        </p:nvSpPr>
        <p:spPr>
          <a:xfrm>
            <a:off x="762000" y="9906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2" name="S432"/>
          <p:cNvSpPr/>
          <p:nvPr/>
        </p:nvSpPr>
        <p:spPr>
          <a:xfrm>
            <a:off x="762000" y="1219200"/>
            <a:ext cx="3429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3" name="S433"/>
          <p:cNvSpPr/>
          <p:nvPr/>
        </p:nvSpPr>
        <p:spPr>
          <a:xfrm>
            <a:off x="4381500" y="1219200"/>
            <a:ext cx="3429000" cy="1676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4" name="S434"/>
          <p:cNvSpPr/>
          <p:nvPr/>
        </p:nvSpPr>
        <p:spPr>
          <a:xfrm>
            <a:off x="4381500" y="12192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5" name="S435"/>
          <p:cNvSpPr/>
          <p:nvPr/>
        </p:nvSpPr>
        <p:spPr>
          <a:xfrm>
            <a:off x="4559300" y="13716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700" b="1" dirty="0">
                <a:solidFill>
                  <a:srgbClr val="3274D9"/>
                </a:solidFill>
              </a:rPr>
              <a:t>A query language adapter</a:t>
            </a:r>
          </a:p>
        </p:txBody>
      </p:sp>
      <p:sp>
        <p:nvSpPr>
          <p:cNvPr id="436" name="S436"/>
          <p:cNvSpPr/>
          <p:nvPr/>
        </p:nvSpPr>
        <p:spPr>
          <a:xfrm>
            <a:off x="4559300" y="1778000"/>
            <a:ext cx="30734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Each type ships its own query editor: PromQL, SQL, Lucene, LogQL, plus its own capabilities.</a:t>
            </a:r>
          </a:p>
        </p:txBody>
      </p:sp>
      <p:sp>
        <p:nvSpPr>
          <p:cNvPr id="437" name="S437"/>
          <p:cNvSpPr/>
          <p:nvPr/>
        </p:nvSpPr>
        <p:spPr>
          <a:xfrm>
            <a:off x="8001000" y="1219200"/>
            <a:ext cx="3429000" cy="1676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8" name="S438"/>
          <p:cNvSpPr/>
          <p:nvPr/>
        </p:nvSpPr>
        <p:spPr>
          <a:xfrm>
            <a:off x="8001000" y="1219200"/>
            <a:ext cx="3429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39" name="S439"/>
          <p:cNvSpPr/>
          <p:nvPr/>
        </p:nvSpPr>
        <p:spPr>
          <a:xfrm>
            <a:off x="8178800" y="13716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700" b="1" dirty="0">
                <a:solidFill>
                  <a:srgbClr val="56A64B"/>
                </a:solidFill>
              </a:rPr>
              <a:t>A shared, governed asset</a:t>
            </a:r>
          </a:p>
        </p:txBody>
      </p:sp>
      <p:sp>
        <p:nvSpPr>
          <p:cNvPr id="440" name="S440"/>
          <p:cNvSpPr/>
          <p:nvPr/>
        </p:nvSpPr>
        <p:spPr>
          <a:xfrm>
            <a:off x="8178800" y="1778000"/>
            <a:ext cx="30734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Reusable across dashboards, alerts and Explore. Permissions and provisioning are centrally managed.</a:t>
            </a:r>
          </a:p>
        </p:txBody>
      </p:sp>
      <p:sp>
        <p:nvSpPr>
          <p:cNvPr id="481" name="S481"/>
          <p:cNvSpPr/>
          <p:nvPr/>
        </p:nvSpPr>
        <p:spPr>
          <a:xfrm>
            <a:off x="762000" y="3073400"/>
            <a:ext cx="6604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900" b="1" dirty="0">
                <a:solidFill>
                  <a:srgbClr val="FFFFFF"/>
                </a:solidFill>
              </a:rPr>
              <a:t>How a panel actually gets its data</a:t>
            </a:r>
          </a:p>
        </p:txBody>
      </p:sp>
      <p:sp>
        <p:nvSpPr>
          <p:cNvPr id="482" name="S482"/>
          <p:cNvSpPr/>
          <p:nvPr/>
        </p:nvSpPr>
        <p:spPr>
          <a:xfrm>
            <a:off x="762000" y="3556000"/>
            <a:ext cx="1905000" cy="1244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83" name="S483"/>
          <p:cNvSpPr/>
          <p:nvPr/>
        </p:nvSpPr>
        <p:spPr>
          <a:xfrm>
            <a:off x="863600" y="3657600"/>
            <a:ext cx="1701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9830"/>
                </a:solidFill>
              </a:rPr>
              <a:t>Panel</a:t>
            </a:r>
          </a:p>
        </p:txBody>
      </p:sp>
      <p:sp>
        <p:nvSpPr>
          <p:cNvPr id="484" name="S484"/>
          <p:cNvSpPr/>
          <p:nvPr/>
        </p:nvSpPr>
        <p:spPr>
          <a:xfrm>
            <a:off x="863600" y="4013200"/>
            <a:ext cx="1701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Time range + refresh</a:t>
            </a:r>
          </a:p>
        </p:txBody>
      </p:sp>
      <p:sp>
        <p:nvSpPr>
          <p:cNvPr id="485" name="S485"/>
          <p:cNvSpPr/>
          <p:nvPr/>
        </p:nvSpPr>
        <p:spPr>
          <a:xfrm>
            <a:off x="2705100" y="4038600"/>
            <a:ext cx="2032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86" name="S486"/>
          <p:cNvSpPr/>
          <p:nvPr/>
        </p:nvSpPr>
        <p:spPr>
          <a:xfrm>
            <a:off x="2946400" y="3556000"/>
            <a:ext cx="1905000" cy="1244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87" name="S487"/>
          <p:cNvSpPr/>
          <p:nvPr/>
        </p:nvSpPr>
        <p:spPr>
          <a:xfrm>
            <a:off x="3048000" y="3657600"/>
            <a:ext cx="1701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46800"/>
                </a:solidFill>
              </a:rPr>
              <a:t>Query editor</a:t>
            </a:r>
          </a:p>
        </p:txBody>
      </p:sp>
      <p:sp>
        <p:nvSpPr>
          <p:cNvPr id="488" name="S488"/>
          <p:cNvSpPr/>
          <p:nvPr/>
        </p:nvSpPr>
        <p:spPr>
          <a:xfrm>
            <a:off x="3048000" y="4013200"/>
            <a:ext cx="1701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PromQL / SQL / LogQL</a:t>
            </a:r>
          </a:p>
        </p:txBody>
      </p:sp>
      <p:sp>
        <p:nvSpPr>
          <p:cNvPr id="489" name="S489"/>
          <p:cNvSpPr/>
          <p:nvPr/>
        </p:nvSpPr>
        <p:spPr>
          <a:xfrm>
            <a:off x="4889500" y="4038600"/>
            <a:ext cx="2032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0" name="S490"/>
          <p:cNvSpPr/>
          <p:nvPr/>
        </p:nvSpPr>
        <p:spPr>
          <a:xfrm>
            <a:off x="5130800" y="3556000"/>
            <a:ext cx="1905000" cy="1244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1" name="S491"/>
          <p:cNvSpPr/>
          <p:nvPr/>
        </p:nvSpPr>
        <p:spPr>
          <a:xfrm>
            <a:off x="5232400" y="3657600"/>
            <a:ext cx="1701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274D9"/>
                </a:solidFill>
              </a:rPr>
              <a:t>Data source plugin</a:t>
            </a:r>
          </a:p>
        </p:txBody>
      </p:sp>
      <p:sp>
        <p:nvSpPr>
          <p:cNvPr id="492" name="S492"/>
          <p:cNvSpPr/>
          <p:nvPr/>
        </p:nvSpPr>
        <p:spPr>
          <a:xfrm>
            <a:off x="5232400" y="4013200"/>
            <a:ext cx="1701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Auth, transport, parsing</a:t>
            </a:r>
          </a:p>
        </p:txBody>
      </p:sp>
      <p:sp>
        <p:nvSpPr>
          <p:cNvPr id="493" name="S493"/>
          <p:cNvSpPr/>
          <p:nvPr/>
        </p:nvSpPr>
        <p:spPr>
          <a:xfrm>
            <a:off x="7073900" y="4038600"/>
            <a:ext cx="2032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4" name="S494"/>
          <p:cNvSpPr/>
          <p:nvPr/>
        </p:nvSpPr>
        <p:spPr>
          <a:xfrm>
            <a:off x="7315200" y="3556000"/>
            <a:ext cx="1905000" cy="1244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5" name="S495"/>
          <p:cNvSpPr/>
          <p:nvPr/>
        </p:nvSpPr>
        <p:spPr>
          <a:xfrm>
            <a:off x="7416800" y="3657600"/>
            <a:ext cx="1701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B877D9"/>
                </a:solidFill>
              </a:rPr>
              <a:t>Backend store</a:t>
            </a:r>
          </a:p>
        </p:txBody>
      </p:sp>
      <p:sp>
        <p:nvSpPr>
          <p:cNvPr id="496" name="S496"/>
          <p:cNvSpPr/>
          <p:nvPr/>
        </p:nvSpPr>
        <p:spPr>
          <a:xfrm>
            <a:off x="7416800" y="4013200"/>
            <a:ext cx="1701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Prometheus, PG, Loki</a:t>
            </a:r>
          </a:p>
        </p:txBody>
      </p:sp>
      <p:sp>
        <p:nvSpPr>
          <p:cNvPr id="497" name="S497"/>
          <p:cNvSpPr/>
          <p:nvPr/>
        </p:nvSpPr>
        <p:spPr>
          <a:xfrm>
            <a:off x="9258300" y="4038600"/>
            <a:ext cx="2032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8" name="S498"/>
          <p:cNvSpPr/>
          <p:nvPr/>
        </p:nvSpPr>
        <p:spPr>
          <a:xfrm>
            <a:off x="9499600" y="3556000"/>
            <a:ext cx="1905000" cy="1244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499" name="S499"/>
          <p:cNvSpPr/>
          <p:nvPr/>
        </p:nvSpPr>
        <p:spPr>
          <a:xfrm>
            <a:off x="9601200" y="3657600"/>
            <a:ext cx="1701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56A64B"/>
                </a:solidFill>
              </a:rPr>
              <a:t>Data frames</a:t>
            </a:r>
          </a:p>
        </p:txBody>
      </p:sp>
      <p:sp>
        <p:nvSpPr>
          <p:cNvPr id="500" name="S500"/>
          <p:cNvSpPr/>
          <p:nvPr/>
        </p:nvSpPr>
        <p:spPr>
          <a:xfrm>
            <a:off x="9601200" y="4013200"/>
            <a:ext cx="1701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Rendered by the panel</a:t>
            </a:r>
          </a:p>
        </p:txBody>
      </p:sp>
      <p:sp>
        <p:nvSpPr>
          <p:cNvPr id="501" name="S501"/>
          <p:cNvSpPr/>
          <p:nvPr/>
        </p:nvSpPr>
        <p:spPr>
          <a:xfrm>
            <a:off x="762000" y="5029200"/>
            <a:ext cx="5207000" cy="11430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502" name="S502"/>
          <p:cNvSpPr/>
          <p:nvPr/>
        </p:nvSpPr>
        <p:spPr>
          <a:xfrm>
            <a:off x="939800" y="5130800"/>
            <a:ext cx="4851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600" b="1" dirty="0">
                <a:solidFill>
                  <a:srgbClr val="FF9830"/>
                </a:solidFill>
              </a:rPr>
              <a:t>Three ways to add one</a:t>
            </a:r>
          </a:p>
        </p:txBody>
      </p:sp>
      <p:sp>
        <p:nvSpPr>
          <p:cNvPr id="503" name="S503"/>
          <p:cNvSpPr/>
          <p:nvPr/>
        </p:nvSpPr>
        <p:spPr>
          <a:xfrm>
            <a:off x="939800" y="5461000"/>
            <a:ext cx="4851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UI (Connections &gt; Data sources) | YAML provisioning | HTTP API</a:t>
            </a:r>
          </a:p>
        </p:txBody>
      </p:sp>
      <p:sp>
        <p:nvSpPr>
          <p:cNvPr id="504" name="S504"/>
          <p:cNvSpPr/>
          <p:nvPr/>
        </p:nvSpPr>
        <p:spPr>
          <a:xfrm>
            <a:off x="6223000" y="5029200"/>
            <a:ext cx="5207000" cy="11430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52400" tIns="101600" rIns="152400" bIns="101600" anchor="ctr"/>
          <a:lstStyle/>
          <a:p>
            <a:endParaRPr/>
          </a:p>
        </p:txBody>
      </p:sp>
      <p:sp>
        <p:nvSpPr>
          <p:cNvPr id="505" name="S505"/>
          <p:cNvSpPr/>
          <p:nvPr/>
        </p:nvSpPr>
        <p:spPr>
          <a:xfrm>
            <a:off x="6400800" y="5130800"/>
            <a:ext cx="4851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ctr"/>
          <a:lstStyle/>
          <a:p>
            <a:pPr algn="l">
              <a:buNone/>
            </a:pPr>
            <a:r>
              <a:rPr lang="en-US" sz="1600" b="1" dirty="0">
                <a:solidFill>
                  <a:srgbClr val="F2CC0C"/>
                </a:solidFill>
              </a:rPr>
              <a:t>Watch out for</a:t>
            </a:r>
          </a:p>
        </p:txBody>
      </p:sp>
      <p:sp>
        <p:nvSpPr>
          <p:cNvPr id="506" name="S506"/>
          <p:cNvSpPr/>
          <p:nvPr/>
        </p:nvSpPr>
        <p:spPr>
          <a:xfrm>
            <a:off x="6400800" y="5461000"/>
            <a:ext cx="4851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101600" rIns="0" bIns="1016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Secrets in plain YAML | only one default source | query timeouts</a:t>
            </a:r>
          </a:p>
        </p:txBody>
      </p:sp>
    </p:spTree>
    <p:extLst>
      <p:ext uri="{BB962C8B-B14F-4D97-AF65-F5344CB8AC3E}">
        <p14:creationId xmlns:p14="http://schemas.microsoft.com/office/powerpoint/2010/main" val="3255758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3742-F5E5-BEC0-05F4-27135A937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842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Core Data Sources</a:t>
            </a:r>
          </a:p>
        </p:txBody>
      </p:sp>
      <p:sp>
        <p:nvSpPr>
          <p:cNvPr id="501" name="S501"/>
          <p:cNvSpPr/>
          <p:nvPr/>
        </p:nvSpPr>
        <p:spPr>
          <a:xfrm>
            <a:off x="762000" y="9906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02" name="S502"/>
          <p:cNvSpPr/>
          <p:nvPr/>
        </p:nvSpPr>
        <p:spPr>
          <a:xfrm>
            <a:off x="762000" y="1066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500" b="0" dirty="0">
                <a:solidFill>
                  <a:srgbClr val="98A2B3"/>
                </a:solidFill>
              </a:rPr>
              <a:t>Seven you will meet most often - and the query language each one speaks</a:t>
            </a:r>
          </a:p>
        </p:txBody>
      </p:sp>
      <p:sp>
        <p:nvSpPr>
          <p:cNvPr id="503" name="S503"/>
          <p:cNvSpPr/>
          <p:nvPr/>
        </p:nvSpPr>
        <p:spPr>
          <a:xfrm>
            <a:off x="762000" y="14986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04" name="S504"/>
          <p:cNvSpPr/>
          <p:nvPr/>
        </p:nvSpPr>
        <p:spPr>
          <a:xfrm>
            <a:off x="762000" y="1498600"/>
            <a:ext cx="2540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05" name="S505"/>
          <p:cNvSpPr/>
          <p:nvPr/>
        </p:nvSpPr>
        <p:spPr>
          <a:xfrm>
            <a:off x="914400" y="16510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Prometheus</a:t>
            </a:r>
          </a:p>
        </p:txBody>
      </p:sp>
      <p:sp>
        <p:nvSpPr>
          <p:cNvPr id="506" name="S506"/>
          <p:cNvSpPr/>
          <p:nvPr/>
        </p:nvSpPr>
        <p:spPr>
          <a:xfrm>
            <a:off x="914400" y="20320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F46800"/>
                </a:solidFill>
              </a:rPr>
              <a:t>METRICS | PromQL</a:t>
            </a:r>
          </a:p>
        </p:txBody>
      </p:sp>
      <p:sp>
        <p:nvSpPr>
          <p:cNvPr id="507" name="S507"/>
          <p:cNvSpPr/>
          <p:nvPr/>
        </p:nvSpPr>
        <p:spPr>
          <a:xfrm>
            <a:off x="914400" y="23622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Pull-based TSDB. Default choice for infrastructure and Kubernetes metrics.</a:t>
            </a:r>
          </a:p>
        </p:txBody>
      </p:sp>
      <p:sp>
        <p:nvSpPr>
          <p:cNvPr id="508" name="S508"/>
          <p:cNvSpPr/>
          <p:nvPr/>
        </p:nvSpPr>
        <p:spPr>
          <a:xfrm>
            <a:off x="3467100" y="14986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09" name="S509"/>
          <p:cNvSpPr/>
          <p:nvPr/>
        </p:nvSpPr>
        <p:spPr>
          <a:xfrm>
            <a:off x="3467100" y="1498600"/>
            <a:ext cx="2540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10" name="S510"/>
          <p:cNvSpPr/>
          <p:nvPr/>
        </p:nvSpPr>
        <p:spPr>
          <a:xfrm>
            <a:off x="3619500" y="16510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Loki</a:t>
            </a:r>
          </a:p>
        </p:txBody>
      </p:sp>
      <p:sp>
        <p:nvSpPr>
          <p:cNvPr id="511" name="S511"/>
          <p:cNvSpPr/>
          <p:nvPr/>
        </p:nvSpPr>
        <p:spPr>
          <a:xfrm>
            <a:off x="3619500" y="20320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FF9830"/>
                </a:solidFill>
              </a:rPr>
              <a:t>LOGS | LogQL</a:t>
            </a:r>
          </a:p>
        </p:txBody>
      </p:sp>
      <p:sp>
        <p:nvSpPr>
          <p:cNvPr id="512" name="S512"/>
          <p:cNvSpPr/>
          <p:nvPr/>
        </p:nvSpPr>
        <p:spPr>
          <a:xfrm>
            <a:off x="3619500" y="23622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Label-indexed logs. Shares Prometheus labels, so you can pivot metrics to logs.</a:t>
            </a:r>
          </a:p>
        </p:txBody>
      </p:sp>
      <p:sp>
        <p:nvSpPr>
          <p:cNvPr id="513" name="S513"/>
          <p:cNvSpPr/>
          <p:nvPr/>
        </p:nvSpPr>
        <p:spPr>
          <a:xfrm>
            <a:off x="6172200" y="14986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14" name="S514"/>
          <p:cNvSpPr/>
          <p:nvPr/>
        </p:nvSpPr>
        <p:spPr>
          <a:xfrm>
            <a:off x="6172200" y="1498600"/>
            <a:ext cx="2540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15" name="S515"/>
          <p:cNvSpPr/>
          <p:nvPr/>
        </p:nvSpPr>
        <p:spPr>
          <a:xfrm>
            <a:off x="6324600" y="16510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516" name="S516"/>
          <p:cNvSpPr/>
          <p:nvPr/>
        </p:nvSpPr>
        <p:spPr>
          <a:xfrm>
            <a:off x="6324600" y="20320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3274D9"/>
                </a:solidFill>
              </a:rPr>
              <a:t>RELATIONAL | SQL</a:t>
            </a:r>
          </a:p>
        </p:txBody>
      </p:sp>
      <p:sp>
        <p:nvSpPr>
          <p:cNvPr id="517" name="S517"/>
          <p:cNvSpPr/>
          <p:nvPr/>
        </p:nvSpPr>
        <p:spPr>
          <a:xfrm>
            <a:off x="6324600" y="23622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Business data. Any timestamp column becomes a time series with macros.</a:t>
            </a:r>
          </a:p>
        </p:txBody>
      </p:sp>
      <p:sp>
        <p:nvSpPr>
          <p:cNvPr id="518" name="S518"/>
          <p:cNvSpPr/>
          <p:nvPr/>
        </p:nvSpPr>
        <p:spPr>
          <a:xfrm>
            <a:off x="8877300" y="14986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19" name="S519"/>
          <p:cNvSpPr/>
          <p:nvPr/>
        </p:nvSpPr>
        <p:spPr>
          <a:xfrm>
            <a:off x="8877300" y="1498600"/>
            <a:ext cx="2540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0" name="S520"/>
          <p:cNvSpPr/>
          <p:nvPr/>
        </p:nvSpPr>
        <p:spPr>
          <a:xfrm>
            <a:off x="9029700" y="16510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MySQL</a:t>
            </a:r>
          </a:p>
        </p:txBody>
      </p:sp>
      <p:sp>
        <p:nvSpPr>
          <p:cNvPr id="521" name="S521"/>
          <p:cNvSpPr/>
          <p:nvPr/>
        </p:nvSpPr>
        <p:spPr>
          <a:xfrm>
            <a:off x="9029700" y="20320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3274D9"/>
                </a:solidFill>
              </a:rPr>
              <a:t>RELATIONAL | SQL</a:t>
            </a:r>
          </a:p>
        </p:txBody>
      </p:sp>
      <p:sp>
        <p:nvSpPr>
          <p:cNvPr id="522" name="S522"/>
          <p:cNvSpPr/>
          <p:nvPr/>
        </p:nvSpPr>
        <p:spPr>
          <a:xfrm>
            <a:off x="9029700" y="23622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Same SQL editor as Postgres. Uses $__timeFilter for the dashboard range.</a:t>
            </a:r>
          </a:p>
        </p:txBody>
      </p:sp>
      <p:sp>
        <p:nvSpPr>
          <p:cNvPr id="523" name="S523"/>
          <p:cNvSpPr/>
          <p:nvPr/>
        </p:nvSpPr>
        <p:spPr>
          <a:xfrm>
            <a:off x="762000" y="35052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4" name="S524"/>
          <p:cNvSpPr/>
          <p:nvPr/>
        </p:nvSpPr>
        <p:spPr>
          <a:xfrm>
            <a:off x="762000" y="3505200"/>
            <a:ext cx="2540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5" name="S525"/>
          <p:cNvSpPr/>
          <p:nvPr/>
        </p:nvSpPr>
        <p:spPr>
          <a:xfrm>
            <a:off x="914400" y="36576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Elasticsearch</a:t>
            </a:r>
          </a:p>
        </p:txBody>
      </p:sp>
      <p:sp>
        <p:nvSpPr>
          <p:cNvPr id="526" name="S526"/>
          <p:cNvSpPr/>
          <p:nvPr/>
        </p:nvSpPr>
        <p:spPr>
          <a:xfrm>
            <a:off x="914400" y="40386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B877D9"/>
                </a:solidFill>
              </a:rPr>
              <a:t>DOCUMENTS | Lucene</a:t>
            </a:r>
          </a:p>
        </p:txBody>
      </p:sp>
      <p:sp>
        <p:nvSpPr>
          <p:cNvPr id="527" name="S527"/>
          <p:cNvSpPr/>
          <p:nvPr/>
        </p:nvSpPr>
        <p:spPr>
          <a:xfrm>
            <a:off x="914400" y="43688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Full-text search plus aggregations - great for app and audit logs.</a:t>
            </a:r>
          </a:p>
        </p:txBody>
      </p:sp>
      <p:sp>
        <p:nvSpPr>
          <p:cNvPr id="528" name="S528"/>
          <p:cNvSpPr/>
          <p:nvPr/>
        </p:nvSpPr>
        <p:spPr>
          <a:xfrm>
            <a:off x="3467100" y="35052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9" name="S529"/>
          <p:cNvSpPr/>
          <p:nvPr/>
        </p:nvSpPr>
        <p:spPr>
          <a:xfrm>
            <a:off x="3467100" y="3505200"/>
            <a:ext cx="2540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0" name="S530"/>
          <p:cNvSpPr/>
          <p:nvPr/>
        </p:nvSpPr>
        <p:spPr>
          <a:xfrm>
            <a:off x="3619500" y="36576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CloudWatch</a:t>
            </a:r>
          </a:p>
        </p:txBody>
      </p:sp>
      <p:sp>
        <p:nvSpPr>
          <p:cNvPr id="531" name="S531"/>
          <p:cNvSpPr/>
          <p:nvPr/>
        </p:nvSpPr>
        <p:spPr>
          <a:xfrm>
            <a:off x="3619500" y="40386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56A64B"/>
                </a:solidFill>
              </a:rPr>
              <a:t>AWS | Metrics + Logs</a:t>
            </a:r>
          </a:p>
        </p:txBody>
      </p:sp>
      <p:sp>
        <p:nvSpPr>
          <p:cNvPr id="532" name="S532"/>
          <p:cNvSpPr/>
          <p:nvPr/>
        </p:nvSpPr>
        <p:spPr>
          <a:xfrm>
            <a:off x="3619500" y="43688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AWS namespaces, dimensions and Logs Insights, using IAM auth.</a:t>
            </a:r>
          </a:p>
        </p:txBody>
      </p:sp>
      <p:sp>
        <p:nvSpPr>
          <p:cNvPr id="533" name="S533"/>
          <p:cNvSpPr/>
          <p:nvPr/>
        </p:nvSpPr>
        <p:spPr>
          <a:xfrm>
            <a:off x="6172200" y="35052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4" name="S534"/>
          <p:cNvSpPr/>
          <p:nvPr/>
        </p:nvSpPr>
        <p:spPr>
          <a:xfrm>
            <a:off x="6172200" y="3505200"/>
            <a:ext cx="2540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5" name="S535"/>
          <p:cNvSpPr/>
          <p:nvPr/>
        </p:nvSpPr>
        <p:spPr>
          <a:xfrm>
            <a:off x="6324600" y="36576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Azure Monitor</a:t>
            </a:r>
          </a:p>
        </p:txBody>
      </p:sp>
      <p:sp>
        <p:nvSpPr>
          <p:cNvPr id="536" name="S536"/>
          <p:cNvSpPr/>
          <p:nvPr/>
        </p:nvSpPr>
        <p:spPr>
          <a:xfrm>
            <a:off x="6324600" y="40386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56A64B"/>
                </a:solidFill>
              </a:rPr>
              <a:t>AZURE | KQL</a:t>
            </a:r>
          </a:p>
        </p:txBody>
      </p:sp>
      <p:sp>
        <p:nvSpPr>
          <p:cNvPr id="537" name="S537"/>
          <p:cNvSpPr/>
          <p:nvPr/>
        </p:nvSpPr>
        <p:spPr>
          <a:xfrm>
            <a:off x="6324600" y="43688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Metrics, Log Analytics (KQL) and Resource Graph from one plugin.</a:t>
            </a:r>
          </a:p>
        </p:txBody>
      </p:sp>
      <p:sp>
        <p:nvSpPr>
          <p:cNvPr id="538" name="S538"/>
          <p:cNvSpPr/>
          <p:nvPr/>
        </p:nvSpPr>
        <p:spPr>
          <a:xfrm>
            <a:off x="8877300" y="3505200"/>
            <a:ext cx="2540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9" name="S539"/>
          <p:cNvSpPr/>
          <p:nvPr/>
        </p:nvSpPr>
        <p:spPr>
          <a:xfrm>
            <a:off x="8877300" y="3505200"/>
            <a:ext cx="2540000" cy="50800"/>
          </a:xfrm>
          <a:prstGeom prst="rect">
            <a:avLst/>
          </a:prstGeom>
          <a:solidFill>
            <a:srgbClr val="7A8496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0" name="S540"/>
          <p:cNvSpPr/>
          <p:nvPr/>
        </p:nvSpPr>
        <p:spPr>
          <a:xfrm>
            <a:off x="9029700" y="3657600"/>
            <a:ext cx="223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150+ more</a:t>
            </a:r>
          </a:p>
        </p:txBody>
      </p:sp>
      <p:sp>
        <p:nvSpPr>
          <p:cNvPr id="541" name="S541"/>
          <p:cNvSpPr/>
          <p:nvPr/>
        </p:nvSpPr>
        <p:spPr>
          <a:xfrm>
            <a:off x="9029700" y="40386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1" dirty="0">
                <a:solidFill>
                  <a:srgbClr val="7A8496"/>
                </a:solidFill>
              </a:rPr>
              <a:t>PLUGIN CATALOG</a:t>
            </a:r>
          </a:p>
        </p:txBody>
      </p:sp>
      <p:sp>
        <p:nvSpPr>
          <p:cNvPr id="542" name="S542"/>
          <p:cNvSpPr/>
          <p:nvPr/>
        </p:nvSpPr>
        <p:spPr>
          <a:xfrm>
            <a:off x="9029700" y="43688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InfluxDB, Graphite, Jaeger, Tempo, BigQuery, Snowflake, Zabbix and beyond.</a:t>
            </a:r>
          </a:p>
        </p:txBody>
      </p:sp>
      <p:sp>
        <p:nvSpPr>
          <p:cNvPr id="543" name="S543"/>
          <p:cNvSpPr/>
          <p:nvPr/>
        </p:nvSpPr>
        <p:spPr>
          <a:xfrm>
            <a:off x="762000" y="5613400"/>
            <a:ext cx="10668000" cy="685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4" name="S544"/>
          <p:cNvSpPr/>
          <p:nvPr/>
        </p:nvSpPr>
        <p:spPr>
          <a:xfrm>
            <a:off x="939800" y="5715000"/>
            <a:ext cx="10312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Rule of thumb: metrics for what is happening, logs for why it happened, SQL for the business context around it.</a:t>
            </a:r>
          </a:p>
        </p:txBody>
      </p:sp>
    </p:spTree>
    <p:extLst>
      <p:ext uri="{BB962C8B-B14F-4D97-AF65-F5344CB8AC3E}">
        <p14:creationId xmlns:p14="http://schemas.microsoft.com/office/powerpoint/2010/main" val="839581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D89E8-48E2-AF53-7F7C-907FCF99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842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Metrics and Logs: Prometheus + Loki</a:t>
            </a:r>
          </a:p>
        </p:txBody>
      </p:sp>
      <p:sp>
        <p:nvSpPr>
          <p:cNvPr id="521" name="S521"/>
          <p:cNvSpPr/>
          <p:nvPr/>
        </p:nvSpPr>
        <p:spPr>
          <a:xfrm>
            <a:off x="762000" y="9906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2" name="S522"/>
          <p:cNvSpPr/>
          <p:nvPr/>
        </p:nvSpPr>
        <p:spPr>
          <a:xfrm>
            <a:off x="762000" y="1397000"/>
            <a:ext cx="5207000" cy="3810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3" name="S523"/>
          <p:cNvSpPr/>
          <p:nvPr/>
        </p:nvSpPr>
        <p:spPr>
          <a:xfrm>
            <a:off x="762000" y="1397000"/>
            <a:ext cx="5207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24" name="S524"/>
          <p:cNvSpPr/>
          <p:nvPr/>
        </p:nvSpPr>
        <p:spPr>
          <a:xfrm>
            <a:off x="965200" y="15494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2200" b="1" dirty="0">
                <a:solidFill>
                  <a:srgbClr val="F46800"/>
                </a:solidFill>
              </a:rPr>
              <a:t>Prometheus</a:t>
            </a:r>
          </a:p>
        </p:txBody>
      </p:sp>
      <p:sp>
        <p:nvSpPr>
          <p:cNvPr id="525" name="S525"/>
          <p:cNvSpPr/>
          <p:nvPr/>
        </p:nvSpPr>
        <p:spPr>
          <a:xfrm>
            <a:off x="965200" y="1955800"/>
            <a:ext cx="4800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Time series metrics</a:t>
            </a:r>
          </a:p>
        </p:txBody>
      </p:sp>
      <p:sp>
        <p:nvSpPr>
          <p:cNvPr id="526" name="S526"/>
          <p:cNvSpPr/>
          <p:nvPr/>
        </p:nvSpPr>
        <p:spPr>
          <a:xfrm>
            <a:off x="965200" y="2311400"/>
            <a:ext cx="4800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URL of the Prometheus server + scrape interval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Auth: none, basic, or forwarded OAuth identity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Exemplars link a metric spike to a trace</a:t>
            </a:r>
          </a:p>
        </p:txBody>
      </p:sp>
      <p:sp>
        <p:nvSpPr>
          <p:cNvPr id="527" name="S527"/>
          <p:cNvSpPr/>
          <p:nvPr/>
        </p:nvSpPr>
        <p:spPr>
          <a:xfrm>
            <a:off x="965200" y="3708400"/>
            <a:ext cx="48006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76200" rIns="127000" bIns="762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rate(http_requests_total{job="api"}[5m])</a:t>
            </a:r>
          </a:p>
        </p:txBody>
      </p:sp>
      <p:sp>
        <p:nvSpPr>
          <p:cNvPr id="528" name="S528"/>
          <p:cNvSpPr/>
          <p:nvPr/>
        </p:nvSpPr>
        <p:spPr>
          <a:xfrm>
            <a:off x="965200" y="4318000"/>
            <a:ext cx="48006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Best for: RED / USE dashboards, alerting, capacity trends.</a:t>
            </a:r>
          </a:p>
        </p:txBody>
      </p:sp>
      <p:sp>
        <p:nvSpPr>
          <p:cNvPr id="529" name="S529"/>
          <p:cNvSpPr/>
          <p:nvPr/>
        </p:nvSpPr>
        <p:spPr>
          <a:xfrm>
            <a:off x="6223000" y="1397000"/>
            <a:ext cx="5207000" cy="3810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0" name="S530"/>
          <p:cNvSpPr/>
          <p:nvPr/>
        </p:nvSpPr>
        <p:spPr>
          <a:xfrm>
            <a:off x="6223000" y="1397000"/>
            <a:ext cx="5207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1" name="S531"/>
          <p:cNvSpPr/>
          <p:nvPr/>
        </p:nvSpPr>
        <p:spPr>
          <a:xfrm>
            <a:off x="6426200" y="15494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2200" b="1" dirty="0">
                <a:solidFill>
                  <a:srgbClr val="FF9830"/>
                </a:solidFill>
              </a:rPr>
              <a:t>Loki</a:t>
            </a:r>
          </a:p>
        </p:txBody>
      </p:sp>
      <p:sp>
        <p:nvSpPr>
          <p:cNvPr id="532" name="S532"/>
          <p:cNvSpPr/>
          <p:nvPr/>
        </p:nvSpPr>
        <p:spPr>
          <a:xfrm>
            <a:off x="6426200" y="1955800"/>
            <a:ext cx="4800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Label-indexed logs</a:t>
            </a:r>
          </a:p>
        </p:txBody>
      </p:sp>
      <p:sp>
        <p:nvSpPr>
          <p:cNvPr id="533" name="S533"/>
          <p:cNvSpPr/>
          <p:nvPr/>
        </p:nvSpPr>
        <p:spPr>
          <a:xfrm>
            <a:off x="6426200" y="2311400"/>
            <a:ext cx="4800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Indexes labels only, not full log text - cheap to run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LogQL mirrors PromQL, so filters feel familiar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Derived fields turn log IDs into trace links</a:t>
            </a:r>
          </a:p>
        </p:txBody>
      </p:sp>
      <p:sp>
        <p:nvSpPr>
          <p:cNvPr id="534" name="S534"/>
          <p:cNvSpPr/>
          <p:nvPr/>
        </p:nvSpPr>
        <p:spPr>
          <a:xfrm>
            <a:off x="6426200" y="3708400"/>
            <a:ext cx="48006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76200" rIns="127000" bIns="762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{job="api"} |= "error" | json | line_format</a:t>
            </a:r>
          </a:p>
        </p:txBody>
      </p:sp>
      <p:sp>
        <p:nvSpPr>
          <p:cNvPr id="535" name="S535"/>
          <p:cNvSpPr/>
          <p:nvPr/>
        </p:nvSpPr>
        <p:spPr>
          <a:xfrm>
            <a:off x="6426200" y="4318000"/>
            <a:ext cx="48006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Best for: root-cause drill-down straight from a metric panel.</a:t>
            </a:r>
          </a:p>
        </p:txBody>
      </p:sp>
      <p:sp>
        <p:nvSpPr>
          <p:cNvPr id="536" name="S536"/>
          <p:cNvSpPr/>
          <p:nvPr/>
        </p:nvSpPr>
        <p:spPr>
          <a:xfrm>
            <a:off x="762000" y="5384800"/>
            <a:ext cx="10668000" cy="939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B3140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37" name="S537"/>
          <p:cNvSpPr/>
          <p:nvPr/>
        </p:nvSpPr>
        <p:spPr>
          <a:xfrm>
            <a:off x="939800" y="54864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600" b="1" dirty="0">
                <a:solidFill>
                  <a:srgbClr val="56A64B"/>
                </a:solidFill>
              </a:rPr>
              <a:t>Why they pair so well</a:t>
            </a:r>
          </a:p>
        </p:txBody>
      </p:sp>
      <p:sp>
        <p:nvSpPr>
          <p:cNvPr id="538" name="S538"/>
          <p:cNvSpPr/>
          <p:nvPr/>
        </p:nvSpPr>
        <p:spPr>
          <a:xfrm>
            <a:off x="939800" y="5816600"/>
            <a:ext cx="10312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Identical label sets (job, instance, namespace) mean one dashboard variable drives both. Click a metric spike, jump to the exact logs behind it.</a:t>
            </a:r>
          </a:p>
        </p:txBody>
      </p:sp>
    </p:spTree>
    <p:extLst>
      <p:ext uri="{BB962C8B-B14F-4D97-AF65-F5344CB8AC3E}">
        <p14:creationId xmlns:p14="http://schemas.microsoft.com/office/powerpoint/2010/main" val="3439015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4C6E-617A-1DB6-D03D-48F9B216D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842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SQL Data Sources: PostgreSQL and MySQL</a:t>
            </a:r>
          </a:p>
        </p:txBody>
      </p:sp>
      <p:sp>
        <p:nvSpPr>
          <p:cNvPr id="541" name="S541"/>
          <p:cNvSpPr/>
          <p:nvPr/>
        </p:nvSpPr>
        <p:spPr>
          <a:xfrm>
            <a:off x="762000" y="9906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2" name="S542"/>
          <p:cNvSpPr/>
          <p:nvPr/>
        </p:nvSpPr>
        <p:spPr>
          <a:xfrm>
            <a:off x="762000" y="1346200"/>
            <a:ext cx="5207000" cy="2819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3" name="S543"/>
          <p:cNvSpPr/>
          <p:nvPr/>
        </p:nvSpPr>
        <p:spPr>
          <a:xfrm>
            <a:off x="762000" y="1346200"/>
            <a:ext cx="5207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4" name="S544"/>
          <p:cNvSpPr/>
          <p:nvPr/>
        </p:nvSpPr>
        <p:spPr>
          <a:xfrm>
            <a:off x="965200" y="1473200"/>
            <a:ext cx="4800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800" b="1" dirty="0">
                <a:solidFill>
                  <a:srgbClr val="3274D9"/>
                </a:solidFill>
              </a:rPr>
              <a:t>Connection settings</a:t>
            </a:r>
          </a:p>
        </p:txBody>
      </p:sp>
      <p:sp>
        <p:nvSpPr>
          <p:cNvPr id="545" name="S545"/>
          <p:cNvSpPr/>
          <p:nvPr/>
        </p:nvSpPr>
        <p:spPr>
          <a:xfrm>
            <a:off x="965200" y="1854200"/>
            <a:ext cx="4800600" cy="2209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Host:port, database name, user - always a read-only user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TLS/SSL mode: require or verify-full in production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Max open / idle connections and connection lifetime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Min time interval matches your data granularity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Timescale toggle for TimescaleDB hypertables</a:t>
            </a:r>
          </a:p>
        </p:txBody>
      </p:sp>
      <p:sp>
        <p:nvSpPr>
          <p:cNvPr id="546" name="S546"/>
          <p:cNvSpPr/>
          <p:nvPr/>
        </p:nvSpPr>
        <p:spPr>
          <a:xfrm>
            <a:off x="6223000" y="1346200"/>
            <a:ext cx="5207000" cy="2819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7" name="S547"/>
          <p:cNvSpPr/>
          <p:nvPr/>
        </p:nvSpPr>
        <p:spPr>
          <a:xfrm>
            <a:off x="6223000" y="1346200"/>
            <a:ext cx="5207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48" name="S548"/>
          <p:cNvSpPr/>
          <p:nvPr/>
        </p:nvSpPr>
        <p:spPr>
          <a:xfrm>
            <a:off x="6426200" y="1473200"/>
            <a:ext cx="4800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800" b="1" dirty="0">
                <a:solidFill>
                  <a:srgbClr val="B877D9"/>
                </a:solidFill>
              </a:rPr>
              <a:t>Query editor essentials</a:t>
            </a:r>
          </a:p>
        </p:txBody>
      </p:sp>
      <p:sp>
        <p:nvSpPr>
          <p:cNvPr id="549" name="S549"/>
          <p:cNvSpPr/>
          <p:nvPr/>
        </p:nvSpPr>
        <p:spPr>
          <a:xfrm>
            <a:off x="6426200" y="1854200"/>
            <a:ext cx="4800600" cy="2209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Format as Time series needs a column aliased time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Format as Table returns raw rows for table panels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$__timeFilter(col) applies the dashboard time range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$__timeGroup(col,'5m') buckets rows into intervals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Always push filtering and aggregation into SQL</a:t>
            </a:r>
          </a:p>
        </p:txBody>
      </p:sp>
      <p:sp>
        <p:nvSpPr>
          <p:cNvPr id="550" name="S550"/>
          <p:cNvSpPr/>
          <p:nvPr/>
        </p:nvSpPr>
        <p:spPr>
          <a:xfrm>
            <a:off x="762000" y="4343400"/>
            <a:ext cx="10668000" cy="1295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51" name="S551"/>
          <p:cNvSpPr/>
          <p:nvPr/>
        </p:nvSpPr>
        <p:spPr>
          <a:xfrm>
            <a:off x="939800" y="4419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7A8496"/>
                </a:solidFill>
              </a:rPr>
              <a:t>Example: orders per 5 minutes by status</a:t>
            </a:r>
          </a:p>
        </p:txBody>
      </p:sp>
      <p:sp>
        <p:nvSpPr>
          <p:cNvPr id="552" name="S552"/>
          <p:cNvSpPr/>
          <p:nvPr/>
        </p:nvSpPr>
        <p:spPr>
          <a:xfrm>
            <a:off x="939800" y="4699000"/>
            <a:ext cx="103124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SELECT $__timeGroup(created_at,'5m') AS time, status AS metric, count(*) AS value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FROM orders WHERE $__timeFilter(created_at)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GROUP BY 1, 2 ORDER BY 1</a:t>
            </a:r>
          </a:p>
        </p:txBody>
      </p:sp>
      <p:sp>
        <p:nvSpPr>
          <p:cNvPr id="553" name="S553"/>
          <p:cNvSpPr/>
          <p:nvPr/>
        </p:nvSpPr>
        <p:spPr>
          <a:xfrm>
            <a:off x="762000" y="5791200"/>
            <a:ext cx="10668000" cy="533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76200" rIns="17780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Performance note: a dashboard is a query generator. Index the timestamp column, cap the returned rows, and cache with a sensible min interval.</a:t>
            </a:r>
          </a:p>
        </p:txBody>
      </p:sp>
    </p:spTree>
    <p:extLst>
      <p:ext uri="{BB962C8B-B14F-4D97-AF65-F5344CB8AC3E}">
        <p14:creationId xmlns:p14="http://schemas.microsoft.com/office/powerpoint/2010/main" val="1968558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71FA8-1911-26AF-A28A-6770EBC93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842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Search and Cloud Data Sources</a:t>
            </a:r>
          </a:p>
        </p:txBody>
      </p:sp>
      <p:sp>
        <p:nvSpPr>
          <p:cNvPr id="561" name="S561"/>
          <p:cNvSpPr/>
          <p:nvPr/>
        </p:nvSpPr>
        <p:spPr>
          <a:xfrm>
            <a:off x="762000" y="9906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62" name="S562"/>
          <p:cNvSpPr/>
          <p:nvPr/>
        </p:nvSpPr>
        <p:spPr>
          <a:xfrm>
            <a:off x="762000" y="1346200"/>
            <a:ext cx="3429000" cy="3810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63" name="S563"/>
          <p:cNvSpPr/>
          <p:nvPr/>
        </p:nvSpPr>
        <p:spPr>
          <a:xfrm>
            <a:off x="762000" y="1346200"/>
            <a:ext cx="3429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64" name="S564"/>
          <p:cNvSpPr/>
          <p:nvPr/>
        </p:nvSpPr>
        <p:spPr>
          <a:xfrm>
            <a:off x="939800" y="14732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900" b="1" dirty="0">
                <a:solidFill>
                  <a:srgbClr val="B877D9"/>
                </a:solidFill>
              </a:rPr>
              <a:t>Elasticsearch</a:t>
            </a:r>
          </a:p>
        </p:txBody>
      </p:sp>
      <p:sp>
        <p:nvSpPr>
          <p:cNvPr id="565" name="S565"/>
          <p:cNvSpPr/>
          <p:nvPr/>
        </p:nvSpPr>
        <p:spPr>
          <a:xfrm>
            <a:off x="939800" y="1854200"/>
            <a:ext cx="307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Documents and full-text search</a:t>
            </a:r>
          </a:p>
        </p:txBody>
      </p:sp>
      <p:sp>
        <p:nvSpPr>
          <p:cNvPr id="566" name="S566"/>
          <p:cNvSpPr/>
          <p:nvPr/>
        </p:nvSpPr>
        <p:spPr>
          <a:xfrm>
            <a:off x="939800" y="2209800"/>
            <a:ext cx="3073400" cy="21082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Index name or pattern, plus the time field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Lucene query syntax in the query box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Metric aggregation + bucket aggregation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Watch the version - features differ</a:t>
            </a:r>
          </a:p>
        </p:txBody>
      </p:sp>
      <p:sp>
        <p:nvSpPr>
          <p:cNvPr id="567" name="S567"/>
          <p:cNvSpPr/>
          <p:nvPr/>
        </p:nvSpPr>
        <p:spPr>
          <a:xfrm>
            <a:off x="939800" y="4419600"/>
            <a:ext cx="3073400" cy="5588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76200" rIns="127000" bIns="762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status:500 AND service:api</a:t>
            </a:r>
          </a:p>
        </p:txBody>
      </p:sp>
      <p:sp>
        <p:nvSpPr>
          <p:cNvPr id="568" name="S568"/>
          <p:cNvSpPr/>
          <p:nvPr/>
        </p:nvSpPr>
        <p:spPr>
          <a:xfrm>
            <a:off x="4381500" y="1346200"/>
            <a:ext cx="3429000" cy="3810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69" name="S569"/>
          <p:cNvSpPr/>
          <p:nvPr/>
        </p:nvSpPr>
        <p:spPr>
          <a:xfrm>
            <a:off x="4381500" y="1346200"/>
            <a:ext cx="3429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70" name="S570"/>
          <p:cNvSpPr/>
          <p:nvPr/>
        </p:nvSpPr>
        <p:spPr>
          <a:xfrm>
            <a:off x="4559300" y="14732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900" b="1" dirty="0">
                <a:solidFill>
                  <a:srgbClr val="56A64B"/>
                </a:solidFill>
              </a:rPr>
              <a:t>CloudWatch</a:t>
            </a:r>
          </a:p>
        </p:txBody>
      </p:sp>
      <p:sp>
        <p:nvSpPr>
          <p:cNvPr id="571" name="S571"/>
          <p:cNvSpPr/>
          <p:nvPr/>
        </p:nvSpPr>
        <p:spPr>
          <a:xfrm>
            <a:off x="4559300" y="1854200"/>
            <a:ext cx="307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AWS native metrics and logs</a:t>
            </a:r>
          </a:p>
        </p:txBody>
      </p:sp>
      <p:sp>
        <p:nvSpPr>
          <p:cNvPr id="572" name="S572"/>
          <p:cNvSpPr/>
          <p:nvPr/>
        </p:nvSpPr>
        <p:spPr>
          <a:xfrm>
            <a:off x="4559300" y="2209800"/>
            <a:ext cx="3073400" cy="21082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Auth via IAM role (preferred) or access keys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Pick default region, then namespace and metric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Dimensions act as the label filters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Logs Insights for query-based log panels</a:t>
            </a:r>
          </a:p>
        </p:txBody>
      </p:sp>
      <p:sp>
        <p:nvSpPr>
          <p:cNvPr id="573" name="S573"/>
          <p:cNvSpPr/>
          <p:nvPr/>
        </p:nvSpPr>
        <p:spPr>
          <a:xfrm>
            <a:off x="4559300" y="4419600"/>
            <a:ext cx="3073400" cy="5588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76200" rIns="127000" bIns="762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AWS/EC2 - CPUUtilization</a:t>
            </a:r>
          </a:p>
        </p:txBody>
      </p:sp>
      <p:sp>
        <p:nvSpPr>
          <p:cNvPr id="574" name="S574"/>
          <p:cNvSpPr/>
          <p:nvPr/>
        </p:nvSpPr>
        <p:spPr>
          <a:xfrm>
            <a:off x="8001000" y="1346200"/>
            <a:ext cx="3429000" cy="3810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75" name="S575"/>
          <p:cNvSpPr/>
          <p:nvPr/>
        </p:nvSpPr>
        <p:spPr>
          <a:xfrm>
            <a:off x="8001000" y="13462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76" name="S576"/>
          <p:cNvSpPr/>
          <p:nvPr/>
        </p:nvSpPr>
        <p:spPr>
          <a:xfrm>
            <a:off x="8178800" y="1473200"/>
            <a:ext cx="3073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900" b="1" dirty="0">
                <a:solidFill>
                  <a:srgbClr val="3274D9"/>
                </a:solidFill>
              </a:rPr>
              <a:t>Azure Monitor</a:t>
            </a:r>
          </a:p>
        </p:txBody>
      </p:sp>
      <p:sp>
        <p:nvSpPr>
          <p:cNvPr id="577" name="S577"/>
          <p:cNvSpPr/>
          <p:nvPr/>
        </p:nvSpPr>
        <p:spPr>
          <a:xfrm>
            <a:off x="8178800" y="1854200"/>
            <a:ext cx="307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Metrics, Logs and Resource Graph</a:t>
            </a:r>
          </a:p>
        </p:txBody>
      </p:sp>
      <p:sp>
        <p:nvSpPr>
          <p:cNvPr id="578" name="S578"/>
          <p:cNvSpPr/>
          <p:nvPr/>
        </p:nvSpPr>
        <p:spPr>
          <a:xfrm>
            <a:off x="8178800" y="2209800"/>
            <a:ext cx="3073400" cy="21082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App registration: tenant, client ID and secret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Choose subscription and resource scope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Metrics namespace mirrors the Azure portal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Log Analytics queries are written in KQL</a:t>
            </a:r>
          </a:p>
        </p:txBody>
      </p:sp>
      <p:sp>
        <p:nvSpPr>
          <p:cNvPr id="579" name="S579"/>
          <p:cNvSpPr/>
          <p:nvPr/>
        </p:nvSpPr>
        <p:spPr>
          <a:xfrm>
            <a:off x="8178800" y="4419600"/>
            <a:ext cx="3073400" cy="5588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76200" rIns="127000" bIns="762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AzureMetrics | summarize avg(Average)</a:t>
            </a:r>
          </a:p>
        </p:txBody>
      </p:sp>
      <p:sp>
        <p:nvSpPr>
          <p:cNvPr id="580" name="S580"/>
          <p:cNvSpPr/>
          <p:nvPr/>
        </p:nvSpPr>
        <p:spPr>
          <a:xfrm>
            <a:off x="762000" y="5384800"/>
            <a:ext cx="10668000" cy="939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B3140"/>
            </a:solidFill>
          </a:ln>
        </p:spPr>
        <p:txBody>
          <a:bodyPr wrap="square" lIns="152400" tIns="76200" rIns="152400" bIns="76200" anchor="ctr"/>
          <a:lstStyle/>
          <a:p>
            <a:endParaRPr/>
          </a:p>
        </p:txBody>
      </p:sp>
      <p:sp>
        <p:nvSpPr>
          <p:cNvPr id="581" name="S581"/>
          <p:cNvSpPr/>
          <p:nvPr/>
        </p:nvSpPr>
        <p:spPr>
          <a:xfrm>
            <a:off x="939800" y="54864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/>
          <a:lstStyle/>
          <a:p>
            <a:pPr algn="l">
              <a:buNone/>
            </a:pPr>
            <a:r>
              <a:rPr lang="en-US" sz="1600" b="1" dirty="0">
                <a:solidFill>
                  <a:srgbClr val="F2CC0C"/>
                </a:solidFill>
              </a:rPr>
              <a:t>Cloud sources bill per API call</a:t>
            </a:r>
          </a:p>
        </p:txBody>
      </p:sp>
      <p:sp>
        <p:nvSpPr>
          <p:cNvPr id="582" name="S582"/>
          <p:cNvSpPr/>
          <p:nvPr/>
        </p:nvSpPr>
        <p:spPr>
          <a:xfrm>
            <a:off x="939800" y="5816600"/>
            <a:ext cx="10312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Set a min interval, avoid 5-second refresh on shared dashboards, and prefer one broad query with transformations over ten narrow ones.</a:t>
            </a:r>
          </a:p>
        </p:txBody>
      </p:sp>
    </p:spTree>
    <p:extLst>
      <p:ext uri="{BB962C8B-B14F-4D97-AF65-F5344CB8AC3E}">
        <p14:creationId xmlns:p14="http://schemas.microsoft.com/office/powerpoint/2010/main" val="274529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BCFDF-FCA7-17A7-AD5C-45906652F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9200"/>
            <a:ext cx="7874000" cy="1016000"/>
          </a:xfrm>
        </p:spPr>
        <p:txBody>
          <a:bodyPr/>
          <a:lstStyle/>
          <a:p>
            <a:pPr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Prometheus Integration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79C87F-BF80-2616-4144-A61E0CDEF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32200"/>
            <a:ext cx="9144000" cy="762000"/>
          </a:xfrm>
        </p:spPr>
        <p:txBody>
          <a:bodyPr/>
          <a:lstStyle/>
          <a:p>
            <a:pPr algn="l">
              <a:buNone/>
            </a:pPr>
            <a:r>
              <a:rPr lang="en-US" sz="1700" b="0" dirty="0">
                <a:solidFill>
                  <a:srgbClr val="A9B2C1"/>
                </a:solidFill>
              </a:rPr>
              <a:t>How Prometheus discovers, scrapes and stores the metrics your dashboards will query.</a:t>
            </a:r>
          </a:p>
        </p:txBody>
      </p:sp>
      <p:sp>
        <p:nvSpPr>
          <p:cNvPr id="581" name="S581"/>
          <p:cNvSpPr/>
          <p:nvPr/>
        </p:nvSpPr>
        <p:spPr>
          <a:xfrm>
            <a:off x="7620000" y="1524000"/>
            <a:ext cx="3810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16000" b="1" dirty="0">
                <a:solidFill>
                  <a:srgbClr val="1B202B"/>
                </a:solidFill>
              </a:rPr>
              <a:t>06</a:t>
            </a:r>
          </a:p>
        </p:txBody>
      </p:sp>
      <p:sp>
        <p:nvSpPr>
          <p:cNvPr id="582" name="S582"/>
          <p:cNvSpPr/>
          <p:nvPr/>
        </p:nvSpPr>
        <p:spPr>
          <a:xfrm>
            <a:off x="838200" y="1905000"/>
            <a:ext cx="3302000" cy="406400"/>
          </a:xfrm>
          <a:prstGeom prst="roundRect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127000" tIns="50800" rIns="1270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MODULE 6</a:t>
            </a:r>
          </a:p>
        </p:txBody>
      </p:sp>
      <p:sp>
        <p:nvSpPr>
          <p:cNvPr id="583" name="S583"/>
          <p:cNvSpPr/>
          <p:nvPr/>
        </p:nvSpPr>
        <p:spPr>
          <a:xfrm>
            <a:off x="838200" y="3581400"/>
            <a:ext cx="1524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96808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1D871-347D-5F62-19C5-0502B09E7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Prometheus Architecture</a:t>
            </a:r>
          </a:p>
        </p:txBody>
      </p:sp>
      <p:sp>
        <p:nvSpPr>
          <p:cNvPr id="601" name="S60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02" name="S602"/>
          <p:cNvSpPr/>
          <p:nvPr/>
        </p:nvSpPr>
        <p:spPr>
          <a:xfrm>
            <a:off x="762000" y="10922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FF9830"/>
                </a:solidFill>
              </a:rPr>
              <a:t>TARGETS / EXPORTERS</a:t>
            </a:r>
          </a:p>
        </p:txBody>
      </p:sp>
      <p:sp>
        <p:nvSpPr>
          <p:cNvPr id="603" name="S603"/>
          <p:cNvSpPr/>
          <p:nvPr/>
        </p:nvSpPr>
        <p:spPr>
          <a:xfrm>
            <a:off x="3810000" y="1092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F46800"/>
                </a:solidFill>
              </a:rPr>
              <a:t>PROMETHEUS SERVER</a:t>
            </a:r>
          </a:p>
        </p:txBody>
      </p:sp>
      <p:sp>
        <p:nvSpPr>
          <p:cNvPr id="604" name="S604"/>
          <p:cNvSpPr/>
          <p:nvPr/>
        </p:nvSpPr>
        <p:spPr>
          <a:xfrm>
            <a:off x="8128000" y="10922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3274D9"/>
                </a:solidFill>
              </a:rPr>
              <a:t>CONSUMERS</a:t>
            </a:r>
          </a:p>
        </p:txBody>
      </p:sp>
      <p:sp>
        <p:nvSpPr>
          <p:cNvPr id="605" name="S605"/>
          <p:cNvSpPr/>
          <p:nvPr/>
        </p:nvSpPr>
        <p:spPr>
          <a:xfrm>
            <a:off x="762000" y="1422400"/>
            <a:ext cx="2540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06" name="S606"/>
          <p:cNvSpPr/>
          <p:nvPr/>
        </p:nvSpPr>
        <p:spPr>
          <a:xfrm>
            <a:off x="889000" y="1498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Node Exporter</a:t>
            </a:r>
          </a:p>
        </p:txBody>
      </p:sp>
      <p:sp>
        <p:nvSpPr>
          <p:cNvPr id="607" name="S607"/>
          <p:cNvSpPr/>
          <p:nvPr/>
        </p:nvSpPr>
        <p:spPr>
          <a:xfrm>
            <a:off x="889000" y="17526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:9100 /metrics</a:t>
            </a:r>
          </a:p>
        </p:txBody>
      </p:sp>
      <p:sp>
        <p:nvSpPr>
          <p:cNvPr id="608" name="S608"/>
          <p:cNvSpPr/>
          <p:nvPr/>
        </p:nvSpPr>
        <p:spPr>
          <a:xfrm>
            <a:off x="762000" y="2184400"/>
            <a:ext cx="2540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09" name="S609"/>
          <p:cNvSpPr/>
          <p:nvPr/>
        </p:nvSpPr>
        <p:spPr>
          <a:xfrm>
            <a:off x="889000" y="2260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610" name="S610"/>
          <p:cNvSpPr/>
          <p:nvPr/>
        </p:nvSpPr>
        <p:spPr>
          <a:xfrm>
            <a:off x="889000" y="25146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:8080 /metrics</a:t>
            </a:r>
          </a:p>
        </p:txBody>
      </p:sp>
      <p:sp>
        <p:nvSpPr>
          <p:cNvPr id="611" name="S611"/>
          <p:cNvSpPr/>
          <p:nvPr/>
        </p:nvSpPr>
        <p:spPr>
          <a:xfrm>
            <a:off x="762000" y="2946400"/>
            <a:ext cx="2540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12" name="S612"/>
          <p:cNvSpPr/>
          <p:nvPr/>
        </p:nvSpPr>
        <p:spPr>
          <a:xfrm>
            <a:off x="889000" y="3022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cAdvisor / kube-state</a:t>
            </a:r>
          </a:p>
        </p:txBody>
      </p:sp>
      <p:sp>
        <p:nvSpPr>
          <p:cNvPr id="613" name="S613"/>
          <p:cNvSpPr/>
          <p:nvPr/>
        </p:nvSpPr>
        <p:spPr>
          <a:xfrm>
            <a:off x="889000" y="32766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container metrics</a:t>
            </a:r>
          </a:p>
        </p:txBody>
      </p:sp>
      <p:sp>
        <p:nvSpPr>
          <p:cNvPr id="614" name="S614"/>
          <p:cNvSpPr/>
          <p:nvPr/>
        </p:nvSpPr>
        <p:spPr>
          <a:xfrm>
            <a:off x="762000" y="3708400"/>
            <a:ext cx="2540000" cy="685800"/>
          </a:xfrm>
          <a:prstGeom prst="roundRect">
            <a:avLst/>
          </a:prstGeom>
          <a:solidFill>
            <a:srgbClr val="1217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15" name="S615"/>
          <p:cNvSpPr/>
          <p:nvPr/>
        </p:nvSpPr>
        <p:spPr>
          <a:xfrm>
            <a:off x="889000" y="3784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9830"/>
                </a:solidFill>
              </a:rPr>
              <a:t>Service discovery</a:t>
            </a:r>
          </a:p>
        </p:txBody>
      </p:sp>
      <p:sp>
        <p:nvSpPr>
          <p:cNvPr id="616" name="S616"/>
          <p:cNvSpPr/>
          <p:nvPr/>
        </p:nvSpPr>
        <p:spPr>
          <a:xfrm>
            <a:off x="889000" y="4038600"/>
            <a:ext cx="228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static, file_sd, kubernetes_sd</a:t>
            </a:r>
          </a:p>
        </p:txBody>
      </p:sp>
      <p:sp>
        <p:nvSpPr>
          <p:cNvPr id="617" name="S617"/>
          <p:cNvSpPr/>
          <p:nvPr/>
        </p:nvSpPr>
        <p:spPr>
          <a:xfrm>
            <a:off x="3810000" y="1422400"/>
            <a:ext cx="3810000" cy="3073400"/>
          </a:xfrm>
          <a:prstGeom prst="roundRect">
            <a:avLst/>
          </a:prstGeom>
          <a:solidFill>
            <a:srgbClr val="121722"/>
          </a:solidFill>
          <a:ln w="12700">
            <a:solidFill>
              <a:srgbClr val="F4680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18" name="S618"/>
          <p:cNvSpPr/>
          <p:nvPr/>
        </p:nvSpPr>
        <p:spPr>
          <a:xfrm>
            <a:off x="3987800" y="1574800"/>
            <a:ext cx="3454400" cy="635000"/>
          </a:xfrm>
          <a:prstGeom prst="roundRect">
            <a:avLst/>
          </a:prstGeom>
          <a:solidFill>
            <a:srgbClr val="181D27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19" name="S619"/>
          <p:cNvSpPr/>
          <p:nvPr/>
        </p:nvSpPr>
        <p:spPr>
          <a:xfrm>
            <a:off x="4114800" y="16510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46800"/>
                </a:solidFill>
              </a:rPr>
              <a:t>Retrieval</a:t>
            </a:r>
          </a:p>
        </p:txBody>
      </p:sp>
      <p:sp>
        <p:nvSpPr>
          <p:cNvPr id="620" name="S620"/>
          <p:cNvSpPr/>
          <p:nvPr/>
        </p:nvSpPr>
        <p:spPr>
          <a:xfrm>
            <a:off x="4114800" y="1905000"/>
            <a:ext cx="320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pulls /metrics on a schedule</a:t>
            </a:r>
          </a:p>
        </p:txBody>
      </p:sp>
      <p:sp>
        <p:nvSpPr>
          <p:cNvPr id="621" name="S621"/>
          <p:cNvSpPr/>
          <p:nvPr/>
        </p:nvSpPr>
        <p:spPr>
          <a:xfrm>
            <a:off x="3987800" y="2286000"/>
            <a:ext cx="3454400" cy="635000"/>
          </a:xfrm>
          <a:prstGeom prst="roundRect">
            <a:avLst/>
          </a:prstGeom>
          <a:solidFill>
            <a:srgbClr val="181D27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22" name="S622"/>
          <p:cNvSpPr/>
          <p:nvPr/>
        </p:nvSpPr>
        <p:spPr>
          <a:xfrm>
            <a:off x="4114800" y="23622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46800"/>
                </a:solidFill>
              </a:rPr>
              <a:t>TSDB storage</a:t>
            </a:r>
          </a:p>
        </p:txBody>
      </p:sp>
      <p:sp>
        <p:nvSpPr>
          <p:cNvPr id="623" name="S623"/>
          <p:cNvSpPr/>
          <p:nvPr/>
        </p:nvSpPr>
        <p:spPr>
          <a:xfrm>
            <a:off x="4114800" y="2616200"/>
            <a:ext cx="320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local blocks + WAL on disk</a:t>
            </a:r>
          </a:p>
        </p:txBody>
      </p:sp>
      <p:sp>
        <p:nvSpPr>
          <p:cNvPr id="624" name="S624"/>
          <p:cNvSpPr/>
          <p:nvPr/>
        </p:nvSpPr>
        <p:spPr>
          <a:xfrm>
            <a:off x="3987800" y="2997200"/>
            <a:ext cx="3454400" cy="635000"/>
          </a:xfrm>
          <a:prstGeom prst="roundRect">
            <a:avLst/>
          </a:prstGeom>
          <a:solidFill>
            <a:srgbClr val="181D27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25" name="S625"/>
          <p:cNvSpPr/>
          <p:nvPr/>
        </p:nvSpPr>
        <p:spPr>
          <a:xfrm>
            <a:off x="4114800" y="30734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46800"/>
                </a:solidFill>
              </a:rPr>
              <a:t>Rules engine</a:t>
            </a:r>
          </a:p>
        </p:txBody>
      </p:sp>
      <p:sp>
        <p:nvSpPr>
          <p:cNvPr id="626" name="S626"/>
          <p:cNvSpPr/>
          <p:nvPr/>
        </p:nvSpPr>
        <p:spPr>
          <a:xfrm>
            <a:off x="4114800" y="3327400"/>
            <a:ext cx="320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recording + alerting rules</a:t>
            </a:r>
          </a:p>
        </p:txBody>
      </p:sp>
      <p:sp>
        <p:nvSpPr>
          <p:cNvPr id="627" name="S627"/>
          <p:cNvSpPr/>
          <p:nvPr/>
        </p:nvSpPr>
        <p:spPr>
          <a:xfrm>
            <a:off x="3987800" y="3708400"/>
            <a:ext cx="3454400" cy="635000"/>
          </a:xfrm>
          <a:prstGeom prst="roundRect">
            <a:avLst/>
          </a:prstGeom>
          <a:solidFill>
            <a:srgbClr val="181D27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28" name="S628"/>
          <p:cNvSpPr/>
          <p:nvPr/>
        </p:nvSpPr>
        <p:spPr>
          <a:xfrm>
            <a:off x="4114800" y="37846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46800"/>
                </a:solidFill>
              </a:rPr>
              <a:t>HTTP API</a:t>
            </a:r>
          </a:p>
        </p:txBody>
      </p:sp>
      <p:sp>
        <p:nvSpPr>
          <p:cNvPr id="629" name="S629"/>
          <p:cNvSpPr/>
          <p:nvPr/>
        </p:nvSpPr>
        <p:spPr>
          <a:xfrm>
            <a:off x="4114800" y="4038600"/>
            <a:ext cx="320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/api/v1/query, /query_range</a:t>
            </a:r>
          </a:p>
        </p:txBody>
      </p:sp>
      <p:sp>
        <p:nvSpPr>
          <p:cNvPr id="630" name="S630"/>
          <p:cNvSpPr/>
          <p:nvPr/>
        </p:nvSpPr>
        <p:spPr>
          <a:xfrm>
            <a:off x="8128000" y="1422400"/>
            <a:ext cx="3302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1" name="S631"/>
          <p:cNvSpPr/>
          <p:nvPr/>
        </p:nvSpPr>
        <p:spPr>
          <a:xfrm>
            <a:off x="8255000" y="14986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Grafana</a:t>
            </a:r>
          </a:p>
        </p:txBody>
      </p:sp>
      <p:sp>
        <p:nvSpPr>
          <p:cNvPr id="632" name="S632"/>
          <p:cNvSpPr/>
          <p:nvPr/>
        </p:nvSpPr>
        <p:spPr>
          <a:xfrm>
            <a:off x="8255000" y="1752600"/>
            <a:ext cx="304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PromQL queries per panel</a:t>
            </a:r>
          </a:p>
        </p:txBody>
      </p:sp>
      <p:sp>
        <p:nvSpPr>
          <p:cNvPr id="633" name="S633"/>
          <p:cNvSpPr/>
          <p:nvPr/>
        </p:nvSpPr>
        <p:spPr>
          <a:xfrm>
            <a:off x="8128000" y="2184400"/>
            <a:ext cx="3302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4" name="S634"/>
          <p:cNvSpPr/>
          <p:nvPr/>
        </p:nvSpPr>
        <p:spPr>
          <a:xfrm>
            <a:off x="8255000" y="22606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Alertmanager</a:t>
            </a:r>
          </a:p>
        </p:txBody>
      </p:sp>
      <p:sp>
        <p:nvSpPr>
          <p:cNvPr id="635" name="S635"/>
          <p:cNvSpPr/>
          <p:nvPr/>
        </p:nvSpPr>
        <p:spPr>
          <a:xfrm>
            <a:off x="8255000" y="2514600"/>
            <a:ext cx="304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routes, groups, silences</a:t>
            </a:r>
          </a:p>
        </p:txBody>
      </p:sp>
      <p:sp>
        <p:nvSpPr>
          <p:cNvPr id="636" name="S636"/>
          <p:cNvSpPr/>
          <p:nvPr/>
        </p:nvSpPr>
        <p:spPr>
          <a:xfrm>
            <a:off x="8128000" y="2946400"/>
            <a:ext cx="3302000" cy="68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7" name="S637"/>
          <p:cNvSpPr/>
          <p:nvPr/>
        </p:nvSpPr>
        <p:spPr>
          <a:xfrm>
            <a:off x="8255000" y="30226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Explore / API</a:t>
            </a:r>
          </a:p>
        </p:txBody>
      </p:sp>
      <p:sp>
        <p:nvSpPr>
          <p:cNvPr id="638" name="S638"/>
          <p:cNvSpPr/>
          <p:nvPr/>
        </p:nvSpPr>
        <p:spPr>
          <a:xfrm>
            <a:off x="8255000" y="3276600"/>
            <a:ext cx="304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ad-hoc queries, automation</a:t>
            </a:r>
          </a:p>
        </p:txBody>
      </p:sp>
      <p:sp>
        <p:nvSpPr>
          <p:cNvPr id="639" name="S639"/>
          <p:cNvSpPr/>
          <p:nvPr/>
        </p:nvSpPr>
        <p:spPr>
          <a:xfrm>
            <a:off x="8128000" y="3708400"/>
            <a:ext cx="3302000" cy="685800"/>
          </a:xfrm>
          <a:prstGeom prst="roundRect">
            <a:avLst/>
          </a:prstGeom>
          <a:solidFill>
            <a:srgbClr val="121722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0" name="S640"/>
          <p:cNvSpPr/>
          <p:nvPr/>
        </p:nvSpPr>
        <p:spPr>
          <a:xfrm>
            <a:off x="8255000" y="37846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B877D9"/>
                </a:solidFill>
              </a:rPr>
              <a:t>Remote write</a:t>
            </a:r>
          </a:p>
        </p:txBody>
      </p:sp>
      <p:sp>
        <p:nvSpPr>
          <p:cNvPr id="641" name="S641"/>
          <p:cNvSpPr/>
          <p:nvPr/>
        </p:nvSpPr>
        <p:spPr>
          <a:xfrm>
            <a:off x="8255000" y="40386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long-term store (Mimir, Thanos)</a:t>
            </a:r>
          </a:p>
        </p:txBody>
      </p:sp>
      <p:sp>
        <p:nvSpPr>
          <p:cNvPr id="642" name="S642"/>
          <p:cNvSpPr/>
          <p:nvPr/>
        </p:nvSpPr>
        <p:spPr>
          <a:xfrm>
            <a:off x="3352800" y="2311400"/>
            <a:ext cx="406400" cy="228600"/>
          </a:xfrm>
          <a:prstGeom prst="rightArrow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3" name="S643"/>
          <p:cNvSpPr/>
          <p:nvPr/>
        </p:nvSpPr>
        <p:spPr>
          <a:xfrm>
            <a:off x="7670800" y="2311400"/>
            <a:ext cx="406400" cy="228600"/>
          </a:xfrm>
          <a:prstGeom prst="rightArrow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5" name="S645"/>
          <p:cNvSpPr/>
          <p:nvPr/>
        </p:nvSpPr>
        <p:spPr>
          <a:xfrm>
            <a:off x="762000" y="4724400"/>
            <a:ext cx="10668000" cy="660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Prometheus pulls over HTTP every 15s by default. Nothing pushes to it (except short-lived jobs via Pushgateway), so an unreachable target is itself a signal.</a:t>
            </a:r>
          </a:p>
        </p:txBody>
      </p:sp>
      <p:sp>
        <p:nvSpPr>
          <p:cNvPr id="646" name="S646"/>
          <p:cNvSpPr/>
          <p:nvPr/>
        </p:nvSpPr>
        <p:spPr>
          <a:xfrm>
            <a:off x="762000" y="5486400"/>
            <a:ext cx="10668000" cy="7366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In Grafana this whole box is one data source entry: the server URL plus auth. Everything else is query-time.</a:t>
            </a:r>
          </a:p>
        </p:txBody>
      </p:sp>
    </p:spTree>
    <p:extLst>
      <p:ext uri="{BB962C8B-B14F-4D97-AF65-F5344CB8AC3E}">
        <p14:creationId xmlns:p14="http://schemas.microsoft.com/office/powerpoint/2010/main" val="4141470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72BA-2E78-2D84-04C6-113DB5906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Metrics Collection and the Data Model</a:t>
            </a:r>
          </a:p>
        </p:txBody>
      </p:sp>
      <p:sp>
        <p:nvSpPr>
          <p:cNvPr id="621" name="S62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22" name="S622"/>
          <p:cNvSpPr/>
          <p:nvPr/>
        </p:nvSpPr>
        <p:spPr>
          <a:xfrm>
            <a:off x="762000" y="1066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98A2B3"/>
                </a:solidFill>
              </a:rPr>
              <a:t>Every sample Prometheus stores looks like this</a:t>
            </a:r>
          </a:p>
        </p:txBody>
      </p:sp>
      <p:sp>
        <p:nvSpPr>
          <p:cNvPr id="623" name="S623"/>
          <p:cNvSpPr/>
          <p:nvPr/>
        </p:nvSpPr>
        <p:spPr>
          <a:xfrm>
            <a:off x="762000" y="1422400"/>
            <a:ext cx="10668000" cy="7366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24" name="S624"/>
          <p:cNvSpPr/>
          <p:nvPr/>
        </p:nvSpPr>
        <p:spPr>
          <a:xfrm>
            <a:off x="939800" y="1574800"/>
            <a:ext cx="279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>
              <a:buNone/>
            </a:pPr>
            <a:r>
              <a:rPr lang="en-US" sz="1600" dirty="0">
                <a:latin typeface="Consolas"/>
              </a:rPr>
              <a:t>http_requests_total</a:t>
            </a:r>
          </a:p>
        </p:txBody>
      </p:sp>
      <p:sp>
        <p:nvSpPr>
          <p:cNvPr id="625" name="S625"/>
          <p:cNvSpPr/>
          <p:nvPr/>
        </p:nvSpPr>
        <p:spPr>
          <a:xfrm>
            <a:off x="3708400" y="1574800"/>
            <a:ext cx="406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>
              <a:buNone/>
            </a:pPr>
            <a:r>
              <a:rPr lang="en-US" sz="1600" dirty="0">
                <a:latin typeface="Consolas"/>
              </a:rPr>
              <a:t>{job="api", status="200"}</a:t>
            </a:r>
          </a:p>
        </p:txBody>
      </p:sp>
      <p:sp>
        <p:nvSpPr>
          <p:cNvPr id="626" name="S626"/>
          <p:cNvSpPr/>
          <p:nvPr/>
        </p:nvSpPr>
        <p:spPr>
          <a:xfrm>
            <a:off x="7797800" y="1574800"/>
            <a:ext cx="152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>
              <a:buNone/>
            </a:pPr>
            <a:r>
              <a:rPr lang="en-US" sz="1600" dirty="0">
                <a:latin typeface="Consolas"/>
              </a:rPr>
              <a:t>1027</a:t>
            </a:r>
          </a:p>
        </p:txBody>
      </p:sp>
      <p:sp>
        <p:nvSpPr>
          <p:cNvPr id="627" name="S627"/>
          <p:cNvSpPr/>
          <p:nvPr/>
        </p:nvSpPr>
        <p:spPr>
          <a:xfrm>
            <a:off x="9347200" y="1574800"/>
            <a:ext cx="1905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>
              <a:buNone/>
            </a:pPr>
            <a:r>
              <a:rPr lang="en-US" sz="1600" dirty="0">
                <a:latin typeface="Consolas"/>
              </a:rPr>
              <a:t>@ 1699452000</a:t>
            </a:r>
          </a:p>
        </p:txBody>
      </p:sp>
      <p:sp>
        <p:nvSpPr>
          <p:cNvPr id="628" name="S628"/>
          <p:cNvSpPr/>
          <p:nvPr/>
        </p:nvSpPr>
        <p:spPr>
          <a:xfrm>
            <a:off x="939800" y="22098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FF9830"/>
                </a:solidFill>
              </a:rPr>
              <a:t>metric name</a:t>
            </a:r>
          </a:p>
        </p:txBody>
      </p:sp>
      <p:sp>
        <p:nvSpPr>
          <p:cNvPr id="629" name="S629"/>
          <p:cNvSpPr/>
          <p:nvPr/>
        </p:nvSpPr>
        <p:spPr>
          <a:xfrm>
            <a:off x="3886200" y="2209800"/>
            <a:ext cx="406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8CE99A"/>
                </a:solidFill>
              </a:rPr>
              <a:t>labels (dimensions)</a:t>
            </a:r>
          </a:p>
        </p:txBody>
      </p:sp>
      <p:sp>
        <p:nvSpPr>
          <p:cNvPr id="630" name="S630"/>
          <p:cNvSpPr/>
          <p:nvPr/>
        </p:nvSpPr>
        <p:spPr>
          <a:xfrm>
            <a:off x="7975600" y="22098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62B0FF"/>
                </a:solidFill>
              </a:rPr>
              <a:t>value</a:t>
            </a:r>
          </a:p>
        </p:txBody>
      </p:sp>
      <p:sp>
        <p:nvSpPr>
          <p:cNvPr id="631" name="S631"/>
          <p:cNvSpPr/>
          <p:nvPr/>
        </p:nvSpPr>
        <p:spPr>
          <a:xfrm>
            <a:off x="9525000" y="22098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877D9"/>
                </a:solidFill>
              </a:rPr>
              <a:t>timestamp</a:t>
            </a:r>
          </a:p>
        </p:txBody>
      </p:sp>
      <p:sp>
        <p:nvSpPr>
          <p:cNvPr id="632" name="S632"/>
          <p:cNvSpPr/>
          <p:nvPr/>
        </p:nvSpPr>
        <p:spPr>
          <a:xfrm>
            <a:off x="762000" y="25908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900" b="1" dirty="0">
                <a:solidFill>
                  <a:srgbClr val="FFFFFF"/>
                </a:solidFill>
              </a:rPr>
              <a:t>The four metric types</a:t>
            </a:r>
          </a:p>
        </p:txBody>
      </p:sp>
      <p:sp>
        <p:nvSpPr>
          <p:cNvPr id="633" name="S633"/>
          <p:cNvSpPr/>
          <p:nvPr/>
        </p:nvSpPr>
        <p:spPr>
          <a:xfrm>
            <a:off x="762000" y="2997200"/>
            <a:ext cx="2540000" cy="1930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4" name="S634"/>
          <p:cNvSpPr/>
          <p:nvPr/>
        </p:nvSpPr>
        <p:spPr>
          <a:xfrm>
            <a:off x="762000" y="2997200"/>
            <a:ext cx="2540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5" name="S635"/>
          <p:cNvSpPr/>
          <p:nvPr/>
        </p:nvSpPr>
        <p:spPr>
          <a:xfrm>
            <a:off x="914400" y="3124200"/>
            <a:ext cx="2235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46800"/>
                </a:solidFill>
              </a:rPr>
              <a:t>Counter</a:t>
            </a:r>
          </a:p>
        </p:txBody>
      </p:sp>
      <p:sp>
        <p:nvSpPr>
          <p:cNvPr id="636" name="S636"/>
          <p:cNvSpPr/>
          <p:nvPr/>
        </p:nvSpPr>
        <p:spPr>
          <a:xfrm>
            <a:off x="914400" y="3454400"/>
            <a:ext cx="223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Only ever increases, resets to 0 on restart. Always wrap it in rate().</a:t>
            </a:r>
          </a:p>
        </p:txBody>
      </p:sp>
      <p:sp>
        <p:nvSpPr>
          <p:cNvPr id="637" name="S637"/>
          <p:cNvSpPr/>
          <p:nvPr/>
        </p:nvSpPr>
        <p:spPr>
          <a:xfrm>
            <a:off x="914400" y="4292600"/>
            <a:ext cx="22352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01600" tIns="50800" rIns="101600" bIns="508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rate(http_requests_total[5m])</a:t>
            </a:r>
          </a:p>
        </p:txBody>
      </p:sp>
      <p:sp>
        <p:nvSpPr>
          <p:cNvPr id="638" name="S638"/>
          <p:cNvSpPr/>
          <p:nvPr/>
        </p:nvSpPr>
        <p:spPr>
          <a:xfrm>
            <a:off x="3467100" y="2997200"/>
            <a:ext cx="2540000" cy="1930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39" name="S639"/>
          <p:cNvSpPr/>
          <p:nvPr/>
        </p:nvSpPr>
        <p:spPr>
          <a:xfrm>
            <a:off x="3467100" y="2997200"/>
            <a:ext cx="2540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0" name="S640"/>
          <p:cNvSpPr/>
          <p:nvPr/>
        </p:nvSpPr>
        <p:spPr>
          <a:xfrm>
            <a:off x="3619500" y="3124200"/>
            <a:ext cx="2235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3274D9"/>
                </a:solidFill>
              </a:rPr>
              <a:t>Gauge</a:t>
            </a:r>
          </a:p>
        </p:txBody>
      </p:sp>
      <p:sp>
        <p:nvSpPr>
          <p:cNvPr id="641" name="S641"/>
          <p:cNvSpPr/>
          <p:nvPr/>
        </p:nvSpPr>
        <p:spPr>
          <a:xfrm>
            <a:off x="3619500" y="3454400"/>
            <a:ext cx="223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Goes up and down. Read the current value directly.</a:t>
            </a:r>
          </a:p>
        </p:txBody>
      </p:sp>
      <p:sp>
        <p:nvSpPr>
          <p:cNvPr id="642" name="S642"/>
          <p:cNvSpPr/>
          <p:nvPr/>
        </p:nvSpPr>
        <p:spPr>
          <a:xfrm>
            <a:off x="3619500" y="4292600"/>
            <a:ext cx="22352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01600" tIns="50800" rIns="101600" bIns="508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node_memory_Available_bytes</a:t>
            </a:r>
          </a:p>
        </p:txBody>
      </p:sp>
      <p:sp>
        <p:nvSpPr>
          <p:cNvPr id="643" name="S643"/>
          <p:cNvSpPr/>
          <p:nvPr/>
        </p:nvSpPr>
        <p:spPr>
          <a:xfrm>
            <a:off x="6172200" y="2997200"/>
            <a:ext cx="2540000" cy="1930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4" name="S644"/>
          <p:cNvSpPr/>
          <p:nvPr/>
        </p:nvSpPr>
        <p:spPr>
          <a:xfrm>
            <a:off x="6172200" y="2997200"/>
            <a:ext cx="2540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5" name="S645"/>
          <p:cNvSpPr/>
          <p:nvPr/>
        </p:nvSpPr>
        <p:spPr>
          <a:xfrm>
            <a:off x="6324600" y="3124200"/>
            <a:ext cx="2235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B877D9"/>
                </a:solidFill>
              </a:rPr>
              <a:t>Histogram</a:t>
            </a:r>
          </a:p>
        </p:txBody>
      </p:sp>
      <p:sp>
        <p:nvSpPr>
          <p:cNvPr id="646" name="S646"/>
          <p:cNvSpPr/>
          <p:nvPr/>
        </p:nvSpPr>
        <p:spPr>
          <a:xfrm>
            <a:off x="6324600" y="3454400"/>
            <a:ext cx="223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Pre-bucketed observations plus _sum and _count.</a:t>
            </a:r>
          </a:p>
        </p:txBody>
      </p:sp>
      <p:sp>
        <p:nvSpPr>
          <p:cNvPr id="647" name="S647"/>
          <p:cNvSpPr/>
          <p:nvPr/>
        </p:nvSpPr>
        <p:spPr>
          <a:xfrm>
            <a:off x="6324600" y="4292600"/>
            <a:ext cx="22352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01600" tIns="50800" rIns="101600" bIns="508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histogram_quantile(0.95, ...)</a:t>
            </a:r>
          </a:p>
        </p:txBody>
      </p:sp>
      <p:sp>
        <p:nvSpPr>
          <p:cNvPr id="648" name="S648"/>
          <p:cNvSpPr/>
          <p:nvPr/>
        </p:nvSpPr>
        <p:spPr>
          <a:xfrm>
            <a:off x="8877300" y="2997200"/>
            <a:ext cx="2540000" cy="1930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49" name="S649"/>
          <p:cNvSpPr/>
          <p:nvPr/>
        </p:nvSpPr>
        <p:spPr>
          <a:xfrm>
            <a:off x="8877300" y="2997200"/>
            <a:ext cx="2540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50" name="S650"/>
          <p:cNvSpPr/>
          <p:nvPr/>
        </p:nvSpPr>
        <p:spPr>
          <a:xfrm>
            <a:off x="9029700" y="3124200"/>
            <a:ext cx="2235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56A64B"/>
                </a:solidFill>
              </a:rPr>
              <a:t>Summary</a:t>
            </a:r>
          </a:p>
        </p:txBody>
      </p:sp>
      <p:sp>
        <p:nvSpPr>
          <p:cNvPr id="651" name="S651"/>
          <p:cNvSpPr/>
          <p:nvPr/>
        </p:nvSpPr>
        <p:spPr>
          <a:xfrm>
            <a:off x="9029700" y="3454400"/>
            <a:ext cx="22352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Quantiles computed client-side. Cannot be re-aggregated.</a:t>
            </a:r>
          </a:p>
        </p:txBody>
      </p:sp>
      <p:sp>
        <p:nvSpPr>
          <p:cNvPr id="652" name="S652"/>
          <p:cNvSpPr/>
          <p:nvPr/>
        </p:nvSpPr>
        <p:spPr>
          <a:xfrm>
            <a:off x="9029700" y="4292600"/>
            <a:ext cx="2235200" cy="533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01600" tIns="50800" rIns="101600" bIns="50800" anchor="ctr"/>
          <a:lstStyle/>
          <a:p>
            <a:pPr>
              <a:buNone/>
            </a:pPr>
            <a:r>
              <a:rPr lang="en-US" sz="1400" dirty="0">
                <a:latin typeface="Consolas"/>
              </a:rPr>
              <a:t>rpc_duration_seconds{quantile="0.9"}</a:t>
            </a:r>
          </a:p>
        </p:txBody>
      </p:sp>
      <p:sp>
        <p:nvSpPr>
          <p:cNvPr id="653" name="S653"/>
          <p:cNvSpPr/>
          <p:nvPr/>
        </p:nvSpPr>
        <p:spPr>
          <a:xfrm>
            <a:off x="762000" y="5105400"/>
            <a:ext cx="10668000" cy="558800"/>
          </a:xfrm>
          <a:prstGeom prst="roundRect">
            <a:avLst/>
          </a:prstGeom>
          <a:solidFill>
            <a:srgbClr val="1C1408"/>
          </a:solidFill>
          <a:ln w="12700">
            <a:solidFill>
              <a:srgbClr val="5A3A10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FFC078"/>
                </a:solidFill>
              </a:rPr>
              <a:t>Cardinality is the number one operational risk: every unique label combination is a separate time series.</a:t>
            </a:r>
          </a:p>
        </p:txBody>
      </p:sp>
      <p:sp>
        <p:nvSpPr>
          <p:cNvPr id="654" name="S654"/>
          <p:cNvSpPr/>
          <p:nvPr/>
        </p:nvSpPr>
        <p:spPr>
          <a:xfrm>
            <a:off x="762000" y="5765800"/>
            <a:ext cx="10668000" cy="558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Never put user IDs, email addresses, URLs with IDs, or timestamps into labels. Keep labels to a bounded, known set of values.</a:t>
            </a:r>
          </a:p>
        </p:txBody>
      </p:sp>
    </p:spTree>
    <p:extLst>
      <p:ext uri="{BB962C8B-B14F-4D97-AF65-F5344CB8AC3E}">
        <p14:creationId xmlns:p14="http://schemas.microsoft.com/office/powerpoint/2010/main" val="1535079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AA16D-F1A7-A2CD-6550-45738B249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Targets and Scraping</a:t>
            </a:r>
          </a:p>
        </p:txBody>
      </p:sp>
      <p:sp>
        <p:nvSpPr>
          <p:cNvPr id="651" name="S65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52" name="S652"/>
          <p:cNvSpPr/>
          <p:nvPr/>
        </p:nvSpPr>
        <p:spPr>
          <a:xfrm>
            <a:off x="762000" y="1270000"/>
            <a:ext cx="5461000" cy="37592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53" name="S653"/>
          <p:cNvSpPr/>
          <p:nvPr/>
        </p:nvSpPr>
        <p:spPr>
          <a:xfrm>
            <a:off x="939800" y="1371600"/>
            <a:ext cx="510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A8496"/>
                </a:solidFill>
              </a:rPr>
              <a:t>prometheus.yml</a:t>
            </a:r>
          </a:p>
        </p:txBody>
      </p:sp>
      <p:sp>
        <p:nvSpPr>
          <p:cNvPr id="654" name="S654"/>
          <p:cNvSpPr/>
          <p:nvPr/>
        </p:nvSpPr>
        <p:spPr>
          <a:xfrm>
            <a:off x="939800" y="1676400"/>
            <a:ext cx="51054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global: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scrape_interval: 15s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scrape_timeout: 10s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scrape_configs: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- job_name: 'node'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  static_configs: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    - targets: ['node-exporter:9100']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- job_name: 'postgres'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  static_configs: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      - targets: ['pg-exporter:9187']</a:t>
            </a:r>
          </a:p>
        </p:txBody>
      </p:sp>
      <p:sp>
        <p:nvSpPr>
          <p:cNvPr id="655" name="S655"/>
          <p:cNvSpPr/>
          <p:nvPr/>
        </p:nvSpPr>
        <p:spPr>
          <a:xfrm>
            <a:off x="6477000" y="1270000"/>
            <a:ext cx="4953000" cy="3759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56" name="S656"/>
          <p:cNvSpPr/>
          <p:nvPr/>
        </p:nvSpPr>
        <p:spPr>
          <a:xfrm>
            <a:off x="6477000" y="1270000"/>
            <a:ext cx="4953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57" name="S657"/>
          <p:cNvSpPr/>
          <p:nvPr/>
        </p:nvSpPr>
        <p:spPr>
          <a:xfrm>
            <a:off x="6680200" y="1397000"/>
            <a:ext cx="4546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9830"/>
                </a:solidFill>
              </a:rPr>
              <a:t>What happens on every scrape</a:t>
            </a:r>
          </a:p>
        </p:txBody>
      </p:sp>
      <p:sp>
        <p:nvSpPr>
          <p:cNvPr id="658" name="S658"/>
          <p:cNvSpPr/>
          <p:nvPr/>
        </p:nvSpPr>
        <p:spPr>
          <a:xfrm>
            <a:off x="6680200" y="1828800"/>
            <a:ext cx="330200" cy="330200"/>
          </a:xfrm>
          <a:prstGeom prst="ellipse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1</a:t>
            </a:r>
          </a:p>
        </p:txBody>
      </p:sp>
      <p:sp>
        <p:nvSpPr>
          <p:cNvPr id="659" name="S659"/>
          <p:cNvSpPr/>
          <p:nvPr/>
        </p:nvSpPr>
        <p:spPr>
          <a:xfrm>
            <a:off x="7112000" y="1803400"/>
            <a:ext cx="411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Resolve the target list from static config or service discovery</a:t>
            </a:r>
          </a:p>
        </p:txBody>
      </p:sp>
      <p:sp>
        <p:nvSpPr>
          <p:cNvPr id="660" name="S660"/>
          <p:cNvSpPr/>
          <p:nvPr/>
        </p:nvSpPr>
        <p:spPr>
          <a:xfrm>
            <a:off x="6680200" y="2387600"/>
            <a:ext cx="330200" cy="330200"/>
          </a:xfrm>
          <a:prstGeom prst="ellipse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2</a:t>
            </a:r>
          </a:p>
        </p:txBody>
      </p:sp>
      <p:sp>
        <p:nvSpPr>
          <p:cNvPr id="661" name="S661"/>
          <p:cNvSpPr/>
          <p:nvPr/>
        </p:nvSpPr>
        <p:spPr>
          <a:xfrm>
            <a:off x="7112000" y="2362200"/>
            <a:ext cx="411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GET http://target:port/metrics with the configured timeout</a:t>
            </a:r>
          </a:p>
        </p:txBody>
      </p:sp>
      <p:sp>
        <p:nvSpPr>
          <p:cNvPr id="662" name="S662"/>
          <p:cNvSpPr/>
          <p:nvPr/>
        </p:nvSpPr>
        <p:spPr>
          <a:xfrm>
            <a:off x="6680200" y="2946400"/>
            <a:ext cx="330200" cy="330200"/>
          </a:xfrm>
          <a:prstGeom prst="ellipse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3</a:t>
            </a:r>
          </a:p>
        </p:txBody>
      </p:sp>
      <p:sp>
        <p:nvSpPr>
          <p:cNvPr id="663" name="S663"/>
          <p:cNvSpPr/>
          <p:nvPr/>
        </p:nvSpPr>
        <p:spPr>
          <a:xfrm>
            <a:off x="7112000" y="2921000"/>
            <a:ext cx="411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Apply relabel rules, then attach job and instance labels</a:t>
            </a:r>
          </a:p>
        </p:txBody>
      </p:sp>
      <p:sp>
        <p:nvSpPr>
          <p:cNvPr id="664" name="S664"/>
          <p:cNvSpPr/>
          <p:nvPr/>
        </p:nvSpPr>
        <p:spPr>
          <a:xfrm>
            <a:off x="6680200" y="3505200"/>
            <a:ext cx="330200" cy="330200"/>
          </a:xfrm>
          <a:prstGeom prst="ellipse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4</a:t>
            </a:r>
          </a:p>
        </p:txBody>
      </p:sp>
      <p:sp>
        <p:nvSpPr>
          <p:cNvPr id="665" name="S665"/>
          <p:cNvSpPr/>
          <p:nvPr/>
        </p:nvSpPr>
        <p:spPr>
          <a:xfrm>
            <a:off x="7112000" y="3479800"/>
            <a:ext cx="411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Append every sample to the TSDB with the scrape timestamp</a:t>
            </a:r>
          </a:p>
        </p:txBody>
      </p:sp>
      <p:sp>
        <p:nvSpPr>
          <p:cNvPr id="666" name="S666"/>
          <p:cNvSpPr/>
          <p:nvPr/>
        </p:nvSpPr>
        <p:spPr>
          <a:xfrm>
            <a:off x="6680200" y="4064000"/>
            <a:ext cx="330200" cy="330200"/>
          </a:xfrm>
          <a:prstGeom prst="ellipse">
            <a:avLst/>
          </a:prstGeom>
          <a:solidFill>
            <a:srgbClr val="2A1608"/>
          </a:solidFill>
          <a:ln w="12700">
            <a:solidFill>
              <a:srgbClr val="F46800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5</a:t>
            </a:r>
          </a:p>
        </p:txBody>
      </p:sp>
      <p:sp>
        <p:nvSpPr>
          <p:cNvPr id="667" name="S667"/>
          <p:cNvSpPr/>
          <p:nvPr/>
        </p:nvSpPr>
        <p:spPr>
          <a:xfrm>
            <a:off x="7112000" y="4038600"/>
            <a:ext cx="411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Record up{job=...} = 1 or 0 for the scrape itself</a:t>
            </a:r>
          </a:p>
        </p:txBody>
      </p:sp>
      <p:sp>
        <p:nvSpPr>
          <p:cNvPr id="668" name="S668"/>
          <p:cNvSpPr/>
          <p:nvPr/>
        </p:nvSpPr>
        <p:spPr>
          <a:xfrm>
            <a:off x="6680200" y="4622800"/>
            <a:ext cx="152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8A2B3"/>
                </a:solidFill>
              </a:rPr>
              <a:t>Health states:</a:t>
            </a:r>
          </a:p>
        </p:txBody>
      </p:sp>
      <p:sp>
        <p:nvSpPr>
          <p:cNvPr id="669" name="S669"/>
          <p:cNvSpPr/>
          <p:nvPr/>
        </p:nvSpPr>
        <p:spPr>
          <a:xfrm>
            <a:off x="8204200" y="4622800"/>
            <a:ext cx="939800" cy="304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56A64B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56A64B"/>
                </a:solidFill>
              </a:rPr>
              <a:t>UP</a:t>
            </a:r>
          </a:p>
        </p:txBody>
      </p:sp>
      <p:sp>
        <p:nvSpPr>
          <p:cNvPr id="670" name="S670"/>
          <p:cNvSpPr/>
          <p:nvPr/>
        </p:nvSpPr>
        <p:spPr>
          <a:xfrm>
            <a:off x="9220200" y="4622800"/>
            <a:ext cx="939800" cy="304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FF7B9C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7B9C"/>
                </a:solidFill>
              </a:rPr>
              <a:t>DOWN</a:t>
            </a:r>
          </a:p>
        </p:txBody>
      </p:sp>
      <p:sp>
        <p:nvSpPr>
          <p:cNvPr id="671" name="S671"/>
          <p:cNvSpPr/>
          <p:nvPr/>
        </p:nvSpPr>
        <p:spPr>
          <a:xfrm>
            <a:off x="10236200" y="4622800"/>
            <a:ext cx="939800" cy="304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7A8496"/>
            </a:solidFill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A8496"/>
                </a:solidFill>
              </a:rPr>
              <a:t>UNKNOWN</a:t>
            </a:r>
          </a:p>
        </p:txBody>
      </p:sp>
      <p:sp>
        <p:nvSpPr>
          <p:cNvPr id="672" name="S672"/>
          <p:cNvSpPr/>
          <p:nvPr/>
        </p:nvSpPr>
        <p:spPr>
          <a:xfrm>
            <a:off x="762000" y="5207000"/>
            <a:ext cx="5461000" cy="11176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73" name="S673"/>
          <p:cNvSpPr/>
          <p:nvPr/>
        </p:nvSpPr>
        <p:spPr>
          <a:xfrm>
            <a:off x="939800" y="5308600"/>
            <a:ext cx="510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600" b="1" dirty="0">
                <a:solidFill>
                  <a:srgbClr val="3274D9"/>
                </a:solidFill>
              </a:rPr>
              <a:t>Where to check it</a:t>
            </a:r>
          </a:p>
        </p:txBody>
      </p:sp>
      <p:sp>
        <p:nvSpPr>
          <p:cNvPr id="674" name="S674"/>
          <p:cNvSpPr/>
          <p:nvPr/>
        </p:nvSpPr>
        <p:spPr>
          <a:xfrm>
            <a:off x="939800" y="5613400"/>
            <a:ext cx="5105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Prometheus UI &gt; Status &gt; Targets shows state, last scrape, duration and the exact error.</a:t>
            </a:r>
          </a:p>
        </p:txBody>
      </p:sp>
      <p:sp>
        <p:nvSpPr>
          <p:cNvPr id="675" name="S675"/>
          <p:cNvSpPr/>
          <p:nvPr/>
        </p:nvSpPr>
        <p:spPr>
          <a:xfrm>
            <a:off x="6477000" y="5207000"/>
            <a:ext cx="4953000" cy="11176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76" name="S676"/>
          <p:cNvSpPr/>
          <p:nvPr/>
        </p:nvSpPr>
        <p:spPr>
          <a:xfrm>
            <a:off x="6654800" y="5308600"/>
            <a:ext cx="4597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600" b="1" dirty="0">
                <a:solidFill>
                  <a:srgbClr val="B877D9"/>
                </a:solidFill>
              </a:rPr>
              <a:t>Interval rule of thumb</a:t>
            </a:r>
          </a:p>
        </p:txBody>
      </p:sp>
      <p:sp>
        <p:nvSpPr>
          <p:cNvPr id="677" name="S677"/>
          <p:cNvSpPr/>
          <p:nvPr/>
        </p:nvSpPr>
        <p:spPr>
          <a:xfrm>
            <a:off x="6654800" y="5613400"/>
            <a:ext cx="4597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Your panel range interval should never be shorter than the scrape interval - use rate(...[5m]) with 15s scrapes.</a:t>
            </a:r>
          </a:p>
        </p:txBody>
      </p:sp>
    </p:spTree>
    <p:extLst>
      <p:ext uri="{BB962C8B-B14F-4D97-AF65-F5344CB8AC3E}">
        <p14:creationId xmlns:p14="http://schemas.microsoft.com/office/powerpoint/2010/main" val="3287718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30144-5A7D-35ED-5C31-965FAA60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Time Series and PromQL Essentials</a:t>
            </a:r>
          </a:p>
        </p:txBody>
      </p:sp>
      <p:sp>
        <p:nvSpPr>
          <p:cNvPr id="681" name="S68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82" name="S682"/>
          <p:cNvSpPr/>
          <p:nvPr/>
        </p:nvSpPr>
        <p:spPr>
          <a:xfrm>
            <a:off x="762000" y="1270000"/>
            <a:ext cx="4953000" cy="332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83" name="S683"/>
          <p:cNvSpPr/>
          <p:nvPr/>
        </p:nvSpPr>
        <p:spPr>
          <a:xfrm>
            <a:off x="762000" y="1270000"/>
            <a:ext cx="4953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84" name="S684"/>
          <p:cNvSpPr/>
          <p:nvPr/>
        </p:nvSpPr>
        <p:spPr>
          <a:xfrm>
            <a:off x="965200" y="1397000"/>
            <a:ext cx="4546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3274D9"/>
                </a:solidFill>
              </a:rPr>
              <a:t>What a time series actually is</a:t>
            </a:r>
          </a:p>
        </p:txBody>
      </p:sp>
      <p:sp>
        <p:nvSpPr>
          <p:cNvPr id="685" name="S685"/>
          <p:cNvSpPr/>
          <p:nvPr/>
        </p:nvSpPr>
        <p:spPr>
          <a:xfrm>
            <a:off x="965200" y="1778000"/>
            <a:ext cx="4546600" cy="2717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One series = metric name + one exact set of label values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Each series holds (timestamp, float64) samples over time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Instant vector: one value per series, at one moment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Range vector: a window of samples, written as [5m]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Functions like rate() and increase() need a range vector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 series with no recent sample goes stale after 5 minutes</a:t>
            </a:r>
          </a:p>
        </p:txBody>
      </p:sp>
      <p:sp>
        <p:nvSpPr>
          <p:cNvPr id="686" name="S686"/>
          <p:cNvSpPr/>
          <p:nvPr/>
        </p:nvSpPr>
        <p:spPr>
          <a:xfrm>
            <a:off x="5969000" y="1270000"/>
            <a:ext cx="5461000" cy="33274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687" name="S687"/>
          <p:cNvSpPr/>
          <p:nvPr/>
        </p:nvSpPr>
        <p:spPr>
          <a:xfrm>
            <a:off x="6146800" y="1371600"/>
            <a:ext cx="510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A8496"/>
                </a:solidFill>
              </a:rPr>
              <a:t>PromQL you will use today</a:t>
            </a:r>
          </a:p>
        </p:txBody>
      </p:sp>
      <p:sp>
        <p:nvSpPr>
          <p:cNvPr id="688" name="S688"/>
          <p:cNvSpPr/>
          <p:nvPr/>
        </p:nvSpPr>
        <p:spPr>
          <a:xfrm>
            <a:off x="6146800" y="1676400"/>
            <a:ext cx="5105400" cy="284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is the target alive?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up{job="node"}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per-second request rate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rate(http_requests_total[5m])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grouped by a label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sum by (status) (rate(http_requests_total[5m]))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95th percentile latency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histogram_quantile(0.95, rate(dur_bucket[5m]))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cpu busy percentage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100 - avg(rate(node_cpu{mode="idle"}[5m])) * 100</a:t>
            </a:r>
          </a:p>
        </p:txBody>
      </p:sp>
      <p:sp>
        <p:nvSpPr>
          <p:cNvPr id="689" name="S689"/>
          <p:cNvSpPr/>
          <p:nvPr/>
        </p:nvSpPr>
        <p:spPr>
          <a:xfrm>
            <a:off x="762000" y="4775200"/>
            <a:ext cx="5461000" cy="7620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Use $__rate_interval instead of a hardcoded [5m] so the query adapts to the dashboard zoom level.</a:t>
            </a:r>
          </a:p>
        </p:txBody>
      </p:sp>
      <p:sp>
        <p:nvSpPr>
          <p:cNvPr id="690" name="S690"/>
          <p:cNvSpPr/>
          <p:nvPr/>
        </p:nvSpPr>
        <p:spPr>
          <a:xfrm>
            <a:off x="6477000" y="4775200"/>
            <a:ext cx="4953000" cy="7620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Legend format {{instance}} turns unreadable series names into clean labels.</a:t>
            </a:r>
          </a:p>
        </p:txBody>
      </p:sp>
      <p:sp>
        <p:nvSpPr>
          <p:cNvPr id="691" name="S691"/>
          <p:cNvSpPr/>
          <p:nvPr/>
        </p:nvSpPr>
        <p:spPr>
          <a:xfrm>
            <a:off x="762000" y="5664200"/>
            <a:ext cx="10668000" cy="660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B3140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Instant vs Range toggle: Range draws a line over time, Instant returns a single value - use Instant for Stat and Gauge panels.</a:t>
            </a:r>
          </a:p>
        </p:txBody>
      </p:sp>
    </p:spTree>
    <p:extLst>
      <p:ext uri="{BB962C8B-B14F-4D97-AF65-F5344CB8AC3E}">
        <p14:creationId xmlns:p14="http://schemas.microsoft.com/office/powerpoint/2010/main" val="1699738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EFE2F-4443-69FC-E638-9F79A0C85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9200"/>
            <a:ext cx="7874000" cy="1016000"/>
          </a:xfrm>
        </p:spPr>
        <p:txBody>
          <a:bodyPr/>
          <a:lstStyle/>
          <a:p>
            <a:pPr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Dashboard Creation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FA002B-A9C8-C227-ADE1-895702E0A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32200"/>
            <a:ext cx="9144000" cy="762000"/>
          </a:xfrm>
        </p:spPr>
        <p:txBody>
          <a:bodyPr/>
          <a:lstStyle/>
          <a:p>
            <a:pPr algn="l">
              <a:buNone/>
            </a:pPr>
            <a:r>
              <a:rPr lang="en-US" sz="1700" b="0" dirty="0">
                <a:solidFill>
                  <a:srgbClr val="A9B2C1"/>
                </a:solidFill>
              </a:rPr>
              <a:t>From a blank canvas to a dashboard people actually trust: structure, variables and reuse.</a:t>
            </a:r>
          </a:p>
        </p:txBody>
      </p:sp>
      <p:sp>
        <p:nvSpPr>
          <p:cNvPr id="701" name="S701"/>
          <p:cNvSpPr/>
          <p:nvPr/>
        </p:nvSpPr>
        <p:spPr>
          <a:xfrm>
            <a:off x="7620000" y="1524000"/>
            <a:ext cx="3810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16000" b="1" dirty="0">
                <a:solidFill>
                  <a:srgbClr val="1B202B"/>
                </a:solidFill>
              </a:rPr>
              <a:t>07</a:t>
            </a:r>
          </a:p>
        </p:txBody>
      </p:sp>
      <p:sp>
        <p:nvSpPr>
          <p:cNvPr id="702" name="S702"/>
          <p:cNvSpPr/>
          <p:nvPr/>
        </p:nvSpPr>
        <p:spPr>
          <a:xfrm>
            <a:off x="838200" y="1905000"/>
            <a:ext cx="3302000" cy="406400"/>
          </a:xfrm>
          <a:prstGeom prst="roundRect">
            <a:avLst/>
          </a:prstGeom>
          <a:solidFill>
            <a:srgbClr val="0B1B33"/>
          </a:solidFill>
          <a:ln w="12700">
            <a:solidFill>
              <a:srgbClr val="3274D9"/>
            </a:solidFill>
          </a:ln>
        </p:spPr>
        <p:txBody>
          <a:bodyPr wrap="square" lIns="127000" tIns="50800" rIns="1270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62B0FF"/>
                </a:solidFill>
              </a:rPr>
              <a:t>MODULE 7</a:t>
            </a:r>
          </a:p>
        </p:txBody>
      </p:sp>
      <p:sp>
        <p:nvSpPr>
          <p:cNvPr id="703" name="S703"/>
          <p:cNvSpPr/>
          <p:nvPr/>
        </p:nvSpPr>
        <p:spPr>
          <a:xfrm>
            <a:off x="838200" y="3581400"/>
            <a:ext cx="1524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75572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36D6B-BC2D-4DA8-1685-3C686EB71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Dashboard Design Principles</a:t>
            </a:r>
          </a:p>
        </p:txBody>
      </p:sp>
      <p:sp>
        <p:nvSpPr>
          <p:cNvPr id="721" name="S72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22" name="S722"/>
          <p:cNvSpPr/>
          <p:nvPr/>
        </p:nvSpPr>
        <p:spPr>
          <a:xfrm>
            <a:off x="762000" y="1066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98A2B3"/>
                </a:solidFill>
              </a:rPr>
              <a:t>A dashboard is a product. Someone has to read it at 3am.</a:t>
            </a:r>
          </a:p>
        </p:txBody>
      </p:sp>
      <p:sp>
        <p:nvSpPr>
          <p:cNvPr id="723" name="S723"/>
          <p:cNvSpPr/>
          <p:nvPr/>
        </p:nvSpPr>
        <p:spPr>
          <a:xfrm>
            <a:off x="762000" y="14732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24" name="S724"/>
          <p:cNvSpPr/>
          <p:nvPr/>
        </p:nvSpPr>
        <p:spPr>
          <a:xfrm>
            <a:off x="762000" y="1473200"/>
            <a:ext cx="3429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25" name="S725"/>
          <p:cNvSpPr/>
          <p:nvPr/>
        </p:nvSpPr>
        <p:spPr>
          <a:xfrm>
            <a:off x="3149600" y="16002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01</a:t>
            </a:r>
          </a:p>
        </p:txBody>
      </p:sp>
      <p:sp>
        <p:nvSpPr>
          <p:cNvPr id="726" name="S726"/>
          <p:cNvSpPr/>
          <p:nvPr/>
        </p:nvSpPr>
        <p:spPr>
          <a:xfrm>
            <a:off x="939800" y="16764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46800"/>
                </a:solidFill>
              </a:rPr>
              <a:t>One dashboard, one question</a:t>
            </a:r>
          </a:p>
        </p:txBody>
      </p:sp>
      <p:sp>
        <p:nvSpPr>
          <p:cNvPr id="727" name="S727"/>
          <p:cNvSpPr/>
          <p:nvPr/>
        </p:nvSpPr>
        <p:spPr>
          <a:xfrm>
            <a:off x="939800" y="23622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Start from the decision it supports, not from the metrics you happen to have.</a:t>
            </a:r>
          </a:p>
        </p:txBody>
      </p:sp>
      <p:sp>
        <p:nvSpPr>
          <p:cNvPr id="728" name="S728"/>
          <p:cNvSpPr/>
          <p:nvPr/>
        </p:nvSpPr>
        <p:spPr>
          <a:xfrm>
            <a:off x="4381500" y="14732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29" name="S729"/>
          <p:cNvSpPr/>
          <p:nvPr/>
        </p:nvSpPr>
        <p:spPr>
          <a:xfrm>
            <a:off x="4381500" y="1473200"/>
            <a:ext cx="3429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30" name="S730"/>
          <p:cNvSpPr/>
          <p:nvPr/>
        </p:nvSpPr>
        <p:spPr>
          <a:xfrm>
            <a:off x="6769100" y="16002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02</a:t>
            </a:r>
          </a:p>
        </p:txBody>
      </p:sp>
      <p:sp>
        <p:nvSpPr>
          <p:cNvPr id="731" name="S731"/>
          <p:cNvSpPr/>
          <p:nvPr/>
        </p:nvSpPr>
        <p:spPr>
          <a:xfrm>
            <a:off x="4559300" y="16764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9830"/>
                </a:solidFill>
              </a:rPr>
              <a:t>Top-left is prime space</a:t>
            </a:r>
          </a:p>
        </p:txBody>
      </p:sp>
      <p:sp>
        <p:nvSpPr>
          <p:cNvPr id="732" name="S732"/>
          <p:cNvSpPr/>
          <p:nvPr/>
        </p:nvSpPr>
        <p:spPr>
          <a:xfrm>
            <a:off x="4559300" y="23622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Health summary and SLOs first, supporting detail underneath.</a:t>
            </a:r>
          </a:p>
        </p:txBody>
      </p:sp>
      <p:sp>
        <p:nvSpPr>
          <p:cNvPr id="733" name="S733"/>
          <p:cNvSpPr/>
          <p:nvPr/>
        </p:nvSpPr>
        <p:spPr>
          <a:xfrm>
            <a:off x="8001000" y="14732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34" name="S734"/>
          <p:cNvSpPr/>
          <p:nvPr/>
        </p:nvSpPr>
        <p:spPr>
          <a:xfrm>
            <a:off x="8001000" y="14732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35" name="S735"/>
          <p:cNvSpPr/>
          <p:nvPr/>
        </p:nvSpPr>
        <p:spPr>
          <a:xfrm>
            <a:off x="10388600" y="16002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03</a:t>
            </a:r>
          </a:p>
        </p:txBody>
      </p:sp>
      <p:sp>
        <p:nvSpPr>
          <p:cNvPr id="736" name="S736"/>
          <p:cNvSpPr/>
          <p:nvPr/>
        </p:nvSpPr>
        <p:spPr>
          <a:xfrm>
            <a:off x="8178800" y="16764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3274D9"/>
                </a:solidFill>
              </a:rPr>
              <a:t>Five to nine panels</a:t>
            </a:r>
          </a:p>
        </p:txBody>
      </p:sp>
      <p:sp>
        <p:nvSpPr>
          <p:cNvPr id="737" name="S737"/>
          <p:cNvSpPr/>
          <p:nvPr/>
        </p:nvSpPr>
        <p:spPr>
          <a:xfrm>
            <a:off x="8178800" y="23622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Past that, nobody reads it. Link out to a drill-down dashboard instead.</a:t>
            </a:r>
          </a:p>
        </p:txBody>
      </p:sp>
      <p:sp>
        <p:nvSpPr>
          <p:cNvPr id="738" name="S738"/>
          <p:cNvSpPr/>
          <p:nvPr/>
        </p:nvSpPr>
        <p:spPr>
          <a:xfrm>
            <a:off x="762000" y="34798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39" name="S739"/>
          <p:cNvSpPr/>
          <p:nvPr/>
        </p:nvSpPr>
        <p:spPr>
          <a:xfrm>
            <a:off x="762000" y="3479800"/>
            <a:ext cx="3429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40" name="S740"/>
          <p:cNvSpPr/>
          <p:nvPr/>
        </p:nvSpPr>
        <p:spPr>
          <a:xfrm>
            <a:off x="3149600" y="36068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04</a:t>
            </a:r>
          </a:p>
        </p:txBody>
      </p:sp>
      <p:sp>
        <p:nvSpPr>
          <p:cNvPr id="741" name="S741"/>
          <p:cNvSpPr/>
          <p:nvPr/>
        </p:nvSpPr>
        <p:spPr>
          <a:xfrm>
            <a:off x="939800" y="36830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B877D9"/>
                </a:solidFill>
              </a:rPr>
              <a:t>Consistent units and colour</a:t>
            </a:r>
          </a:p>
        </p:txBody>
      </p:sp>
      <p:sp>
        <p:nvSpPr>
          <p:cNvPr id="742" name="S742"/>
          <p:cNvSpPr/>
          <p:nvPr/>
        </p:nvSpPr>
        <p:spPr>
          <a:xfrm>
            <a:off x="939800" y="43688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Same colour means the same thing on every panel. Always set the unit.</a:t>
            </a:r>
          </a:p>
        </p:txBody>
      </p:sp>
      <p:sp>
        <p:nvSpPr>
          <p:cNvPr id="743" name="S743"/>
          <p:cNvSpPr/>
          <p:nvPr/>
        </p:nvSpPr>
        <p:spPr>
          <a:xfrm>
            <a:off x="4381500" y="34798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44" name="S744"/>
          <p:cNvSpPr/>
          <p:nvPr/>
        </p:nvSpPr>
        <p:spPr>
          <a:xfrm>
            <a:off x="4381500" y="3479800"/>
            <a:ext cx="3429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45" name="S745"/>
          <p:cNvSpPr/>
          <p:nvPr/>
        </p:nvSpPr>
        <p:spPr>
          <a:xfrm>
            <a:off x="6769100" y="36068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05</a:t>
            </a:r>
          </a:p>
        </p:txBody>
      </p:sp>
      <p:sp>
        <p:nvSpPr>
          <p:cNvPr id="746" name="S746"/>
          <p:cNvSpPr/>
          <p:nvPr/>
        </p:nvSpPr>
        <p:spPr>
          <a:xfrm>
            <a:off x="4559300" y="36830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56A64B"/>
                </a:solidFill>
              </a:rPr>
              <a:t>Design for the time picker</a:t>
            </a:r>
          </a:p>
        </p:txBody>
      </p:sp>
      <p:sp>
        <p:nvSpPr>
          <p:cNvPr id="747" name="S747"/>
          <p:cNvSpPr/>
          <p:nvPr/>
        </p:nvSpPr>
        <p:spPr>
          <a:xfrm>
            <a:off x="4559300" y="43688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Every panel must still make sense at 5 minutes and at 7 days.</a:t>
            </a:r>
          </a:p>
        </p:txBody>
      </p:sp>
      <p:sp>
        <p:nvSpPr>
          <p:cNvPr id="748" name="S748"/>
          <p:cNvSpPr/>
          <p:nvPr/>
        </p:nvSpPr>
        <p:spPr>
          <a:xfrm>
            <a:off x="8001000" y="3479800"/>
            <a:ext cx="3429000" cy="1854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49" name="S749"/>
          <p:cNvSpPr/>
          <p:nvPr/>
        </p:nvSpPr>
        <p:spPr>
          <a:xfrm>
            <a:off x="8001000" y="3479800"/>
            <a:ext cx="3429000" cy="50800"/>
          </a:xfrm>
          <a:prstGeom prst="rect">
            <a:avLst/>
          </a:prstGeom>
          <a:solidFill>
            <a:srgbClr val="F2CC0C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50" name="S750"/>
          <p:cNvSpPr/>
          <p:nvPr/>
        </p:nvSpPr>
        <p:spPr>
          <a:xfrm>
            <a:off x="10388600" y="3606800"/>
            <a:ext cx="88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2800" b="1" dirty="0">
                <a:solidFill>
                  <a:srgbClr val="1E2430"/>
                </a:solidFill>
              </a:rPr>
              <a:t>06</a:t>
            </a:r>
          </a:p>
        </p:txBody>
      </p:sp>
      <p:sp>
        <p:nvSpPr>
          <p:cNvPr id="751" name="S751"/>
          <p:cNvSpPr/>
          <p:nvPr/>
        </p:nvSpPr>
        <p:spPr>
          <a:xfrm>
            <a:off x="8178800" y="3683000"/>
            <a:ext cx="228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2CC0C"/>
                </a:solidFill>
              </a:rPr>
              <a:t>Title states the question</a:t>
            </a:r>
          </a:p>
        </p:txBody>
      </p:sp>
      <p:sp>
        <p:nvSpPr>
          <p:cNvPr id="752" name="S752"/>
          <p:cNvSpPr/>
          <p:nvPr/>
        </p:nvSpPr>
        <p:spPr>
          <a:xfrm>
            <a:off x="8178800" y="4368800"/>
            <a:ext cx="3073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Add a panel description. Future you will not remember the query.</a:t>
            </a:r>
          </a:p>
        </p:txBody>
      </p:sp>
      <p:sp>
        <p:nvSpPr>
          <p:cNvPr id="753" name="S753"/>
          <p:cNvSpPr/>
          <p:nvPr/>
        </p:nvSpPr>
        <p:spPr>
          <a:xfrm>
            <a:off x="762000" y="5562600"/>
            <a:ext cx="10668000" cy="762000"/>
          </a:xfrm>
          <a:prstGeom prst="roundRect">
            <a:avLst/>
          </a:prstGeom>
          <a:solidFill>
            <a:srgbClr val="1C1408"/>
          </a:solidFill>
          <a:ln w="12700">
            <a:solidFill>
              <a:srgbClr val="5A3A10"/>
            </a:solidFill>
          </a:ln>
        </p:spPr>
        <p:txBody>
          <a:bodyPr wrap="square" lIns="203200" tIns="50800" rIns="20320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FFC078"/>
                </a:solidFill>
              </a:rPr>
              <a:t>Anti-pattern: the wall of graphs. Thirty panels with no hierarchy is not observability - it is decoration.</a:t>
            </a:r>
          </a:p>
        </p:txBody>
      </p:sp>
    </p:spTree>
    <p:extLst>
      <p:ext uri="{BB962C8B-B14F-4D97-AF65-F5344CB8AC3E}">
        <p14:creationId xmlns:p14="http://schemas.microsoft.com/office/powerpoint/2010/main" val="2525587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EE987-E772-A05F-9DF9-61D0D2E44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Anatomy of a Dashboard</a:t>
            </a:r>
          </a:p>
        </p:txBody>
      </p:sp>
      <p:sp>
        <p:nvSpPr>
          <p:cNvPr id="741" name="S74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42" name="S742"/>
          <p:cNvSpPr/>
          <p:nvPr/>
        </p:nvSpPr>
        <p:spPr>
          <a:xfrm>
            <a:off x="762000" y="1270000"/>
            <a:ext cx="6731000" cy="4368800"/>
          </a:xfrm>
          <a:prstGeom prst="roundRect">
            <a:avLst/>
          </a:prstGeom>
          <a:solidFill>
            <a:srgbClr val="0F131A"/>
          </a:solidFill>
          <a:ln w="12700">
            <a:solidFill>
              <a:srgbClr val="2B3140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43" name="S743"/>
          <p:cNvSpPr/>
          <p:nvPr/>
        </p:nvSpPr>
        <p:spPr>
          <a:xfrm>
            <a:off x="914400" y="13716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Service Health Overview</a:t>
            </a:r>
          </a:p>
        </p:txBody>
      </p:sp>
      <p:sp>
        <p:nvSpPr>
          <p:cNvPr id="744" name="S744"/>
          <p:cNvSpPr/>
          <p:nvPr/>
        </p:nvSpPr>
        <p:spPr>
          <a:xfrm>
            <a:off x="5461000" y="1397000"/>
            <a:ext cx="914400" cy="279400"/>
          </a:xfrm>
          <a:prstGeom prst="roundRect">
            <a:avLst/>
          </a:prstGeom>
          <a:solidFill>
            <a:srgbClr val="1B2029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Last 6h</a:t>
            </a:r>
          </a:p>
        </p:txBody>
      </p:sp>
      <p:sp>
        <p:nvSpPr>
          <p:cNvPr id="745" name="S745"/>
          <p:cNvSpPr/>
          <p:nvPr/>
        </p:nvSpPr>
        <p:spPr>
          <a:xfrm>
            <a:off x="6451600" y="1397000"/>
            <a:ext cx="889000" cy="279400"/>
          </a:xfrm>
          <a:prstGeom prst="roundRect">
            <a:avLst/>
          </a:prstGeom>
          <a:solidFill>
            <a:srgbClr val="1B2029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10s</a:t>
            </a:r>
          </a:p>
        </p:txBody>
      </p:sp>
      <p:sp>
        <p:nvSpPr>
          <p:cNvPr id="746" name="S746"/>
          <p:cNvSpPr/>
          <p:nvPr/>
        </p:nvSpPr>
        <p:spPr>
          <a:xfrm>
            <a:off x="914400" y="1778000"/>
            <a:ext cx="1397000" cy="304800"/>
          </a:xfrm>
          <a:prstGeom prst="roundRect">
            <a:avLst/>
          </a:prstGeom>
          <a:solidFill>
            <a:srgbClr val="10233A"/>
          </a:solidFill>
          <a:ln w="12700">
            <a:solidFill>
              <a:srgbClr val="3274D9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62B0FF"/>
                </a:solidFill>
              </a:rPr>
              <a:t>datasource</a:t>
            </a:r>
          </a:p>
        </p:txBody>
      </p:sp>
      <p:sp>
        <p:nvSpPr>
          <p:cNvPr id="747" name="S747"/>
          <p:cNvSpPr/>
          <p:nvPr/>
        </p:nvSpPr>
        <p:spPr>
          <a:xfrm>
            <a:off x="2413000" y="1778000"/>
            <a:ext cx="1270000" cy="304800"/>
          </a:xfrm>
          <a:prstGeom prst="roundRect">
            <a:avLst/>
          </a:prstGeom>
          <a:solidFill>
            <a:srgbClr val="10233A"/>
          </a:solidFill>
          <a:ln w="12700">
            <a:solidFill>
              <a:srgbClr val="3274D9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62B0FF"/>
                </a:solidFill>
              </a:rPr>
              <a:t>env = prod</a:t>
            </a:r>
          </a:p>
        </p:txBody>
      </p:sp>
      <p:sp>
        <p:nvSpPr>
          <p:cNvPr id="748" name="S748"/>
          <p:cNvSpPr/>
          <p:nvPr/>
        </p:nvSpPr>
        <p:spPr>
          <a:xfrm>
            <a:off x="3784600" y="1778000"/>
            <a:ext cx="1473200" cy="304800"/>
          </a:xfrm>
          <a:prstGeom prst="roundRect">
            <a:avLst/>
          </a:prstGeom>
          <a:solidFill>
            <a:srgbClr val="10233A"/>
          </a:solidFill>
          <a:ln w="12700">
            <a:solidFill>
              <a:srgbClr val="3274D9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62B0FF"/>
                </a:solidFill>
              </a:rPr>
              <a:t>instance = All</a:t>
            </a:r>
          </a:p>
        </p:txBody>
      </p:sp>
      <p:sp>
        <p:nvSpPr>
          <p:cNvPr id="749" name="S749"/>
          <p:cNvSpPr/>
          <p:nvPr/>
        </p:nvSpPr>
        <p:spPr>
          <a:xfrm>
            <a:off x="914400" y="2184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400" b="1" dirty="0">
                <a:solidFill>
                  <a:srgbClr val="FF9830"/>
                </a:solidFill>
              </a:rPr>
              <a:t>v  Overview</a:t>
            </a:r>
          </a:p>
        </p:txBody>
      </p:sp>
      <p:sp>
        <p:nvSpPr>
          <p:cNvPr id="750" name="S750"/>
          <p:cNvSpPr/>
          <p:nvPr/>
        </p:nvSpPr>
        <p:spPr>
          <a:xfrm>
            <a:off x="914400" y="2489200"/>
            <a:ext cx="1498600" cy="7366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Stat</a:t>
            </a:r>
          </a:p>
        </p:txBody>
      </p:sp>
      <p:sp>
        <p:nvSpPr>
          <p:cNvPr id="751" name="S751"/>
          <p:cNvSpPr/>
          <p:nvPr/>
        </p:nvSpPr>
        <p:spPr>
          <a:xfrm>
            <a:off x="2514600" y="2489200"/>
            <a:ext cx="1498600" cy="7366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Stat</a:t>
            </a:r>
          </a:p>
        </p:txBody>
      </p:sp>
      <p:sp>
        <p:nvSpPr>
          <p:cNvPr id="752" name="S752"/>
          <p:cNvSpPr/>
          <p:nvPr/>
        </p:nvSpPr>
        <p:spPr>
          <a:xfrm>
            <a:off x="4114800" y="2489200"/>
            <a:ext cx="1498600" cy="7366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Stat</a:t>
            </a:r>
          </a:p>
        </p:txBody>
      </p:sp>
      <p:sp>
        <p:nvSpPr>
          <p:cNvPr id="753" name="S753"/>
          <p:cNvSpPr/>
          <p:nvPr/>
        </p:nvSpPr>
        <p:spPr>
          <a:xfrm>
            <a:off x="5715000" y="2489200"/>
            <a:ext cx="1498600" cy="7366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Stat</a:t>
            </a:r>
          </a:p>
        </p:txBody>
      </p:sp>
      <p:sp>
        <p:nvSpPr>
          <p:cNvPr id="754" name="S754"/>
          <p:cNvSpPr/>
          <p:nvPr/>
        </p:nvSpPr>
        <p:spPr>
          <a:xfrm>
            <a:off x="914400" y="3327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400" b="1" dirty="0">
                <a:solidFill>
                  <a:srgbClr val="FF9830"/>
                </a:solidFill>
              </a:rPr>
              <a:t>v  Latency and errors</a:t>
            </a:r>
          </a:p>
        </p:txBody>
      </p:sp>
      <p:sp>
        <p:nvSpPr>
          <p:cNvPr id="755" name="S755"/>
          <p:cNvSpPr/>
          <p:nvPr/>
        </p:nvSpPr>
        <p:spPr>
          <a:xfrm>
            <a:off x="914400" y="3632200"/>
            <a:ext cx="3098800" cy="11684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Time series</a:t>
            </a:r>
          </a:p>
        </p:txBody>
      </p:sp>
      <p:sp>
        <p:nvSpPr>
          <p:cNvPr id="756" name="S756"/>
          <p:cNvSpPr/>
          <p:nvPr/>
        </p:nvSpPr>
        <p:spPr>
          <a:xfrm>
            <a:off x="4114800" y="3632200"/>
            <a:ext cx="3098800" cy="1168400"/>
          </a:xfrm>
          <a:prstGeom prst="roundRect">
            <a:avLst/>
          </a:prstGeom>
          <a:solidFill>
            <a:srgbClr val="161B24"/>
          </a:solidFill>
          <a:ln w="12700">
            <a:solidFill>
              <a:srgbClr val="2B3140"/>
            </a:solidFill>
          </a:ln>
        </p:spPr>
        <p:txBody>
          <a:bodyPr wrap="square" lIns="50800" tIns="38100" rIns="50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B4BECC"/>
                </a:solidFill>
              </a:rPr>
              <a:t>Bar gauge</a:t>
            </a:r>
          </a:p>
        </p:txBody>
      </p:sp>
      <p:sp>
        <p:nvSpPr>
          <p:cNvPr id="757" name="S757"/>
          <p:cNvSpPr/>
          <p:nvPr/>
        </p:nvSpPr>
        <p:spPr>
          <a:xfrm>
            <a:off x="914400" y="4902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400" b="1" dirty="0">
                <a:solidFill>
                  <a:srgbClr val="8E99AB"/>
                </a:solidFill>
              </a:rPr>
              <a:t>&gt;  Database  (collapsed row)</a:t>
            </a:r>
          </a:p>
        </p:txBody>
      </p:sp>
      <p:sp>
        <p:nvSpPr>
          <p:cNvPr id="758" name="S758"/>
          <p:cNvSpPr/>
          <p:nvPr/>
        </p:nvSpPr>
        <p:spPr>
          <a:xfrm>
            <a:off x="914400" y="5207000"/>
            <a:ext cx="6299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400" b="0" dirty="0">
                <a:solidFill>
                  <a:srgbClr val="8E99AB"/>
                </a:solidFill>
              </a:rPr>
              <a:t>Panels snap to a 24-column grid, so alignment is automatic.</a:t>
            </a:r>
          </a:p>
        </p:txBody>
      </p:sp>
      <p:sp>
        <p:nvSpPr>
          <p:cNvPr id="759" name="S759"/>
          <p:cNvSpPr/>
          <p:nvPr/>
        </p:nvSpPr>
        <p:spPr>
          <a:xfrm>
            <a:off x="7747000" y="1270000"/>
            <a:ext cx="3683000" cy="78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0" name="S760"/>
          <p:cNvSpPr/>
          <p:nvPr/>
        </p:nvSpPr>
        <p:spPr>
          <a:xfrm>
            <a:off x="7747000" y="1270000"/>
            <a:ext cx="50800" cy="7874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1" name="S761"/>
          <p:cNvSpPr/>
          <p:nvPr/>
        </p:nvSpPr>
        <p:spPr>
          <a:xfrm>
            <a:off x="7924800" y="1346200"/>
            <a:ext cx="335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9830"/>
                </a:solidFill>
              </a:rPr>
              <a:t>Time range and refresh</a:t>
            </a:r>
          </a:p>
        </p:txBody>
      </p:sp>
      <p:sp>
        <p:nvSpPr>
          <p:cNvPr id="762" name="S762"/>
          <p:cNvSpPr/>
          <p:nvPr/>
        </p:nvSpPr>
        <p:spPr>
          <a:xfrm>
            <a:off x="7924800" y="1625600"/>
            <a:ext cx="335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Global. Every panel query inherits it.</a:t>
            </a:r>
          </a:p>
        </p:txBody>
      </p:sp>
      <p:sp>
        <p:nvSpPr>
          <p:cNvPr id="763" name="S763"/>
          <p:cNvSpPr/>
          <p:nvPr/>
        </p:nvSpPr>
        <p:spPr>
          <a:xfrm>
            <a:off x="7747000" y="2159000"/>
            <a:ext cx="3683000" cy="78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4" name="S764"/>
          <p:cNvSpPr/>
          <p:nvPr/>
        </p:nvSpPr>
        <p:spPr>
          <a:xfrm>
            <a:off x="7747000" y="2159000"/>
            <a:ext cx="50800" cy="7874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5" name="S765"/>
          <p:cNvSpPr/>
          <p:nvPr/>
        </p:nvSpPr>
        <p:spPr>
          <a:xfrm>
            <a:off x="7924800" y="2235200"/>
            <a:ext cx="335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Template variables</a:t>
            </a:r>
          </a:p>
        </p:txBody>
      </p:sp>
      <p:sp>
        <p:nvSpPr>
          <p:cNvPr id="766" name="S766"/>
          <p:cNvSpPr/>
          <p:nvPr/>
        </p:nvSpPr>
        <p:spPr>
          <a:xfrm>
            <a:off x="7924800" y="2514600"/>
            <a:ext cx="335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One selector rewrites every query on the page.</a:t>
            </a:r>
          </a:p>
        </p:txBody>
      </p:sp>
      <p:sp>
        <p:nvSpPr>
          <p:cNvPr id="767" name="S767"/>
          <p:cNvSpPr/>
          <p:nvPr/>
        </p:nvSpPr>
        <p:spPr>
          <a:xfrm>
            <a:off x="7747000" y="3048000"/>
            <a:ext cx="3683000" cy="78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8" name="S768"/>
          <p:cNvSpPr/>
          <p:nvPr/>
        </p:nvSpPr>
        <p:spPr>
          <a:xfrm>
            <a:off x="7747000" y="3048000"/>
            <a:ext cx="50800" cy="7874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69" name="S769"/>
          <p:cNvSpPr/>
          <p:nvPr/>
        </p:nvSpPr>
        <p:spPr>
          <a:xfrm>
            <a:off x="7924800" y="3124200"/>
            <a:ext cx="335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B877D9"/>
                </a:solidFill>
              </a:rPr>
              <a:t>Rows</a:t>
            </a:r>
          </a:p>
        </p:txBody>
      </p:sp>
      <p:sp>
        <p:nvSpPr>
          <p:cNvPr id="770" name="S770"/>
          <p:cNvSpPr/>
          <p:nvPr/>
        </p:nvSpPr>
        <p:spPr>
          <a:xfrm>
            <a:off x="7924800" y="3403600"/>
            <a:ext cx="335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Collapsible groups. Can repeat per variable value.</a:t>
            </a:r>
          </a:p>
        </p:txBody>
      </p:sp>
      <p:sp>
        <p:nvSpPr>
          <p:cNvPr id="771" name="S771"/>
          <p:cNvSpPr/>
          <p:nvPr/>
        </p:nvSpPr>
        <p:spPr>
          <a:xfrm>
            <a:off x="7747000" y="3937000"/>
            <a:ext cx="3683000" cy="78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72" name="S772"/>
          <p:cNvSpPr/>
          <p:nvPr/>
        </p:nvSpPr>
        <p:spPr>
          <a:xfrm>
            <a:off x="7747000" y="3937000"/>
            <a:ext cx="50800" cy="7874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73" name="S773"/>
          <p:cNvSpPr/>
          <p:nvPr/>
        </p:nvSpPr>
        <p:spPr>
          <a:xfrm>
            <a:off x="7924800" y="4013200"/>
            <a:ext cx="335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F46800"/>
                </a:solidFill>
              </a:rPr>
              <a:t>Panels</a:t>
            </a:r>
          </a:p>
        </p:txBody>
      </p:sp>
      <p:sp>
        <p:nvSpPr>
          <p:cNvPr id="774" name="S774"/>
          <p:cNvSpPr/>
          <p:nvPr/>
        </p:nvSpPr>
        <p:spPr>
          <a:xfrm>
            <a:off x="7924800" y="4292600"/>
            <a:ext cx="335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The unit of visualisation. Drag to move and resize.</a:t>
            </a:r>
          </a:p>
        </p:txBody>
      </p:sp>
      <p:sp>
        <p:nvSpPr>
          <p:cNvPr id="775" name="S775"/>
          <p:cNvSpPr/>
          <p:nvPr/>
        </p:nvSpPr>
        <p:spPr>
          <a:xfrm>
            <a:off x="7747000" y="4826000"/>
            <a:ext cx="3683000" cy="787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76" name="S776"/>
          <p:cNvSpPr/>
          <p:nvPr/>
        </p:nvSpPr>
        <p:spPr>
          <a:xfrm>
            <a:off x="7747000" y="4826000"/>
            <a:ext cx="50800" cy="7874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777" name="S777"/>
          <p:cNvSpPr/>
          <p:nvPr/>
        </p:nvSpPr>
        <p:spPr>
          <a:xfrm>
            <a:off x="7924800" y="4902200"/>
            <a:ext cx="3352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500" b="1" dirty="0">
                <a:solidFill>
                  <a:srgbClr val="56A64B"/>
                </a:solidFill>
              </a:rPr>
              <a:t>Library panels</a:t>
            </a:r>
          </a:p>
        </p:txBody>
      </p:sp>
      <p:sp>
        <p:nvSpPr>
          <p:cNvPr id="778" name="S778"/>
          <p:cNvSpPr/>
          <p:nvPr/>
        </p:nvSpPr>
        <p:spPr>
          <a:xfrm>
            <a:off x="7924800" y="5181600"/>
            <a:ext cx="335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Defined once, reused and updated everywhere.</a:t>
            </a:r>
          </a:p>
        </p:txBody>
      </p:sp>
      <p:sp>
        <p:nvSpPr>
          <p:cNvPr id="779" name="S779"/>
          <p:cNvSpPr/>
          <p:nvPr/>
        </p:nvSpPr>
        <p:spPr>
          <a:xfrm>
            <a:off x="762000" y="5791200"/>
            <a:ext cx="10668000" cy="533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38100" rIns="177800" bIns="381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Build order that works: pick the question, add variables first, then panels, then group into rows and set the default time range.</a:t>
            </a:r>
          </a:p>
        </p:txBody>
      </p:sp>
    </p:spTree>
    <p:extLst>
      <p:ext uri="{BB962C8B-B14F-4D97-AF65-F5344CB8AC3E}">
        <p14:creationId xmlns:p14="http://schemas.microsoft.com/office/powerpoint/2010/main" val="4191467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0FCC0-3C2C-9BC5-6AAC-B6851191B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Variables: One Dashboard, Every Environment</a:t>
            </a:r>
          </a:p>
        </p:txBody>
      </p:sp>
      <p:sp>
        <p:nvSpPr>
          <p:cNvPr id="781" name="S78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82" name="S782"/>
          <p:cNvSpPr/>
          <p:nvPr/>
        </p:nvSpPr>
        <p:spPr>
          <a:xfrm>
            <a:off x="762000" y="1219200"/>
            <a:ext cx="533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The types you will use</a:t>
            </a:r>
          </a:p>
        </p:txBody>
      </p:sp>
      <p:sp>
        <p:nvSpPr>
          <p:cNvPr id="783" name="S783"/>
          <p:cNvSpPr/>
          <p:nvPr/>
        </p:nvSpPr>
        <p:spPr>
          <a:xfrm>
            <a:off x="762000" y="1625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84" name="S784"/>
          <p:cNvSpPr/>
          <p:nvPr/>
        </p:nvSpPr>
        <p:spPr>
          <a:xfrm>
            <a:off x="762000" y="1625600"/>
            <a:ext cx="50800" cy="558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85" name="S785"/>
          <p:cNvSpPr/>
          <p:nvPr/>
        </p:nvSpPr>
        <p:spPr>
          <a:xfrm>
            <a:off x="965200" y="1625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Query</a:t>
            </a:r>
          </a:p>
        </p:txBody>
      </p:sp>
      <p:sp>
        <p:nvSpPr>
          <p:cNvPr id="786" name="S786"/>
          <p:cNvSpPr/>
          <p:nvPr/>
        </p:nvSpPr>
        <p:spPr>
          <a:xfrm>
            <a:off x="2489200" y="1625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Values come from a data source query</a:t>
            </a:r>
          </a:p>
        </p:txBody>
      </p:sp>
      <p:sp>
        <p:nvSpPr>
          <p:cNvPr id="787" name="S787"/>
          <p:cNvSpPr/>
          <p:nvPr/>
        </p:nvSpPr>
        <p:spPr>
          <a:xfrm>
            <a:off x="762000" y="2260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88" name="S788"/>
          <p:cNvSpPr/>
          <p:nvPr/>
        </p:nvSpPr>
        <p:spPr>
          <a:xfrm>
            <a:off x="762000" y="2260600"/>
            <a:ext cx="50800" cy="558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89" name="S789"/>
          <p:cNvSpPr/>
          <p:nvPr/>
        </p:nvSpPr>
        <p:spPr>
          <a:xfrm>
            <a:off x="965200" y="2260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3274D9"/>
                </a:solidFill>
              </a:rPr>
              <a:t>Custom</a:t>
            </a:r>
          </a:p>
        </p:txBody>
      </p:sp>
      <p:sp>
        <p:nvSpPr>
          <p:cNvPr id="790" name="S790"/>
          <p:cNvSpPr/>
          <p:nvPr/>
        </p:nvSpPr>
        <p:spPr>
          <a:xfrm>
            <a:off x="2489200" y="2260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A comma-separated list you type yourself</a:t>
            </a:r>
          </a:p>
        </p:txBody>
      </p:sp>
      <p:sp>
        <p:nvSpPr>
          <p:cNvPr id="791" name="S791"/>
          <p:cNvSpPr/>
          <p:nvPr/>
        </p:nvSpPr>
        <p:spPr>
          <a:xfrm>
            <a:off x="762000" y="2895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92" name="S792"/>
          <p:cNvSpPr/>
          <p:nvPr/>
        </p:nvSpPr>
        <p:spPr>
          <a:xfrm>
            <a:off x="762000" y="2895600"/>
            <a:ext cx="50800" cy="558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93" name="S793"/>
          <p:cNvSpPr/>
          <p:nvPr/>
        </p:nvSpPr>
        <p:spPr>
          <a:xfrm>
            <a:off x="965200" y="2895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B877D9"/>
                </a:solidFill>
              </a:rPr>
              <a:t>Constant</a:t>
            </a:r>
          </a:p>
        </p:txBody>
      </p:sp>
      <p:sp>
        <p:nvSpPr>
          <p:cNvPr id="794" name="S794"/>
          <p:cNvSpPr/>
          <p:nvPr/>
        </p:nvSpPr>
        <p:spPr>
          <a:xfrm>
            <a:off x="2489200" y="2895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Hidden fixed value - handy for metric prefixes</a:t>
            </a:r>
          </a:p>
        </p:txBody>
      </p:sp>
      <p:sp>
        <p:nvSpPr>
          <p:cNvPr id="795" name="S795"/>
          <p:cNvSpPr/>
          <p:nvPr/>
        </p:nvSpPr>
        <p:spPr>
          <a:xfrm>
            <a:off x="762000" y="3530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96" name="S796"/>
          <p:cNvSpPr/>
          <p:nvPr/>
        </p:nvSpPr>
        <p:spPr>
          <a:xfrm>
            <a:off x="762000" y="3530600"/>
            <a:ext cx="50800" cy="558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797" name="S797"/>
          <p:cNvSpPr/>
          <p:nvPr/>
        </p:nvSpPr>
        <p:spPr>
          <a:xfrm>
            <a:off x="965200" y="3530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B877D9"/>
                </a:solidFill>
              </a:rPr>
              <a:t>Data source</a:t>
            </a:r>
          </a:p>
        </p:txBody>
      </p:sp>
      <p:sp>
        <p:nvSpPr>
          <p:cNvPr id="798" name="S798"/>
          <p:cNvSpPr/>
          <p:nvPr/>
        </p:nvSpPr>
        <p:spPr>
          <a:xfrm>
            <a:off x="2489200" y="3530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Switch the whole dashboard between sources</a:t>
            </a:r>
          </a:p>
        </p:txBody>
      </p:sp>
      <p:sp>
        <p:nvSpPr>
          <p:cNvPr id="799" name="S799"/>
          <p:cNvSpPr/>
          <p:nvPr/>
        </p:nvSpPr>
        <p:spPr>
          <a:xfrm>
            <a:off x="762000" y="4165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00" name="S800"/>
          <p:cNvSpPr/>
          <p:nvPr/>
        </p:nvSpPr>
        <p:spPr>
          <a:xfrm>
            <a:off x="762000" y="4165600"/>
            <a:ext cx="50800" cy="558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01" name="S801"/>
          <p:cNvSpPr/>
          <p:nvPr/>
        </p:nvSpPr>
        <p:spPr>
          <a:xfrm>
            <a:off x="965200" y="4165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56A64B"/>
                </a:solidFill>
              </a:rPr>
              <a:t>Interval</a:t>
            </a:r>
          </a:p>
        </p:txBody>
      </p:sp>
      <p:sp>
        <p:nvSpPr>
          <p:cNvPr id="802" name="S802"/>
          <p:cNvSpPr/>
          <p:nvPr/>
        </p:nvSpPr>
        <p:spPr>
          <a:xfrm>
            <a:off x="2489200" y="4165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Selectable time buckets: 1m, 5m, 1h</a:t>
            </a:r>
          </a:p>
        </p:txBody>
      </p:sp>
      <p:sp>
        <p:nvSpPr>
          <p:cNvPr id="803" name="S803"/>
          <p:cNvSpPr/>
          <p:nvPr/>
        </p:nvSpPr>
        <p:spPr>
          <a:xfrm>
            <a:off x="762000" y="4800600"/>
            <a:ext cx="5334000" cy="558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04" name="S804"/>
          <p:cNvSpPr/>
          <p:nvPr/>
        </p:nvSpPr>
        <p:spPr>
          <a:xfrm>
            <a:off x="762000" y="4800600"/>
            <a:ext cx="50800" cy="558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05" name="S805"/>
          <p:cNvSpPr/>
          <p:nvPr/>
        </p:nvSpPr>
        <p:spPr>
          <a:xfrm>
            <a:off x="965200" y="48006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56A64B"/>
                </a:solidFill>
              </a:rPr>
              <a:t>Ad hoc filters</a:t>
            </a:r>
          </a:p>
        </p:txBody>
      </p:sp>
      <p:sp>
        <p:nvSpPr>
          <p:cNvPr id="806" name="S806"/>
          <p:cNvSpPr/>
          <p:nvPr/>
        </p:nvSpPr>
        <p:spPr>
          <a:xfrm>
            <a:off x="2489200" y="4800600"/>
            <a:ext cx="345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Free-form label filters applied to every query</a:t>
            </a:r>
          </a:p>
        </p:txBody>
      </p:sp>
      <p:sp>
        <p:nvSpPr>
          <p:cNvPr id="807" name="S807"/>
          <p:cNvSpPr/>
          <p:nvPr/>
        </p:nvSpPr>
        <p:spPr>
          <a:xfrm>
            <a:off x="6350000" y="12192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From definition to query</a:t>
            </a:r>
          </a:p>
        </p:txBody>
      </p:sp>
      <p:sp>
        <p:nvSpPr>
          <p:cNvPr id="808" name="S808"/>
          <p:cNvSpPr/>
          <p:nvPr/>
        </p:nvSpPr>
        <p:spPr>
          <a:xfrm>
            <a:off x="6350000" y="1625600"/>
            <a:ext cx="5080000" cy="2133600"/>
          </a:xfrm>
          <a:prstGeom prst="roundRect">
            <a:avLst/>
          </a:prstGeom>
          <a:solidFill>
            <a:srgbClr val="0C1016"/>
          </a:solidFill>
          <a:ln w="12700">
            <a:solidFill>
              <a:srgbClr val="263042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09" name="S809"/>
          <p:cNvSpPr/>
          <p:nvPr/>
        </p:nvSpPr>
        <p:spPr>
          <a:xfrm>
            <a:off x="6527800" y="1727200"/>
            <a:ext cx="4724400" cy="1930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1. define the variable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label_values(node_cpu_seconds_total, instance)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2. use it in the panel query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rate(node_cpu{instance=~"$instance"}[5m])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3. repeat a panel or row per value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Panel options &gt; Repeat by variable</a:t>
            </a:r>
          </a:p>
        </p:txBody>
      </p:sp>
      <p:sp>
        <p:nvSpPr>
          <p:cNvPr id="810" name="S810"/>
          <p:cNvSpPr/>
          <p:nvPr/>
        </p:nvSpPr>
        <p:spPr>
          <a:xfrm>
            <a:off x="6350000" y="3886200"/>
            <a:ext cx="5080000" cy="914400"/>
          </a:xfrm>
          <a:prstGeom prst="roundRect">
            <a:avLst/>
          </a:prstGeom>
          <a:solidFill>
            <a:srgbClr val="1C1408"/>
          </a:solidFill>
          <a:ln w="12700">
            <a:solidFill>
              <a:srgbClr val="5A3A1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11" name="S811"/>
          <p:cNvSpPr/>
          <p:nvPr/>
        </p:nvSpPr>
        <p:spPr>
          <a:xfrm>
            <a:off x="6527800" y="3962400"/>
            <a:ext cx="472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FFC078"/>
                </a:solidFill>
              </a:rPr>
              <a:t>Multi-value gotcha</a:t>
            </a:r>
          </a:p>
        </p:txBody>
      </p:sp>
      <p:sp>
        <p:nvSpPr>
          <p:cNvPr id="812" name="S812"/>
          <p:cNvSpPr/>
          <p:nvPr/>
        </p:nvSpPr>
        <p:spPr>
          <a:xfrm>
            <a:off x="6527800" y="4241800"/>
            <a:ext cx="472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FFC078"/>
                </a:solidFill>
              </a:rPr>
              <a:t>With Multi-value or All enabled, always match with =~ and never with =. Grafana expands the value into a regex.</a:t>
            </a:r>
          </a:p>
        </p:txBody>
      </p:sp>
      <p:sp>
        <p:nvSpPr>
          <p:cNvPr id="813" name="S813"/>
          <p:cNvSpPr/>
          <p:nvPr/>
        </p:nvSpPr>
        <p:spPr>
          <a:xfrm>
            <a:off x="762000" y="5537200"/>
            <a:ext cx="10668000" cy="787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14" name="S814"/>
          <p:cNvSpPr/>
          <p:nvPr/>
        </p:nvSpPr>
        <p:spPr>
          <a:xfrm>
            <a:off x="939800" y="5613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1" dirty="0">
                <a:solidFill>
                  <a:srgbClr val="56A64B"/>
                </a:solidFill>
              </a:rPr>
              <a:t>Chained variables</a:t>
            </a:r>
          </a:p>
        </p:txBody>
      </p:sp>
      <p:sp>
        <p:nvSpPr>
          <p:cNvPr id="815" name="S815"/>
          <p:cNvSpPr/>
          <p:nvPr/>
        </p:nvSpPr>
        <p:spPr>
          <a:xfrm>
            <a:off x="939800" y="5892800"/>
            <a:ext cx="10312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$env filters the query for $cluster, which filters $instance. Selecting an environment narrows every dropdown below it.</a:t>
            </a:r>
          </a:p>
        </p:txBody>
      </p:sp>
    </p:spTree>
    <p:extLst>
      <p:ext uri="{BB962C8B-B14F-4D97-AF65-F5344CB8AC3E}">
        <p14:creationId xmlns:p14="http://schemas.microsoft.com/office/powerpoint/2010/main" val="245810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D4B1-4AFC-4323-18EA-A277BED5C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Rows and Library Panels</a:t>
            </a:r>
          </a:p>
        </p:txBody>
      </p:sp>
      <p:sp>
        <p:nvSpPr>
          <p:cNvPr id="811" name="S81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12" name="S812"/>
          <p:cNvSpPr/>
          <p:nvPr/>
        </p:nvSpPr>
        <p:spPr>
          <a:xfrm>
            <a:off x="762000" y="1270000"/>
            <a:ext cx="5207000" cy="3632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13" name="S813"/>
          <p:cNvSpPr/>
          <p:nvPr/>
        </p:nvSpPr>
        <p:spPr>
          <a:xfrm>
            <a:off x="762000" y="1270000"/>
            <a:ext cx="5207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14" name="S814"/>
          <p:cNvSpPr/>
          <p:nvPr/>
        </p:nvSpPr>
        <p:spPr>
          <a:xfrm>
            <a:off x="965200" y="1397000"/>
            <a:ext cx="4800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B877D9"/>
                </a:solidFill>
              </a:rPr>
              <a:t>Rows: structure and performance</a:t>
            </a:r>
          </a:p>
        </p:txBody>
      </p:sp>
      <p:sp>
        <p:nvSpPr>
          <p:cNvPr id="815" name="S815"/>
          <p:cNvSpPr/>
          <p:nvPr/>
        </p:nvSpPr>
        <p:spPr>
          <a:xfrm>
            <a:off x="965200" y="1778000"/>
            <a:ext cx="48006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Collapsible group header for related panels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 collapsed row does not run its queries - real load saving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Repeat a row per variable value (one row per instance)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Convention: overview expanded, deep-dive rows collapsed</a:t>
            </a:r>
          </a:p>
        </p:txBody>
      </p:sp>
      <p:sp>
        <p:nvSpPr>
          <p:cNvPr id="816" name="S816"/>
          <p:cNvSpPr/>
          <p:nvPr/>
        </p:nvSpPr>
        <p:spPr>
          <a:xfrm>
            <a:off x="965200" y="3530600"/>
            <a:ext cx="4800600" cy="330200"/>
          </a:xfrm>
          <a:prstGeom prst="roundRect">
            <a:avLst/>
          </a:prstGeom>
          <a:solidFill>
            <a:srgbClr val="1B2029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FF9830"/>
                </a:solidFill>
              </a:rPr>
              <a:t>v  Overview  (expanded)</a:t>
            </a:r>
          </a:p>
        </p:txBody>
      </p:sp>
      <p:sp>
        <p:nvSpPr>
          <p:cNvPr id="817" name="S817"/>
          <p:cNvSpPr/>
          <p:nvPr/>
        </p:nvSpPr>
        <p:spPr>
          <a:xfrm>
            <a:off x="965200" y="3911600"/>
            <a:ext cx="4800600" cy="3302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7C8798"/>
                </a:solidFill>
              </a:rPr>
              <a:t>&gt;  Latency  (collapsed)</a:t>
            </a:r>
          </a:p>
        </p:txBody>
      </p:sp>
      <p:sp>
        <p:nvSpPr>
          <p:cNvPr id="818" name="S818"/>
          <p:cNvSpPr/>
          <p:nvPr/>
        </p:nvSpPr>
        <p:spPr>
          <a:xfrm>
            <a:off x="965200" y="4292600"/>
            <a:ext cx="4800600" cy="3302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2B3140"/>
            </a:solidFill>
          </a:ln>
        </p:spPr>
        <p:txBody>
          <a:bodyPr wrap="square" lIns="127000" tIns="50800" rIns="127000" bIns="50800" anchor="ctr"/>
          <a:lstStyle/>
          <a:p>
            <a:pPr algn="l">
              <a:buNone/>
            </a:pPr>
            <a:r>
              <a:rPr lang="en-US" sz="1400" b="1" dirty="0">
                <a:solidFill>
                  <a:srgbClr val="7C8798"/>
                </a:solidFill>
              </a:rPr>
              <a:t>&gt;  Database  (collapsed)</a:t>
            </a:r>
          </a:p>
        </p:txBody>
      </p:sp>
      <p:sp>
        <p:nvSpPr>
          <p:cNvPr id="819" name="S819"/>
          <p:cNvSpPr/>
          <p:nvPr/>
        </p:nvSpPr>
        <p:spPr>
          <a:xfrm>
            <a:off x="6223000" y="1270000"/>
            <a:ext cx="5207000" cy="3632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20" name="S820"/>
          <p:cNvSpPr/>
          <p:nvPr/>
        </p:nvSpPr>
        <p:spPr>
          <a:xfrm>
            <a:off x="6223000" y="1270000"/>
            <a:ext cx="5207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21" name="S821"/>
          <p:cNvSpPr/>
          <p:nvPr/>
        </p:nvSpPr>
        <p:spPr>
          <a:xfrm>
            <a:off x="6426200" y="1397000"/>
            <a:ext cx="4800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56A64B"/>
                </a:solidFill>
              </a:rPr>
              <a:t>Library panels: build once, reuse</a:t>
            </a:r>
          </a:p>
        </p:txBody>
      </p:sp>
      <p:sp>
        <p:nvSpPr>
          <p:cNvPr id="822" name="S822"/>
          <p:cNvSpPr/>
          <p:nvPr/>
        </p:nvSpPr>
        <p:spPr>
          <a:xfrm>
            <a:off x="6426200" y="1778000"/>
            <a:ext cx="4800600" cy="2006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Panel menu &gt; More &gt; Create library panel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Saved in a folder and linked by reference, not copied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Edit it once and every dashboard using it updates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Grafana shows the usage count before you save a change</a:t>
            </a:r>
          </a:p>
          <a:p>
            <a:pPr marL="171450" indent="-171450">
              <a:lnSpc>
                <a:spcPts val="1800"/>
              </a:lnSpc>
              <a:spcBef>
                <a:spcPts val="6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Ideal for SLO summaries and standard CPU / memory panels</a:t>
            </a:r>
          </a:p>
        </p:txBody>
      </p:sp>
      <p:sp>
        <p:nvSpPr>
          <p:cNvPr id="823" name="S823"/>
          <p:cNvSpPr/>
          <p:nvPr/>
        </p:nvSpPr>
        <p:spPr>
          <a:xfrm>
            <a:off x="6426200" y="3810000"/>
            <a:ext cx="4800600" cy="939800"/>
          </a:xfrm>
          <a:prstGeom prst="roundRect">
            <a:avLst/>
          </a:prstGeom>
          <a:solidFill>
            <a:srgbClr val="1C1408"/>
          </a:solidFill>
          <a:ln w="12700">
            <a:solidFill>
              <a:srgbClr val="5A3A10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FFC078"/>
                </a:solidFill>
              </a:rPr>
              <a:t>Unlinking a library panel is one-way: it becomes a normal copy and stops receiving updates.</a:t>
            </a:r>
          </a:p>
        </p:txBody>
      </p:sp>
      <p:sp>
        <p:nvSpPr>
          <p:cNvPr id="824" name="S824"/>
          <p:cNvSpPr/>
          <p:nvPr/>
        </p:nvSpPr>
        <p:spPr>
          <a:xfrm>
            <a:off x="762000" y="5054600"/>
            <a:ext cx="10668000" cy="558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Everything on the page is JSON. Dashboard settings &gt; JSON Model shows the exact object Grafana renders.</a:t>
            </a:r>
          </a:p>
        </p:txBody>
      </p:sp>
      <p:sp>
        <p:nvSpPr>
          <p:cNvPr id="825" name="S825"/>
          <p:cNvSpPr/>
          <p:nvPr/>
        </p:nvSpPr>
        <p:spPr>
          <a:xfrm>
            <a:off x="762000" y="5715000"/>
            <a:ext cx="10668000" cy="6096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Dashboards as code: export the JSON, commit it to git, and provision it from a file so an environment can be rebuilt from scratch.</a:t>
            </a:r>
          </a:p>
        </p:txBody>
      </p:sp>
    </p:spTree>
    <p:extLst>
      <p:ext uri="{BB962C8B-B14F-4D97-AF65-F5344CB8AC3E}">
        <p14:creationId xmlns:p14="http://schemas.microsoft.com/office/powerpoint/2010/main" val="3601269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15ECE-4BEB-E4D7-AEF4-5E052AFC6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9200"/>
            <a:ext cx="7874000" cy="1016000"/>
          </a:xfrm>
        </p:spPr>
        <p:txBody>
          <a:bodyPr/>
          <a:lstStyle/>
          <a:p>
            <a:pPr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Visualization Panels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6FD2C8-6F2D-FB9B-5F06-A8F7ACA193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32200"/>
            <a:ext cx="9144000" cy="762000"/>
          </a:xfrm>
        </p:spPr>
        <p:txBody>
          <a:bodyPr/>
          <a:lstStyle/>
          <a:p>
            <a:pPr algn="l">
              <a:buNone/>
            </a:pPr>
            <a:r>
              <a:rPr lang="en-US" sz="1700" b="0" dirty="0">
                <a:solidFill>
                  <a:srgbClr val="A9B2C1"/>
                </a:solidFill>
              </a:rPr>
              <a:t>Nine panel types, and the question each one is actually good at answering.</a:t>
            </a:r>
          </a:p>
        </p:txBody>
      </p:sp>
      <p:sp>
        <p:nvSpPr>
          <p:cNvPr id="831" name="S831"/>
          <p:cNvSpPr/>
          <p:nvPr/>
        </p:nvSpPr>
        <p:spPr>
          <a:xfrm>
            <a:off x="7620000" y="1524000"/>
            <a:ext cx="3810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16000" b="1" dirty="0">
                <a:solidFill>
                  <a:srgbClr val="1B202B"/>
                </a:solidFill>
              </a:rPr>
              <a:t>08</a:t>
            </a:r>
          </a:p>
        </p:txBody>
      </p:sp>
      <p:sp>
        <p:nvSpPr>
          <p:cNvPr id="832" name="S832"/>
          <p:cNvSpPr/>
          <p:nvPr/>
        </p:nvSpPr>
        <p:spPr>
          <a:xfrm>
            <a:off x="838200" y="1905000"/>
            <a:ext cx="3302000" cy="406400"/>
          </a:xfrm>
          <a:prstGeom prst="roundRect">
            <a:avLst/>
          </a:prstGeom>
          <a:solidFill>
            <a:srgbClr val="1E0E2E"/>
          </a:solidFill>
          <a:ln w="12700">
            <a:solidFill>
              <a:srgbClr val="B877D9"/>
            </a:solidFill>
          </a:ln>
        </p:spPr>
        <p:txBody>
          <a:bodyPr wrap="square" lIns="127000" tIns="50800" rIns="1270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D0A2F0"/>
                </a:solidFill>
              </a:rPr>
              <a:t>MODULE 8</a:t>
            </a:r>
          </a:p>
        </p:txBody>
      </p:sp>
      <p:sp>
        <p:nvSpPr>
          <p:cNvPr id="833" name="S833"/>
          <p:cNvSpPr/>
          <p:nvPr/>
        </p:nvSpPr>
        <p:spPr>
          <a:xfrm>
            <a:off x="838200" y="3581400"/>
            <a:ext cx="1524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3628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5F532-8EA7-24E7-88A6-53845FB36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04800"/>
            <a:ext cx="10668000" cy="533400"/>
          </a:xfrm>
        </p:spPr>
        <p:txBody>
          <a:bodyPr>
            <a:normAutofit fontScale="90000"/>
          </a:bodyPr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Panel Gallery</a:t>
            </a:r>
          </a:p>
        </p:txBody>
      </p:sp>
      <p:sp>
        <p:nvSpPr>
          <p:cNvPr id="851" name="S851"/>
          <p:cNvSpPr/>
          <p:nvPr/>
        </p:nvSpPr>
        <p:spPr>
          <a:xfrm>
            <a:off x="762000" y="863600"/>
            <a:ext cx="1524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52" name="S852"/>
          <p:cNvSpPr/>
          <p:nvPr/>
        </p:nvSpPr>
        <p:spPr>
          <a:xfrm>
            <a:off x="762000" y="9906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AEB8C7"/>
                </a:solidFill>
              </a:rPr>
              <a:t>Pick the panel that answers the question - not the one that looks best</a:t>
            </a:r>
          </a:p>
        </p:txBody>
      </p:sp>
      <p:sp>
        <p:nvSpPr>
          <p:cNvPr id="853" name="S853"/>
          <p:cNvSpPr/>
          <p:nvPr/>
        </p:nvSpPr>
        <p:spPr>
          <a:xfrm>
            <a:off x="762000" y="1346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54" name="S854"/>
          <p:cNvSpPr/>
          <p:nvPr/>
        </p:nvSpPr>
        <p:spPr>
          <a:xfrm>
            <a:off x="762000" y="1346200"/>
            <a:ext cx="3429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55" name="S855"/>
          <p:cNvSpPr/>
          <p:nvPr/>
        </p:nvSpPr>
        <p:spPr>
          <a:xfrm>
            <a:off x="939800" y="1473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46800"/>
                </a:solidFill>
              </a:rPr>
              <a:t>Time series</a:t>
            </a:r>
          </a:p>
        </p:txBody>
      </p:sp>
      <p:sp>
        <p:nvSpPr>
          <p:cNvPr id="856" name="S856"/>
          <p:cNvSpPr/>
          <p:nvPr/>
        </p:nvSpPr>
        <p:spPr>
          <a:xfrm>
            <a:off x="939800" y="1828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Trend and shape over time. The default choice.</a:t>
            </a:r>
          </a:p>
        </p:txBody>
      </p:sp>
      <p:sp>
        <p:nvSpPr>
          <p:cNvPr id="857" name="S857"/>
          <p:cNvSpPr/>
          <p:nvPr/>
        </p:nvSpPr>
        <p:spPr>
          <a:xfrm>
            <a:off x="939800" y="2438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CPU % per instance</a:t>
            </a:r>
          </a:p>
        </p:txBody>
      </p:sp>
      <p:sp>
        <p:nvSpPr>
          <p:cNvPr id="858" name="S858"/>
          <p:cNvSpPr/>
          <p:nvPr/>
        </p:nvSpPr>
        <p:spPr>
          <a:xfrm>
            <a:off x="4381500" y="1346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59" name="S859"/>
          <p:cNvSpPr/>
          <p:nvPr/>
        </p:nvSpPr>
        <p:spPr>
          <a:xfrm>
            <a:off x="4381500" y="1346200"/>
            <a:ext cx="3429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60" name="S860"/>
          <p:cNvSpPr/>
          <p:nvPr/>
        </p:nvSpPr>
        <p:spPr>
          <a:xfrm>
            <a:off x="4559300" y="1473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9830"/>
                </a:solidFill>
              </a:rPr>
              <a:t>Stat</a:t>
            </a:r>
          </a:p>
        </p:txBody>
      </p:sp>
      <p:sp>
        <p:nvSpPr>
          <p:cNvPr id="861" name="S861"/>
          <p:cNvSpPr/>
          <p:nvPr/>
        </p:nvSpPr>
        <p:spPr>
          <a:xfrm>
            <a:off x="4559300" y="1828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One big number with an optional sparkline.</a:t>
            </a:r>
          </a:p>
        </p:txBody>
      </p:sp>
      <p:sp>
        <p:nvSpPr>
          <p:cNvPr id="862" name="S862"/>
          <p:cNvSpPr/>
          <p:nvPr/>
        </p:nvSpPr>
        <p:spPr>
          <a:xfrm>
            <a:off x="4559300" y="2438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Current error rate</a:t>
            </a:r>
          </a:p>
        </p:txBody>
      </p:sp>
      <p:sp>
        <p:nvSpPr>
          <p:cNvPr id="863" name="S863"/>
          <p:cNvSpPr/>
          <p:nvPr/>
        </p:nvSpPr>
        <p:spPr>
          <a:xfrm>
            <a:off x="8001000" y="1346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64" name="S864"/>
          <p:cNvSpPr/>
          <p:nvPr/>
        </p:nvSpPr>
        <p:spPr>
          <a:xfrm>
            <a:off x="8001000" y="1346200"/>
            <a:ext cx="3429000" cy="50800"/>
          </a:xfrm>
          <a:prstGeom prst="rect">
            <a:avLst/>
          </a:prstGeom>
          <a:solidFill>
            <a:srgbClr val="F2CC0C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65" name="S865"/>
          <p:cNvSpPr/>
          <p:nvPr/>
        </p:nvSpPr>
        <p:spPr>
          <a:xfrm>
            <a:off x="8178800" y="1473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2CC0C"/>
                </a:solidFill>
              </a:rPr>
              <a:t>Gauge</a:t>
            </a:r>
          </a:p>
        </p:txBody>
      </p:sp>
      <p:sp>
        <p:nvSpPr>
          <p:cNvPr id="866" name="S866"/>
          <p:cNvSpPr/>
          <p:nvPr/>
        </p:nvSpPr>
        <p:spPr>
          <a:xfrm>
            <a:off x="8178800" y="1828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A value against a threshold range.</a:t>
            </a:r>
          </a:p>
        </p:txBody>
      </p:sp>
      <p:sp>
        <p:nvSpPr>
          <p:cNvPr id="867" name="S867"/>
          <p:cNvSpPr/>
          <p:nvPr/>
        </p:nvSpPr>
        <p:spPr>
          <a:xfrm>
            <a:off x="8178800" y="2438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Disk used %</a:t>
            </a:r>
          </a:p>
        </p:txBody>
      </p:sp>
      <p:sp>
        <p:nvSpPr>
          <p:cNvPr id="868" name="S868"/>
          <p:cNvSpPr/>
          <p:nvPr/>
        </p:nvSpPr>
        <p:spPr>
          <a:xfrm>
            <a:off x="762000" y="2997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69" name="S869"/>
          <p:cNvSpPr/>
          <p:nvPr/>
        </p:nvSpPr>
        <p:spPr>
          <a:xfrm>
            <a:off x="762000" y="2997200"/>
            <a:ext cx="3429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70" name="S870"/>
          <p:cNvSpPr/>
          <p:nvPr/>
        </p:nvSpPr>
        <p:spPr>
          <a:xfrm>
            <a:off x="939800" y="3124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B877D9"/>
                </a:solidFill>
              </a:rPr>
              <a:t>Pie chart</a:t>
            </a:r>
          </a:p>
        </p:txBody>
      </p:sp>
      <p:sp>
        <p:nvSpPr>
          <p:cNvPr id="871" name="S871"/>
          <p:cNvSpPr/>
          <p:nvPr/>
        </p:nvSpPr>
        <p:spPr>
          <a:xfrm>
            <a:off x="939800" y="3479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Share of a whole - only with few categories.</a:t>
            </a:r>
          </a:p>
        </p:txBody>
      </p:sp>
      <p:sp>
        <p:nvSpPr>
          <p:cNvPr id="872" name="S872"/>
          <p:cNvSpPr/>
          <p:nvPr/>
        </p:nvSpPr>
        <p:spPr>
          <a:xfrm>
            <a:off x="939800" y="4089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Traffic by status code</a:t>
            </a:r>
          </a:p>
        </p:txBody>
      </p:sp>
      <p:sp>
        <p:nvSpPr>
          <p:cNvPr id="873" name="S873"/>
          <p:cNvSpPr/>
          <p:nvPr/>
        </p:nvSpPr>
        <p:spPr>
          <a:xfrm>
            <a:off x="4381500" y="2997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74" name="S874"/>
          <p:cNvSpPr/>
          <p:nvPr/>
        </p:nvSpPr>
        <p:spPr>
          <a:xfrm>
            <a:off x="4381500" y="29972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75" name="S875"/>
          <p:cNvSpPr/>
          <p:nvPr/>
        </p:nvSpPr>
        <p:spPr>
          <a:xfrm>
            <a:off x="4559300" y="3124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3274D9"/>
                </a:solidFill>
              </a:rPr>
              <a:t>Table</a:t>
            </a:r>
          </a:p>
        </p:txBody>
      </p:sp>
      <p:sp>
        <p:nvSpPr>
          <p:cNvPr id="876" name="S876"/>
          <p:cNvSpPr/>
          <p:nvPr/>
        </p:nvSpPr>
        <p:spPr>
          <a:xfrm>
            <a:off x="4559300" y="3479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Raw rows, sortable, per-column formatting.</a:t>
            </a:r>
          </a:p>
        </p:txBody>
      </p:sp>
      <p:sp>
        <p:nvSpPr>
          <p:cNvPr id="877" name="S877"/>
          <p:cNvSpPr/>
          <p:nvPr/>
        </p:nvSpPr>
        <p:spPr>
          <a:xfrm>
            <a:off x="4559300" y="4089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Top 10 slow queries</a:t>
            </a:r>
          </a:p>
        </p:txBody>
      </p:sp>
      <p:sp>
        <p:nvSpPr>
          <p:cNvPr id="878" name="S878"/>
          <p:cNvSpPr/>
          <p:nvPr/>
        </p:nvSpPr>
        <p:spPr>
          <a:xfrm>
            <a:off x="8001000" y="2997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79" name="S879"/>
          <p:cNvSpPr/>
          <p:nvPr/>
        </p:nvSpPr>
        <p:spPr>
          <a:xfrm>
            <a:off x="8001000" y="2997200"/>
            <a:ext cx="3429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0" name="S880"/>
          <p:cNvSpPr/>
          <p:nvPr/>
        </p:nvSpPr>
        <p:spPr>
          <a:xfrm>
            <a:off x="8178800" y="3124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56A64B"/>
                </a:solidFill>
              </a:rPr>
              <a:t>Bar gauge</a:t>
            </a:r>
          </a:p>
        </p:txBody>
      </p:sp>
      <p:sp>
        <p:nvSpPr>
          <p:cNvPr id="881" name="S881"/>
          <p:cNvSpPr/>
          <p:nvPr/>
        </p:nvSpPr>
        <p:spPr>
          <a:xfrm>
            <a:off x="8178800" y="3479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Compare many named values side by side.</a:t>
            </a:r>
          </a:p>
        </p:txBody>
      </p:sp>
      <p:sp>
        <p:nvSpPr>
          <p:cNvPr id="882" name="S882"/>
          <p:cNvSpPr/>
          <p:nvPr/>
        </p:nvSpPr>
        <p:spPr>
          <a:xfrm>
            <a:off x="8178800" y="4089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p95 latency by endpoint</a:t>
            </a:r>
          </a:p>
        </p:txBody>
      </p:sp>
      <p:sp>
        <p:nvSpPr>
          <p:cNvPr id="883" name="S883"/>
          <p:cNvSpPr/>
          <p:nvPr/>
        </p:nvSpPr>
        <p:spPr>
          <a:xfrm>
            <a:off x="762000" y="4648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4" name="S884"/>
          <p:cNvSpPr/>
          <p:nvPr/>
        </p:nvSpPr>
        <p:spPr>
          <a:xfrm>
            <a:off x="762000" y="4648200"/>
            <a:ext cx="342900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5" name="S885"/>
          <p:cNvSpPr/>
          <p:nvPr/>
        </p:nvSpPr>
        <p:spPr>
          <a:xfrm>
            <a:off x="939800" y="4775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6B6B"/>
                </a:solidFill>
              </a:rPr>
              <a:t>Heatmap</a:t>
            </a:r>
          </a:p>
        </p:txBody>
      </p:sp>
      <p:sp>
        <p:nvSpPr>
          <p:cNvPr id="886" name="S886"/>
          <p:cNvSpPr/>
          <p:nvPr/>
        </p:nvSpPr>
        <p:spPr>
          <a:xfrm>
            <a:off x="939800" y="5130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How a distribution changes over time.</a:t>
            </a:r>
          </a:p>
        </p:txBody>
      </p:sp>
      <p:sp>
        <p:nvSpPr>
          <p:cNvPr id="887" name="S887"/>
          <p:cNvSpPr/>
          <p:nvPr/>
        </p:nvSpPr>
        <p:spPr>
          <a:xfrm>
            <a:off x="939800" y="5740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Response time buckets</a:t>
            </a:r>
          </a:p>
        </p:txBody>
      </p:sp>
      <p:sp>
        <p:nvSpPr>
          <p:cNvPr id="888" name="S888"/>
          <p:cNvSpPr/>
          <p:nvPr/>
        </p:nvSpPr>
        <p:spPr>
          <a:xfrm>
            <a:off x="4381500" y="4648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9" name="S889"/>
          <p:cNvSpPr/>
          <p:nvPr/>
        </p:nvSpPr>
        <p:spPr>
          <a:xfrm>
            <a:off x="4381500" y="4648200"/>
            <a:ext cx="34290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0" name="S890"/>
          <p:cNvSpPr/>
          <p:nvPr/>
        </p:nvSpPr>
        <p:spPr>
          <a:xfrm>
            <a:off x="4559300" y="4775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4ECDC4"/>
                </a:solidFill>
              </a:rPr>
              <a:t>Histogram</a:t>
            </a:r>
          </a:p>
        </p:txBody>
      </p:sp>
      <p:sp>
        <p:nvSpPr>
          <p:cNvPr id="891" name="S891"/>
          <p:cNvSpPr/>
          <p:nvPr/>
        </p:nvSpPr>
        <p:spPr>
          <a:xfrm>
            <a:off x="4559300" y="5130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Distribution at one point in time.</a:t>
            </a:r>
          </a:p>
        </p:txBody>
      </p:sp>
      <p:sp>
        <p:nvSpPr>
          <p:cNvPr id="892" name="S892"/>
          <p:cNvSpPr/>
          <p:nvPr/>
        </p:nvSpPr>
        <p:spPr>
          <a:xfrm>
            <a:off x="4559300" y="5740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Request size spread</a:t>
            </a:r>
          </a:p>
        </p:txBody>
      </p:sp>
      <p:sp>
        <p:nvSpPr>
          <p:cNvPr id="893" name="S893"/>
          <p:cNvSpPr/>
          <p:nvPr/>
        </p:nvSpPr>
        <p:spPr>
          <a:xfrm>
            <a:off x="8001000" y="4648200"/>
            <a:ext cx="3429000" cy="1524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4" name="S894"/>
          <p:cNvSpPr/>
          <p:nvPr/>
        </p:nvSpPr>
        <p:spPr>
          <a:xfrm>
            <a:off x="8001000" y="4648200"/>
            <a:ext cx="3429000" cy="50800"/>
          </a:xfrm>
          <a:prstGeom prst="rect">
            <a:avLst/>
          </a:prstGeom>
          <a:solidFill>
            <a:srgbClr val="D0A2F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5" name="S895"/>
          <p:cNvSpPr/>
          <p:nvPr/>
        </p:nvSpPr>
        <p:spPr>
          <a:xfrm>
            <a:off x="8178800" y="47752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D0A2F0"/>
                </a:solidFill>
              </a:rPr>
              <a:t>Geomap</a:t>
            </a:r>
          </a:p>
        </p:txBody>
      </p:sp>
      <p:sp>
        <p:nvSpPr>
          <p:cNvPr id="896" name="S896"/>
          <p:cNvSpPr/>
          <p:nvPr/>
        </p:nvSpPr>
        <p:spPr>
          <a:xfrm>
            <a:off x="8178800" y="5130800"/>
            <a:ext cx="3073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algn="l">
              <a:buNone/>
            </a:pPr>
            <a:r>
              <a:rPr lang="en-US" sz="1400" b="0" dirty="0">
                <a:solidFill>
                  <a:srgbClr val="A9B2C1"/>
                </a:solidFill>
              </a:rPr>
              <a:t>Values placed on a map.</a:t>
            </a:r>
          </a:p>
        </p:txBody>
      </p:sp>
      <p:sp>
        <p:nvSpPr>
          <p:cNvPr id="897" name="S897"/>
          <p:cNvSpPr/>
          <p:nvPr/>
        </p:nvSpPr>
        <p:spPr>
          <a:xfrm>
            <a:off x="8178800" y="5740400"/>
            <a:ext cx="3073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949EAF"/>
                </a:solidFill>
              </a:rPr>
              <a:t>e.g.  Requests by region</a:t>
            </a:r>
          </a:p>
        </p:txBody>
      </p:sp>
    </p:spTree>
    <p:extLst>
      <p:ext uri="{BB962C8B-B14F-4D97-AF65-F5344CB8AC3E}">
        <p14:creationId xmlns:p14="http://schemas.microsoft.com/office/powerpoint/2010/main" val="11280953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F1898-C9A0-B2B6-4CFD-9E19A557C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04800"/>
            <a:ext cx="10668000" cy="533400"/>
          </a:xfrm>
        </p:spPr>
        <p:txBody>
          <a:bodyPr>
            <a:normAutofit fontScale="90000"/>
          </a:bodyPr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Choosing the Right Panel</a:t>
            </a:r>
          </a:p>
        </p:txBody>
      </p:sp>
      <p:sp>
        <p:nvSpPr>
          <p:cNvPr id="881" name="S881"/>
          <p:cNvSpPr/>
          <p:nvPr/>
        </p:nvSpPr>
        <p:spPr>
          <a:xfrm>
            <a:off x="762000" y="863600"/>
            <a:ext cx="1524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2" name="S882"/>
          <p:cNvSpPr/>
          <p:nvPr/>
        </p:nvSpPr>
        <p:spPr>
          <a:xfrm>
            <a:off x="762000" y="1066800"/>
            <a:ext cx="596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Start from the question</a:t>
            </a:r>
          </a:p>
        </p:txBody>
      </p:sp>
      <p:sp>
        <p:nvSpPr>
          <p:cNvPr id="883" name="S883"/>
          <p:cNvSpPr/>
          <p:nvPr/>
        </p:nvSpPr>
        <p:spPr>
          <a:xfrm>
            <a:off x="762000" y="14478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4" name="S884"/>
          <p:cNvSpPr/>
          <p:nvPr/>
        </p:nvSpPr>
        <p:spPr>
          <a:xfrm>
            <a:off x="939800" y="14478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How has it changed over time?</a:t>
            </a:r>
          </a:p>
        </p:txBody>
      </p:sp>
      <p:sp>
        <p:nvSpPr>
          <p:cNvPr id="885" name="S885"/>
          <p:cNvSpPr/>
          <p:nvPr/>
        </p:nvSpPr>
        <p:spPr>
          <a:xfrm>
            <a:off x="4419600" y="16383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6" name="S886"/>
          <p:cNvSpPr/>
          <p:nvPr/>
        </p:nvSpPr>
        <p:spPr>
          <a:xfrm>
            <a:off x="4775200" y="15494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F46800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46800"/>
                </a:solidFill>
              </a:rPr>
              <a:t>Time series</a:t>
            </a:r>
          </a:p>
        </p:txBody>
      </p:sp>
      <p:sp>
        <p:nvSpPr>
          <p:cNvPr id="887" name="S887"/>
          <p:cNvSpPr/>
          <p:nvPr/>
        </p:nvSpPr>
        <p:spPr>
          <a:xfrm>
            <a:off x="762000" y="21844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88" name="S888"/>
          <p:cNvSpPr/>
          <p:nvPr/>
        </p:nvSpPr>
        <p:spPr>
          <a:xfrm>
            <a:off x="939800" y="21844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What is the value right now?</a:t>
            </a:r>
          </a:p>
        </p:txBody>
      </p:sp>
      <p:sp>
        <p:nvSpPr>
          <p:cNvPr id="889" name="S889"/>
          <p:cNvSpPr/>
          <p:nvPr/>
        </p:nvSpPr>
        <p:spPr>
          <a:xfrm>
            <a:off x="4419600" y="23749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0" name="S890"/>
          <p:cNvSpPr/>
          <p:nvPr/>
        </p:nvSpPr>
        <p:spPr>
          <a:xfrm>
            <a:off x="4775200" y="22860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FF9830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9830"/>
                </a:solidFill>
              </a:rPr>
              <a:t>Stat / Gauge</a:t>
            </a:r>
          </a:p>
        </p:txBody>
      </p:sp>
      <p:sp>
        <p:nvSpPr>
          <p:cNvPr id="891" name="S891"/>
          <p:cNvSpPr/>
          <p:nvPr/>
        </p:nvSpPr>
        <p:spPr>
          <a:xfrm>
            <a:off x="762000" y="29210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2" name="S892"/>
          <p:cNvSpPr/>
          <p:nvPr/>
        </p:nvSpPr>
        <p:spPr>
          <a:xfrm>
            <a:off x="939800" y="29210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How do these items compare?</a:t>
            </a:r>
          </a:p>
        </p:txBody>
      </p:sp>
      <p:sp>
        <p:nvSpPr>
          <p:cNvPr id="893" name="S893"/>
          <p:cNvSpPr/>
          <p:nvPr/>
        </p:nvSpPr>
        <p:spPr>
          <a:xfrm>
            <a:off x="4419600" y="31115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4" name="S894"/>
          <p:cNvSpPr/>
          <p:nvPr/>
        </p:nvSpPr>
        <p:spPr>
          <a:xfrm>
            <a:off x="4775200" y="30226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56A64B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56A64B"/>
                </a:solidFill>
              </a:rPr>
              <a:t>Bar gauge</a:t>
            </a:r>
          </a:p>
        </p:txBody>
      </p:sp>
      <p:sp>
        <p:nvSpPr>
          <p:cNvPr id="895" name="S895"/>
          <p:cNvSpPr/>
          <p:nvPr/>
        </p:nvSpPr>
        <p:spPr>
          <a:xfrm>
            <a:off x="762000" y="36576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6" name="S896"/>
          <p:cNvSpPr/>
          <p:nvPr/>
        </p:nvSpPr>
        <p:spPr>
          <a:xfrm>
            <a:off x="939800" y="36576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How is it distributed?</a:t>
            </a:r>
          </a:p>
        </p:txBody>
      </p:sp>
      <p:sp>
        <p:nvSpPr>
          <p:cNvPr id="897" name="S897"/>
          <p:cNvSpPr/>
          <p:nvPr/>
        </p:nvSpPr>
        <p:spPr>
          <a:xfrm>
            <a:off x="4419600" y="38481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898" name="S898"/>
          <p:cNvSpPr/>
          <p:nvPr/>
        </p:nvSpPr>
        <p:spPr>
          <a:xfrm>
            <a:off x="4775200" y="37592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4ECDC4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ECDC4"/>
                </a:solidFill>
              </a:rPr>
              <a:t>Heatmap / Histogram</a:t>
            </a:r>
          </a:p>
        </p:txBody>
      </p:sp>
      <p:sp>
        <p:nvSpPr>
          <p:cNvPr id="899" name="S899"/>
          <p:cNvSpPr/>
          <p:nvPr/>
        </p:nvSpPr>
        <p:spPr>
          <a:xfrm>
            <a:off x="762000" y="43942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00" name="S900"/>
          <p:cNvSpPr/>
          <p:nvPr/>
        </p:nvSpPr>
        <p:spPr>
          <a:xfrm>
            <a:off x="939800" y="43942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Where is it happening?</a:t>
            </a:r>
          </a:p>
        </p:txBody>
      </p:sp>
      <p:sp>
        <p:nvSpPr>
          <p:cNvPr id="901" name="S901"/>
          <p:cNvSpPr/>
          <p:nvPr/>
        </p:nvSpPr>
        <p:spPr>
          <a:xfrm>
            <a:off x="4419600" y="45847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02" name="S902"/>
          <p:cNvSpPr/>
          <p:nvPr/>
        </p:nvSpPr>
        <p:spPr>
          <a:xfrm>
            <a:off x="4775200" y="44958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D0A2F0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D0A2F0"/>
                </a:solidFill>
              </a:rPr>
              <a:t>Geomap</a:t>
            </a:r>
          </a:p>
        </p:txBody>
      </p:sp>
      <p:sp>
        <p:nvSpPr>
          <p:cNvPr id="903" name="S903"/>
          <p:cNvSpPr/>
          <p:nvPr/>
        </p:nvSpPr>
        <p:spPr>
          <a:xfrm>
            <a:off x="762000" y="5130800"/>
            <a:ext cx="5969000" cy="63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04" name="S904"/>
          <p:cNvSpPr/>
          <p:nvPr/>
        </p:nvSpPr>
        <p:spPr>
          <a:xfrm>
            <a:off x="939800" y="51308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E8EBF0"/>
                </a:solidFill>
              </a:rPr>
              <a:t>I need the exact numbers</a:t>
            </a:r>
          </a:p>
        </p:txBody>
      </p:sp>
      <p:sp>
        <p:nvSpPr>
          <p:cNvPr id="905" name="S905"/>
          <p:cNvSpPr/>
          <p:nvPr/>
        </p:nvSpPr>
        <p:spPr>
          <a:xfrm>
            <a:off x="4419600" y="5321300"/>
            <a:ext cx="228600" cy="254000"/>
          </a:xfrm>
          <a:prstGeom prst="right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06" name="S906"/>
          <p:cNvSpPr/>
          <p:nvPr/>
        </p:nvSpPr>
        <p:spPr>
          <a:xfrm>
            <a:off x="4775200" y="5232400"/>
            <a:ext cx="1803400" cy="431800"/>
          </a:xfrm>
          <a:prstGeom prst="roundRect">
            <a:avLst/>
          </a:prstGeom>
          <a:solidFill>
            <a:srgbClr val="10141C"/>
          </a:solidFill>
          <a:ln w="12700">
            <a:solidFill>
              <a:srgbClr val="3274D9"/>
            </a:solidFill>
          </a:ln>
        </p:spPr>
        <p:txBody>
          <a:bodyPr wrap="square" lIns="50800" tIns="50800" rIns="508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5A9BF0"/>
                </a:solidFill>
              </a:rPr>
              <a:t>Table</a:t>
            </a:r>
          </a:p>
        </p:txBody>
      </p:sp>
      <p:sp>
        <p:nvSpPr>
          <p:cNvPr id="907" name="S907"/>
          <p:cNvSpPr/>
          <p:nvPr/>
        </p:nvSpPr>
        <p:spPr>
          <a:xfrm>
            <a:off x="7112000" y="1066800"/>
            <a:ext cx="431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Set these on every panel</a:t>
            </a:r>
          </a:p>
        </p:txBody>
      </p:sp>
      <p:sp>
        <p:nvSpPr>
          <p:cNvPr id="908" name="S908"/>
          <p:cNvSpPr/>
          <p:nvPr/>
        </p:nvSpPr>
        <p:spPr>
          <a:xfrm>
            <a:off x="7112000" y="1447800"/>
            <a:ext cx="4318000" cy="23622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09" name="S909"/>
          <p:cNvSpPr/>
          <p:nvPr/>
        </p:nvSpPr>
        <p:spPr>
          <a:xfrm>
            <a:off x="7112000" y="1447800"/>
            <a:ext cx="4318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10" name="S910"/>
          <p:cNvSpPr/>
          <p:nvPr/>
        </p:nvSpPr>
        <p:spPr>
          <a:xfrm>
            <a:off x="7315200" y="1574800"/>
            <a:ext cx="39116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Unit - seconds, bytes, percent (0-100)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Decimals - stop 87.3333333 %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Thresholds - green / amber / red, shared across panels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Legend - mean, max, last, and a readable {{label}}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Null handling - connect, null, or zero changes the story</a:t>
            </a:r>
          </a:p>
        </p:txBody>
      </p:sp>
      <p:sp>
        <p:nvSpPr>
          <p:cNvPr id="911" name="S911"/>
          <p:cNvSpPr/>
          <p:nvPr/>
        </p:nvSpPr>
        <p:spPr>
          <a:xfrm>
            <a:off x="7112000" y="3962400"/>
            <a:ext cx="4318000" cy="19050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12" name="S912"/>
          <p:cNvSpPr/>
          <p:nvPr/>
        </p:nvSpPr>
        <p:spPr>
          <a:xfrm>
            <a:off x="7112000" y="3962400"/>
            <a:ext cx="4318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913" name="S913"/>
          <p:cNvSpPr/>
          <p:nvPr/>
        </p:nvSpPr>
        <p:spPr>
          <a:xfrm>
            <a:off x="7315200" y="4064000"/>
            <a:ext cx="3911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600" b="1" dirty="0">
                <a:solidFill>
                  <a:srgbClr val="56A64B"/>
                </a:solidFill>
              </a:rPr>
              <a:t>Transformations tab</a:t>
            </a:r>
          </a:p>
        </p:txBody>
      </p:sp>
      <p:sp>
        <p:nvSpPr>
          <p:cNvPr id="914" name="S914"/>
          <p:cNvSpPr/>
          <p:nvPr/>
        </p:nvSpPr>
        <p:spPr>
          <a:xfrm>
            <a:off x="7315200" y="4394200"/>
            <a:ext cx="3911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Reduce - series to a single value for Stat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Join by field - merge Prometheus with SQL</a:t>
            </a:r>
          </a:p>
          <a:p>
            <a:pPr marL="171450" indent="-17145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Organize fields - rename, reorder, hide columns</a:t>
            </a:r>
          </a:p>
        </p:txBody>
      </p:sp>
    </p:spTree>
    <p:extLst>
      <p:ext uri="{BB962C8B-B14F-4D97-AF65-F5344CB8AC3E}">
        <p14:creationId xmlns:p14="http://schemas.microsoft.com/office/powerpoint/2010/main" val="3409779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E8311-5473-F98C-86A7-B1E1CA9A1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9200"/>
            <a:ext cx="7874000" cy="1016000"/>
          </a:xfrm>
        </p:spPr>
        <p:txBody>
          <a:bodyPr/>
          <a:lstStyle/>
          <a:p>
            <a:pPr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Lab 2: Build It Yourself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B38F1-F4C2-9AC5-69D6-9D0E077B6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32200"/>
            <a:ext cx="9398000" cy="762000"/>
          </a:xfrm>
        </p:spPr>
        <p:txBody>
          <a:bodyPr/>
          <a:lstStyle/>
          <a:p>
            <a:pPr algn="l">
              <a:buNone/>
            </a:pPr>
            <a:r>
              <a:rPr lang="en-US" sz="1700" b="0" dirty="0">
                <a:solidFill>
                  <a:srgbClr val="A9B2C1"/>
                </a:solidFill>
              </a:rPr>
              <a:t>Five tasks, 30 minutes. Each one has a checkpoint - if the checkpoint passes, move on.</a:t>
            </a:r>
          </a:p>
        </p:txBody>
      </p:sp>
      <p:sp>
        <p:nvSpPr>
          <p:cNvPr id="911" name="S911"/>
          <p:cNvSpPr/>
          <p:nvPr/>
        </p:nvSpPr>
        <p:spPr>
          <a:xfrm>
            <a:off x="7493000" y="1524000"/>
            <a:ext cx="3937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buNone/>
            </a:pPr>
            <a:r>
              <a:rPr lang="en-US" sz="11000" b="1" dirty="0">
                <a:solidFill>
                  <a:srgbClr val="1B202B"/>
                </a:solidFill>
              </a:rPr>
              <a:t>LAB</a:t>
            </a:r>
          </a:p>
        </p:txBody>
      </p:sp>
      <p:sp>
        <p:nvSpPr>
          <p:cNvPr id="912" name="S912"/>
          <p:cNvSpPr/>
          <p:nvPr/>
        </p:nvSpPr>
        <p:spPr>
          <a:xfrm>
            <a:off x="838200" y="1905000"/>
            <a:ext cx="3810000" cy="406400"/>
          </a:xfrm>
          <a:prstGeom prst="roundRect">
            <a:avLst/>
          </a:prstGeom>
          <a:solidFill>
            <a:srgbClr val="0C2010"/>
          </a:solidFill>
          <a:ln w="12700">
            <a:solidFill>
              <a:srgbClr val="56A64B"/>
            </a:solidFill>
          </a:ln>
        </p:spPr>
        <p:txBody>
          <a:bodyPr wrap="square" lIns="127000" tIns="50800" rIns="127000" bIns="508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FD46F"/>
                </a:solidFill>
              </a:rPr>
              <a:t>HANDS-ON LAB 2</a:t>
            </a:r>
          </a:p>
        </p:txBody>
      </p:sp>
      <p:sp>
        <p:nvSpPr>
          <p:cNvPr id="913" name="S913"/>
          <p:cNvSpPr/>
          <p:nvPr/>
        </p:nvSpPr>
        <p:spPr>
          <a:xfrm>
            <a:off x="838200" y="3581400"/>
            <a:ext cx="1524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9385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35436-3897-B2D4-8DF4-C26A4BB1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04800"/>
            <a:ext cx="10668000" cy="533400"/>
          </a:xfrm>
        </p:spPr>
        <p:txBody>
          <a:bodyPr>
            <a:normAutofit fontScale="90000"/>
          </a:bodyPr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Lab 2 Environment</a:t>
            </a:r>
          </a:p>
        </p:txBody>
      </p:sp>
      <p:sp>
        <p:nvSpPr>
          <p:cNvPr id="941" name="S941"/>
          <p:cNvSpPr/>
          <p:nvPr/>
        </p:nvSpPr>
        <p:spPr>
          <a:xfrm>
            <a:off x="762000" y="863600"/>
            <a:ext cx="1524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42" name="S942"/>
          <p:cNvSpPr/>
          <p:nvPr/>
        </p:nvSpPr>
        <p:spPr>
          <a:xfrm>
            <a:off x="762000" y="1143000"/>
            <a:ext cx="7620000" cy="449580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B3140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43" name="S943"/>
          <p:cNvSpPr/>
          <p:nvPr/>
        </p:nvSpPr>
        <p:spPr>
          <a:xfrm>
            <a:off x="939800" y="12192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400" b="1" dirty="0">
                <a:solidFill>
                  <a:srgbClr val="8A94A5"/>
                </a:solidFill>
              </a:rPr>
              <a:t>docker compose lab stack</a:t>
            </a:r>
          </a:p>
        </p:txBody>
      </p:sp>
      <p:sp>
        <p:nvSpPr>
          <p:cNvPr id="944" name="S944"/>
          <p:cNvSpPr/>
          <p:nvPr/>
        </p:nvSpPr>
        <p:spPr>
          <a:xfrm>
            <a:off x="965200" y="1600200"/>
            <a:ext cx="2032000" cy="7874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3274D9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45" name="S945"/>
          <p:cNvSpPr/>
          <p:nvPr/>
        </p:nvSpPr>
        <p:spPr>
          <a:xfrm>
            <a:off x="1066800" y="1676400"/>
            <a:ext cx="1828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5A9BF0"/>
                </a:solidFill>
              </a:rPr>
              <a:t>Browser</a:t>
            </a:r>
          </a:p>
        </p:txBody>
      </p:sp>
      <p:sp>
        <p:nvSpPr>
          <p:cNvPr id="946" name="S946"/>
          <p:cNvSpPr/>
          <p:nvPr/>
        </p:nvSpPr>
        <p:spPr>
          <a:xfrm>
            <a:off x="1066800" y="1981200"/>
            <a:ext cx="1828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you, right now</a:t>
            </a:r>
          </a:p>
        </p:txBody>
      </p:sp>
      <p:sp>
        <p:nvSpPr>
          <p:cNvPr id="947" name="S947"/>
          <p:cNvSpPr/>
          <p:nvPr/>
        </p:nvSpPr>
        <p:spPr>
          <a:xfrm>
            <a:off x="1778000" y="2438400"/>
            <a:ext cx="254000" cy="330200"/>
          </a:xfrm>
          <a:prstGeom prst="downArrow">
            <a:avLst/>
          </a:prstGeom>
          <a:solidFill>
            <a:srgbClr val="3A4252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48" name="S948"/>
          <p:cNvSpPr/>
          <p:nvPr/>
        </p:nvSpPr>
        <p:spPr>
          <a:xfrm>
            <a:off x="965200" y="2819400"/>
            <a:ext cx="2032000" cy="9652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F46800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49" name="S949"/>
          <p:cNvSpPr/>
          <p:nvPr/>
        </p:nvSpPr>
        <p:spPr>
          <a:xfrm>
            <a:off x="1066800" y="2895600"/>
            <a:ext cx="1828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46800"/>
                </a:solidFill>
              </a:rPr>
              <a:t>Grafana</a:t>
            </a:r>
          </a:p>
        </p:txBody>
      </p:sp>
      <p:sp>
        <p:nvSpPr>
          <p:cNvPr id="950" name="S950"/>
          <p:cNvSpPr/>
          <p:nvPr/>
        </p:nvSpPr>
        <p:spPr>
          <a:xfrm>
            <a:off x="1066800" y="3200400"/>
            <a:ext cx="182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port 3000</a:t>
            </a:r>
          </a:p>
        </p:txBody>
      </p:sp>
      <p:sp>
        <p:nvSpPr>
          <p:cNvPr id="951" name="S951"/>
          <p:cNvSpPr/>
          <p:nvPr/>
        </p:nvSpPr>
        <p:spPr>
          <a:xfrm>
            <a:off x="3378200" y="2819400"/>
            <a:ext cx="2032000" cy="9652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FF9830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52" name="S952"/>
          <p:cNvSpPr/>
          <p:nvPr/>
        </p:nvSpPr>
        <p:spPr>
          <a:xfrm>
            <a:off x="3479800" y="2895600"/>
            <a:ext cx="1828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9830"/>
                </a:solidFill>
              </a:rPr>
              <a:t>Prometheus</a:t>
            </a:r>
          </a:p>
        </p:txBody>
      </p:sp>
      <p:sp>
        <p:nvSpPr>
          <p:cNvPr id="953" name="S953"/>
          <p:cNvSpPr/>
          <p:nvPr/>
        </p:nvSpPr>
        <p:spPr>
          <a:xfrm>
            <a:off x="3479800" y="3200400"/>
            <a:ext cx="182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port 9090</a:t>
            </a:r>
          </a:p>
        </p:txBody>
      </p:sp>
      <p:sp>
        <p:nvSpPr>
          <p:cNvPr id="954" name="S954"/>
          <p:cNvSpPr/>
          <p:nvPr/>
        </p:nvSpPr>
        <p:spPr>
          <a:xfrm>
            <a:off x="3048000" y="3149600"/>
            <a:ext cx="279400" cy="279400"/>
          </a:xfrm>
          <a:prstGeom prst="rightArrow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55" name="S955"/>
          <p:cNvSpPr/>
          <p:nvPr/>
        </p:nvSpPr>
        <p:spPr>
          <a:xfrm>
            <a:off x="5461000" y="1905000"/>
            <a:ext cx="279400" cy="279400"/>
          </a:xfrm>
          <a:prstGeom prst="rightArrow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56" name="S956"/>
          <p:cNvSpPr/>
          <p:nvPr/>
        </p:nvSpPr>
        <p:spPr>
          <a:xfrm>
            <a:off x="5461000" y="2844800"/>
            <a:ext cx="279400" cy="279400"/>
          </a:xfrm>
          <a:prstGeom prst="rightArrow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57" name="S957"/>
          <p:cNvSpPr/>
          <p:nvPr/>
        </p:nvSpPr>
        <p:spPr>
          <a:xfrm>
            <a:off x="5791200" y="1600200"/>
            <a:ext cx="2413000" cy="863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B877D9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58" name="S958"/>
          <p:cNvSpPr/>
          <p:nvPr/>
        </p:nvSpPr>
        <p:spPr>
          <a:xfrm>
            <a:off x="5892800" y="1676400"/>
            <a:ext cx="2209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B877D9"/>
                </a:solidFill>
              </a:rPr>
              <a:t>node_exporter</a:t>
            </a:r>
          </a:p>
        </p:txBody>
      </p:sp>
      <p:sp>
        <p:nvSpPr>
          <p:cNvPr id="959" name="S959"/>
          <p:cNvSpPr/>
          <p:nvPr/>
        </p:nvSpPr>
        <p:spPr>
          <a:xfrm>
            <a:off x="5892800" y="1981200"/>
            <a:ext cx="220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port 9100 | host metrics</a:t>
            </a:r>
          </a:p>
        </p:txBody>
      </p:sp>
      <p:sp>
        <p:nvSpPr>
          <p:cNvPr id="960" name="S960"/>
          <p:cNvSpPr/>
          <p:nvPr/>
        </p:nvSpPr>
        <p:spPr>
          <a:xfrm>
            <a:off x="5791200" y="2590800"/>
            <a:ext cx="2413000" cy="8636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B877D9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61" name="S961"/>
          <p:cNvSpPr/>
          <p:nvPr/>
        </p:nvSpPr>
        <p:spPr>
          <a:xfrm>
            <a:off x="5892800" y="2667000"/>
            <a:ext cx="2209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B877D9"/>
                </a:solidFill>
              </a:rPr>
              <a:t>postgres_exporter</a:t>
            </a:r>
          </a:p>
        </p:txBody>
      </p:sp>
      <p:sp>
        <p:nvSpPr>
          <p:cNvPr id="962" name="S962"/>
          <p:cNvSpPr/>
          <p:nvPr/>
        </p:nvSpPr>
        <p:spPr>
          <a:xfrm>
            <a:off x="5892800" y="2971800"/>
            <a:ext cx="220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port 9187 | db metrics</a:t>
            </a:r>
          </a:p>
        </p:txBody>
      </p:sp>
      <p:sp>
        <p:nvSpPr>
          <p:cNvPr id="963" name="S963"/>
          <p:cNvSpPr/>
          <p:nvPr/>
        </p:nvSpPr>
        <p:spPr>
          <a:xfrm>
            <a:off x="5791200" y="3810000"/>
            <a:ext cx="2413000" cy="939800"/>
          </a:xfrm>
          <a:prstGeom prst="roundRect">
            <a:avLst/>
          </a:prstGeom>
          <a:solidFill>
            <a:srgbClr val="141821"/>
          </a:solidFill>
          <a:ln w="12700">
            <a:solidFill>
              <a:srgbClr val="56A64B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64" name="S964"/>
          <p:cNvSpPr/>
          <p:nvPr/>
        </p:nvSpPr>
        <p:spPr>
          <a:xfrm>
            <a:off x="5892800" y="3886200"/>
            <a:ext cx="2209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56A64B"/>
                </a:solidFill>
              </a:rPr>
              <a:t>PostgreSQL</a:t>
            </a:r>
          </a:p>
        </p:txBody>
      </p:sp>
      <p:sp>
        <p:nvSpPr>
          <p:cNvPr id="965" name="S965"/>
          <p:cNvSpPr/>
          <p:nvPr/>
        </p:nvSpPr>
        <p:spPr>
          <a:xfrm>
            <a:off x="5892800" y="4191000"/>
            <a:ext cx="2209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 algn="ctr">
              <a:buNone/>
            </a:pPr>
            <a:r>
              <a:rPr lang="en-US" sz="1400" b="0" dirty="0">
                <a:solidFill>
                  <a:srgbClr val="A9B2C1"/>
                </a:solidFill>
              </a:rPr>
              <a:t>port 5432 | demo database</a:t>
            </a:r>
          </a:p>
        </p:txBody>
      </p:sp>
      <p:sp>
        <p:nvSpPr>
          <p:cNvPr id="967" name="S967"/>
          <p:cNvSpPr/>
          <p:nvPr/>
        </p:nvSpPr>
        <p:spPr>
          <a:xfrm>
            <a:off x="3378200" y="3810000"/>
            <a:ext cx="2032000" cy="254000"/>
          </a:xfrm>
          <a:prstGeom prst="roundRect">
            <a:avLst/>
          </a:prstGeom>
          <a:noFill/>
          <a:ln w="12700">
            <a:noFill/>
          </a:ln>
        </p:spPr>
        <p:txBody>
          <a:bodyPr wrap="square" lIns="101600" tIns="38100" rIns="1016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8A94A5"/>
                </a:solidFill>
              </a:rPr>
              <a:t>TSDB 15d retention</a:t>
            </a:r>
          </a:p>
        </p:txBody>
      </p:sp>
      <p:sp>
        <p:nvSpPr>
          <p:cNvPr id="968" name="S968"/>
          <p:cNvSpPr/>
          <p:nvPr/>
        </p:nvSpPr>
        <p:spPr>
          <a:xfrm>
            <a:off x="965200" y="5003800"/>
            <a:ext cx="7239000" cy="4826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56A64B"/>
            </a:solidFill>
          </a:ln>
        </p:spPr>
        <p:txBody>
          <a:bodyPr wrap="square" lIns="177800" tIns="38100" rIns="177800" bIns="38100" anchor="ctr"/>
          <a:lstStyle/>
          <a:p>
            <a:pPr algn="ctr">
              <a:buNone/>
            </a:pPr>
            <a:r>
              <a:rPr lang="en-US" sz="1400" b="0" dirty="0">
                <a:solidFill>
                  <a:srgbClr val="7FD46F"/>
                </a:solidFill>
              </a:rPr>
              <a:t>Grafana also queries PostgreSQL directly for the business panels - two data sources, one dashboard.</a:t>
            </a:r>
          </a:p>
        </p:txBody>
      </p:sp>
      <p:sp>
        <p:nvSpPr>
          <p:cNvPr id="969" name="S969"/>
          <p:cNvSpPr/>
          <p:nvPr/>
        </p:nvSpPr>
        <p:spPr>
          <a:xfrm>
            <a:off x="8636000" y="1143000"/>
            <a:ext cx="2794000" cy="44958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70" name="S970"/>
          <p:cNvSpPr/>
          <p:nvPr/>
        </p:nvSpPr>
        <p:spPr>
          <a:xfrm>
            <a:off x="8636000" y="1143000"/>
            <a:ext cx="279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38100" rIns="127000" bIns="38100" anchor="ctr"/>
          <a:lstStyle/>
          <a:p>
            <a:endParaRPr/>
          </a:p>
        </p:txBody>
      </p:sp>
      <p:sp>
        <p:nvSpPr>
          <p:cNvPr id="971" name="S971"/>
          <p:cNvSpPr/>
          <p:nvPr/>
        </p:nvSpPr>
        <p:spPr>
          <a:xfrm>
            <a:off x="8839200" y="1270000"/>
            <a:ext cx="2413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ctr"/>
          <a:lstStyle/>
          <a:p>
            <a:pPr algn="l">
              <a:buNone/>
            </a:pPr>
            <a:r>
              <a:rPr lang="en-US" sz="1600" b="1" dirty="0">
                <a:solidFill>
                  <a:srgbClr val="FF9830"/>
                </a:solidFill>
              </a:rPr>
              <a:t>Access details</a:t>
            </a:r>
          </a:p>
        </p:txBody>
      </p:sp>
      <p:sp>
        <p:nvSpPr>
          <p:cNvPr id="972" name="S972"/>
          <p:cNvSpPr/>
          <p:nvPr/>
        </p:nvSpPr>
        <p:spPr>
          <a:xfrm>
            <a:off x="8839200" y="1651000"/>
            <a:ext cx="241300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38100" rIns="0" bIns="38100" anchor="t"/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Grafana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localhost:3000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admin / admin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Prometheus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localhost:9090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PostgreSQL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localhost:5432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grafana / grafana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db: demo</a:t>
            </a:r>
          </a:p>
          <a:p>
            <a:pPr>
              <a:lnSpc>
                <a:spcPts val="1900"/>
              </a:lnSpc>
              <a:buNone/>
            </a:pPr>
            <a:endParaRPr lang="en-US" sz="1400" dirty="0">
              <a:latin typeface="Consolas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# check the stack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latin typeface="Consolas"/>
              </a:rPr>
              <a:t>docker compose ps</a:t>
            </a:r>
          </a:p>
        </p:txBody>
      </p:sp>
      <p:sp>
        <p:nvSpPr>
          <p:cNvPr id="973" name="S973"/>
          <p:cNvSpPr/>
          <p:nvPr/>
        </p:nvSpPr>
        <p:spPr>
          <a:xfrm>
            <a:off x="762000" y="5791200"/>
            <a:ext cx="10668000" cy="5080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38100" rIns="177800" bIns="38100" anchor="ctr"/>
          <a:lstStyle/>
          <a:p>
            <a:pPr algn="l">
              <a:buNone/>
            </a:pPr>
            <a:r>
              <a:rPr lang="en-US" sz="1400" b="0" dirty="0">
                <a:solidFill>
                  <a:srgbClr val="B4BECC"/>
                </a:solidFill>
              </a:rPr>
              <a:t>If a service is down: docker compose up -d &lt;service&gt;. If a port is taken, tell the instructor before changing the compose file.</a:t>
            </a:r>
          </a:p>
        </p:txBody>
      </p:sp>
      <p:sp>
        <p:nvSpPr>
          <p:cNvPr id="1201" name="S1201"/>
          <p:cNvSpPr/>
          <p:nvPr/>
        </p:nvSpPr>
        <p:spPr>
          <a:xfrm>
            <a:off x="6870700" y="3479800"/>
            <a:ext cx="254000" cy="304800"/>
          </a:xfrm>
          <a:prstGeom prst="downArrow">
            <a:avLst/>
          </a:prstGeom>
          <a:solidFill>
            <a:srgbClr val="B877D9"/>
          </a:solidFill>
          <a:ln>
            <a:noFill/>
          </a:ln>
        </p:spPr>
        <p:txBody>
          <a:bodyPr wrap="square" lIns="0" tIns="0" rIns="0" bIns="0" anchor="ctr"/>
          <a:lstStyle/>
          <a:p>
            <a:endParaRPr/>
          </a:p>
        </p:txBody>
      </p:sp>
      <p:sp>
        <p:nvSpPr>
          <p:cNvPr id="1202" name="S1202"/>
          <p:cNvSpPr/>
          <p:nvPr/>
        </p:nvSpPr>
        <p:spPr>
          <a:xfrm>
            <a:off x="2235200" y="4216400"/>
            <a:ext cx="3505200" cy="228600"/>
          </a:xfrm>
          <a:prstGeom prst="rightArrow">
            <a:avLst/>
          </a:prstGeom>
          <a:solidFill>
            <a:srgbClr val="56A64B"/>
          </a:solidFill>
          <a:ln>
            <a:noFill/>
          </a:ln>
        </p:spPr>
        <p:txBody>
          <a:bodyPr wrap="square" lIns="0" tIns="0" rIns="0" bIns="0" anchor="ctr"/>
          <a:lstStyle/>
          <a:p>
            <a:endParaRPr/>
          </a:p>
        </p:txBody>
      </p:sp>
      <p:sp>
        <p:nvSpPr>
          <p:cNvPr id="1203" name="S1203"/>
          <p:cNvSpPr/>
          <p:nvPr/>
        </p:nvSpPr>
        <p:spPr>
          <a:xfrm>
            <a:off x="2489200" y="4470400"/>
            <a:ext cx="3124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7FD46F"/>
                </a:solidFill>
              </a:rPr>
              <a:t>direct SQL query</a:t>
            </a:r>
          </a:p>
        </p:txBody>
      </p:sp>
      <p:sp>
        <p:nvSpPr>
          <p:cNvPr id="1210" name="S1210"/>
          <p:cNvSpPr/>
          <p:nvPr/>
        </p:nvSpPr>
        <p:spPr>
          <a:xfrm>
            <a:off x="1854200" y="3810000"/>
            <a:ext cx="254000" cy="508000"/>
          </a:xfrm>
          <a:prstGeom prst="downArrow">
            <a:avLst/>
          </a:prstGeom>
          <a:solidFill>
            <a:srgbClr val="56A64B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7032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0E83E-DEAB-ABB8-EB72-7112C3BA7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79400"/>
            <a:ext cx="10668000" cy="508000"/>
          </a:xfrm>
        </p:spPr>
        <p:txBody>
          <a:bodyPr>
            <a:normAutofit fontScale="90000"/>
          </a:bodyPr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Lab 2: Tasks and Checkpoints</a:t>
            </a:r>
          </a:p>
        </p:txBody>
      </p:sp>
      <p:sp>
        <p:nvSpPr>
          <p:cNvPr id="1001" name="S1001"/>
          <p:cNvSpPr/>
          <p:nvPr/>
        </p:nvSpPr>
        <p:spPr>
          <a:xfrm>
            <a:off x="762000" y="812800"/>
            <a:ext cx="1524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02" name="S1002"/>
          <p:cNvSpPr/>
          <p:nvPr/>
        </p:nvSpPr>
        <p:spPr>
          <a:xfrm>
            <a:off x="762000" y="914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98A2B3"/>
                </a:solidFill>
              </a:rPr>
              <a:t>30 minutes | work through them in order | checkpoint must pass before you move on</a:t>
            </a:r>
          </a:p>
        </p:txBody>
      </p:sp>
      <p:sp>
        <p:nvSpPr>
          <p:cNvPr id="1003" name="S1003"/>
          <p:cNvSpPr/>
          <p:nvPr/>
        </p:nvSpPr>
        <p:spPr>
          <a:xfrm>
            <a:off x="762000" y="1295400"/>
            <a:ext cx="3429000" cy="2311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04" name="S1004"/>
          <p:cNvSpPr/>
          <p:nvPr/>
        </p:nvSpPr>
        <p:spPr>
          <a:xfrm>
            <a:off x="762000" y="1295400"/>
            <a:ext cx="3429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05" name="S1005"/>
          <p:cNvSpPr/>
          <p:nvPr/>
        </p:nvSpPr>
        <p:spPr>
          <a:xfrm>
            <a:off x="914400" y="1447800"/>
            <a:ext cx="406400" cy="355600"/>
          </a:xfrm>
          <a:prstGeom prst="roundRect">
            <a:avLst/>
          </a:prstGeom>
          <a:solidFill>
            <a:srgbClr val="F46800"/>
          </a:solidFill>
          <a:ln>
            <a:noFill/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1006" name="S1006"/>
          <p:cNvSpPr/>
          <p:nvPr/>
        </p:nvSpPr>
        <p:spPr>
          <a:xfrm>
            <a:off x="1397000" y="1447800"/>
            <a:ext cx="2616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Configure Prometheus</a:t>
            </a:r>
          </a:p>
        </p:txBody>
      </p:sp>
      <p:sp>
        <p:nvSpPr>
          <p:cNvPr id="1007" name="S1007"/>
          <p:cNvSpPr/>
          <p:nvPr/>
        </p:nvSpPr>
        <p:spPr>
          <a:xfrm>
            <a:off x="914400" y="1854200"/>
            <a:ext cx="3124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Connections &gt; Data sources &gt; Add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URL: http://prometheus:9090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Scrape interval 15s, then Save &amp; test</a:t>
            </a:r>
          </a:p>
        </p:txBody>
      </p:sp>
      <p:sp>
        <p:nvSpPr>
          <p:cNvPr id="1008" name="S1008"/>
          <p:cNvSpPr/>
          <p:nvPr/>
        </p:nvSpPr>
        <p:spPr>
          <a:xfrm>
            <a:off x="914400" y="2895600"/>
            <a:ext cx="3124200" cy="5842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2E5A34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09" name="S1009"/>
          <p:cNvSpPr/>
          <p:nvPr/>
        </p:nvSpPr>
        <p:spPr>
          <a:xfrm>
            <a:off x="1016000" y="2946400"/>
            <a:ext cx="2921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FD46F"/>
                </a:solidFill>
              </a:rPr>
              <a:t>Checkpoint: Prometheus API queried successfully</a:t>
            </a:r>
          </a:p>
        </p:txBody>
      </p:sp>
      <p:sp>
        <p:nvSpPr>
          <p:cNvPr id="1010" name="S1010"/>
          <p:cNvSpPr/>
          <p:nvPr/>
        </p:nvSpPr>
        <p:spPr>
          <a:xfrm>
            <a:off x="4381500" y="1295400"/>
            <a:ext cx="3429000" cy="2311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11" name="S1011"/>
          <p:cNvSpPr/>
          <p:nvPr/>
        </p:nvSpPr>
        <p:spPr>
          <a:xfrm>
            <a:off x="4381500" y="1295400"/>
            <a:ext cx="3429000" cy="50800"/>
          </a:xfrm>
          <a:prstGeom prst="rect">
            <a:avLst/>
          </a:prstGeom>
          <a:solidFill>
            <a:srgbClr val="FF983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12" name="S1012"/>
          <p:cNvSpPr/>
          <p:nvPr/>
        </p:nvSpPr>
        <p:spPr>
          <a:xfrm>
            <a:off x="4533900" y="1447800"/>
            <a:ext cx="406400" cy="355600"/>
          </a:xfrm>
          <a:prstGeom prst="roundRect">
            <a:avLst/>
          </a:prstGeom>
          <a:solidFill>
            <a:srgbClr val="FF9830"/>
          </a:solidFill>
          <a:ln>
            <a:noFill/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013" name="S1013"/>
          <p:cNvSpPr/>
          <p:nvPr/>
        </p:nvSpPr>
        <p:spPr>
          <a:xfrm>
            <a:off x="5016500" y="1447800"/>
            <a:ext cx="2616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Configure PostgreSQL</a:t>
            </a:r>
          </a:p>
        </p:txBody>
      </p:sp>
      <p:sp>
        <p:nvSpPr>
          <p:cNvPr id="1014" name="S1014"/>
          <p:cNvSpPr/>
          <p:nvPr/>
        </p:nvSpPr>
        <p:spPr>
          <a:xfrm>
            <a:off x="4533900" y="1854200"/>
            <a:ext cx="3124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Add &gt; PostgreSQL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Host postgres:5432, database demo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User grafana, TLS/SSL mode: disable</a:t>
            </a:r>
          </a:p>
        </p:txBody>
      </p:sp>
      <p:sp>
        <p:nvSpPr>
          <p:cNvPr id="1015" name="S1015"/>
          <p:cNvSpPr/>
          <p:nvPr/>
        </p:nvSpPr>
        <p:spPr>
          <a:xfrm>
            <a:off x="4533900" y="2895600"/>
            <a:ext cx="3124200" cy="5842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2E5A34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16" name="S1016"/>
          <p:cNvSpPr/>
          <p:nvPr/>
        </p:nvSpPr>
        <p:spPr>
          <a:xfrm>
            <a:off x="4635500" y="2946400"/>
            <a:ext cx="2921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FD46F"/>
                </a:solidFill>
              </a:rPr>
              <a:t>Checkpoint: database connection OK</a:t>
            </a:r>
          </a:p>
        </p:txBody>
      </p:sp>
      <p:sp>
        <p:nvSpPr>
          <p:cNvPr id="1017" name="S1017"/>
          <p:cNvSpPr/>
          <p:nvPr/>
        </p:nvSpPr>
        <p:spPr>
          <a:xfrm>
            <a:off x="8001000" y="1295400"/>
            <a:ext cx="3429000" cy="2311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18" name="S1018"/>
          <p:cNvSpPr/>
          <p:nvPr/>
        </p:nvSpPr>
        <p:spPr>
          <a:xfrm>
            <a:off x="8001000" y="12954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19" name="S1019"/>
          <p:cNvSpPr/>
          <p:nvPr/>
        </p:nvSpPr>
        <p:spPr>
          <a:xfrm>
            <a:off x="8153400" y="1447800"/>
            <a:ext cx="406400" cy="355600"/>
          </a:xfrm>
          <a:prstGeom prst="roundRect">
            <a:avLst/>
          </a:prstGeom>
          <a:solidFill>
            <a:srgbClr val="3274D9"/>
          </a:solidFill>
          <a:ln>
            <a:noFill/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020" name="S1020"/>
          <p:cNvSpPr/>
          <p:nvPr/>
        </p:nvSpPr>
        <p:spPr>
          <a:xfrm>
            <a:off x="8636000" y="1447800"/>
            <a:ext cx="2616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Create the dashboard</a:t>
            </a:r>
          </a:p>
        </p:txBody>
      </p:sp>
      <p:sp>
        <p:nvSpPr>
          <p:cNvPr id="1021" name="S1021"/>
          <p:cNvSpPr/>
          <p:nvPr/>
        </p:nvSpPr>
        <p:spPr>
          <a:xfrm>
            <a:off x="8153400" y="1854200"/>
            <a:ext cx="3124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New dashboard: Day 2 - Service Health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Time range last 6h, refresh 30s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Save into the Training folder</a:t>
            </a:r>
          </a:p>
        </p:txBody>
      </p:sp>
      <p:sp>
        <p:nvSpPr>
          <p:cNvPr id="1022" name="S1022"/>
          <p:cNvSpPr/>
          <p:nvPr/>
        </p:nvSpPr>
        <p:spPr>
          <a:xfrm>
            <a:off x="8153400" y="2895600"/>
            <a:ext cx="3124200" cy="5842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2E5A34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23" name="S1023"/>
          <p:cNvSpPr/>
          <p:nvPr/>
        </p:nvSpPr>
        <p:spPr>
          <a:xfrm>
            <a:off x="8255000" y="2946400"/>
            <a:ext cx="2921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FD46F"/>
                </a:solidFill>
              </a:rPr>
              <a:t>Checkpoint: dashboard listed in Training folder</a:t>
            </a:r>
          </a:p>
        </p:txBody>
      </p:sp>
      <p:sp>
        <p:nvSpPr>
          <p:cNvPr id="1024" name="S1024"/>
          <p:cNvSpPr/>
          <p:nvPr/>
        </p:nvSpPr>
        <p:spPr>
          <a:xfrm>
            <a:off x="762000" y="3733800"/>
            <a:ext cx="3429000" cy="2311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25" name="S1025"/>
          <p:cNvSpPr/>
          <p:nvPr/>
        </p:nvSpPr>
        <p:spPr>
          <a:xfrm>
            <a:off x="762000" y="3733800"/>
            <a:ext cx="3429000" cy="50800"/>
          </a:xfrm>
          <a:prstGeom prst="rect">
            <a:avLst/>
          </a:prstGeom>
          <a:solidFill>
            <a:srgbClr val="B877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26" name="S1026"/>
          <p:cNvSpPr/>
          <p:nvPr/>
        </p:nvSpPr>
        <p:spPr>
          <a:xfrm>
            <a:off x="914400" y="3886200"/>
            <a:ext cx="406400" cy="355600"/>
          </a:xfrm>
          <a:prstGeom prst="roundRect">
            <a:avLst/>
          </a:prstGeom>
          <a:solidFill>
            <a:srgbClr val="B877D9"/>
          </a:solidFill>
          <a:ln>
            <a:noFill/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1027" name="S1027"/>
          <p:cNvSpPr/>
          <p:nvPr/>
        </p:nvSpPr>
        <p:spPr>
          <a:xfrm>
            <a:off x="1397000" y="3886200"/>
            <a:ext cx="2616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Add variables</a:t>
            </a:r>
          </a:p>
        </p:txBody>
      </p:sp>
      <p:sp>
        <p:nvSpPr>
          <p:cNvPr id="1028" name="S1028"/>
          <p:cNvSpPr/>
          <p:nvPr/>
        </p:nvSpPr>
        <p:spPr>
          <a:xfrm>
            <a:off x="914400" y="4292600"/>
            <a:ext cx="3124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Query var instance from label_values()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Interval var: 1m, 5m, 1h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Enable Multi-value and All</a:t>
            </a:r>
          </a:p>
        </p:txBody>
      </p:sp>
      <p:sp>
        <p:nvSpPr>
          <p:cNvPr id="1029" name="S1029"/>
          <p:cNvSpPr/>
          <p:nvPr/>
        </p:nvSpPr>
        <p:spPr>
          <a:xfrm>
            <a:off x="914400" y="5334000"/>
            <a:ext cx="3124200" cy="5842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2E5A34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30" name="S1030"/>
          <p:cNvSpPr/>
          <p:nvPr/>
        </p:nvSpPr>
        <p:spPr>
          <a:xfrm>
            <a:off x="1016000" y="5384800"/>
            <a:ext cx="2921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FD46F"/>
                </a:solidFill>
              </a:rPr>
              <a:t>Checkpoint: instance dropdown lists your targets</a:t>
            </a:r>
          </a:p>
        </p:txBody>
      </p:sp>
      <p:sp>
        <p:nvSpPr>
          <p:cNvPr id="1031" name="S1031"/>
          <p:cNvSpPr/>
          <p:nvPr/>
        </p:nvSpPr>
        <p:spPr>
          <a:xfrm>
            <a:off x="4381500" y="3733800"/>
            <a:ext cx="3429000" cy="2311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32" name="S1032"/>
          <p:cNvSpPr/>
          <p:nvPr/>
        </p:nvSpPr>
        <p:spPr>
          <a:xfrm>
            <a:off x="4381500" y="3733800"/>
            <a:ext cx="34290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33" name="S1033"/>
          <p:cNvSpPr/>
          <p:nvPr/>
        </p:nvSpPr>
        <p:spPr>
          <a:xfrm>
            <a:off x="4533900" y="3886200"/>
            <a:ext cx="406400" cy="3556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txBody>
          <a:bodyPr wrap="square" lIns="0" tIns="50800" rIns="0" bIns="508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1034" name="S1034"/>
          <p:cNvSpPr/>
          <p:nvPr/>
        </p:nvSpPr>
        <p:spPr>
          <a:xfrm>
            <a:off x="5016500" y="3886200"/>
            <a:ext cx="2616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Add the panels</a:t>
            </a:r>
          </a:p>
        </p:txBody>
      </p:sp>
      <p:sp>
        <p:nvSpPr>
          <p:cNvPr id="1035" name="S1035"/>
          <p:cNvSpPr/>
          <p:nvPr/>
        </p:nvSpPr>
        <p:spPr>
          <a:xfrm>
            <a:off x="4533900" y="4292600"/>
            <a:ext cx="3124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Stat: up | Time series: CPU rate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Gauge: memory % | Bar gauge: by instance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Table: SQL query, grouped into 2 rows</a:t>
            </a:r>
          </a:p>
        </p:txBody>
      </p:sp>
      <p:sp>
        <p:nvSpPr>
          <p:cNvPr id="1036" name="S1036"/>
          <p:cNvSpPr/>
          <p:nvPr/>
        </p:nvSpPr>
        <p:spPr>
          <a:xfrm>
            <a:off x="4533900" y="5334000"/>
            <a:ext cx="3124200" cy="584200"/>
          </a:xfrm>
          <a:prstGeom prst="roundRect">
            <a:avLst/>
          </a:prstGeom>
          <a:solidFill>
            <a:srgbClr val="0C1B12"/>
          </a:solidFill>
          <a:ln w="12700">
            <a:solidFill>
              <a:srgbClr val="2E5A34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37" name="S1037"/>
          <p:cNvSpPr/>
          <p:nvPr/>
        </p:nvSpPr>
        <p:spPr>
          <a:xfrm>
            <a:off x="4635500" y="5384800"/>
            <a:ext cx="2921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400" b="0" dirty="0">
                <a:solidFill>
                  <a:srgbClr val="7FD46F"/>
                </a:solidFill>
              </a:rPr>
              <a:t>Checkpoint: all five panels render, no errors</a:t>
            </a:r>
          </a:p>
        </p:txBody>
      </p:sp>
      <p:sp>
        <p:nvSpPr>
          <p:cNvPr id="1038" name="S1038"/>
          <p:cNvSpPr/>
          <p:nvPr/>
        </p:nvSpPr>
        <p:spPr>
          <a:xfrm>
            <a:off x="8001000" y="3733800"/>
            <a:ext cx="3429000" cy="23114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5A3A10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39" name="S1039"/>
          <p:cNvSpPr/>
          <p:nvPr/>
        </p:nvSpPr>
        <p:spPr>
          <a:xfrm>
            <a:off x="8001000" y="3733800"/>
            <a:ext cx="3429000" cy="50800"/>
          </a:xfrm>
          <a:prstGeom prst="rect">
            <a:avLst/>
          </a:prstGeom>
          <a:solidFill>
            <a:srgbClr val="F2CC0C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040" name="S1040"/>
          <p:cNvSpPr/>
          <p:nvPr/>
        </p:nvSpPr>
        <p:spPr>
          <a:xfrm>
            <a:off x="8153400" y="3886200"/>
            <a:ext cx="312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F2CC0C"/>
                </a:solidFill>
              </a:rPr>
              <a:t>Done when...</a:t>
            </a:r>
          </a:p>
        </p:txBody>
      </p:sp>
      <p:sp>
        <p:nvSpPr>
          <p:cNvPr id="1041" name="S1041"/>
          <p:cNvSpPr/>
          <p:nvPr/>
        </p:nvSpPr>
        <p:spPr>
          <a:xfrm>
            <a:off x="8153400" y="4292600"/>
            <a:ext cx="3124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8D48B"/>
                </a:solidFill>
              </a:rPr>
              <a:t>Both data sources save and test green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8D48B"/>
                </a:solidFill>
              </a:rPr>
              <a:t>One dashboard uses both of them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8D48B"/>
                </a:solidFill>
              </a:rPr>
              <a:t>Changing instance updates every panel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8D48B"/>
                </a:solidFill>
              </a:rPr>
              <a:t>Panels sit in two collapsible rows</a:t>
            </a:r>
          </a:p>
          <a:p>
            <a:pPr marL="140000" indent="-140000">
              <a:lnSpc>
                <a:spcPts val="1700"/>
              </a:lnSpc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8D48B"/>
                </a:solidFill>
              </a:rPr>
              <a:t>Dashboard saved and JSON exported</a:t>
            </a:r>
          </a:p>
        </p:txBody>
      </p:sp>
    </p:spTree>
    <p:extLst>
      <p:ext uri="{BB962C8B-B14F-4D97-AF65-F5344CB8AC3E}">
        <p14:creationId xmlns:p14="http://schemas.microsoft.com/office/powerpoint/2010/main" val="1681779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72E3-00D5-89DF-855B-DB63B5FD0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0200"/>
            <a:ext cx="10668000" cy="558800"/>
          </a:xfrm>
        </p:spPr>
        <p:txBody>
          <a:bodyPr/>
          <a:lstStyle/>
          <a:p>
            <a:pPr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Day 2 Wrap-Up</a:t>
            </a:r>
          </a:p>
        </p:txBody>
      </p:sp>
      <p:sp>
        <p:nvSpPr>
          <p:cNvPr id="1101" name="S1101"/>
          <p:cNvSpPr/>
          <p:nvPr/>
        </p:nvSpPr>
        <p:spPr>
          <a:xfrm>
            <a:off x="762000" y="914400"/>
            <a:ext cx="1524000" cy="50800"/>
          </a:xfrm>
          <a:prstGeom prst="rect">
            <a:avLst/>
          </a:prstGeom>
          <a:solidFill>
            <a:srgbClr val="F46800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02" name="S1102"/>
          <p:cNvSpPr/>
          <p:nvPr/>
        </p:nvSpPr>
        <p:spPr>
          <a:xfrm>
            <a:off x="762000" y="1270000"/>
            <a:ext cx="3429000" cy="3454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03" name="S1103"/>
          <p:cNvSpPr/>
          <p:nvPr/>
        </p:nvSpPr>
        <p:spPr>
          <a:xfrm>
            <a:off x="762000" y="1270000"/>
            <a:ext cx="3429000" cy="50800"/>
          </a:xfrm>
          <a:prstGeom prst="rect">
            <a:avLst/>
          </a:prstGeom>
          <a:solidFill>
            <a:srgbClr val="56A64B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04" name="S1104"/>
          <p:cNvSpPr/>
          <p:nvPr/>
        </p:nvSpPr>
        <p:spPr>
          <a:xfrm>
            <a:off x="939800" y="1422400"/>
            <a:ext cx="307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56A64B"/>
                </a:solidFill>
              </a:rPr>
              <a:t>You can now</a:t>
            </a:r>
          </a:p>
        </p:txBody>
      </p:sp>
      <p:sp>
        <p:nvSpPr>
          <p:cNvPr id="1105" name="S1105"/>
          <p:cNvSpPr/>
          <p:nvPr/>
        </p:nvSpPr>
        <p:spPr>
          <a:xfrm>
            <a:off x="939800" y="1828800"/>
            <a:ext cx="3073400" cy="2768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Connect Prometheus, SQL and cloud sources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Read and write everyday PromQL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Build a variable-driven dashboard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Pick the panel that fits the question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Reuse work with rows and library panels</a:t>
            </a:r>
          </a:p>
        </p:txBody>
      </p:sp>
      <p:sp>
        <p:nvSpPr>
          <p:cNvPr id="1106" name="S1106"/>
          <p:cNvSpPr/>
          <p:nvPr/>
        </p:nvSpPr>
        <p:spPr>
          <a:xfrm>
            <a:off x="4381500" y="1270000"/>
            <a:ext cx="3429000" cy="3454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07" name="S1107"/>
          <p:cNvSpPr/>
          <p:nvPr/>
        </p:nvSpPr>
        <p:spPr>
          <a:xfrm>
            <a:off x="4381500" y="1270000"/>
            <a:ext cx="3429000" cy="50800"/>
          </a:xfrm>
          <a:prstGeom prst="rect">
            <a:avLst/>
          </a:prstGeom>
          <a:solidFill>
            <a:srgbClr val="F2CC0C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08" name="S1108"/>
          <p:cNvSpPr/>
          <p:nvPr/>
        </p:nvSpPr>
        <p:spPr>
          <a:xfrm>
            <a:off x="4559300" y="1422400"/>
            <a:ext cx="307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F2CC0C"/>
                </a:solidFill>
              </a:rPr>
              <a:t>Watch out for</a:t>
            </a:r>
          </a:p>
        </p:txBody>
      </p:sp>
      <p:sp>
        <p:nvSpPr>
          <p:cNvPr id="1109" name="S1109"/>
          <p:cNvSpPr/>
          <p:nvPr/>
        </p:nvSpPr>
        <p:spPr>
          <a:xfrm>
            <a:off x="4559300" y="1828800"/>
            <a:ext cx="3073400" cy="2768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= instead of =~ with multi-value variables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Panels with no unit and no thresholds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High-cardinality labels such as user_id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5s refresh on a per-query billed source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Dashboards that grew past nine panels</a:t>
            </a:r>
          </a:p>
        </p:txBody>
      </p:sp>
      <p:sp>
        <p:nvSpPr>
          <p:cNvPr id="1110" name="S1110"/>
          <p:cNvSpPr/>
          <p:nvPr/>
        </p:nvSpPr>
        <p:spPr>
          <a:xfrm>
            <a:off x="8001000" y="1270000"/>
            <a:ext cx="3429000" cy="3454400"/>
          </a:xfrm>
          <a:prstGeom prst="roundRect">
            <a:avLst/>
          </a:prstGeom>
          <a:solidFill>
            <a:srgbClr val="151922"/>
          </a:solidFill>
          <a:ln w="12700">
            <a:solidFill>
              <a:srgbClr val="262C38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11" name="S1111"/>
          <p:cNvSpPr/>
          <p:nvPr/>
        </p:nvSpPr>
        <p:spPr>
          <a:xfrm>
            <a:off x="8001000" y="1270000"/>
            <a:ext cx="3429000" cy="50800"/>
          </a:xfrm>
          <a:prstGeom prst="rect">
            <a:avLst/>
          </a:prstGeom>
          <a:solidFill>
            <a:srgbClr val="3274D9"/>
          </a:solidFill>
          <a:ln>
            <a:noFill/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12" name="S1112"/>
          <p:cNvSpPr/>
          <p:nvPr/>
        </p:nvSpPr>
        <p:spPr>
          <a:xfrm>
            <a:off x="8178800" y="1422400"/>
            <a:ext cx="307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800" b="1" dirty="0">
                <a:solidFill>
                  <a:srgbClr val="3274D9"/>
                </a:solidFill>
              </a:rPr>
              <a:t>Before Day 3</a:t>
            </a:r>
          </a:p>
        </p:txBody>
      </p:sp>
      <p:sp>
        <p:nvSpPr>
          <p:cNvPr id="1113" name="S1113"/>
          <p:cNvSpPr/>
          <p:nvPr/>
        </p:nvSpPr>
        <p:spPr>
          <a:xfrm>
            <a:off x="8178800" y="1828800"/>
            <a:ext cx="3073400" cy="27686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t"/>
          <a:lstStyle/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Export your dashboard JSON and keep it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Add one panel of your own choosing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Skim the Grafana alerting docs</a:t>
            </a:r>
          </a:p>
          <a:p>
            <a:pPr marL="150000" indent="-150000">
              <a:lnSpc>
                <a:spcPts val="18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B4BECC"/>
                </a:solidFill>
              </a:rPr>
              <a:t>Bring one dashboard you find hard to read</a:t>
            </a:r>
          </a:p>
        </p:txBody>
      </p:sp>
      <p:sp>
        <p:nvSpPr>
          <p:cNvPr id="1114" name="S1114"/>
          <p:cNvSpPr/>
          <p:nvPr/>
        </p:nvSpPr>
        <p:spPr>
          <a:xfrm>
            <a:off x="762000" y="4927600"/>
            <a:ext cx="10668000" cy="685800"/>
          </a:xfrm>
          <a:prstGeom prst="roundRect">
            <a:avLst/>
          </a:prstGeom>
          <a:solidFill>
            <a:srgbClr val="1B0E2B"/>
          </a:solidFill>
          <a:ln w="12700">
            <a:solidFill>
              <a:srgbClr val="B877D9"/>
            </a:solidFill>
          </a:ln>
        </p:spPr>
        <p:txBody>
          <a:bodyPr wrap="square" lIns="127000" tIns="50800" rIns="127000" bIns="50800" anchor="ctr"/>
          <a:lstStyle/>
          <a:p>
            <a:endParaRPr/>
          </a:p>
        </p:txBody>
      </p:sp>
      <p:sp>
        <p:nvSpPr>
          <p:cNvPr id="1115" name="S1115"/>
          <p:cNvSpPr/>
          <p:nvPr/>
        </p:nvSpPr>
        <p:spPr>
          <a:xfrm>
            <a:off x="939800" y="5003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700" b="1" dirty="0">
                <a:solidFill>
                  <a:srgbClr val="D0A2F0"/>
                </a:solidFill>
              </a:rPr>
              <a:t>Next: Day 3</a:t>
            </a:r>
          </a:p>
        </p:txBody>
      </p:sp>
      <p:sp>
        <p:nvSpPr>
          <p:cNvPr id="1116" name="S1116"/>
          <p:cNvSpPr/>
          <p:nvPr/>
        </p:nvSpPr>
        <p:spPr>
          <a:xfrm>
            <a:off x="3175000" y="50038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l">
              <a:buNone/>
            </a:pPr>
            <a:r>
              <a:rPr lang="en-US" sz="1500" b="0" dirty="0">
                <a:solidFill>
                  <a:srgbClr val="D6DBE4"/>
                </a:solidFill>
              </a:rPr>
              <a:t>Alerting rules, contact points and notification policies, provisioning, and running Grafana at scale.</a:t>
            </a:r>
          </a:p>
        </p:txBody>
      </p:sp>
      <p:sp>
        <p:nvSpPr>
          <p:cNvPr id="1117" name="S1117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111620"/>
          </a:solidFill>
          <a:ln w="12700">
            <a:solidFill>
              <a:srgbClr val="262C38"/>
            </a:solidFill>
          </a:ln>
        </p:spPr>
        <p:txBody>
          <a:bodyPr wrap="square" lIns="177800" tIns="50800" rIns="177800" bIns="50800" anchor="ctr"/>
          <a:lstStyle/>
          <a:p>
            <a:pPr algn="ctr">
              <a:buNone/>
            </a:pPr>
            <a:r>
              <a:rPr lang="en-US" sz="1500" b="0" dirty="0">
                <a:solidFill>
                  <a:srgbClr val="B4BECC"/>
                </a:solidFill>
              </a:rPr>
              <a:t>Questions? Now is the cheapest time to ask - tomorrow we build alerts on top of what you just made.</a:t>
            </a:r>
          </a:p>
        </p:txBody>
      </p:sp>
    </p:spTree>
    <p:extLst>
      <p:ext uri="{BB962C8B-B14F-4D97-AF65-F5344CB8AC3E}">
        <p14:creationId xmlns:p14="http://schemas.microsoft.com/office/powerpoint/2010/main" val="2876664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5695039032]">
  <a:themeElements>
    <a:clrScheme name="Office">
      <a:dk1>
        <a:srgbClr val="E8EBF0"/>
      </a:dk1>
      <a:lt1>
        <a:srgbClr val="0E1015"/>
      </a:lt1>
      <a:dk2>
        <a:srgbClr val="C3C9D4"/>
      </a:dk2>
      <a:lt2>
        <a:srgbClr val="1B1E26"/>
      </a:lt2>
      <a:accent1>
        <a:srgbClr val="F46800"/>
      </a:accent1>
      <a:accent2>
        <a:srgbClr val="FF9830"/>
      </a:accent2>
      <a:accent3>
        <a:srgbClr val="3274D9"/>
      </a:accent3>
      <a:accent4>
        <a:srgbClr val="56A64B"/>
      </a:accent4>
      <a:accent5>
        <a:srgbClr val="B877D9"/>
      </a:accent5>
      <a:accent6>
        <a:srgbClr val="F2CC0C"/>
      </a:accent6>
      <a:hlink>
        <a:srgbClr val="0563C1"/>
      </a:hlink>
      <a:folHlink>
        <a:srgbClr val="954F72"/>
      </a:folHlink>
    </a:clrScheme>
    <a:fontScheme name="Office">
      <a:majorFont>
        <a:latin typeface="Trebuchet M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C716D98-C66E-4F8F-B741-F1361EECBF0F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6d54452-c7f9-47d6-9556-c165fc7be0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3134</Words>
  <Application>Microsoft Office PowerPoint</Application>
  <PresentationFormat>Widescreen</PresentationFormat>
  <Paragraphs>489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Consolas</vt:lpstr>
      <vt:lpstr>Segoe UI</vt:lpstr>
      <vt:lpstr>Trebuchet MS</vt:lpstr>
      <vt:lpstr>Office Theme [1785695039032]</vt:lpstr>
      <vt:lpstr>Data Sources &amp; Dashboard Development</vt:lpstr>
      <vt:lpstr>Working with Data Sources</vt:lpstr>
      <vt:lpstr>What Are Data Sources?</vt:lpstr>
      <vt:lpstr>The Core Data Sources</vt:lpstr>
      <vt:lpstr>Metrics and Logs: Prometheus + Loki</vt:lpstr>
      <vt:lpstr>SQL Data Sources: PostgreSQL and MySQL</vt:lpstr>
      <vt:lpstr>Search and Cloud Data Sources</vt:lpstr>
      <vt:lpstr>Prometheus Integration</vt:lpstr>
      <vt:lpstr>Prometheus Architecture</vt:lpstr>
      <vt:lpstr>Metrics Collection and the Data Model</vt:lpstr>
      <vt:lpstr>Targets and Scraping</vt:lpstr>
      <vt:lpstr>Time Series and PromQL Essentials</vt:lpstr>
      <vt:lpstr>Dashboard Creation</vt:lpstr>
      <vt:lpstr>Dashboard Design Principles</vt:lpstr>
      <vt:lpstr>Anatomy of a Dashboard</vt:lpstr>
      <vt:lpstr>Variables: One Dashboard, Every Environment</vt:lpstr>
      <vt:lpstr>Rows and Library Panels</vt:lpstr>
      <vt:lpstr>Visualization Panels</vt:lpstr>
      <vt:lpstr>The Panel Gallery</vt:lpstr>
      <vt:lpstr>Choosing the Right Panel</vt:lpstr>
      <vt:lpstr>Lab 2: Build It Yourself</vt:lpstr>
      <vt:lpstr>Lab 2 Environment</vt:lpstr>
      <vt:lpstr>Lab 2: Tasks and Checkpoints</vt:lpstr>
      <vt:lpstr>Day 2 Wrap-Up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Vikash Verma</dc:creator>
  <cp:lastModifiedBy>Vikash Verma</cp:lastModifiedBy>
  <cp:revision>2</cp:revision>
  <dcterms:created xsi:type="dcterms:W3CDTF">2026-08-02T18:20:10Z</dcterms:created>
  <dcterms:modified xsi:type="dcterms:W3CDTF">2026-08-02T23:56:09Z</dcterms:modified>
</cp:coreProperties>
</file>